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前提 ― 警備員の権限と、警察との違い（1/2）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第15条</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Security Services Act, Article 15</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Act confers no special authority on you</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must not infringe the rights or freedoms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guard is a private citizen in law. The uniform adds no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 16 — the uniform must be clearly distinguishable from a public official's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警察官にあって、警備員にない権限</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Powers the Police Have and You Do Not</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・職務質問（警職法2条）、保護（3条）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Stop and question (Art. 2), protective custody (Art. 3)</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Order evacuation (Art. 4), prevent and stop a crime (Art. 5)</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・立入（6条）、武器の使用（7条）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Enter premises (Art. 6), use weapons (Art. 7)</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Arrest by warrant, and interrogation. A guard has none of these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前提 ― 警備員の権限と、警察との違い（2/2）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権限の根拠は2つだけ</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Only Two Sources of Authority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anyone may do: citizen's arrest, self-defence, necessity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delegated: admission, requests to leave, access limits, records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Not available: forced bag checks, interrogation, recovery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exceed it: unlawful confinement, assault, injury, coercion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有形力の段階</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Steps of Physical Force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・声をかける。有形力ではない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Speaking to someone. Not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・立ち位置で示す。まだ有形力ではない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Positioning yourself. Still not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・進路に立ちふさがる。ここが境界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Blocking the path. This is the boundary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or seizing. Only incidental to self-defence or a lawful arrest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Flagrant-offender arrest. Must be obvious and immediate.</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Self-defence. It ends when the attack ends.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Necessity. Harm caused must not exceed harm avoided.</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Self-help. As a rule, not permitted in Japan.</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Refusing to leave. The request must come from the authority.</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De-escalation の基本（1/2）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Basics of De-escalation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state the aim of de-escalation, and demonstrate space, stance and voice.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目的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Aim</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method of lowering tension without using physical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・目的は、その場を安全に終えること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aim is to end the situation safely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・相手を言い負かすことではない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not to win the exchange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Precisely because a guard's powers are limited, the skill is necessary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距離</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Space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Stay beyond arm's reach. About 1.5 to 2 metres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stand behind them, or where you block their exit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・自分の退路を確保しておく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 your own way out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・複数人で対応する場合も、囲まない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Even with several guards, do not surround the person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De-escalation の基本（2/2）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Basics of De-escalation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姿勢</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Stance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・正対しない。半身で立つ</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stand square on. Stand at an angle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 your hands visible. Do not fold your arms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・指を差さない。物を持ったまま話さない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point. Do not talk while holding an object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they are seated, bring your eye level closer to theirs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声</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Voice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・トーン、速度、音量を下げる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Lower your tone, speed and volume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・相手より大きな声を出さない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speak louder than the other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Silence is acceptable. Do not rush to fill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speak in another language, slowing down carries more than fluency</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聞き方、選択肢、離脱（1/2）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Listening, Choices, and Disengaging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create a way for the person to step back, and decide when to disengage.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聞き方</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How to Listen</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・遮らずに最後まで聞く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Listen to the end without interrupting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・内容を要約して返す。「◯◯ということですね」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Summarise it back: "So the issue is 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Acknowledging is not agreeing. Say only that you understood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・「規則ですから」で会話を打ち切らない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end the conversation with "those are the rules"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選択肢の示し方</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Offering Choices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・引き下がれる形を残す。追い詰めない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Leave a way to step back. Do not corner them</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Offer two options. Both must be inside the procedure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Frame it as a route into the process, not as a refusal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・急がない。時間をかけてよい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rush. You may take time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聞き方、選択肢、離脱（2/2）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Listening, Choices, and Disengaging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やってはいけないこと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Not to Do</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・命令口調。「下がってください」を繰り返す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commanding tone. Repeating "step back"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・「落ち着いてください」と言う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Saying "please calm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・指差し、腕組み、ため息、笑う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Pointing, folded arms, sighing, laughing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・自分の意見や会社の見解を述べる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Giving your own opinion or the company's position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離脱の判断</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When to Disengage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volume keeps rising. The same phrase repeats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They close the distance, grip an object, or stare fixedly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order is: disengage, call for backup, report to police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・効果が見られない場合は離脱する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it is not working, disengage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ソーシャルエンジニアリング（1/2）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Social Engineering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recognise attempts to make you skip a procedure, and phrase a return to it.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典型的な手口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Common Approaches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Authority: "the director is expecting me", "it is already approved"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・緊急 ―「今すぐ通さないと損害が出る」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Urgency: "if you delay me it will cost the company"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Familiarity: "they let me through last time", "I know Mr 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・同情 ―「雨で困っている」「体調が悪い」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Sympathy: "I am soaked", "I am unwell"</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物理的な手口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Physical Methods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・共連れ。荷物を抱えて後ろにつく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Tailgating: following behind with full hands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・業者を装う。作業着、台車、工具箱</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Posing as a contractor: workwear, trolley, toolbox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・交代時間や混雑時間を狙う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Timing the approach for shift change or peak flow</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・喫煙所や搬入口など、正面以外から入る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Entering by smoking areas or loading bays rather than the front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ソーシャルエンジニアリング（2/2）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Social Engineering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対応</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How to Respond</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・手続きに戻す。これが唯一の対応である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Return to the procedure. That is the single answer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・確認を求めることは失礼ではない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Asking to verify is not rude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・例外を作らない。一度作ると前例になる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Make no exception. One exception becomes a precedent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you cannot decide, do not admit them. Check with your supervisor</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言い方の例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Phrases to Use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"Let me check. Could you wait here?"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"Which department are you visiting? May I have the name?"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・「規則です」ではなく「確認が必要です」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Not "it is the rule", but "this needs to be verified"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・断る場合も、代わりにできることを示す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When you refuse, say what you can do instead</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特定の相手への対応（1/2）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Specific Types of Encounter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distinguish how to handle former employees, press, complaints, and people who are unwell.</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元従業員</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Former Employees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・退職した時点で来訪者である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Once they have left, they are a visitor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Return them to the visitor process. Knowing them is not an exception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engage with why they left. Do not become their audience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Refer to HR. Do not respond to emotional statements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報道関係者</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Press and Media</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・敷地内では取材に応じない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interviews on company property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・広報へ取り次ぐ。窓口を一本化する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Refer to Communications. Keep a single channel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 am not in a position to comment" is enough</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・撮影されている前提で行動する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Act on the assumption that you are being filmed</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特定の相手への対応（2/2）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Specific Types of Encounter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クレーム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Complaints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・最後まで聞く。途中で結論を出さない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Listen to the end. Do not conclude midway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・会社の見解をその場で作らない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invent the company's position on the spot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Make no promises. Say only that you will check and reply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Record what was said, with the time and the actual words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体調不良・不穏な様子</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Unwell or Agitated</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・無理に立たせない、歩かせない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make them stand or walk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Check consciousness and breathing. If unsure, call for an ambulance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・飲食物を与えない。薬を渡さない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give food, drink or medication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・人を指名して応援と通報を依頼する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Name a specific person to call for help and for the ambulance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5-A　入館手続きを拒む来訪者</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5-A — A Visitor Refusing to Sign In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Which of these would you say, and why not the others?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 "Rules are rules." B: "I will check right away. Could you wait here?"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 "Please calm down." D: "Which executive? Give me the name and I will connect you."</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same family name on the list justify admitting them?</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does the presence of other visitors change your response?</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point a smartphone at you and start filming.</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別の来訪者が横から「その対応はおかしいんじゃないの」と割って入った。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Another visitor cuts in: "Isn't that the wrong way to handle it?"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A と B、どちらを選ぶか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Choose B. A is a bare refusal that leaves the person no way to step back.</a:t>
            </a:r>
            <a:endParaRPr lang="en-US" sz="1150" dirty="0"/>
          </a:p>
        </p:txBody>
      </p:sp>
      <p:sp>
        <p:nvSpPr>
          <p:cNvPr id="10" name="Shape 7"/>
          <p:cNvSpPr/>
          <p:nvPr/>
        </p:nvSpPr>
        <p:spPr>
          <a:xfrm>
            <a:off x="640080" y="1931670"/>
            <a:ext cx="10911535" cy="715518"/>
          </a:xfrm>
          <a:prstGeom prst="roundRect">
            <a:avLst>
              <a:gd name="adj" fmla="val 5112"/>
            </a:avLst>
          </a:prstGeom>
          <a:solidFill>
            <a:srgbClr val="E4F4F0"/>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C と D、どちらを選ぶか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Choose D. C denies how they feel. The best sequence is B, then D.</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予定表の同姓は根拠になるか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It could be a different person with the same name. Do not conclude — ask the name and verify.</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周囲に来訪者がいることは</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 Reputation issue. You lower your voice first, and move them to a waiting area.</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respond. Do not invent a company position. Do not add parties to the exchange.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5-B　退去に応じない元従業員</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5-B — A Former Employee Who Will Not Leave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On what basis do you ask them to leave? Whose intent does it rest 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use physical force on someone who has sat down?</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the watching employees bear on People and Reputation?</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call the police, at what point, and what do you say?</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begin loudly saying they were unfairly dismissed.</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通りかかった社員の一人が「私が話しますよ」と間に入ろうとした。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 passing employee offers: "Let me talk to them."</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4F4F0"/>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退去を求める根拠、誰の意思か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It rests on the site authority's intent. A guard does not order it on their own judgement.</a:t>
            </a:r>
            <a:endParaRPr lang="en-US" sz="1150" dirty="0"/>
          </a:p>
        </p:txBody>
      </p:sp>
      <p:sp>
        <p:nvSpPr>
          <p:cNvPr id="10" name="Shape 7"/>
          <p:cNvSpPr/>
          <p:nvPr/>
        </p:nvSpPr>
        <p:spPr>
          <a:xfrm>
            <a:off x="640080" y="2073402"/>
            <a:ext cx="10911535" cy="857250"/>
          </a:xfrm>
          <a:prstGeom prst="roundRect">
            <a:avLst>
              <a:gd name="adj" fmla="val 4267"/>
            </a:avLst>
          </a:prstGeom>
          <a:solidFill>
            <a:srgbClr val="E4F4F0"/>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有形力を用いてよいか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Pulling them up or grabbing an arm can be assault. Force is not available here.</a:t>
            </a:r>
            <a:endParaRPr lang="en-US" sz="1150" dirty="0"/>
          </a:p>
        </p:txBody>
      </p:sp>
      <p:sp>
        <p:nvSpPr>
          <p:cNvPr id="14" name="Shape 11"/>
          <p:cNvSpPr/>
          <p:nvPr/>
        </p:nvSpPr>
        <p:spPr>
          <a:xfrm>
            <a:off x="640080" y="3031236"/>
            <a:ext cx="10911535" cy="857250"/>
          </a:xfrm>
          <a:prstGeom prst="roundRect">
            <a:avLst>
              <a:gd name="adj" fmla="val 4267"/>
            </a:avLst>
          </a:prstGeom>
          <a:solidFill>
            <a:srgbClr val="EFF4F8"/>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見ている社員がいることは</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Both People and Reputation are in play. Do not let a crowd form.</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いつ通報するか、何を伝えるか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engage with the content. "I am not in a position to comment" is enough. Refer to HR.</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2026-08-10T22:51:40Z</dcterms:created>
  <dcterms:modified xsi:type="dcterms:W3CDTF">2026-08-10T22:51:40Z</dcterms:modified>
</cp:coreProperties>
</file>