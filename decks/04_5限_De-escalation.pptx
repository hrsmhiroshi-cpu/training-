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第5時限　11:30 – 12:30　業務別教育2</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5 — Task-Specific Training 2</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De-escalation</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対人対応の知識及び技能</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De-escalation — Interpersonal Response Skills</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前提 ― 警備員の権限と、警察との違い（1/2）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Foundation — A Guard's Authority, and How It Differs from the Police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有形力を使えない理由を法令で説明でき、だから対話で収める必要があることを理解する。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explain in law why you cannot use force, and therefore why the situation must be settled by talking.</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警備業法 第15条</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Security Services Act, Article 15</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・この法律により特別に権限を与えられているものではない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This Act confers no special authority on you</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・他人の権利及び自由を侵害してはならない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You must not infringe the rights or freedoms of others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・警備員の法的な立場は私人。制服により権限は加わらない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 guard is a private citizen in law. The uniform adds no authority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・第16条 ― 服装は警察官など公務員の制服と明確に識別できること</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Art. 16 — the uniform must be clearly distinguishable from a public official's</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警察官にあって、警備員にない権限</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Powers the Police Have and You Do Not</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・職務質問（警職法2条）、保護（3条）</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Stop and question (Art. 2), protective custody (Art. 3)</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・避難等の措置（4条）、犯罪の予防及び制止（5条）</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Order evacuation (Art. 4), prevent and stop a crime (Art. 5)</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・立入（6条）、武器の使用（7条）</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Enter premises (Art. 6), use weapons (Art. 7)</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・逮捕状による逮捕、取り調べ。いずれも警備員にはない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Arrest by warrant, and interrogation. A guard has none of these</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護身用具の有無、応援要請の方法、通報の判断者は現場ごとに異なる。Site SOPに従う。</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Protective equipment, how to call backup, and who decides on a police call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前提 ― 警備員の権限と、警察との違い（2/2）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Foundation — A Guard's Authority, and How It Differs from the Police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権限の根拠は2つだけ</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Only Two Sources of Authority</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・誰でもできること ― 現行犯逮捕、正当防衛、緊急避難</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What anyone may do: citizen's arrest, self-defence, necessity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・委ねられたこと ― 入館の可否、退去の要請、立入制限、記録</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What is delegated: admission, requests to leave, access limits, records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・できないこと ― 所持品検査の強制、取り調べ、実力での取戻し</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Not available: forced bag checks, interrogation, recovery by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・越えた場合 ― 逮捕監禁罪、暴行罪、傷害罪、強要罪</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If you exceed it: unlawful confinement, assault, injury, coercion</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有形力の段階</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The Steps of Physical Force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・声をかける。有形力ではない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Speaking to someone. Not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・立ち位置で示す。まだ有形力ではない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Positioning yourself. Still not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・進路に立ちふさがる。ここが境界</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Blocking the path. This is the boundary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・触れる、つかむ。正当防衛か現行犯逮捕に伴う場合に限る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Touching or seizing. Only incidental to self-defence or a lawful arrest</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護身用具の有無、応援要請の方法、通報の判断者は現場ごとに異なる。Site SOPに従う。</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Protective equipment, how to call backup, and who decides on a police call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日本の法律用語（1/2）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日本国内では日本の法律が適用されます。母国の制度と同じとは限りません。</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Japanese law applies in Japan. It may differ from the system in your home country.</a:t>
            </a:r>
            <a:endParaRPr lang="en-US" sz="1300" dirty="0"/>
          </a:p>
        </p:txBody>
      </p:sp>
      <p:sp>
        <p:nvSpPr>
          <p:cNvPr id="5" name="Shape 2"/>
          <p:cNvSpPr/>
          <p:nvPr/>
        </p:nvSpPr>
        <p:spPr>
          <a:xfrm>
            <a:off x="640080" y="3209544"/>
            <a:ext cx="5318608" cy="932688"/>
          </a:xfrm>
          <a:prstGeom prst="roundRect">
            <a:avLst>
              <a:gd name="adj" fmla="val 3922"/>
            </a:avLst>
          </a:prstGeom>
          <a:solidFill>
            <a:srgbClr val="EFF4F8"/>
          </a:solidFill>
          <a:ln/>
        </p:spPr>
      </p:sp>
      <p:sp>
        <p:nvSpPr>
          <p:cNvPr id="6" name="Shape 3"/>
          <p:cNvSpPr/>
          <p:nvPr/>
        </p:nvSpPr>
        <p:spPr>
          <a:xfrm>
            <a:off x="822960" y="3511296"/>
            <a:ext cx="329184" cy="329184"/>
          </a:xfrm>
          <a:prstGeom prst="ellipse">
            <a:avLst/>
          </a:prstGeom>
          <a:solidFill>
            <a:srgbClr val="093259"/>
          </a:solidFill>
          <a:ln/>
        </p:spPr>
      </p:sp>
      <p:sp>
        <p:nvSpPr>
          <p:cNvPr id="7" name="Text 4"/>
          <p:cNvSpPr/>
          <p:nvPr/>
        </p:nvSpPr>
        <p:spPr>
          <a:xfrm>
            <a:off x="822960"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私人　shijin ― 警備員も法的には私人。</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Private citizen. Your legal status, even in uniform.</a:t>
            </a:r>
            <a:endParaRPr lang="en-US" sz="1500" dirty="0"/>
          </a:p>
        </p:txBody>
      </p:sp>
      <p:sp>
        <p:nvSpPr>
          <p:cNvPr id="9" name="Shape 6"/>
          <p:cNvSpPr/>
          <p:nvPr/>
        </p:nvSpPr>
        <p:spPr>
          <a:xfrm>
            <a:off x="6233008" y="3209544"/>
            <a:ext cx="5318608" cy="932688"/>
          </a:xfrm>
          <a:prstGeom prst="roundRect">
            <a:avLst>
              <a:gd name="adj" fmla="val 3922"/>
            </a:avLst>
          </a:prstGeom>
          <a:solidFill>
            <a:srgbClr val="EFF4F8"/>
          </a:solidFill>
          <a:ln/>
        </p:spPr>
      </p:sp>
      <p:sp>
        <p:nvSpPr>
          <p:cNvPr id="10" name="Shape 7"/>
          <p:cNvSpPr/>
          <p:nvPr/>
        </p:nvSpPr>
        <p:spPr>
          <a:xfrm>
            <a:off x="6415888" y="3511296"/>
            <a:ext cx="329184" cy="329184"/>
          </a:xfrm>
          <a:prstGeom prst="ellipse">
            <a:avLst/>
          </a:prstGeom>
          <a:solidFill>
            <a:srgbClr val="093259"/>
          </a:solidFill>
          <a:ln/>
        </p:spPr>
      </p:sp>
      <p:sp>
        <p:nvSpPr>
          <p:cNvPr id="11" name="Text 8"/>
          <p:cNvSpPr/>
          <p:nvPr/>
        </p:nvSpPr>
        <p:spPr>
          <a:xfrm>
            <a:off x="6415888" y="351129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3282696"/>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管理権者　kanri-kensha ― 施設を管理する権限をもつ者。</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The site authority. Your powers come from them.</a:t>
            </a:r>
            <a:endParaRPr lang="en-US" sz="1500" dirty="0"/>
          </a:p>
        </p:txBody>
      </p:sp>
      <p:sp>
        <p:nvSpPr>
          <p:cNvPr id="13" name="Shape 10"/>
          <p:cNvSpPr/>
          <p:nvPr/>
        </p:nvSpPr>
        <p:spPr>
          <a:xfrm>
            <a:off x="640080" y="4288536"/>
            <a:ext cx="5318608" cy="932688"/>
          </a:xfrm>
          <a:prstGeom prst="roundRect">
            <a:avLst>
              <a:gd name="adj" fmla="val 3922"/>
            </a:avLst>
          </a:prstGeom>
          <a:solidFill>
            <a:srgbClr val="EFF4F8"/>
          </a:solidFill>
          <a:ln/>
        </p:spPr>
      </p:sp>
      <p:sp>
        <p:nvSpPr>
          <p:cNvPr id="14" name="Shape 11"/>
          <p:cNvSpPr/>
          <p:nvPr/>
        </p:nvSpPr>
        <p:spPr>
          <a:xfrm>
            <a:off x="822960" y="4590288"/>
            <a:ext cx="329184" cy="329184"/>
          </a:xfrm>
          <a:prstGeom prst="ellipse">
            <a:avLst/>
          </a:prstGeom>
          <a:solidFill>
            <a:srgbClr val="093259"/>
          </a:solidFill>
          <a:ln/>
        </p:spPr>
      </p:sp>
      <p:sp>
        <p:nvSpPr>
          <p:cNvPr id="15" name="Text 12"/>
          <p:cNvSpPr/>
          <p:nvPr/>
        </p:nvSpPr>
        <p:spPr>
          <a:xfrm>
            <a:off x="822960"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現行犯逮捕　genkōhan-taiho ― 明白かつ直後であること。</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Flagrant-offender arrest. Must be obvious and immediate.</a:t>
            </a:r>
            <a:endParaRPr lang="en-US" sz="1500" dirty="0"/>
          </a:p>
        </p:txBody>
      </p:sp>
      <p:sp>
        <p:nvSpPr>
          <p:cNvPr id="17" name="Shape 14"/>
          <p:cNvSpPr/>
          <p:nvPr/>
        </p:nvSpPr>
        <p:spPr>
          <a:xfrm>
            <a:off x="6233008" y="4288536"/>
            <a:ext cx="5318608" cy="932688"/>
          </a:xfrm>
          <a:prstGeom prst="roundRect">
            <a:avLst>
              <a:gd name="adj" fmla="val 3922"/>
            </a:avLst>
          </a:prstGeom>
          <a:solidFill>
            <a:srgbClr val="EFF4F8"/>
          </a:solidFill>
          <a:ln/>
        </p:spPr>
      </p:sp>
      <p:sp>
        <p:nvSpPr>
          <p:cNvPr id="18" name="Shape 15"/>
          <p:cNvSpPr/>
          <p:nvPr/>
        </p:nvSpPr>
        <p:spPr>
          <a:xfrm>
            <a:off x="6415888" y="4590288"/>
            <a:ext cx="329184" cy="329184"/>
          </a:xfrm>
          <a:prstGeom prst="ellipse">
            <a:avLst/>
          </a:prstGeom>
          <a:solidFill>
            <a:srgbClr val="093259"/>
          </a:solidFill>
          <a:ln/>
        </p:spPr>
      </p:sp>
      <p:sp>
        <p:nvSpPr>
          <p:cNvPr id="19" name="Text 16"/>
          <p:cNvSpPr/>
          <p:nvPr/>
        </p:nvSpPr>
        <p:spPr>
          <a:xfrm>
            <a:off x="6415888" y="459028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4361688"/>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正当防衛　seitō-bōei ― 侵害が終われば終わる。</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Self-defence. It ends when the attack ends.</a:t>
            </a:r>
            <a:endParaRPr lang="en-US" sz="1500" dirty="0"/>
          </a:p>
        </p:txBody>
      </p:sp>
      <p:sp>
        <p:nvSpPr>
          <p:cNvPr id="21" name="Text 1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2" name="Text 1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日本の法律用語（2/2）</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Japanese Legal Terms</a:t>
            </a:r>
            <a:endParaRPr lang="en-US" sz="2700" dirty="0"/>
          </a:p>
        </p:txBody>
      </p:sp>
      <p:sp>
        <p:nvSpPr>
          <p:cNvPr id="4" name="Shape 1"/>
          <p:cNvSpPr/>
          <p:nvPr/>
        </p:nvSpPr>
        <p:spPr>
          <a:xfrm>
            <a:off x="640080" y="2926080"/>
            <a:ext cx="5318608" cy="932688"/>
          </a:xfrm>
          <a:prstGeom prst="roundRect">
            <a:avLst>
              <a:gd name="adj" fmla="val 3922"/>
            </a:avLst>
          </a:prstGeom>
          <a:solidFill>
            <a:srgbClr val="EFF4F8"/>
          </a:solidFill>
          <a:ln/>
        </p:spPr>
      </p:sp>
      <p:sp>
        <p:nvSpPr>
          <p:cNvPr id="5" name="Shape 2"/>
          <p:cNvSpPr/>
          <p:nvPr/>
        </p:nvSpPr>
        <p:spPr>
          <a:xfrm>
            <a:off x="822960" y="3227832"/>
            <a:ext cx="329184" cy="329184"/>
          </a:xfrm>
          <a:prstGeom prst="ellipse">
            <a:avLst/>
          </a:prstGeom>
          <a:solidFill>
            <a:srgbClr val="093259"/>
          </a:solidFill>
          <a:ln/>
        </p:spPr>
      </p:sp>
      <p:sp>
        <p:nvSpPr>
          <p:cNvPr id="6" name="Text 3"/>
          <p:cNvSpPr/>
          <p:nvPr/>
        </p:nvSpPr>
        <p:spPr>
          <a:xfrm>
            <a:off x="822960"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4"/>
          <p:cNvSpPr/>
          <p:nvPr/>
        </p:nvSpPr>
        <p:spPr>
          <a:xfrm>
            <a:off x="1243584"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緊急避難　kinkyū-hinan ― 害の釣り合いが必要。</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Necessity. Harm caused must not exceed harm avoided.</a:t>
            </a:r>
            <a:endParaRPr lang="en-US" sz="1500" dirty="0"/>
          </a:p>
        </p:txBody>
      </p:sp>
      <p:sp>
        <p:nvSpPr>
          <p:cNvPr id="8" name="Shape 5"/>
          <p:cNvSpPr/>
          <p:nvPr/>
        </p:nvSpPr>
        <p:spPr>
          <a:xfrm>
            <a:off x="6233008" y="2926080"/>
            <a:ext cx="5318608" cy="932688"/>
          </a:xfrm>
          <a:prstGeom prst="roundRect">
            <a:avLst>
              <a:gd name="adj" fmla="val 3922"/>
            </a:avLst>
          </a:prstGeom>
          <a:solidFill>
            <a:srgbClr val="EFF4F8"/>
          </a:solidFill>
          <a:ln/>
        </p:spPr>
      </p:sp>
      <p:sp>
        <p:nvSpPr>
          <p:cNvPr id="9" name="Shape 6"/>
          <p:cNvSpPr/>
          <p:nvPr/>
        </p:nvSpPr>
        <p:spPr>
          <a:xfrm>
            <a:off x="6415888" y="3227832"/>
            <a:ext cx="329184" cy="329184"/>
          </a:xfrm>
          <a:prstGeom prst="ellipse">
            <a:avLst/>
          </a:prstGeom>
          <a:solidFill>
            <a:srgbClr val="093259"/>
          </a:solidFill>
          <a:ln/>
        </p:spPr>
      </p:sp>
      <p:sp>
        <p:nvSpPr>
          <p:cNvPr id="10" name="Text 7"/>
          <p:cNvSpPr/>
          <p:nvPr/>
        </p:nvSpPr>
        <p:spPr>
          <a:xfrm>
            <a:off x="6415888" y="322783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8"/>
          <p:cNvSpPr/>
          <p:nvPr/>
        </p:nvSpPr>
        <p:spPr>
          <a:xfrm>
            <a:off x="6836512" y="2999232"/>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自救行為　jikyū-kōi ― 日本では原則認められない。</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Self-help. As a rule, not permitted in Japan.</a:t>
            </a:r>
            <a:endParaRPr lang="en-US" sz="1500" dirty="0"/>
          </a:p>
        </p:txBody>
      </p:sp>
      <p:sp>
        <p:nvSpPr>
          <p:cNvPr id="12" name="Shape 9"/>
          <p:cNvSpPr/>
          <p:nvPr/>
        </p:nvSpPr>
        <p:spPr>
          <a:xfrm>
            <a:off x="640080" y="4005072"/>
            <a:ext cx="5318608" cy="932688"/>
          </a:xfrm>
          <a:prstGeom prst="roundRect">
            <a:avLst>
              <a:gd name="adj" fmla="val 3922"/>
            </a:avLst>
          </a:prstGeom>
          <a:solidFill>
            <a:srgbClr val="EFF4F8"/>
          </a:solidFill>
          <a:ln/>
        </p:spPr>
      </p:sp>
      <p:sp>
        <p:nvSpPr>
          <p:cNvPr id="13" name="Shape 10"/>
          <p:cNvSpPr/>
          <p:nvPr/>
        </p:nvSpPr>
        <p:spPr>
          <a:xfrm>
            <a:off x="822960" y="4306824"/>
            <a:ext cx="329184" cy="329184"/>
          </a:xfrm>
          <a:prstGeom prst="ellipse">
            <a:avLst/>
          </a:prstGeom>
          <a:solidFill>
            <a:srgbClr val="093259"/>
          </a:solidFill>
          <a:ln/>
        </p:spPr>
      </p:sp>
      <p:sp>
        <p:nvSpPr>
          <p:cNvPr id="14" name="Text 11"/>
          <p:cNvSpPr/>
          <p:nvPr/>
        </p:nvSpPr>
        <p:spPr>
          <a:xfrm>
            <a:off x="822960"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2"/>
          <p:cNvSpPr/>
          <p:nvPr/>
        </p:nvSpPr>
        <p:spPr>
          <a:xfrm>
            <a:off x="1243584"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有形力　yūkeiryoku ― 相手に触れた時点で有形力。</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Physical force. Touching the person is already force.</a:t>
            </a:r>
            <a:endParaRPr lang="en-US" sz="1500" dirty="0"/>
          </a:p>
        </p:txBody>
      </p:sp>
      <p:sp>
        <p:nvSpPr>
          <p:cNvPr id="16" name="Shape 13"/>
          <p:cNvSpPr/>
          <p:nvPr/>
        </p:nvSpPr>
        <p:spPr>
          <a:xfrm>
            <a:off x="6233008" y="4005072"/>
            <a:ext cx="5318608" cy="932688"/>
          </a:xfrm>
          <a:prstGeom prst="roundRect">
            <a:avLst>
              <a:gd name="adj" fmla="val 3922"/>
            </a:avLst>
          </a:prstGeom>
          <a:solidFill>
            <a:srgbClr val="EFF4F8"/>
          </a:solidFill>
          <a:ln/>
        </p:spPr>
      </p:sp>
      <p:sp>
        <p:nvSpPr>
          <p:cNvPr id="17" name="Shape 14"/>
          <p:cNvSpPr/>
          <p:nvPr/>
        </p:nvSpPr>
        <p:spPr>
          <a:xfrm>
            <a:off x="6415888" y="4306824"/>
            <a:ext cx="329184" cy="329184"/>
          </a:xfrm>
          <a:prstGeom prst="ellipse">
            <a:avLst/>
          </a:prstGeom>
          <a:solidFill>
            <a:srgbClr val="093259"/>
          </a:solidFill>
          <a:ln/>
        </p:spPr>
      </p:sp>
      <p:sp>
        <p:nvSpPr>
          <p:cNvPr id="18" name="Text 15"/>
          <p:cNvSpPr/>
          <p:nvPr/>
        </p:nvSpPr>
        <p:spPr>
          <a:xfrm>
            <a:off x="6415888" y="430682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9" name="Text 16"/>
          <p:cNvSpPr/>
          <p:nvPr/>
        </p:nvSpPr>
        <p:spPr>
          <a:xfrm>
            <a:off x="6836512" y="4078224"/>
            <a:ext cx="4477360" cy="786384"/>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不退去　futaikyo ― 退去要請は管理権者の意思による。</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Refusing to leave. The request must come from the authority.</a:t>
            </a:r>
            <a:endParaRPr lang="en-US" sz="150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De-escalation の基本（1/2）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Basics of De-escalation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De-escalationの目的を述べ、距離・姿勢・声の3点を実演できる。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state the aim of de-escalation, and demonstrate space, stance and voice.</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目的</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The Aim</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・有形力を使わずに、緊張を下げる技術である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 method of lowering tension without using physical force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・目的は、その場を安全に終えること</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 aim is to end the situation safely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・相手を言い負かすことではない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It is not to win the exchange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・警備員の権限が限られているからこそ、技術が必要になる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Precisely because a guard's powers are limited, the skill is necessary</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距離</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Space</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・手が届かない距離を保つ。目安は1.5から2メートル</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Stay beyond arm's reach. About 1.5 to 2 metres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・相手の背後や、逃げ道をふさぐ位置に立たない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stand behind them, or where you block their exit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・自分の退路を確保しておく</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Keep your own way out clear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・複数人で対応する場合も、囲まない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Even with several guards, do not surround the person</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応援要請の方法と、対応を交代する基準は現場ごとに異なる。Site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for backup, and when to hand over, differ by site. Check the Site SOP.</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De-escalation の基本（2/2）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Basics of De-escalation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姿勢</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Stance</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・正対しない。半身で立つ</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stand square on. Stand at an angle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・手は相手から見える位置に置く。腕を組まない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Keep your hands visible. Do not fold your arms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・指を差さない。物を持ったまま話さない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point. Do not talk while holding an object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・相手が座っている場合は、目線を近づける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If they are seated, bring your eye level closer to theirs</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声</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Voice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・トーン、速度、音量を下げる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Lower your tone, speed and volume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・相手より大きな声を出さない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speak louder than the other person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・沈黙があってよい。間を埋めようとしない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Silence is acceptable. Do not rush to fill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・外国語で話す場合も、速度を落とせば伝わる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If you speak in another language, slowing down carries more than fluency</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応援要請の方法と、対応を交代する基準は現場ごとに異なる。Site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to call for backup, and when to hand over, differ by site. Check the Site SOP.</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聞き方、選択肢、離脱（1/2）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Listening, Choices, and Disengaging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相手が引き下がれる形をつくれる。効果がない場合に離脱を判断できる。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create a way for the person to step back, and decide when to disengage.</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聞き方</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How to Listen</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・遮らずに最後まで聞く</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Listen to the end without interrupting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・内容を要約して返す。「◯◯ということですね」</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Summarise it back: "So the issue is X"</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・承認は同意ではない。理解したことだけを伝える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Acknowledging is not agreeing. Say only that you understood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・「規則ですから」で会話を打ち切らない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end the conversation with "those are the rules"</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選択肢の示し方</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Offering Choices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・引き下がれる形を残す。追い詰めない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Leave a way to step back. Do not corner them</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・選択肢を2つ示す。どちらも手続きの範囲内であること</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Offer two options. Both must be inside the procedure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・拒否ではなく、手続きへの誘導として伝える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Frame it as a route into the process, not as a refusal</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・急がない。時間をかけてよい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rush. You may take time</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離脱後の通報基準と、クライアントへの報告方法は現場ごとに異なる。Site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When to call police after disengaging, and how to inform the client,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聞き方、選択肢、離脱（2/2）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Listening, Choices, and Disengaging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やってはいけないこと</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What Not to Do</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・命令口調。「下がってください」を繰り返す</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 commanding tone. Repeating "step back"</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・「落ち着いてください」と言う</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Saying "please calm down"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・指差し、腕組み、ため息、笑う</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Pointing, folded arms, sighing, laughing</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・自分の意見や会社の見解を述べる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Giving your own opinion or the company's position</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離脱の判断</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When to Disengage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・声が大きくなり続ける。同じ言葉を繰り返す</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 volume keeps rising. The same phrase repeats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・距離を詰めてくる。持ち物を握りしめる。視線を外さない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They close the distance, grip an object, or stare fixedly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・順序は、離脱する、応援を要請する、通報する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 order is: disengage, call for backup, report to police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・効果が見られない場合は離脱する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If it is not working, disengage</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離脱後の通報基準と、クライアントへの報告方法は現場ごとに異なる。Site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When to call police after disengaging, and how to inform the client,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ソーシャルエンジニアリング（1/2）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Social Engineering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手続きを省略させようとする働きかけを見分け、手続きに戻す言い方ができる。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recognise attempts to make you skip a procedure, and phrase a return to it.</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典型的な手口</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Common Approaches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・権威 ―「役員に呼ばれている」「上の許可は取ってある」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Authority: "the director is expecting me", "it is already approved"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・緊急 ―「今すぐ通さないと損害が出る」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Urgency: "if you delay me it will cost the company"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・親近感 ―「前も通してもらった」「◯◯さんの知り合いだ」</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Familiarity: "they let me through last time", "I know Mr X"</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・同情 ―「雨で困っている」「体調が悪い」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Sympathy: "I am soaked", "I am unwell"</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物理的な手口</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Physical Methods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・共連れ。荷物を抱えて後ろにつく</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Tailgating: following behind with full hands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・業者を装う。作業着、台車、工具箱</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Posing as a contractor: workwear, trolley, toolbox</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・交代時間や混雑時間を狙う</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Timing the approach for shift change or peak flow</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・喫煙所や搬入口など、正面以外から入る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Entering by smoking areas or loading bays rather than the front</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来訪者の確認方法、例外の承認者、緊急時の入館手順は現場ごとに異なる。Site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Visitor verification, who may approve exceptions, and emergency entry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ソーシャルエンジニアリング（2/2）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Social Engineering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対応</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How to Respond</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・手続きに戻す。これが唯一の対応である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Return to the procedure. That is the single answer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・確認を求めることは失礼ではない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Asking to verify is not rude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・例外を作らない。一度作ると前例になる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Make no exception. One exception becomes a precedent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・判断できない場合は、通さずに上長へ確認する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If you cannot decide, do not admit them. Check with your supervisor</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言い方の例</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Phrases to Use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・「確認いたしますので、こちらでお待ちいただけますか」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"Let me check. Could you wait here?"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・「どちらの部署の方でしょうか。お名前を伺えますか」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"Which department are you visiting? May I have the name?"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・「規則です」ではなく「確認が必要です」</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Not "it is the rule", but "this needs to be verified"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・断る場合も、代わりにできることを示す</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When you refuse, say what you can do instead</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来訪者の確認方法、例外の承認者、緊急時の入館手順は現場ごとに異なる。Site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Visitor verification, who may approve exceptions, and emergency entry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特定の相手への対応（1/2）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Specific Types of Encounter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元従業員、報道関係者、クレーム、体調不良者への対応を分けて説明できる。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distinguish how to handle former employees, press, complaints, and people who are unwell.</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元従業員</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Former Employees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・退職した時点で来訪者である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Once they have left, they are a visitor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・入館手続きに戻す。顔を知っていても例外を作らない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Return them to the visitor process. Knowing them is not an exception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・退職の経緯には立ち入らない。話を聞く相手にならない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engage with why they left. Do not become their audience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・人事へ取り次ぐ。感情的な発言には応答しない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Refer to HR. Do not respond to emotional statements</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報道関係者</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Press and Media</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・敷地内では取材に応じない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No interviews on company property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・広報へ取り次ぐ。窓口を一本化する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Refer to Communications. Keep a single channel</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・「お答えできる立場にありません」で足りる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 am not in a position to comment" is enough</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・撮影されている前提で行動する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Act on the assumption that you are being filmed</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広報窓口、人事窓口、救急対応の連絡先は現場ごとに異なる。Site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Contacts for communications, HR and medical response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特定の相手への対応（2/2）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Specific Types of Encounter</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B4</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クレーム</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Complaints</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・最後まで聞く。途中で結論を出さない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Listen to the end. Do not conclude midway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・会社の見解をその場で作らない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invent the company's position on the spot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・約束をしない。「確認して回答します」に留める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Make no promises. Say only that you will check and reply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・発言内容を記録する。時刻と言葉をそのまま残す</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Record what was said, with the time and the actual words</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体調不良・不穏な様子</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Unwell or Agitated</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・無理に立たせない、歩かせない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make them stand or walk</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・意識と呼吸を確認する。判断に迷えば救急要請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Check consciousness and breathing. If unsure, call for an ambulance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・飲食物を与えない。薬を渡さない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give food, drink or medication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・人を指名して応援と通報を依頼する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Name a specific person to call for help and for the ambulance</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広報窓口、人事窓口、救急対応の連絡先は現場ごとに異なる。Site SOPを確認する。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Contacts for communications, HR and medical response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5-A　入館手続きを拒む来訪者</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5-A — A Visitor Refusing to Sign In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来訪者が「役員に呼ばれている、急いでいる」と述べ、入館手続きを拒んでいる。来訪予定表に同姓の記載はあるが、当該役員に電話がつながらない。声はやや大きく、周囲の来訪者が振り返っている。</a:t>
            </a:r>
            <a:endParaRPr lang="en-US" sz="1100" dirty="0"/>
          </a:p>
          <a:p>
            <a:pPr indent="0" marL="0">
              <a:lnSpc>
                <a:spcPct val="92000"/>
              </a:lnSpc>
              <a:buNone/>
            </a:pPr>
            <a:r>
              <a:rPr lang="en-US" sz="1350" dirty="0">
                <a:solidFill>
                  <a:srgbClr val="DCEFEB"/>
                </a:solidFill>
                <a:latin typeface="Calibri" pitchFamily="34" charset="0"/>
                <a:ea typeface="Calibri" pitchFamily="34" charset="-122"/>
                <a:cs typeface="Calibri" pitchFamily="34" charset="-120"/>
              </a:rPr>
              <a:t>A visitor says an executive is expecting them and refuses to sign in. The visitor list shows the same family name, but the executive is not answering. Their voice is raised and other visitors are looking.</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次の台詞のうちどれを選び、なぜ他は選ばないですか。</a:t>
            </a:r>
            <a:endParaRPr lang="en-US" sz="1200" dirty="0"/>
          </a:p>
          <a:p>
            <a:pPr indent="0" marL="0">
              <a:lnSpc>
                <a:spcPct val="90000"/>
              </a:lnSpc>
              <a:buNone/>
            </a:pPr>
            <a:r>
              <a:rPr lang="en-US" sz="1350" dirty="0">
                <a:solidFill>
                  <a:srgbClr val="1B2733"/>
                </a:solidFill>
                <a:latin typeface="Calibri" pitchFamily="34" charset="0"/>
                <a:ea typeface="Calibri" pitchFamily="34" charset="-122"/>
                <a:cs typeface="Calibri" pitchFamily="34" charset="-120"/>
              </a:rPr>
              <a:t>Which of these would you say, and why not the others?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A「規則ですので通せません」　B「すぐ確認いたしますので、こちらでお待ちいただけますか」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A: "Rules are rules." B: "I will check right away. Could you wait here?"</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C「落ち着いてください」　D「どちらの役員でしょうか。お名前を伺えれば、お繋ぎします」</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C: "Please calm down." D: "Which executive? Give me the name and I will connect you."</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予定表に同姓の記載があることは、通す根拠になるか。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Does the same family name on the list justify admitting them?</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周囲に来訪者がいることは、対応をどう変えるか。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How does the presence of other visitors change your response?</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相手がスマートフォンを向け、撮影を始めた。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They point a smartphone at you and start filming.</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別の来訪者が横から「その対応はおかしいんじゃないの」と割って入った。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Another visitor cuts in: "Isn't that the wrong way to handle it?"</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来訪者の確認方法と、例外を認められる者は現場ごとに異なる。Site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Verification methods and who may approve an exception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5-A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5-A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4F4F0"/>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A と B、どちらを選ぶか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B を選ぶ。A は拒否のみで、相手が引き下がれる形が残らない。</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Choose B. A is a bare refusal that leaves the person no way to step back.</a:t>
            </a:r>
            <a:endParaRPr lang="en-US" sz="1150" dirty="0"/>
          </a:p>
        </p:txBody>
      </p:sp>
      <p:sp>
        <p:nvSpPr>
          <p:cNvPr id="10" name="Shape 7"/>
          <p:cNvSpPr/>
          <p:nvPr/>
        </p:nvSpPr>
        <p:spPr>
          <a:xfrm>
            <a:off x="640080" y="1931670"/>
            <a:ext cx="10911535" cy="715518"/>
          </a:xfrm>
          <a:prstGeom prst="roundRect">
            <a:avLst>
              <a:gd name="adj" fmla="val 5112"/>
            </a:avLst>
          </a:prstGeom>
          <a:solidFill>
            <a:srgbClr val="E4F4F0"/>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C と D、どちらを選ぶか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D を選ぶ。C は相手の状態を否定している。最良は B のあと D。</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Choose D. C denies how they feel. The best sequence is B, then D.</a:t>
            </a:r>
            <a:endParaRPr lang="en-US" sz="1150" dirty="0"/>
          </a:p>
        </p:txBody>
      </p:sp>
      <p:sp>
        <p:nvSpPr>
          <p:cNvPr id="14" name="Shape 11"/>
          <p:cNvSpPr/>
          <p:nvPr/>
        </p:nvSpPr>
        <p:spPr>
          <a:xfrm>
            <a:off x="640080" y="2747772"/>
            <a:ext cx="10911535" cy="715518"/>
          </a:xfrm>
          <a:prstGeom prst="roundRect">
            <a:avLst>
              <a:gd name="adj" fmla="val 5112"/>
            </a:avLst>
          </a:prstGeom>
          <a:solidFill>
            <a:srgbClr val="EFF4F8"/>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予定表の同姓は根拠になるか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ならない。同姓の別人がありうる。断定せず、役員名を聞いて確認に回す。</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No. It could be a different person with the same name. Do not conclude — ask the name and verify.</a:t>
            </a:r>
            <a:endParaRPr lang="en-US" sz="11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周囲に来訪者がいることは</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Reputation の問題。声を下げるのはこちら側から。別室や待機場所へ誘導する。</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A Reputation issue. You lower your voice first, and move them to a waiting area.</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スマートフォンで撮影開始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対応を変えない。変えたこと自体が後で問題になる。撮影の中止は求めなくてよい。</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Do not change your response — changing it is what becomes the problem. You need not ask them to stop.</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別の来訪者が割って入る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応答しない。会社の見解を作らない。対応相手を増やさない。</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Do not respond. Do not invent a company position. Do not add parties to the exchange.</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ゲートへ向かった場合。追わない。応援要請と通報に切り替える。物理的に止めない。</a:t>
            </a:r>
            <a:endParaRPr lang="en-US" sz="1050" dirty="0"/>
          </a:p>
          <a:p>
            <a:pPr indent="0" marL="0">
              <a:lnSpc>
                <a:spcPct val="86000"/>
              </a:lnSpc>
              <a:buNone/>
            </a:pPr>
            <a:r>
              <a:rPr lang="en-US" sz="1200" dirty="0">
                <a:solidFill>
                  <a:srgbClr val="DCEFEB"/>
                </a:solidFill>
                <a:latin typeface="Calibri" pitchFamily="34" charset="0"/>
                <a:ea typeface="Calibri" pitchFamily="34" charset="-122"/>
                <a:cs typeface="Calibri" pitchFamily="34" charset="-120"/>
              </a:rPr>
              <a:t>If they head for the gate: do not follow. Switch to backup and a police call. Never stop them physically.</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来訪者の確認方法、例外を認められる者、応援要請の方法は現場ごとに異なる。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Verification, who may approve exceptions, and how to call backup differ by site.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5-B　退去に応じない元従業員</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5-B — A Former Employee Who Will Not Leave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5-B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17時、エントランス。3か月前に退職した元社員が「私物を取りに来た。上司とは話がついている」と述べ、ゲート前に座り込んでいる。人事に連絡したが担当者が不在。退勤する社員が次々に通り、足を止めて見ている。相手は落ち着いているが、動く意思はない。</a:t>
            </a:r>
            <a:endParaRPr lang="en-US" sz="1100" dirty="0"/>
          </a:p>
          <a:p>
            <a:pPr indent="0" marL="0">
              <a:lnSpc>
                <a:spcPct val="92000"/>
              </a:lnSpc>
              <a:buNone/>
            </a:pPr>
            <a:r>
              <a:rPr lang="en-US" sz="1350" dirty="0">
                <a:solidFill>
                  <a:srgbClr val="DCEFEB"/>
                </a:solidFill>
                <a:latin typeface="Calibri" pitchFamily="34" charset="0"/>
                <a:ea typeface="Calibri" pitchFamily="34" charset="-122"/>
                <a:cs typeface="Calibri" pitchFamily="34" charset="-120"/>
              </a:rPr>
              <a:t>17:00, entrance hall. A former employee who left three months ago says they have come for personal belongings and that it is agreed with their old manager. They have sat down in front of the gate. HR is unreachable. Departing employees are stopping to watch. The person is calm but will not move.</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35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退去を求める根拠は何か。誰の意思に基づくか。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On what basis do you ask them to leave? Whose intent does it rest on?</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座り込んでいる相手に、有形力を用いてよいか。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May you use physical force on someone who has sat down?</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見ている社員がいることは、People と Reputation にどう関わるか。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How do the watching employees bear on People and Reputation?</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通報するとすれば、どの時点で、何を伝えるか。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If you call the police, at what point, and what do you say?</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元社員が「不当解雇だ」と大きな声で話し始めた。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They begin loudly saying they were unfairly dismissed.</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通りかかった社員の一人が「私が話しますよ」と間に入ろうとした。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A passing employee offers: "Let me talk to them."</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decides on a removal request, HR emergency contacts, and when to call police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警備業法、刑法、警察庁「警備員教育」</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5-B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5-B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857250"/>
          </a:xfrm>
          <a:prstGeom prst="roundRect">
            <a:avLst>
              <a:gd name="adj" fmla="val 4267"/>
            </a:avLst>
          </a:prstGeom>
          <a:solidFill>
            <a:srgbClr val="E4F4F0"/>
          </a:solidFill>
          <a:ln/>
        </p:spPr>
      </p:sp>
      <p:sp>
        <p:nvSpPr>
          <p:cNvPr id="7" name="Shape 4"/>
          <p:cNvSpPr/>
          <p:nvPr/>
        </p:nvSpPr>
        <p:spPr>
          <a:xfrm>
            <a:off x="841248" y="1370457"/>
            <a:ext cx="347472" cy="347472"/>
          </a:xfrm>
          <a:prstGeom prst="ellipse">
            <a:avLst/>
          </a:prstGeom>
          <a:solidFill>
            <a:srgbClr val="12B198"/>
          </a:solidFill>
          <a:ln/>
        </p:spPr>
      </p:sp>
      <p:sp>
        <p:nvSpPr>
          <p:cNvPr id="8" name="Text 5"/>
          <p:cNvSpPr/>
          <p:nvPr/>
        </p:nvSpPr>
        <p:spPr>
          <a:xfrm>
            <a:off x="841248" y="137045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退去を求める根拠、誰の意思か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管理権者の意思に基づく。警備員が自分の判断で命じるものではない。</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It rests on the site authority's intent. A guard does not order it on their own judgement.</a:t>
            </a:r>
            <a:endParaRPr lang="en-US" sz="1150" dirty="0"/>
          </a:p>
        </p:txBody>
      </p:sp>
      <p:sp>
        <p:nvSpPr>
          <p:cNvPr id="10" name="Shape 7"/>
          <p:cNvSpPr/>
          <p:nvPr/>
        </p:nvSpPr>
        <p:spPr>
          <a:xfrm>
            <a:off x="640080" y="2073402"/>
            <a:ext cx="10911535" cy="857250"/>
          </a:xfrm>
          <a:prstGeom prst="roundRect">
            <a:avLst>
              <a:gd name="adj" fmla="val 4267"/>
            </a:avLst>
          </a:prstGeom>
          <a:solidFill>
            <a:srgbClr val="E4F4F0"/>
          </a:solidFill>
          <a:ln/>
        </p:spPr>
      </p:sp>
      <p:sp>
        <p:nvSpPr>
          <p:cNvPr id="11" name="Shape 8"/>
          <p:cNvSpPr/>
          <p:nvPr/>
        </p:nvSpPr>
        <p:spPr>
          <a:xfrm>
            <a:off x="841248" y="2328291"/>
            <a:ext cx="347472" cy="347472"/>
          </a:xfrm>
          <a:prstGeom prst="ellipse">
            <a:avLst/>
          </a:prstGeom>
          <a:solidFill>
            <a:srgbClr val="12B198"/>
          </a:solidFill>
          <a:ln/>
        </p:spPr>
      </p:sp>
      <p:sp>
        <p:nvSpPr>
          <p:cNvPr id="12" name="Text 9"/>
          <p:cNvSpPr/>
          <p:nvPr/>
        </p:nvSpPr>
        <p:spPr>
          <a:xfrm>
            <a:off x="841248" y="23282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37410"/>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有形力を用いてよいか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用いてはいけない。引き起こす、腕をつかむは暴行になりうる。座り込みには使えない。</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No. Pulling them up or grabbing an arm can be assault. Force is not available here.</a:t>
            </a:r>
            <a:endParaRPr lang="en-US" sz="1150" dirty="0"/>
          </a:p>
        </p:txBody>
      </p:sp>
      <p:sp>
        <p:nvSpPr>
          <p:cNvPr id="14" name="Shape 11"/>
          <p:cNvSpPr/>
          <p:nvPr/>
        </p:nvSpPr>
        <p:spPr>
          <a:xfrm>
            <a:off x="640080" y="3031236"/>
            <a:ext cx="10911535" cy="857250"/>
          </a:xfrm>
          <a:prstGeom prst="roundRect">
            <a:avLst>
              <a:gd name="adj" fmla="val 4267"/>
            </a:avLst>
          </a:prstGeom>
          <a:solidFill>
            <a:srgbClr val="EFF4F8"/>
          </a:solidFill>
          <a:ln/>
        </p:spPr>
      </p:sp>
      <p:sp>
        <p:nvSpPr>
          <p:cNvPr id="15" name="Shape 12"/>
          <p:cNvSpPr/>
          <p:nvPr/>
        </p:nvSpPr>
        <p:spPr>
          <a:xfrm>
            <a:off x="841248" y="3286125"/>
            <a:ext cx="347472" cy="347472"/>
          </a:xfrm>
          <a:prstGeom prst="ellipse">
            <a:avLst/>
          </a:prstGeom>
          <a:solidFill>
            <a:srgbClr val="12B198"/>
          </a:solidFill>
          <a:ln/>
        </p:spPr>
      </p:sp>
      <p:sp>
        <p:nvSpPr>
          <p:cNvPr id="16" name="Text 13"/>
          <p:cNvSpPr/>
          <p:nvPr/>
        </p:nvSpPr>
        <p:spPr>
          <a:xfrm>
            <a:off x="841248" y="328612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095244"/>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見ている社員がいることは</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People（安全）と Reputation（対応の質）が同時に問われる。滞留させない。</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Both People and Reputation are in play. Do not let a crowd form.</a:t>
            </a:r>
            <a:endParaRPr lang="en-US" sz="1150" dirty="0"/>
          </a:p>
        </p:txBody>
      </p:sp>
      <p:sp>
        <p:nvSpPr>
          <p:cNvPr id="18" name="Shape 15"/>
          <p:cNvSpPr/>
          <p:nvPr/>
        </p:nvSpPr>
        <p:spPr>
          <a:xfrm>
            <a:off x="640080" y="3989070"/>
            <a:ext cx="10911535" cy="857250"/>
          </a:xfrm>
          <a:prstGeom prst="roundRect">
            <a:avLst>
              <a:gd name="adj" fmla="val 4267"/>
            </a:avLst>
          </a:prstGeom>
          <a:solidFill>
            <a:srgbClr val="EFF4F8"/>
          </a:solidFill>
          <a:ln/>
        </p:spPr>
      </p:sp>
      <p:sp>
        <p:nvSpPr>
          <p:cNvPr id="19" name="Shape 16"/>
          <p:cNvSpPr/>
          <p:nvPr/>
        </p:nvSpPr>
        <p:spPr>
          <a:xfrm>
            <a:off x="841248" y="4243959"/>
            <a:ext cx="347472" cy="347472"/>
          </a:xfrm>
          <a:prstGeom prst="ellipse">
            <a:avLst/>
          </a:prstGeom>
          <a:solidFill>
            <a:srgbClr val="12B198"/>
          </a:solidFill>
          <a:ln/>
        </p:spPr>
      </p:sp>
      <p:sp>
        <p:nvSpPr>
          <p:cNvPr id="20" name="Text 17"/>
          <p:cNvSpPr/>
          <p:nvPr/>
        </p:nvSpPr>
        <p:spPr>
          <a:xfrm>
            <a:off x="841248" y="424395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53078"/>
            <a:ext cx="10033711" cy="729234"/>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いつ通報するか、何を伝えるか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退去要請が明確に拒否され、不退去が続いた時点。その前に上長へ一報を入れておく。</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Once a clear request to leave has been refused and they remain. Notify your supervisor before that point.</a:t>
            </a:r>
            <a:endParaRPr lang="en-US" sz="1150" dirty="0"/>
          </a:p>
        </p:txBody>
      </p:sp>
      <p:sp>
        <p:nvSpPr>
          <p:cNvPr id="22" name="Shape 19"/>
          <p:cNvSpPr/>
          <p:nvPr/>
        </p:nvSpPr>
        <p:spPr>
          <a:xfrm>
            <a:off x="640080" y="4956048"/>
            <a:ext cx="10911535" cy="420624"/>
          </a:xfrm>
          <a:prstGeom prst="roundRect">
            <a:avLst>
              <a:gd name="adj" fmla="val 8696"/>
            </a:avLst>
          </a:prstGeom>
          <a:solidFill>
            <a:srgbClr val="EEF6FA"/>
          </a:solidFill>
          <a:ln/>
        </p:spPr>
      </p:sp>
      <p:sp>
        <p:nvSpPr>
          <p:cNvPr id="23" name="Text 20"/>
          <p:cNvSpPr/>
          <p:nvPr/>
        </p:nvSpPr>
        <p:spPr>
          <a:xfrm>
            <a:off x="859536" y="4983480"/>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「不当解雇だ」と大声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内容に応答しない。「お答えできる立場にありません」で足りる。人事へ取り次ぐ。</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Do not engage with the content. "I am not in a position to comment" is enough. Refer to HR.</a:t>
            </a:r>
            <a:endParaRPr lang="en-US" sz="1050" dirty="0"/>
          </a:p>
        </p:txBody>
      </p:sp>
      <p:sp>
        <p:nvSpPr>
          <p:cNvPr id="24" name="Shape 21"/>
          <p:cNvSpPr/>
          <p:nvPr/>
        </p:nvSpPr>
        <p:spPr>
          <a:xfrm>
            <a:off x="640080" y="5449824"/>
            <a:ext cx="10911535" cy="420624"/>
          </a:xfrm>
          <a:prstGeom prst="roundRect">
            <a:avLst>
              <a:gd name="adj" fmla="val 8696"/>
            </a:avLst>
          </a:prstGeom>
          <a:solidFill>
            <a:srgbClr val="EEF6FA"/>
          </a:solidFill>
          <a:ln/>
        </p:spPr>
      </p:sp>
      <p:sp>
        <p:nvSpPr>
          <p:cNvPr id="25" name="Text 22"/>
          <p:cNvSpPr/>
          <p:nvPr/>
        </p:nvSpPr>
        <p:spPr>
          <a:xfrm>
            <a:off x="859536" y="5477256"/>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社員が「私が話します」と仲裁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止める。善意でも当事者が増えると収拾がつかない。社員の安全も守る対象。</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Stop them. Even well meant, more parties makes it unmanageable — and that employee is also yours to protect.</a:t>
            </a:r>
            <a:endParaRPr lang="en-US" sz="10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退去要請の判断者、人事の緊急連絡先、通報の基準は現場ごとに異なる。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authorises a removal request, HR emergency contacts, and when to call police differ by site.</a:t>
            </a:r>
            <a:endParaRPr lang="en-US" sz="10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警備業法、刑法（130条後段）</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第5時限｜業務別教育2 その他当該警備業務を適正に実施するため必要な知識及び技能  </a:t>
            </a:r>
            <a:pPr indent="0" marL="0">
              <a:buNone/>
            </a:pPr>
            <a:r>
              <a:rPr lang="en-US" sz="850" i="1" dirty="0">
                <a:solidFill>
                  <a:srgbClr val="D6E0E9"/>
                </a:solidFill>
                <a:latin typeface="Calibri" pitchFamily="34" charset="0"/>
                <a:ea typeface="Calibri" pitchFamily="34" charset="-122"/>
                <a:cs typeface="Calibri" pitchFamily="34" charset="-120"/>
              </a:rPr>
              <a:t>Period 5 | Task-Specific Training 2 — De-escalation</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第5時限｜業務別教育2 その他当該警備業務を適正に実施するため必要な知識及び技能</dc:title>
  <dc:subject>PptxGenJS Presentation</dc:subject>
  <dc:creator>警備員指導教育責任者</dc:creator>
  <cp:lastModifiedBy>警備員指導教育責任者</cp:lastModifiedBy>
  <cp:revision>1</cp:revision>
  <dcterms:created xsi:type="dcterms:W3CDTF">2026-08-10T22:31:17Z</dcterms:created>
  <dcterms:modified xsi:type="dcterms:W3CDTF">2026-08-10T22:31:17Z</dcterms:modified>
</cp:coreProperties>
</file>