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前提 ― 警備員の権限と、警察との違い</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警備業法 第15条</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Security Services Act, Article 15</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This Act confers no special authority on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You must not infringe the rights or freedoms of others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 guard is a private citizen in law. The uniform adds no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Art. 16 — the uniform must be clearly distinguishable from a public official's</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警察官にあって、警備員にない権限</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Powers the Police Have and You Do Not</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・職務質問（警職法2条）、保護（3条）</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Stop and question (Art. 2), protective custody (Art. 3)</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Order evacuation (Art. 4), prevent and stop a crime (Art. 5)</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・立入（6条）、武器の使用（7条）</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Enter premises (Art. 6), use weapons (Art. 7)</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Arrest by warrant, and interrogation. A guard has none of these</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権限の根拠は2つだけ</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Only Two Sources of Authority</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What anyone may do: citizen's arrest, self-defence, necessity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What is delegated: admission, requests to leave, access limits, records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Not available: forced bag checks, interrogation, recovery by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you exceed it: unlawful confinement, assault, injury, coercion</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有形力の段階</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The Steps of Physical Force</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・声をかける。有形力ではない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Speaking to someone.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・立ち位置で示す。まだ有形力ではない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Positioning yourself. Still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・進路に立ちふさがる。ここが境界</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Blocking the path. This is the boundary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Touching or seizing. Only incidental to self-defence or a lawful arrest</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私人　shijin ― 警備員も法的には私人。</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Private citizen. Your legal status, even in uniform.</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The site authority. Your powers come from them.</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Flagrant-offender arrest. Must be obvious and immediate.</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Self-defence. It ends when the attack ends.</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Necessity. Harm caused must not exceed harm avoided.</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Self-help. As a rule, not permitted in Japan.</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Physical force. Touching the person is already force.</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Refusing to leave. The request must come from the authority.</a:t>
            </a:r>
            <a:endParaRPr lang="en-US" sz="1150" dirty="0"/>
          </a:p>
        </p:txBody>
      </p:sp>
      <p:sp>
        <p:nvSpPr>
          <p:cNvPr id="37" name="Text 34"/>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8" name="Text 35"/>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De-escalation の基本</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The Basics of De-escalation</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state the aim of de-escalation, and demonstrate space, stance and voice.</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目的</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The Aim</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 method of lowering tension without using physical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・目的は、その場を安全に終えること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aim is to end the situation safely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・相手を言い負かすことではない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It is not to win the exchange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Precisely because a guard's powers are limited, the skill is necessary</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距離</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Space</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Stay beyond arm's reach. About 1.5 to 2 metres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stand behind them, or where you block their exit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・自分の退路を確保しておく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Keep your own way out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・複数人で対応する場合も、囲まない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Even with several guards, do not surround the person</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姿勢</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Stance</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・正対しない。半身で立つ</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stand square on. Stand at an angle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Keep your hands visible. Do not fold your arms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・指を差さない。物を持ったまま話さない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point. Do not talk while holding an object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they are seated, bring your eye level closer to theirs</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声</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Voice</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・トーン、速度、音量を下げる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Lower your tone, speed and volume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・相手より大きな声を出さない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speak louder than the other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Silence is acceptable. Do not rush to fill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you speak in another language, slowing down carries more than fluency</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聞き方、選択肢、離脱</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Listening, Choices, and Disengaging</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create a way for the person to step back, and decide when to disengage.</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聞き方</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How to Listen</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・遮らずに最後まで聞く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Listen to the end without interrupting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・内容を要約して返す。「◯◯ということですね」</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Summarise it back: "So the issue is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Acknowledging is not agreeing. Say only that you understood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・「規則ですから」で会話を打ち切らない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end the conversation with "those are the rules"</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選択肢の示し方</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Offering Choices</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・引き下がれる形を残す。追い詰めない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Leave a way to step back. Do not corner them</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Offer two options. Both must be inside the procedure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Frame it as a route into the process, not as a refusal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・急がない。時間をかけてよい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rush. You may take time</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やってはいけないこと</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What Not to Do</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・命令口調。「下がってください」を繰り返す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 commanding tone. Repeating "step back"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・「落ち着いてください」と言う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Saying "please calm down"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・指差し、腕組み、ため息、笑う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Pointing, folded arms, sighing, laughing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・自分の意見や会社の見解を述べる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Giving your own opinion or the company's position</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離脱の判断</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When to Disengage</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volume keeps rising. The same phrase repeats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They close the distance, grip an object, or stare fixedly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order is: disengage, call for backup, report to police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・効果が見られない場合は離脱する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it is not working, disengage</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ソーシャルエンジニアリング</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Social Engineering</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recognise attempts to make you skip a procedure, and phrase a return to it.</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典型的な手口</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Common Approaches</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Authority: "the director is expecting me", "it is already approved"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 ―「今すぐ通さないと損害が出る」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Urgency: "if you delay me it will cost the company"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Familiarity: "they let me through last time", "I know Mr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・同情 ―「雨で困っている」「体調が悪い」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Sympathy: "I am soaked", "I am unwell"</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物理的な手口</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Physical Methods</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・共連れ。荷物を抱えて後ろにつく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Tailgating: following behind with full hands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・業者を装う。作業着、台車、工具箱</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Posing as a contractor: workwear, trolley, toolbox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・交代時間や混雑時間を狙う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Timing the approach for shift change or peak flow</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・喫煙所や搬入口など、正面以外から入る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Entering by smoking areas or loading bays rather than the front</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対応</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How to Respond</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・手続きに戻す。これが唯一の対応である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Return to the procedure. That is the single answer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・確認を求めることは失礼ではない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Asking to verify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・例外を作らない。一度作ると前例になる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Make no exception. One exception becomes a precedent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you cannot decide, do not admit them. Check with your supervisor</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言い方の例</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Phrases to Use</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"Let me check. Could you wait 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"Which department are you visiting? May I have the name?"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・「規則です」ではなく「確認が必要です」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Not "it is the rule", but "this needs to be verified"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・断る場合も、代わりにできることを示す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When you refuse, say what you can do instead</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特定の相手への対応</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Specific Types of Encounter</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distinguish how to handle former employees, press, complaints, and people who are unwell.</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元従業員</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Former Employees</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・退職した時点で来訪者である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Once they have left, they are a visitor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Return them to the visitor process. Knowing them is not an exception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engage with why they left. Do not become their audience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Refer to HR. Do not respond to emotional statements</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報道関係者</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Press and Media</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・敷地内では取材に応じない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 interviews on company property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・広報へ取り次ぐ。窓口を一本化する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Refer to Communications. Keep a single channel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 am not in a position to comment"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・撮影されている前提で行動する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Act on the assumption that you are being filmed</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クレーム</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Complaints</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・最後まで聞く。途中で結論を出さない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Listen to the end. Do not conclude midway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・会社の見解をその場で作らない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invent the company's position on the spot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Make no promises. Say only that you will check and reply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Record what was said, with the time and the actual words</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体調不良・不穏な様子</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Unwell or Agitated</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・無理に立たせない、歩かせない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make them stand or walk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Check consciousness and breathing. If unsure, call for an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・飲食物を与えない。薬を渡さない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give food, drink or medication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・人を指名して応援と通報を依頼する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Name a specific person to call for help and for the ambulance</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入館手続きを拒む来訪者</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5-A — A Visitor Refusing to Sign In</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950" dirty="0"/>
          </a:p>
          <a:p>
            <a:pPr indent="0" marL="0">
              <a:lnSpc>
                <a:spcPct val="92000"/>
              </a:lnSpc>
              <a:buNone/>
            </a:pPr>
            <a:r>
              <a:rPr lang="en-US" sz="1000" dirty="0">
                <a:solidFill>
                  <a:srgbClr val="DCEFEB"/>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95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00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Which of these would you say, and why not the others?</a:t>
            </a:r>
            <a:endParaRPr lang="en-US" sz="10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A: "Rules are rules." B: "I will check right away. Could you wait here?"</a:t>
            </a:r>
            <a:endParaRPr lang="en-US" sz="105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C: "Please calm down." D: "Which executive? Give me the name and I will connect you."</a:t>
            </a:r>
            <a:endParaRPr lang="en-US" sz="105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Does the same family name on the list justify admitting them?</a:t>
            </a:r>
            <a:endParaRPr lang="en-US" sz="105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How does the presence of other visitors change your response?</a:t>
            </a:r>
            <a:endParaRPr lang="en-US" sz="105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They point a smartphone at you and start filming.</a:t>
            </a:r>
            <a:endParaRPr lang="en-US" sz="8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別の来訪者が横から「その対応はおかしいんじゃないの」と割って入った。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Another visitor cuts in: "Isn't that the wrong way to handle it?"</a:t>
            </a:r>
            <a:endParaRPr lang="en-US" sz="8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9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模範解答</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5-A — Model Answers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A と B、どちらを選ぶか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B を選ぶ。A は拒否のみで、相手が引き下がれる形が残らない。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Choose B. A is a bare refusal that leaves the person no way to step back.</a:t>
            </a:r>
            <a:endParaRPr lang="en-US" sz="950" dirty="0"/>
          </a:p>
        </p:txBody>
      </p:sp>
      <p:sp>
        <p:nvSpPr>
          <p:cNvPr id="10" name="Shape 7"/>
          <p:cNvSpPr/>
          <p:nvPr/>
        </p:nvSpPr>
        <p:spPr>
          <a:xfrm>
            <a:off x="640080" y="1931670"/>
            <a:ext cx="10911535" cy="715518"/>
          </a:xfrm>
          <a:prstGeom prst="roundRect">
            <a:avLst>
              <a:gd name="adj" fmla="val 5112"/>
            </a:avLst>
          </a:prstGeom>
          <a:solidFill>
            <a:srgbClr val="E4F4F0"/>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C と D、どちらを選ぶか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D を選ぶ。C は相手の状態を否定している。最良は B のあと D。</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Choose D. C denies how they feel. The best sequence is B, then D.</a:t>
            </a:r>
            <a:endParaRPr lang="en-US" sz="9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予定表の同姓は根拠になるか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ならない。同姓の別人がありうる。断定せず、役員名を聞いて確認に回す。</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No. It could be a different person with the same name. Do not conclude — ask the name and verify.</a:t>
            </a:r>
            <a:endParaRPr lang="en-US" sz="9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周囲に来訪者がいることは</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Reputation の問題。声を下げるのはこちら側から。別室や待機場所へ誘導する。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A Reputation issue. You lower your voice first, and move them to a waiting area.</a:t>
            </a:r>
            <a:endParaRPr lang="en-US" sz="9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スマートフォンで撮影開始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対応を変えない。変えたこと自体が後で問題になる。撮影の中止は求めなくてよい。</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Do not change your response — changing it is what becomes the problem. You need not ask them to stop.</a:t>
            </a:r>
            <a:endParaRPr lang="en-US" sz="8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別の来訪者が割って入る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Do not respond. Do not invent a company position. Do not add parties to the exchange.</a:t>
            </a:r>
            <a:endParaRPr lang="en-US" sz="8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900" dirty="0"/>
          </a:p>
          <a:p>
            <a:pPr indent="0" marL="0">
              <a:lnSpc>
                <a:spcPct val="86000"/>
              </a:lnSpc>
              <a:buNone/>
            </a:pPr>
            <a:r>
              <a:rPr lang="en-US" sz="950" dirty="0">
                <a:solidFill>
                  <a:srgbClr val="DCEFEB"/>
                </a:solidFill>
                <a:latin typeface="Calibri" pitchFamily="34" charset="0"/>
                <a:ea typeface="Calibri" pitchFamily="34" charset="-122"/>
                <a:cs typeface="Calibri" pitchFamily="34" charset="-120"/>
              </a:rPr>
              <a:t>If they head for the gate: do not follow. Switch to backup and a police call. Never stop them physically.</a:t>
            </a:r>
            <a:endParaRPr lang="en-US" sz="90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退去に応じない元従業員</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5-B — A Former Employee Who Will Not Leave</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950" dirty="0"/>
          </a:p>
          <a:p>
            <a:pPr indent="0" marL="0">
              <a:lnSpc>
                <a:spcPct val="92000"/>
              </a:lnSpc>
              <a:buNone/>
            </a:pPr>
            <a:r>
              <a:rPr lang="en-US" sz="1000" dirty="0">
                <a:solidFill>
                  <a:srgbClr val="DCEFEB"/>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95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On what basis do you ask them to leave? Whose intent does it rest on?</a:t>
            </a:r>
            <a:endParaRPr lang="en-US" sz="105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May you use physical force on someone who has sat down?</a:t>
            </a:r>
            <a:endParaRPr lang="en-US" sz="105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How do the watching employees bear on People and Reputation?</a:t>
            </a:r>
            <a:endParaRPr lang="en-US" sz="105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If you call the police, at what point, and what do you say?</a:t>
            </a:r>
            <a:endParaRPr lang="en-US" sz="105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They begin loudly saying they were unfairly dismissed.</a:t>
            </a:r>
            <a:endParaRPr lang="en-US" sz="8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通りかかった社員の一人が「私が話しますよ」と間に入ろうとした。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A passing employee offers: "Let me talk to them."</a:t>
            </a:r>
            <a:endParaRPr lang="en-US" sz="8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9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模範解答</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5-B — Model Answers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4F4F0"/>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退去を求める根拠、誰の意思か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管理権者の意思に基づく。警備員が自分の判断で命じるものではない。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It rests on the site authority's intent. A guard does not order it on their own judgement.</a:t>
            </a:r>
            <a:endParaRPr lang="en-US" sz="950" dirty="0"/>
          </a:p>
        </p:txBody>
      </p:sp>
      <p:sp>
        <p:nvSpPr>
          <p:cNvPr id="10" name="Shape 7"/>
          <p:cNvSpPr/>
          <p:nvPr/>
        </p:nvSpPr>
        <p:spPr>
          <a:xfrm>
            <a:off x="640080" y="2073402"/>
            <a:ext cx="10911535" cy="857250"/>
          </a:xfrm>
          <a:prstGeom prst="roundRect">
            <a:avLst>
              <a:gd name="adj" fmla="val 4267"/>
            </a:avLst>
          </a:prstGeom>
          <a:solidFill>
            <a:srgbClr val="E4F4F0"/>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有形力を用いてよいか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用いてはいけない。引き起こす、腕をつかむは暴行になりうる。座り込みには使えない。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No. Pulling them up or grabbing an arm can be assault. Force is not available here.</a:t>
            </a:r>
            <a:endParaRPr lang="en-US" sz="950" dirty="0"/>
          </a:p>
        </p:txBody>
      </p:sp>
      <p:sp>
        <p:nvSpPr>
          <p:cNvPr id="14" name="Shape 11"/>
          <p:cNvSpPr/>
          <p:nvPr/>
        </p:nvSpPr>
        <p:spPr>
          <a:xfrm>
            <a:off x="640080" y="3031236"/>
            <a:ext cx="10911535" cy="857250"/>
          </a:xfrm>
          <a:prstGeom prst="roundRect">
            <a:avLst>
              <a:gd name="adj" fmla="val 4267"/>
            </a:avLst>
          </a:prstGeom>
          <a:solidFill>
            <a:srgbClr val="EFF4F8"/>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見ている社員がいることは</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People（安全）と Reputation（対応の質）が同時に問われる。滞留させない。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Both People and Reputation are in play. Do not let a crowd form.</a:t>
            </a:r>
            <a:endParaRPr lang="en-US" sz="9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いつ通報するか、何を伝えるか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退去要請が明確に拒否され、不退去が続いた時点。その前に上長へ一報を入れておく。</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Once a clear request to leave has been refused and they remain. Notify your supervisor before that point.</a:t>
            </a:r>
            <a:endParaRPr lang="en-US" sz="9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「不当解雇だ」と大声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内容に応答しない。「お答えできる立場にありません」で足りる。人事へ取り次ぐ。</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Do not engage with the content. "I am not in a position to comment" is enough. Refer to HR.</a:t>
            </a:r>
            <a:endParaRPr lang="en-US" sz="8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社員が「私が話します」と仲裁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止める。善意でも当事者が増えると収拾がつかない。社員の安全も守る対象。</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Stop them. Even well meant, more parties makes it unmanageable — and that employee is also yours to protect.</a:t>
            </a:r>
            <a:endParaRPr lang="en-US" sz="8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9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2026-08-10T22:25:58Z</dcterms:created>
  <dcterms:modified xsi:type="dcterms:W3CDTF">2026-08-10T22:25:58Z</dcterms:modified>
</cp:coreProperties>
</file>