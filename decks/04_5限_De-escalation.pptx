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De-escalation とは</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What De-escalation Is</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800" b="1" dirty="0">
                <a:solidFill>
                  <a:srgbClr val="FFFFFF"/>
                </a:solidFill>
                <a:latin typeface="Yu Gothic" pitchFamily="34" charset="0"/>
                <a:ea typeface="Yu Gothic" pitchFamily="34" charset="-122"/>
                <a:cs typeface="Yu Gothic" pitchFamily="34" charset="-120"/>
              </a:rPr>
              <a:t>有形力を使わずに、緊張を下げる技術です。</a:t>
            </a:r>
            <a:endParaRPr lang="en-US" sz="1800" dirty="0"/>
          </a:p>
          <a:p>
            <a:pPr indent="0" marL="0">
              <a:lnSpc>
                <a:spcPct val="102000"/>
              </a:lnSpc>
              <a:buNone/>
            </a:pPr>
            <a:r>
              <a:rPr lang="en-US" sz="1800" b="1" dirty="0">
                <a:solidFill>
                  <a:srgbClr val="FFFFFF"/>
                </a:solidFill>
                <a:latin typeface="Yu Gothic" pitchFamily="34" charset="0"/>
                <a:ea typeface="Yu Gothic" pitchFamily="34" charset="-122"/>
                <a:cs typeface="Yu Gothic" pitchFamily="34" charset="-120"/>
              </a:rPr>
              <a:t>目的は、その場を安全に終えることです。</a:t>
            </a:r>
            <a:endParaRPr lang="en-US" sz="18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200" i="1" dirty="0">
                <a:solidFill>
                  <a:srgbClr val="9FD8CD"/>
                </a:solidFill>
                <a:latin typeface="Calibri" pitchFamily="34" charset="0"/>
                <a:ea typeface="Calibri" pitchFamily="34" charset="-122"/>
                <a:cs typeface="Calibri" pitchFamily="34" charset="-120"/>
              </a:rPr>
              <a:t>A method of lowering tension without using physical force.</a:t>
            </a:r>
            <a:endParaRPr lang="en-US" sz="1200" dirty="0"/>
          </a:p>
          <a:p>
            <a:pPr indent="0" marL="0">
              <a:lnSpc>
                <a:spcPct val="100000"/>
              </a:lnSpc>
              <a:buNone/>
            </a:pPr>
            <a:r>
              <a:rPr lang="en-US" sz="1200" i="1" dirty="0">
                <a:solidFill>
                  <a:srgbClr val="9FD8CD"/>
                </a:solidFill>
                <a:latin typeface="Calibri" pitchFamily="34" charset="0"/>
                <a:ea typeface="Calibri" pitchFamily="34" charset="-122"/>
                <a:cs typeface="Calibri" pitchFamily="34" charset="-120"/>
              </a:rPr>
              <a:t>The aim is to end the situation safely.</a:t>
            </a:r>
            <a:endParaRPr lang="en-US" sz="1200" dirty="0"/>
          </a:p>
        </p:txBody>
      </p:sp>
      <p:sp>
        <p:nvSpPr>
          <p:cNvPr id="7" name="Shape 4"/>
          <p:cNvSpPr/>
          <p:nvPr/>
        </p:nvSpPr>
        <p:spPr>
          <a:xfrm>
            <a:off x="640080" y="4937760"/>
            <a:ext cx="10911535" cy="1298448"/>
          </a:xfrm>
          <a:prstGeom prst="roundRect">
            <a:avLst>
              <a:gd name="adj" fmla="val 3521"/>
            </a:avLst>
          </a:prstGeom>
          <a:solidFill>
            <a:srgbClr val="E4F4F0"/>
          </a:solidFill>
          <a:ln/>
        </p:spPr>
      </p:sp>
      <p:sp>
        <p:nvSpPr>
          <p:cNvPr id="8" name="Shape 5"/>
          <p:cNvSpPr/>
          <p:nvPr/>
        </p:nvSpPr>
        <p:spPr>
          <a:xfrm>
            <a:off x="914400" y="5404104"/>
            <a:ext cx="365760" cy="365760"/>
          </a:xfrm>
          <a:prstGeom prst="ellipse">
            <a:avLst/>
          </a:prstGeom>
          <a:solidFill>
            <a:srgbClr val="12B198"/>
          </a:solidFill>
          <a:ln/>
        </p:spPr>
      </p:sp>
      <p:sp>
        <p:nvSpPr>
          <p:cNvPr id="9" name="Text 6"/>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0" name="Text 7"/>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相手を言い負かすことは目的ではありません。有形力に至らずに終えることが目的です。</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The aim is not to win the exchange. The aim is to finish without using force.</a:t>
            </a:r>
            <a:endParaRPr lang="en-US" sz="1450" dirty="0"/>
          </a:p>
        </p:txBody>
      </p:sp>
      <p:sp>
        <p:nvSpPr>
          <p:cNvPr id="11"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2"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距離・姿勢・声</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Space, Stance, Voice</a:t>
            </a:r>
            <a:endParaRPr lang="en-US" sz="2700" dirty="0"/>
          </a:p>
        </p:txBody>
      </p:sp>
      <p:sp>
        <p:nvSpPr>
          <p:cNvPr id="4" name="Shape 1"/>
          <p:cNvSpPr/>
          <p:nvPr/>
        </p:nvSpPr>
        <p:spPr>
          <a:xfrm>
            <a:off x="640080" y="2446020"/>
            <a:ext cx="3454298" cy="2971800"/>
          </a:xfrm>
          <a:prstGeom prst="roundRect">
            <a:avLst>
              <a:gd name="adj" fmla="val 1538"/>
            </a:avLst>
          </a:prstGeom>
          <a:solidFill>
            <a:srgbClr val="EFF4F8"/>
          </a:solidFill>
          <a:ln/>
        </p:spPr>
      </p:sp>
      <p:sp>
        <p:nvSpPr>
          <p:cNvPr id="5" name="Shape 2"/>
          <p:cNvSpPr/>
          <p:nvPr/>
        </p:nvSpPr>
        <p:spPr>
          <a:xfrm>
            <a:off x="877824" y="2683764"/>
            <a:ext cx="384048" cy="384048"/>
          </a:xfrm>
          <a:prstGeom prst="ellipse">
            <a:avLst/>
          </a:prstGeom>
          <a:solidFill>
            <a:srgbClr val="093259"/>
          </a:solidFill>
          <a:ln/>
        </p:spPr>
      </p:sp>
      <p:sp>
        <p:nvSpPr>
          <p:cNvPr id="6" name="Text 3"/>
          <p:cNvSpPr/>
          <p:nvPr/>
        </p:nvSpPr>
        <p:spPr>
          <a:xfrm>
            <a:off x="877824"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p:nvPr/>
        </p:nvSpPr>
        <p:spPr>
          <a:xfrm>
            <a:off x="1389888" y="2665476"/>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距離</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Space</a:t>
            </a:r>
            <a:endParaRPr lang="en-US" sz="1600" dirty="0"/>
          </a:p>
        </p:txBody>
      </p:sp>
      <p:sp>
        <p:nvSpPr>
          <p:cNvPr id="8" name="Text 5"/>
          <p:cNvSpPr/>
          <p:nvPr/>
        </p:nvSpPr>
        <p:spPr>
          <a:xfrm>
            <a:off x="896112" y="3415284"/>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手が届かない距離を保ちます。目安は1.5から2メートルです。</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Stay beyond arm's reach. About 1.5 to 2 metres.</a:t>
            </a:r>
            <a:endParaRPr lang="en-US" sz="1250" dirty="0"/>
          </a:p>
        </p:txBody>
      </p:sp>
      <p:sp>
        <p:nvSpPr>
          <p:cNvPr id="9" name="Shape 6"/>
          <p:cNvSpPr/>
          <p:nvPr/>
        </p:nvSpPr>
        <p:spPr>
          <a:xfrm>
            <a:off x="4368698" y="2446020"/>
            <a:ext cx="3454298" cy="2971800"/>
          </a:xfrm>
          <a:prstGeom prst="roundRect">
            <a:avLst>
              <a:gd name="adj" fmla="val 1538"/>
            </a:avLst>
          </a:prstGeom>
          <a:solidFill>
            <a:srgbClr val="E4F4F0"/>
          </a:solidFill>
          <a:ln/>
        </p:spPr>
      </p:sp>
      <p:sp>
        <p:nvSpPr>
          <p:cNvPr id="10" name="Shape 7"/>
          <p:cNvSpPr/>
          <p:nvPr/>
        </p:nvSpPr>
        <p:spPr>
          <a:xfrm>
            <a:off x="4606442" y="2683764"/>
            <a:ext cx="384048" cy="384048"/>
          </a:xfrm>
          <a:prstGeom prst="ellipse">
            <a:avLst/>
          </a:prstGeom>
          <a:solidFill>
            <a:srgbClr val="12B198"/>
          </a:solidFill>
          <a:ln/>
        </p:spPr>
      </p:sp>
      <p:sp>
        <p:nvSpPr>
          <p:cNvPr id="11" name="Text 8"/>
          <p:cNvSpPr/>
          <p:nvPr/>
        </p:nvSpPr>
        <p:spPr>
          <a:xfrm>
            <a:off x="4606442"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5118506" y="2665476"/>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姿勢</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Stance</a:t>
            </a:r>
            <a:endParaRPr lang="en-US" sz="1600" dirty="0"/>
          </a:p>
        </p:txBody>
      </p:sp>
      <p:sp>
        <p:nvSpPr>
          <p:cNvPr id="13" name="Text 10"/>
          <p:cNvSpPr/>
          <p:nvPr/>
        </p:nvSpPr>
        <p:spPr>
          <a:xfrm>
            <a:off x="4624730" y="3415284"/>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正対しません。半身で立ちます。手は相手から見える位置に置き、腕を組みません。</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Do not stand square on. Stand at an angle. Keep your hands visible. Do not fold your arms.</a:t>
            </a:r>
            <a:endParaRPr lang="en-US" sz="1250" dirty="0"/>
          </a:p>
        </p:txBody>
      </p:sp>
      <p:sp>
        <p:nvSpPr>
          <p:cNvPr id="14" name="Shape 11"/>
          <p:cNvSpPr/>
          <p:nvPr/>
        </p:nvSpPr>
        <p:spPr>
          <a:xfrm>
            <a:off x="8097317" y="2446020"/>
            <a:ext cx="3454298" cy="2971800"/>
          </a:xfrm>
          <a:prstGeom prst="roundRect">
            <a:avLst>
              <a:gd name="adj" fmla="val 1538"/>
            </a:avLst>
          </a:prstGeom>
          <a:solidFill>
            <a:srgbClr val="EFF4F8"/>
          </a:solidFill>
          <a:ln/>
        </p:spPr>
      </p:sp>
      <p:sp>
        <p:nvSpPr>
          <p:cNvPr id="15" name="Shape 12"/>
          <p:cNvSpPr/>
          <p:nvPr/>
        </p:nvSpPr>
        <p:spPr>
          <a:xfrm>
            <a:off x="8335061" y="2683764"/>
            <a:ext cx="384048" cy="384048"/>
          </a:xfrm>
          <a:prstGeom prst="ellipse">
            <a:avLst/>
          </a:prstGeom>
          <a:solidFill>
            <a:srgbClr val="093259"/>
          </a:solidFill>
          <a:ln/>
        </p:spPr>
      </p:sp>
      <p:sp>
        <p:nvSpPr>
          <p:cNvPr id="16" name="Text 13"/>
          <p:cNvSpPr/>
          <p:nvPr/>
        </p:nvSpPr>
        <p:spPr>
          <a:xfrm>
            <a:off x="8335061"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8847125" y="2665476"/>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声</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Voice</a:t>
            </a:r>
            <a:endParaRPr lang="en-US" sz="1600" dirty="0"/>
          </a:p>
        </p:txBody>
      </p:sp>
      <p:sp>
        <p:nvSpPr>
          <p:cNvPr id="18" name="Text 15"/>
          <p:cNvSpPr/>
          <p:nvPr/>
        </p:nvSpPr>
        <p:spPr>
          <a:xfrm>
            <a:off x="8353349" y="3415284"/>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トーン、速度、音量を下げます。相手より大きな声を出しません。</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Lower your tone, speed and volume. Do not speak louder than the other person.</a:t>
            </a:r>
            <a:endParaRPr lang="en-US" sz="1250" dirty="0"/>
          </a:p>
        </p:txBody>
      </p:sp>
      <p:sp>
        <p:nvSpPr>
          <p:cNvPr id="19" name="Text 1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0" name="Text 1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聞き方と、選択肢の示し方</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How to Listen, and How to Offer Choices</a:t>
            </a:r>
            <a:endParaRPr lang="en-US" sz="2700" dirty="0"/>
          </a:p>
        </p:txBody>
      </p:sp>
      <p:sp>
        <p:nvSpPr>
          <p:cNvPr id="4" name="Shape 1"/>
          <p:cNvSpPr/>
          <p:nvPr/>
        </p:nvSpPr>
        <p:spPr>
          <a:xfrm>
            <a:off x="640080" y="1627632"/>
            <a:ext cx="10911535" cy="833933"/>
          </a:xfrm>
          <a:prstGeom prst="roundRect">
            <a:avLst>
              <a:gd name="adj" fmla="val 5482"/>
            </a:avLst>
          </a:prstGeom>
          <a:solidFill>
            <a:srgbClr val="EFF4F8"/>
          </a:solidFill>
          <a:ln/>
        </p:spPr>
      </p:sp>
      <p:sp>
        <p:nvSpPr>
          <p:cNvPr id="5" name="Shape 2"/>
          <p:cNvSpPr/>
          <p:nvPr/>
        </p:nvSpPr>
        <p:spPr>
          <a:xfrm>
            <a:off x="896112" y="1852574"/>
            <a:ext cx="384048" cy="384048"/>
          </a:xfrm>
          <a:prstGeom prst="ellipse">
            <a:avLst/>
          </a:prstGeom>
          <a:solidFill>
            <a:srgbClr val="12B198"/>
          </a:solidFill>
          <a:ln/>
        </p:spPr>
      </p:sp>
      <p:sp>
        <p:nvSpPr>
          <p:cNvPr id="6" name="Text 3"/>
          <p:cNvSpPr/>
          <p:nvPr/>
        </p:nvSpPr>
        <p:spPr>
          <a:xfrm>
            <a:off x="896112" y="185257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p:nvPr/>
        </p:nvSpPr>
        <p:spPr>
          <a:xfrm>
            <a:off x="1499616" y="1737360"/>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遮らずに最後まで聞きます。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Listen to the end. Do not interrupt.</a:t>
            </a:r>
            <a:endParaRPr lang="en-US" sz="1450" dirty="0"/>
          </a:p>
        </p:txBody>
      </p:sp>
      <p:sp>
        <p:nvSpPr>
          <p:cNvPr id="8" name="Shape 5"/>
          <p:cNvSpPr/>
          <p:nvPr/>
        </p:nvSpPr>
        <p:spPr>
          <a:xfrm>
            <a:off x="640080" y="2571293"/>
            <a:ext cx="10911535" cy="833933"/>
          </a:xfrm>
          <a:prstGeom prst="roundRect">
            <a:avLst>
              <a:gd name="adj" fmla="val 5482"/>
            </a:avLst>
          </a:prstGeom>
          <a:solidFill>
            <a:srgbClr val="F7FAFC"/>
          </a:solidFill>
          <a:ln/>
        </p:spPr>
      </p:sp>
      <p:sp>
        <p:nvSpPr>
          <p:cNvPr id="9" name="Shape 6"/>
          <p:cNvSpPr/>
          <p:nvPr/>
        </p:nvSpPr>
        <p:spPr>
          <a:xfrm>
            <a:off x="896112" y="2796235"/>
            <a:ext cx="384048" cy="384048"/>
          </a:xfrm>
          <a:prstGeom prst="ellipse">
            <a:avLst/>
          </a:prstGeom>
          <a:solidFill>
            <a:srgbClr val="12B198"/>
          </a:solidFill>
          <a:ln/>
        </p:spPr>
      </p:sp>
      <p:sp>
        <p:nvSpPr>
          <p:cNvPr id="10" name="Text 7"/>
          <p:cNvSpPr/>
          <p:nvPr/>
        </p:nvSpPr>
        <p:spPr>
          <a:xfrm>
            <a:off x="896112" y="279623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p:nvPr/>
        </p:nvSpPr>
        <p:spPr>
          <a:xfrm>
            <a:off x="1499616" y="2681021"/>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内容を要約して返します。「◯◯ということですね」。承認は同意ではありません。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Summarise back: "So the issue is X." Acknowledging is not agreeing.</a:t>
            </a:r>
            <a:endParaRPr lang="en-US" sz="1450" dirty="0"/>
          </a:p>
        </p:txBody>
      </p:sp>
      <p:sp>
        <p:nvSpPr>
          <p:cNvPr id="12" name="Shape 9"/>
          <p:cNvSpPr/>
          <p:nvPr/>
        </p:nvSpPr>
        <p:spPr>
          <a:xfrm>
            <a:off x="640080" y="3514954"/>
            <a:ext cx="10911535" cy="833933"/>
          </a:xfrm>
          <a:prstGeom prst="roundRect">
            <a:avLst>
              <a:gd name="adj" fmla="val 5482"/>
            </a:avLst>
          </a:prstGeom>
          <a:solidFill>
            <a:srgbClr val="EFF4F8"/>
          </a:solidFill>
          <a:ln/>
        </p:spPr>
      </p:sp>
      <p:sp>
        <p:nvSpPr>
          <p:cNvPr id="13" name="Shape 10"/>
          <p:cNvSpPr/>
          <p:nvPr/>
        </p:nvSpPr>
        <p:spPr>
          <a:xfrm>
            <a:off x="896112" y="3739896"/>
            <a:ext cx="384048" cy="384048"/>
          </a:xfrm>
          <a:prstGeom prst="ellipse">
            <a:avLst/>
          </a:prstGeom>
          <a:solidFill>
            <a:srgbClr val="12B198"/>
          </a:solidFill>
          <a:ln/>
        </p:spPr>
      </p:sp>
      <p:sp>
        <p:nvSpPr>
          <p:cNvPr id="14" name="Text 11"/>
          <p:cNvSpPr/>
          <p:nvPr/>
        </p:nvSpPr>
        <p:spPr>
          <a:xfrm>
            <a:off x="896112" y="3739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2"/>
          <p:cNvSpPr/>
          <p:nvPr/>
        </p:nvSpPr>
        <p:spPr>
          <a:xfrm>
            <a:off x="1499616" y="3624682"/>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引き下がれる形を残します。相手を追い詰めません。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Leave a way for the person to step back. Do not corner them.</a:t>
            </a:r>
            <a:endParaRPr lang="en-US" sz="1450" dirty="0"/>
          </a:p>
        </p:txBody>
      </p:sp>
      <p:sp>
        <p:nvSpPr>
          <p:cNvPr id="16" name="Shape 13"/>
          <p:cNvSpPr/>
          <p:nvPr/>
        </p:nvSpPr>
        <p:spPr>
          <a:xfrm>
            <a:off x="640080" y="4458614"/>
            <a:ext cx="10911535" cy="833933"/>
          </a:xfrm>
          <a:prstGeom prst="roundRect">
            <a:avLst>
              <a:gd name="adj" fmla="val 5482"/>
            </a:avLst>
          </a:prstGeom>
          <a:solidFill>
            <a:srgbClr val="F7FAFC"/>
          </a:solidFill>
          <a:ln/>
        </p:spPr>
      </p:sp>
      <p:sp>
        <p:nvSpPr>
          <p:cNvPr id="17" name="Shape 14"/>
          <p:cNvSpPr/>
          <p:nvPr/>
        </p:nvSpPr>
        <p:spPr>
          <a:xfrm>
            <a:off x="896112" y="4683557"/>
            <a:ext cx="384048" cy="384048"/>
          </a:xfrm>
          <a:prstGeom prst="ellipse">
            <a:avLst/>
          </a:prstGeom>
          <a:solidFill>
            <a:srgbClr val="12B198"/>
          </a:solidFill>
          <a:ln/>
        </p:spPr>
      </p:sp>
      <p:sp>
        <p:nvSpPr>
          <p:cNvPr id="18" name="Text 15"/>
          <p:cNvSpPr/>
          <p:nvPr/>
        </p:nvSpPr>
        <p:spPr>
          <a:xfrm>
            <a:off x="896112" y="46835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6"/>
          <p:cNvSpPr/>
          <p:nvPr/>
        </p:nvSpPr>
        <p:spPr>
          <a:xfrm>
            <a:off x="1499616" y="4568342"/>
            <a:ext cx="9777679" cy="651053"/>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選択肢を2つ示します。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Offer two options.</a:t>
            </a:r>
            <a:endParaRPr lang="en-US" sz="1450" dirty="0"/>
          </a:p>
        </p:txBody>
      </p:sp>
      <p:sp>
        <p:nvSpPr>
          <p:cNvPr id="20" name="Shape 17"/>
          <p:cNvSpPr/>
          <p:nvPr/>
        </p:nvSpPr>
        <p:spPr>
          <a:xfrm>
            <a:off x="640080" y="5402275"/>
            <a:ext cx="10911535" cy="833933"/>
          </a:xfrm>
          <a:prstGeom prst="roundRect">
            <a:avLst>
              <a:gd name="adj" fmla="val 5482"/>
            </a:avLst>
          </a:prstGeom>
          <a:solidFill>
            <a:srgbClr val="EFF4F8"/>
          </a:solidFill>
          <a:ln/>
        </p:spPr>
      </p:sp>
      <p:sp>
        <p:nvSpPr>
          <p:cNvPr id="21" name="Shape 18"/>
          <p:cNvSpPr/>
          <p:nvPr/>
        </p:nvSpPr>
        <p:spPr>
          <a:xfrm>
            <a:off x="896112" y="5627218"/>
            <a:ext cx="384048" cy="384048"/>
          </a:xfrm>
          <a:prstGeom prst="ellipse">
            <a:avLst/>
          </a:prstGeom>
          <a:solidFill>
            <a:srgbClr val="12B198"/>
          </a:solidFill>
          <a:ln/>
        </p:spPr>
      </p:sp>
      <p:sp>
        <p:nvSpPr>
          <p:cNvPr id="22" name="Text 19"/>
          <p:cNvSpPr/>
          <p:nvPr/>
        </p:nvSpPr>
        <p:spPr>
          <a:xfrm>
            <a:off x="896112" y="56272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499616" y="5512003"/>
            <a:ext cx="9777679" cy="651053"/>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急ぎません。時間をかけてかまいません。</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Do not rush. You may take time.</a:t>
            </a:r>
            <a:endParaRPr lang="en-US" sz="1300" dirty="0"/>
          </a:p>
        </p:txBody>
      </p:sp>
      <p:sp>
        <p:nvSpPr>
          <p:cNvPr id="24" name="Text 2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5" name="Text 2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やってはいけないこと</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What Not to Do</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いずれも相手の立場を否定する行為で、緊張を高めます。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Each of these denies the other person's position and raises tension.</a:t>
            </a:r>
            <a:endParaRPr lang="en-US" sz="1300" dirty="0"/>
          </a:p>
        </p:txBody>
      </p:sp>
      <p:sp>
        <p:nvSpPr>
          <p:cNvPr id="5" name="Shape 2"/>
          <p:cNvSpPr/>
          <p:nvPr/>
        </p:nvSpPr>
        <p:spPr>
          <a:xfrm>
            <a:off x="640080" y="2670048"/>
            <a:ext cx="5318608" cy="932688"/>
          </a:xfrm>
          <a:prstGeom prst="roundRect">
            <a:avLst>
              <a:gd name="adj" fmla="val 3922"/>
            </a:avLst>
          </a:prstGeom>
          <a:solidFill>
            <a:srgbClr val="EFF4F8"/>
          </a:solidFill>
          <a:ln/>
        </p:spPr>
      </p:sp>
      <p:sp>
        <p:nvSpPr>
          <p:cNvPr id="6" name="Shape 3"/>
          <p:cNvSpPr/>
          <p:nvPr/>
        </p:nvSpPr>
        <p:spPr>
          <a:xfrm>
            <a:off x="822960" y="2971800"/>
            <a:ext cx="329184" cy="329184"/>
          </a:xfrm>
          <a:prstGeom prst="ellipse">
            <a:avLst/>
          </a:prstGeom>
          <a:solidFill>
            <a:srgbClr val="093259"/>
          </a:solidFill>
          <a:ln/>
        </p:spPr>
      </p:sp>
      <p:sp>
        <p:nvSpPr>
          <p:cNvPr id="7" name="Text 4"/>
          <p:cNvSpPr/>
          <p:nvPr/>
        </p:nvSpPr>
        <p:spPr>
          <a:xfrm>
            <a:off x="822960"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743200"/>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命令口調。「下がってください」を繰り返す。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commanding tone. Repeating "step back".</a:t>
            </a:r>
            <a:endParaRPr lang="en-US" sz="1150" dirty="0"/>
          </a:p>
        </p:txBody>
      </p:sp>
      <p:sp>
        <p:nvSpPr>
          <p:cNvPr id="9" name="Shape 6"/>
          <p:cNvSpPr/>
          <p:nvPr/>
        </p:nvSpPr>
        <p:spPr>
          <a:xfrm>
            <a:off x="6233008" y="2670048"/>
            <a:ext cx="5318608" cy="932688"/>
          </a:xfrm>
          <a:prstGeom prst="roundRect">
            <a:avLst>
              <a:gd name="adj" fmla="val 3922"/>
            </a:avLst>
          </a:prstGeom>
          <a:solidFill>
            <a:srgbClr val="EFF4F8"/>
          </a:solidFill>
          <a:ln/>
        </p:spPr>
      </p:sp>
      <p:sp>
        <p:nvSpPr>
          <p:cNvPr id="10" name="Shape 7"/>
          <p:cNvSpPr/>
          <p:nvPr/>
        </p:nvSpPr>
        <p:spPr>
          <a:xfrm>
            <a:off x="6415888" y="2971800"/>
            <a:ext cx="329184" cy="329184"/>
          </a:xfrm>
          <a:prstGeom prst="ellipse">
            <a:avLst/>
          </a:prstGeom>
          <a:solidFill>
            <a:srgbClr val="093259"/>
          </a:solidFill>
          <a:ln/>
        </p:spPr>
      </p:sp>
      <p:sp>
        <p:nvSpPr>
          <p:cNvPr id="11" name="Text 8"/>
          <p:cNvSpPr/>
          <p:nvPr/>
        </p:nvSpPr>
        <p:spPr>
          <a:xfrm>
            <a:off x="6415888"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743200"/>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指差し、腕組み、ため息。</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Pointing, folded arms, sighing.</a:t>
            </a:r>
            <a:endParaRPr lang="en-US" sz="1150" dirty="0"/>
          </a:p>
        </p:txBody>
      </p:sp>
      <p:sp>
        <p:nvSpPr>
          <p:cNvPr id="13" name="Shape 10"/>
          <p:cNvSpPr/>
          <p:nvPr/>
        </p:nvSpPr>
        <p:spPr>
          <a:xfrm>
            <a:off x="640080" y="3749040"/>
            <a:ext cx="5318608" cy="932688"/>
          </a:xfrm>
          <a:prstGeom prst="roundRect">
            <a:avLst>
              <a:gd name="adj" fmla="val 3922"/>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822192"/>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「落ち着いてください」と言う。</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Saying "please calm down".</a:t>
            </a:r>
            <a:endParaRPr lang="en-US" sz="1150" dirty="0"/>
          </a:p>
        </p:txBody>
      </p:sp>
      <p:sp>
        <p:nvSpPr>
          <p:cNvPr id="17" name="Shape 14"/>
          <p:cNvSpPr/>
          <p:nvPr/>
        </p:nvSpPr>
        <p:spPr>
          <a:xfrm>
            <a:off x="6233008" y="3749040"/>
            <a:ext cx="5318608" cy="932688"/>
          </a:xfrm>
          <a:prstGeom prst="roundRect">
            <a:avLst>
              <a:gd name="adj" fmla="val 3922"/>
            </a:avLst>
          </a:prstGeom>
          <a:solidFill>
            <a:srgbClr val="EFF4F8"/>
          </a:solidFill>
          <a:ln/>
        </p:spPr>
      </p:sp>
      <p:sp>
        <p:nvSpPr>
          <p:cNvPr id="18" name="Shape 15"/>
          <p:cNvSpPr/>
          <p:nvPr/>
        </p:nvSpPr>
        <p:spPr>
          <a:xfrm>
            <a:off x="6415888" y="4050792"/>
            <a:ext cx="329184" cy="329184"/>
          </a:xfrm>
          <a:prstGeom prst="ellipse">
            <a:avLst/>
          </a:prstGeom>
          <a:solidFill>
            <a:srgbClr val="093259"/>
          </a:solidFill>
          <a:ln/>
        </p:spPr>
      </p:sp>
      <p:sp>
        <p:nvSpPr>
          <p:cNvPr id="19" name="Text 16"/>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822192"/>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複数人で囲む。背後に回る。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Surrounding the person. Moving behind them.</a:t>
            </a:r>
            <a:endParaRPr lang="en-US" sz="1150" dirty="0"/>
          </a:p>
        </p:txBody>
      </p:sp>
      <p:sp>
        <p:nvSpPr>
          <p:cNvPr id="21" name="Shape 18"/>
          <p:cNvSpPr/>
          <p:nvPr/>
        </p:nvSpPr>
        <p:spPr>
          <a:xfrm>
            <a:off x="640080" y="4828032"/>
            <a:ext cx="5318608" cy="932688"/>
          </a:xfrm>
          <a:prstGeom prst="roundRect">
            <a:avLst>
              <a:gd name="adj" fmla="val 3922"/>
            </a:avLst>
          </a:prstGeom>
          <a:solidFill>
            <a:srgbClr val="EFF4F8"/>
          </a:solidFill>
          <a:ln/>
        </p:spPr>
      </p:sp>
      <p:sp>
        <p:nvSpPr>
          <p:cNvPr id="22" name="Shape 19"/>
          <p:cNvSpPr/>
          <p:nvPr/>
        </p:nvSpPr>
        <p:spPr>
          <a:xfrm>
            <a:off x="822960" y="5129784"/>
            <a:ext cx="329184" cy="329184"/>
          </a:xfrm>
          <a:prstGeom prst="ellipse">
            <a:avLst/>
          </a:prstGeom>
          <a:solidFill>
            <a:srgbClr val="093259"/>
          </a:solidFill>
          <a:ln/>
        </p:spPr>
      </p:sp>
      <p:sp>
        <p:nvSpPr>
          <p:cNvPr id="23" name="Text 20"/>
          <p:cNvSpPr/>
          <p:nvPr/>
        </p:nvSpPr>
        <p:spPr>
          <a:xfrm>
            <a:off x="822960"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901184"/>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「規則ですから」で会話を打ち切る。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Ending the conversation with "those are the rules".</a:t>
            </a:r>
            <a:endParaRPr lang="en-US" sz="1150" dirty="0"/>
          </a:p>
        </p:txBody>
      </p:sp>
      <p:sp>
        <p:nvSpPr>
          <p:cNvPr id="25" name="Shape 22"/>
          <p:cNvSpPr/>
          <p:nvPr/>
        </p:nvSpPr>
        <p:spPr>
          <a:xfrm>
            <a:off x="6233008" y="4828032"/>
            <a:ext cx="5318608" cy="932688"/>
          </a:xfrm>
          <a:prstGeom prst="roundRect">
            <a:avLst>
              <a:gd name="adj" fmla="val 3922"/>
            </a:avLst>
          </a:prstGeom>
          <a:solidFill>
            <a:srgbClr val="EFF4F8"/>
          </a:solidFill>
          <a:ln/>
        </p:spPr>
      </p:sp>
      <p:sp>
        <p:nvSpPr>
          <p:cNvPr id="26" name="Shape 23"/>
          <p:cNvSpPr/>
          <p:nvPr/>
        </p:nvSpPr>
        <p:spPr>
          <a:xfrm>
            <a:off x="6415888" y="5129784"/>
            <a:ext cx="329184" cy="329184"/>
          </a:xfrm>
          <a:prstGeom prst="ellipse">
            <a:avLst/>
          </a:prstGeom>
          <a:solidFill>
            <a:srgbClr val="093259"/>
          </a:solidFill>
          <a:ln/>
        </p:spPr>
      </p:sp>
      <p:sp>
        <p:nvSpPr>
          <p:cNvPr id="27" name="Text 24"/>
          <p:cNvSpPr/>
          <p:nvPr/>
        </p:nvSpPr>
        <p:spPr>
          <a:xfrm>
            <a:off x="6415888"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901184"/>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自分の意見や会社の見解を述べる。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Giving your own opinion or the company's position.</a:t>
            </a:r>
            <a:endParaRPr lang="en-US" sz="11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離脱の判断</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When to Disengage</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次の兆候が出た場合は、対話を続けずに切り替えます。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If these signs appear, stop the conversation and change approach.</a:t>
            </a:r>
            <a:endParaRPr lang="en-US" sz="1300" dirty="0"/>
          </a:p>
        </p:txBody>
      </p:sp>
      <p:sp>
        <p:nvSpPr>
          <p:cNvPr id="5" name="Shape 2"/>
          <p:cNvSpPr/>
          <p:nvPr/>
        </p:nvSpPr>
        <p:spPr>
          <a:xfrm>
            <a:off x="640080" y="2286000"/>
            <a:ext cx="10911535" cy="850392"/>
          </a:xfrm>
          <a:prstGeom prst="roundRect">
            <a:avLst>
              <a:gd name="adj" fmla="val 5376"/>
            </a:avLst>
          </a:prstGeom>
          <a:solidFill>
            <a:srgbClr val="EFF4F8"/>
          </a:solidFill>
          <a:ln/>
        </p:spPr>
      </p:sp>
      <p:sp>
        <p:nvSpPr>
          <p:cNvPr id="6" name="Shape 3"/>
          <p:cNvSpPr/>
          <p:nvPr/>
        </p:nvSpPr>
        <p:spPr>
          <a:xfrm>
            <a:off x="896112" y="2519172"/>
            <a:ext cx="384048" cy="384048"/>
          </a:xfrm>
          <a:prstGeom prst="ellipse">
            <a:avLst/>
          </a:prstGeom>
          <a:solidFill>
            <a:srgbClr val="12B198"/>
          </a:solidFill>
          <a:ln/>
        </p:spPr>
      </p:sp>
      <p:sp>
        <p:nvSpPr>
          <p:cNvPr id="7" name="Text 4"/>
          <p:cNvSpPr/>
          <p:nvPr/>
        </p:nvSpPr>
        <p:spPr>
          <a:xfrm>
            <a:off x="896112" y="25191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兆候 ― 声が大きくなり続ける。同じ言葉を繰り返す。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Signs: the volume keeps rising. The same phrase repeats.</a:t>
            </a:r>
            <a:endParaRPr lang="en-US" sz="1450" dirty="0"/>
          </a:p>
        </p:txBody>
      </p:sp>
      <p:sp>
        <p:nvSpPr>
          <p:cNvPr id="9" name="Shape 6"/>
          <p:cNvSpPr/>
          <p:nvPr/>
        </p:nvSpPr>
        <p:spPr>
          <a:xfrm>
            <a:off x="640080" y="3319272"/>
            <a:ext cx="10911535" cy="850392"/>
          </a:xfrm>
          <a:prstGeom prst="roundRect">
            <a:avLst>
              <a:gd name="adj" fmla="val 5376"/>
            </a:avLst>
          </a:prstGeom>
          <a:solidFill>
            <a:srgbClr val="F7FAFC"/>
          </a:solidFill>
          <a:ln/>
        </p:spPr>
      </p:sp>
      <p:sp>
        <p:nvSpPr>
          <p:cNvPr id="10" name="Shape 7"/>
          <p:cNvSpPr/>
          <p:nvPr/>
        </p:nvSpPr>
        <p:spPr>
          <a:xfrm>
            <a:off x="896112" y="3552444"/>
            <a:ext cx="384048" cy="384048"/>
          </a:xfrm>
          <a:prstGeom prst="ellipse">
            <a:avLst/>
          </a:prstGeom>
          <a:solidFill>
            <a:srgbClr val="12B198"/>
          </a:solidFill>
          <a:ln/>
        </p:spPr>
      </p:sp>
      <p:sp>
        <p:nvSpPr>
          <p:cNvPr id="11" name="Text 8"/>
          <p:cNvSpPr/>
          <p:nvPr/>
        </p:nvSpPr>
        <p:spPr>
          <a:xfrm>
            <a:off x="896112" y="35524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429000"/>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兆候 ― 距離を詰めてくる。持ち物を握りしめる。視線を外さない。</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Signs: closing the distance. Gripping an object. A fixed stare.</a:t>
            </a:r>
            <a:endParaRPr lang="en-US" sz="1450" dirty="0"/>
          </a:p>
        </p:txBody>
      </p:sp>
      <p:sp>
        <p:nvSpPr>
          <p:cNvPr id="13" name="Shape 10"/>
          <p:cNvSpPr/>
          <p:nvPr/>
        </p:nvSpPr>
        <p:spPr>
          <a:xfrm>
            <a:off x="640080" y="4352544"/>
            <a:ext cx="10911535" cy="850392"/>
          </a:xfrm>
          <a:prstGeom prst="roundRect">
            <a:avLst>
              <a:gd name="adj" fmla="val 5376"/>
            </a:avLst>
          </a:prstGeom>
          <a:solidFill>
            <a:srgbClr val="EFF4F8"/>
          </a:solidFill>
          <a:ln/>
        </p:spPr>
      </p:sp>
      <p:sp>
        <p:nvSpPr>
          <p:cNvPr id="14" name="Shape 11"/>
          <p:cNvSpPr/>
          <p:nvPr/>
        </p:nvSpPr>
        <p:spPr>
          <a:xfrm>
            <a:off x="896112" y="4585716"/>
            <a:ext cx="384048" cy="384048"/>
          </a:xfrm>
          <a:prstGeom prst="ellipse">
            <a:avLst/>
          </a:prstGeom>
          <a:solidFill>
            <a:srgbClr val="12B198"/>
          </a:solidFill>
          <a:ln/>
        </p:spPr>
      </p:sp>
      <p:sp>
        <p:nvSpPr>
          <p:cNvPr id="15" name="Text 12"/>
          <p:cNvSpPr/>
          <p:nvPr/>
        </p:nvSpPr>
        <p:spPr>
          <a:xfrm>
            <a:off x="896112" y="45857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462272"/>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順序 ― 離脱する、応援を要請する、通報する。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Sequence: disengage, call for backup, then report to police.</a:t>
            </a:r>
            <a:endParaRPr lang="en-US" sz="1450" dirty="0"/>
          </a:p>
        </p:txBody>
      </p:sp>
      <p:sp>
        <p:nvSpPr>
          <p:cNvPr id="17" name="Shape 14"/>
          <p:cNvSpPr/>
          <p:nvPr/>
        </p:nvSpPr>
        <p:spPr>
          <a:xfrm>
            <a:off x="640080" y="5385816"/>
            <a:ext cx="10911535" cy="850392"/>
          </a:xfrm>
          <a:prstGeom prst="roundRect">
            <a:avLst>
              <a:gd name="adj" fmla="val 5376"/>
            </a:avLst>
          </a:prstGeom>
          <a:solidFill>
            <a:srgbClr val="F7FAFC"/>
          </a:solidFill>
          <a:ln/>
        </p:spPr>
      </p:sp>
      <p:sp>
        <p:nvSpPr>
          <p:cNvPr id="18" name="Shape 15"/>
          <p:cNvSpPr/>
          <p:nvPr/>
        </p:nvSpPr>
        <p:spPr>
          <a:xfrm>
            <a:off x="896112" y="5618988"/>
            <a:ext cx="384048" cy="384048"/>
          </a:xfrm>
          <a:prstGeom prst="ellipse">
            <a:avLst/>
          </a:prstGeom>
          <a:solidFill>
            <a:srgbClr val="12B198"/>
          </a:solidFill>
          <a:ln/>
        </p:spPr>
      </p:sp>
      <p:sp>
        <p:nvSpPr>
          <p:cNvPr id="19" name="Text 16"/>
          <p:cNvSpPr/>
          <p:nvPr/>
        </p:nvSpPr>
        <p:spPr>
          <a:xfrm>
            <a:off x="896112" y="56189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5495544"/>
            <a:ext cx="9777679" cy="66751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効果が見られない場合は離脱します。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If it is not working, disengage.</a:t>
            </a:r>
            <a:endParaRPr lang="en-US" sz="1450" dirty="0"/>
          </a:p>
        </p:txBody>
      </p:sp>
      <p:sp>
        <p:nvSpPr>
          <p:cNvPr id="21" name="Text 1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2" name="Text 1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ソーシャルエンジニアリング</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Social Engineering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いずれも、手続きを省略させることを目的とした働きかけです。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All of these aim to make you skip a procedure.</a:t>
            </a:r>
            <a:endParaRPr lang="en-US" sz="1300" dirty="0"/>
          </a:p>
        </p:txBody>
      </p:sp>
      <p:sp>
        <p:nvSpPr>
          <p:cNvPr id="5" name="Shape 2"/>
          <p:cNvSpPr/>
          <p:nvPr/>
        </p:nvSpPr>
        <p:spPr>
          <a:xfrm>
            <a:off x="640080" y="2670048"/>
            <a:ext cx="5318608" cy="932688"/>
          </a:xfrm>
          <a:prstGeom prst="roundRect">
            <a:avLst>
              <a:gd name="adj" fmla="val 3922"/>
            </a:avLst>
          </a:prstGeom>
          <a:solidFill>
            <a:srgbClr val="EFF4F8"/>
          </a:solidFill>
          <a:ln/>
        </p:spPr>
      </p:sp>
      <p:sp>
        <p:nvSpPr>
          <p:cNvPr id="6" name="Shape 3"/>
          <p:cNvSpPr/>
          <p:nvPr/>
        </p:nvSpPr>
        <p:spPr>
          <a:xfrm>
            <a:off x="822960" y="2971800"/>
            <a:ext cx="329184" cy="329184"/>
          </a:xfrm>
          <a:prstGeom prst="ellipse">
            <a:avLst/>
          </a:prstGeom>
          <a:solidFill>
            <a:srgbClr val="093259"/>
          </a:solidFill>
          <a:ln/>
        </p:spPr>
      </p:sp>
      <p:sp>
        <p:nvSpPr>
          <p:cNvPr id="7" name="Text 4"/>
          <p:cNvSpPr/>
          <p:nvPr/>
        </p:nvSpPr>
        <p:spPr>
          <a:xfrm>
            <a:off x="822960"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743200"/>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権威 ―「役員に呼ばれている」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Authority: "the director is expecting me".</a:t>
            </a:r>
            <a:endParaRPr lang="en-US" sz="1150" dirty="0"/>
          </a:p>
        </p:txBody>
      </p:sp>
      <p:sp>
        <p:nvSpPr>
          <p:cNvPr id="9" name="Shape 6"/>
          <p:cNvSpPr/>
          <p:nvPr/>
        </p:nvSpPr>
        <p:spPr>
          <a:xfrm>
            <a:off x="6233008" y="2670048"/>
            <a:ext cx="5318608" cy="932688"/>
          </a:xfrm>
          <a:prstGeom prst="roundRect">
            <a:avLst>
              <a:gd name="adj" fmla="val 3922"/>
            </a:avLst>
          </a:prstGeom>
          <a:solidFill>
            <a:srgbClr val="EFF4F8"/>
          </a:solidFill>
          <a:ln/>
        </p:spPr>
      </p:sp>
      <p:sp>
        <p:nvSpPr>
          <p:cNvPr id="10" name="Shape 7"/>
          <p:cNvSpPr/>
          <p:nvPr/>
        </p:nvSpPr>
        <p:spPr>
          <a:xfrm>
            <a:off x="6415888" y="2971800"/>
            <a:ext cx="329184" cy="329184"/>
          </a:xfrm>
          <a:prstGeom prst="ellipse">
            <a:avLst/>
          </a:prstGeom>
          <a:solidFill>
            <a:srgbClr val="093259"/>
          </a:solidFill>
          <a:ln/>
        </p:spPr>
      </p:sp>
      <p:sp>
        <p:nvSpPr>
          <p:cNvPr id="11" name="Text 8"/>
          <p:cNvSpPr/>
          <p:nvPr/>
        </p:nvSpPr>
        <p:spPr>
          <a:xfrm>
            <a:off x="6415888" y="29718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743200"/>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緊急 ―「今すぐ通さないと損害が出る」</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Urgency: "if you delay me it will cost the company".</a:t>
            </a:r>
            <a:endParaRPr lang="en-US" sz="1150" dirty="0"/>
          </a:p>
        </p:txBody>
      </p:sp>
      <p:sp>
        <p:nvSpPr>
          <p:cNvPr id="13" name="Shape 10"/>
          <p:cNvSpPr/>
          <p:nvPr/>
        </p:nvSpPr>
        <p:spPr>
          <a:xfrm>
            <a:off x="640080" y="3749040"/>
            <a:ext cx="5318608" cy="932688"/>
          </a:xfrm>
          <a:prstGeom prst="roundRect">
            <a:avLst>
              <a:gd name="adj" fmla="val 3922"/>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822192"/>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親近感 ―「前も通してもらった」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Familiarity: "they let me through last time".</a:t>
            </a:r>
            <a:endParaRPr lang="en-US" sz="1150" dirty="0"/>
          </a:p>
        </p:txBody>
      </p:sp>
      <p:sp>
        <p:nvSpPr>
          <p:cNvPr id="17" name="Shape 14"/>
          <p:cNvSpPr/>
          <p:nvPr/>
        </p:nvSpPr>
        <p:spPr>
          <a:xfrm>
            <a:off x="6233008" y="3749040"/>
            <a:ext cx="5318608" cy="932688"/>
          </a:xfrm>
          <a:prstGeom prst="roundRect">
            <a:avLst>
              <a:gd name="adj" fmla="val 3922"/>
            </a:avLst>
          </a:prstGeom>
          <a:solidFill>
            <a:srgbClr val="EFF4F8"/>
          </a:solidFill>
          <a:ln/>
        </p:spPr>
      </p:sp>
      <p:sp>
        <p:nvSpPr>
          <p:cNvPr id="18" name="Shape 15"/>
          <p:cNvSpPr/>
          <p:nvPr/>
        </p:nvSpPr>
        <p:spPr>
          <a:xfrm>
            <a:off x="6415888" y="4050792"/>
            <a:ext cx="329184" cy="329184"/>
          </a:xfrm>
          <a:prstGeom prst="ellipse">
            <a:avLst/>
          </a:prstGeom>
          <a:solidFill>
            <a:srgbClr val="093259"/>
          </a:solidFill>
          <a:ln/>
        </p:spPr>
      </p:sp>
      <p:sp>
        <p:nvSpPr>
          <p:cNvPr id="19" name="Text 16"/>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822192"/>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同情 ―「雨で困っている」「体調が悪い」</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Sympathy: "I am soaked", "I am unwell".</a:t>
            </a:r>
            <a:endParaRPr lang="en-US" sz="1150" dirty="0"/>
          </a:p>
        </p:txBody>
      </p:sp>
      <p:sp>
        <p:nvSpPr>
          <p:cNvPr id="21" name="Shape 18"/>
          <p:cNvSpPr/>
          <p:nvPr/>
        </p:nvSpPr>
        <p:spPr>
          <a:xfrm>
            <a:off x="640080" y="4828032"/>
            <a:ext cx="5318608" cy="932688"/>
          </a:xfrm>
          <a:prstGeom prst="roundRect">
            <a:avLst>
              <a:gd name="adj" fmla="val 3922"/>
            </a:avLst>
          </a:prstGeom>
          <a:solidFill>
            <a:srgbClr val="EFF4F8"/>
          </a:solidFill>
          <a:ln/>
        </p:spPr>
      </p:sp>
      <p:sp>
        <p:nvSpPr>
          <p:cNvPr id="22" name="Shape 19"/>
          <p:cNvSpPr/>
          <p:nvPr/>
        </p:nvSpPr>
        <p:spPr>
          <a:xfrm>
            <a:off x="822960" y="5129784"/>
            <a:ext cx="329184" cy="329184"/>
          </a:xfrm>
          <a:prstGeom prst="ellipse">
            <a:avLst/>
          </a:prstGeom>
          <a:solidFill>
            <a:srgbClr val="093259"/>
          </a:solidFill>
          <a:ln/>
        </p:spPr>
      </p:sp>
      <p:sp>
        <p:nvSpPr>
          <p:cNvPr id="23" name="Text 20"/>
          <p:cNvSpPr/>
          <p:nvPr/>
        </p:nvSpPr>
        <p:spPr>
          <a:xfrm>
            <a:off x="822960"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901184"/>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共連れ ― 荷物を持って後ろにつく</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Tailgating: following behind carrying items.</a:t>
            </a:r>
            <a:endParaRPr lang="en-US" sz="1150" dirty="0"/>
          </a:p>
        </p:txBody>
      </p:sp>
      <p:sp>
        <p:nvSpPr>
          <p:cNvPr id="25" name="Shape 22"/>
          <p:cNvSpPr/>
          <p:nvPr/>
        </p:nvSpPr>
        <p:spPr>
          <a:xfrm>
            <a:off x="6233008" y="4828032"/>
            <a:ext cx="5318608" cy="932688"/>
          </a:xfrm>
          <a:prstGeom prst="roundRect">
            <a:avLst>
              <a:gd name="adj" fmla="val 3922"/>
            </a:avLst>
          </a:prstGeom>
          <a:solidFill>
            <a:srgbClr val="EFF4F8"/>
          </a:solidFill>
          <a:ln/>
        </p:spPr>
      </p:sp>
      <p:sp>
        <p:nvSpPr>
          <p:cNvPr id="26" name="Shape 23"/>
          <p:cNvSpPr/>
          <p:nvPr/>
        </p:nvSpPr>
        <p:spPr>
          <a:xfrm>
            <a:off x="6415888" y="5129784"/>
            <a:ext cx="329184" cy="329184"/>
          </a:xfrm>
          <a:prstGeom prst="ellipse">
            <a:avLst/>
          </a:prstGeom>
          <a:solidFill>
            <a:srgbClr val="093259"/>
          </a:solidFill>
          <a:ln/>
        </p:spPr>
      </p:sp>
      <p:sp>
        <p:nvSpPr>
          <p:cNvPr id="27" name="Text 24"/>
          <p:cNvSpPr/>
          <p:nvPr/>
        </p:nvSpPr>
        <p:spPr>
          <a:xfrm>
            <a:off x="6415888" y="51297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901184"/>
            <a:ext cx="4477360" cy="786384"/>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対応は共通です。手続きに戻します。確認は失礼ではありません。</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One response to all: return to the procedure. Verifying is not rude.</a:t>
            </a:r>
            <a:endParaRPr lang="en-US" sz="11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元従業員・報道関係者</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Former Employees and the Press</a:t>
            </a:r>
            <a:endParaRPr lang="en-US" sz="2700" dirty="0"/>
          </a:p>
        </p:txBody>
      </p:sp>
      <p:sp>
        <p:nvSpPr>
          <p:cNvPr id="4" name="Shape 1"/>
          <p:cNvSpPr/>
          <p:nvPr/>
        </p:nvSpPr>
        <p:spPr>
          <a:xfrm>
            <a:off x="640080" y="1627632"/>
            <a:ext cx="5300320" cy="3767328"/>
          </a:xfrm>
          <a:prstGeom prst="roundRect">
            <a:avLst>
              <a:gd name="adj" fmla="val 1214"/>
            </a:avLst>
          </a:prstGeom>
          <a:solidFill>
            <a:srgbClr val="EFF4F8"/>
          </a:solidFill>
          <a:ln/>
        </p:spPr>
      </p:sp>
      <p:sp>
        <p:nvSpPr>
          <p:cNvPr id="5" name="Text 2"/>
          <p:cNvSpPr/>
          <p:nvPr/>
        </p:nvSpPr>
        <p:spPr>
          <a:xfrm>
            <a:off x="914400" y="1847088"/>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元従業員</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Former employees</a:t>
            </a:r>
            <a:endParaRPr lang="en-US" sz="1600" dirty="0"/>
          </a:p>
        </p:txBody>
      </p:sp>
      <p:sp>
        <p:nvSpPr>
          <p:cNvPr id="6" name="Text 3"/>
          <p:cNvSpPr/>
          <p:nvPr/>
        </p:nvSpPr>
        <p:spPr>
          <a:xfrm>
            <a:off x="914400" y="2615184"/>
            <a:ext cx="4751680" cy="2542032"/>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・退職した時点で来訪者です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Once they have left, they are a visitor</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・入館手続きに戻します。例外を作りません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Return them to the visitor process. Make no exception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・経緯には立ち入りません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Do not discuss the circumstances of their leaving</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・人事へ取り次ぎます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Refer them to HR</a:t>
            </a:r>
            <a:endParaRPr lang="en-US" sz="1250" dirty="0"/>
          </a:p>
        </p:txBody>
      </p:sp>
      <p:sp>
        <p:nvSpPr>
          <p:cNvPr id="7" name="Shape 4"/>
          <p:cNvSpPr/>
          <p:nvPr/>
        </p:nvSpPr>
        <p:spPr>
          <a:xfrm>
            <a:off x="6251296" y="1627632"/>
            <a:ext cx="5300320" cy="3767328"/>
          </a:xfrm>
          <a:prstGeom prst="roundRect">
            <a:avLst>
              <a:gd name="adj" fmla="val 1214"/>
            </a:avLst>
          </a:prstGeom>
          <a:solidFill>
            <a:srgbClr val="E4F4F0"/>
          </a:solidFill>
          <a:ln/>
        </p:spPr>
      </p:sp>
      <p:sp>
        <p:nvSpPr>
          <p:cNvPr id="8" name="Text 5"/>
          <p:cNvSpPr/>
          <p:nvPr/>
        </p:nvSpPr>
        <p:spPr>
          <a:xfrm>
            <a:off x="6525616" y="1847088"/>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報道関係者</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Press and media</a:t>
            </a:r>
            <a:endParaRPr lang="en-US" sz="1600" dirty="0"/>
          </a:p>
        </p:txBody>
      </p:sp>
      <p:sp>
        <p:nvSpPr>
          <p:cNvPr id="9" name="Text 6"/>
          <p:cNvSpPr/>
          <p:nvPr/>
        </p:nvSpPr>
        <p:spPr>
          <a:xfrm>
            <a:off x="6525616" y="2615184"/>
            <a:ext cx="4751680" cy="2542032"/>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・敷地内では取材に応じません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No interviews on company property</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・広報へ取り次ぎます。窓口を一本化します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Refer to Communications. Keep one channel</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・「お答えできる立場にありません」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 am not in a position to comment"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・撮影されている前提で行動します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Act on the assumption that you are being filmed</a:t>
            </a:r>
            <a:endParaRPr lang="en-US" sz="1250" dirty="0"/>
          </a:p>
        </p:txBody>
      </p:sp>
      <p:sp>
        <p:nvSpPr>
          <p:cNvPr id="10" name="Text 7"/>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共通 ― 自分の意見を述べません。会社の見解をその場で作りません。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For both: do not give your own opinion, and do not invent the company's position on the spot.</a:t>
            </a:r>
            <a:endParaRPr lang="en-US" sz="1300" dirty="0"/>
          </a:p>
        </p:txBody>
      </p:sp>
      <p:sp>
        <p:nvSpPr>
          <p:cNvPr id="11"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2"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TTX③ この台詞のうち、どれを選ぶか</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TTX ③ — Which of These Would You Say?</a:t>
            </a:r>
            <a:endParaRPr lang="en-US" sz="2700" dirty="0"/>
          </a:p>
        </p:txBody>
      </p:sp>
      <p:sp>
        <p:nvSpPr>
          <p:cNvPr id="4" name="Shape 1"/>
          <p:cNvSpPr/>
          <p:nvPr/>
        </p:nvSpPr>
        <p:spPr>
          <a:xfrm>
            <a:off x="640080" y="1627632"/>
            <a:ext cx="10911535" cy="1700784"/>
          </a:xfrm>
          <a:prstGeom prst="roundRect">
            <a:avLst>
              <a:gd name="adj" fmla="val 2688"/>
            </a:avLst>
          </a:prstGeom>
          <a:solidFill>
            <a:srgbClr val="093259"/>
          </a:solidFill>
          <a:ln/>
        </p:spPr>
      </p:sp>
      <p:sp>
        <p:nvSpPr>
          <p:cNvPr id="5" name="Text 2"/>
          <p:cNvSpPr/>
          <p:nvPr/>
        </p:nvSpPr>
        <p:spPr>
          <a:xfrm>
            <a:off x="1024128" y="1810512"/>
            <a:ext cx="10143439" cy="1335024"/>
          </a:xfrm>
          <a:prstGeom prst="rect">
            <a:avLst/>
          </a:prstGeom>
          <a:noFill/>
          <a:ln/>
        </p:spPr>
        <p:txBody>
          <a:bodyPr wrap="square" lIns="0" tIns="0" rIns="0" bIns="0" rtlCol="0" anchor="t"/>
          <a:lstStyle/>
          <a:p>
            <a:pPr indent="0" marL="0">
              <a:lnSpc>
                <a:spcPct val="96000"/>
              </a:lnSpc>
              <a:buNone/>
            </a:pPr>
            <a:r>
              <a:rPr lang="en-US" sz="1050" b="1" dirty="0">
                <a:solidFill>
                  <a:srgbClr val="12B198"/>
                </a:solidFill>
                <a:latin typeface="Yu Gothic" pitchFamily="34" charset="0"/>
                <a:ea typeface="Yu Gothic" pitchFamily="34" charset="-122"/>
                <a:cs typeface="Yu Gothic" pitchFamily="34" charset="-120"/>
              </a:rPr>
              <a:t>状況付与  </a:t>
            </a:r>
            <a:pPr indent="0" marL="0">
              <a:lnSpc>
                <a:spcPct val="96000"/>
              </a:lnSpc>
              <a:buNone/>
            </a:pPr>
            <a:r>
              <a:rPr lang="en-US" sz="900" dirty="0">
                <a:solidFill>
                  <a:srgbClr val="12B198"/>
                </a:solidFill>
                <a:latin typeface="Calibri" pitchFamily="34" charset="0"/>
                <a:ea typeface="Calibri" pitchFamily="34" charset="-122"/>
                <a:cs typeface="Calibri" pitchFamily="34" charset="-120"/>
              </a:rPr>
              <a:t>SITUATION</a:t>
            </a:r>
            <a:endParaRPr lang="en-US" sz="1050" dirty="0"/>
          </a:p>
          <a:p>
            <a:pPr indent="0" marL="0">
              <a:lnSpc>
                <a:spcPct val="96000"/>
              </a:lnSpc>
              <a:buNone/>
            </a:pPr>
            <a:r>
              <a:rPr lang="en-US" sz="135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1050" dirty="0"/>
          </a:p>
          <a:p>
            <a:pPr indent="0" marL="0">
              <a:lnSpc>
                <a:spcPct val="96000"/>
              </a:lnSpc>
              <a:buNone/>
            </a:pPr>
            <a:r>
              <a:rPr lang="en-US" sz="950" i="1" dirty="0">
                <a:solidFill>
                  <a:srgbClr val="9FD8CD"/>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 phone. Their voice is raised and other visitors are looking.</a:t>
            </a:r>
            <a:endParaRPr lang="en-US" sz="1050" dirty="0"/>
          </a:p>
        </p:txBody>
      </p:sp>
      <p:sp>
        <p:nvSpPr>
          <p:cNvPr id="6" name="Shape 3"/>
          <p:cNvSpPr/>
          <p:nvPr/>
        </p:nvSpPr>
        <p:spPr>
          <a:xfrm>
            <a:off x="640080" y="3566160"/>
            <a:ext cx="10911535" cy="374904"/>
          </a:xfrm>
          <a:prstGeom prst="roundRect">
            <a:avLst>
              <a:gd name="adj" fmla="val 9756"/>
            </a:avLst>
          </a:prstGeom>
          <a:solidFill>
            <a:srgbClr val="EFF4F8"/>
          </a:solidFill>
          <a:ln/>
        </p:spPr>
      </p:sp>
      <p:sp>
        <p:nvSpPr>
          <p:cNvPr id="7" name="Shape 4"/>
          <p:cNvSpPr/>
          <p:nvPr/>
        </p:nvSpPr>
        <p:spPr>
          <a:xfrm>
            <a:off x="859536" y="3589020"/>
            <a:ext cx="329184" cy="329184"/>
          </a:xfrm>
          <a:prstGeom prst="ellipse">
            <a:avLst/>
          </a:prstGeom>
          <a:solidFill>
            <a:srgbClr val="12B198"/>
          </a:solidFill>
          <a:ln/>
        </p:spPr>
      </p:sp>
      <p:sp>
        <p:nvSpPr>
          <p:cNvPr id="8" name="Text 5"/>
          <p:cNvSpPr/>
          <p:nvPr/>
        </p:nvSpPr>
        <p:spPr>
          <a:xfrm>
            <a:off x="859536" y="35890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335024" y="3621024"/>
            <a:ext cx="9960559" cy="265176"/>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A「規則ですので通せません」　B「お急ぎのところ恐れ入ります。すぐ確認いたしますので、こちらでお待ちいただけますか」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A: "Rules are rules, I cannot let you through."　B: "I am sorry you are in a hurry. I will check now. Could you wait here?"</a:t>
            </a:r>
            <a:endParaRPr lang="en-US" sz="1300" dirty="0"/>
          </a:p>
        </p:txBody>
      </p:sp>
      <p:sp>
        <p:nvSpPr>
          <p:cNvPr id="10" name="Shape 7"/>
          <p:cNvSpPr/>
          <p:nvPr/>
        </p:nvSpPr>
        <p:spPr>
          <a:xfrm>
            <a:off x="640080" y="4032504"/>
            <a:ext cx="10911535" cy="374904"/>
          </a:xfrm>
          <a:prstGeom prst="roundRect">
            <a:avLst>
              <a:gd name="adj" fmla="val 9756"/>
            </a:avLst>
          </a:prstGeom>
          <a:solidFill>
            <a:srgbClr val="EFF4F8"/>
          </a:solidFill>
          <a:ln/>
        </p:spPr>
      </p:sp>
      <p:sp>
        <p:nvSpPr>
          <p:cNvPr id="11" name="Shape 8"/>
          <p:cNvSpPr/>
          <p:nvPr/>
        </p:nvSpPr>
        <p:spPr>
          <a:xfrm>
            <a:off x="859536" y="4055364"/>
            <a:ext cx="329184" cy="329184"/>
          </a:xfrm>
          <a:prstGeom prst="ellipse">
            <a:avLst/>
          </a:prstGeom>
          <a:solidFill>
            <a:srgbClr val="12B198"/>
          </a:solidFill>
          <a:ln/>
        </p:spPr>
      </p:sp>
      <p:sp>
        <p:nvSpPr>
          <p:cNvPr id="12" name="Text 9"/>
          <p:cNvSpPr/>
          <p:nvPr/>
        </p:nvSpPr>
        <p:spPr>
          <a:xfrm>
            <a:off x="859536" y="405536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335024" y="4087368"/>
            <a:ext cx="9960559" cy="265176"/>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D「どちらの役員でしょうか。お名前を伺えれば、こちらからお繋ぎします」</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C: "Please calm down."　D: "Which executive is it? Give me the name and I will contact them."</a:t>
            </a:r>
            <a:endParaRPr lang="en-US" sz="1300" dirty="0"/>
          </a:p>
        </p:txBody>
      </p:sp>
      <p:sp>
        <p:nvSpPr>
          <p:cNvPr id="14" name="Shape 11"/>
          <p:cNvSpPr/>
          <p:nvPr/>
        </p:nvSpPr>
        <p:spPr>
          <a:xfrm>
            <a:off x="640080" y="4498848"/>
            <a:ext cx="10911535" cy="374904"/>
          </a:xfrm>
          <a:prstGeom prst="roundRect">
            <a:avLst>
              <a:gd name="adj" fmla="val 9756"/>
            </a:avLst>
          </a:prstGeom>
          <a:solidFill>
            <a:srgbClr val="EFF4F8"/>
          </a:solidFill>
          <a:ln/>
        </p:spPr>
      </p:sp>
      <p:sp>
        <p:nvSpPr>
          <p:cNvPr id="15" name="Shape 12"/>
          <p:cNvSpPr/>
          <p:nvPr/>
        </p:nvSpPr>
        <p:spPr>
          <a:xfrm>
            <a:off x="859536" y="4521708"/>
            <a:ext cx="329184" cy="329184"/>
          </a:xfrm>
          <a:prstGeom prst="ellipse">
            <a:avLst/>
          </a:prstGeom>
          <a:solidFill>
            <a:srgbClr val="12B198"/>
          </a:solidFill>
          <a:ln/>
        </p:spPr>
      </p:sp>
      <p:sp>
        <p:nvSpPr>
          <p:cNvPr id="16" name="Text 13"/>
          <p:cNvSpPr/>
          <p:nvPr/>
        </p:nvSpPr>
        <p:spPr>
          <a:xfrm>
            <a:off x="859536" y="452170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335024" y="4553712"/>
            <a:ext cx="9960559" cy="265176"/>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どれを選ぶか。ほかを選ばない理由は何か。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Which do you choose? Why not the others?</a:t>
            </a:r>
            <a:endParaRPr lang="en-US" sz="1300" dirty="0"/>
          </a:p>
        </p:txBody>
      </p:sp>
      <p:sp>
        <p:nvSpPr>
          <p:cNvPr id="18" name="Shape 15"/>
          <p:cNvSpPr/>
          <p:nvPr/>
        </p:nvSpPr>
        <p:spPr>
          <a:xfrm>
            <a:off x="640080" y="4965192"/>
            <a:ext cx="10911535" cy="374904"/>
          </a:xfrm>
          <a:prstGeom prst="roundRect">
            <a:avLst>
              <a:gd name="adj" fmla="val 9756"/>
            </a:avLst>
          </a:prstGeom>
          <a:solidFill>
            <a:srgbClr val="EFF4F8"/>
          </a:solidFill>
          <a:ln/>
        </p:spPr>
      </p:sp>
      <p:sp>
        <p:nvSpPr>
          <p:cNvPr id="19" name="Shape 16"/>
          <p:cNvSpPr/>
          <p:nvPr/>
        </p:nvSpPr>
        <p:spPr>
          <a:xfrm>
            <a:off x="859536" y="4988052"/>
            <a:ext cx="329184" cy="329184"/>
          </a:xfrm>
          <a:prstGeom prst="ellipse">
            <a:avLst/>
          </a:prstGeom>
          <a:solidFill>
            <a:srgbClr val="12B198"/>
          </a:solidFill>
          <a:ln/>
        </p:spPr>
      </p:sp>
      <p:sp>
        <p:nvSpPr>
          <p:cNvPr id="20" name="Text 17"/>
          <p:cNvSpPr/>
          <p:nvPr/>
        </p:nvSpPr>
        <p:spPr>
          <a:xfrm>
            <a:off x="859536" y="49880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335024" y="5020056"/>
            <a:ext cx="9960559" cy="265176"/>
          </a:xfrm>
          <a:prstGeom prst="rect">
            <a:avLst/>
          </a:prstGeom>
          <a:noFill/>
          <a:ln/>
        </p:spPr>
        <p:txBody>
          <a:bodyPr wrap="square" lIns="0" tIns="0" rIns="0" bIns="0" rtlCol="0" anchor="ctr"/>
          <a:lstStyle/>
          <a:p>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予定表に同姓の記載があることは、判断を変えるか。</a:t>
            </a:r>
            <a:endParaRPr lang="en-US" sz="1300" dirty="0"/>
          </a:p>
          <a:p>
            <a:pPr indent="0" marL="0">
              <a:lnSpc>
                <a:spcPct val="90000"/>
              </a:lnSpc>
              <a:buNone/>
            </a:pPr>
            <a:r>
              <a:rPr lang="en-US" sz="950" i="1" dirty="0">
                <a:solidFill>
                  <a:srgbClr val="5F7183"/>
                </a:solidFill>
                <a:latin typeface="Calibri" pitchFamily="34" charset="0"/>
                <a:ea typeface="Calibri" pitchFamily="34" charset="-122"/>
                <a:cs typeface="Calibri" pitchFamily="34" charset="-120"/>
              </a:rPr>
              <a:t>The list shows the same family name. Does that change your decision?</a:t>
            </a:r>
            <a:endParaRPr lang="en-US" sz="1300" dirty="0"/>
          </a:p>
        </p:txBody>
      </p:sp>
      <p:sp>
        <p:nvSpPr>
          <p:cNvPr id="22" name="Shape 19"/>
          <p:cNvSpPr/>
          <p:nvPr/>
        </p:nvSpPr>
        <p:spPr>
          <a:xfrm>
            <a:off x="640080" y="5486400"/>
            <a:ext cx="10911535" cy="749808"/>
          </a:xfrm>
          <a:prstGeom prst="roundRect">
            <a:avLst>
              <a:gd name="adj" fmla="val 4878"/>
            </a:avLst>
          </a:prstGeom>
          <a:solidFill>
            <a:srgbClr val="E4F4F0"/>
          </a:solidFill>
          <a:ln/>
        </p:spPr>
      </p:sp>
      <p:sp>
        <p:nvSpPr>
          <p:cNvPr id="23" name="Text 20"/>
          <p:cNvSpPr/>
          <p:nvPr/>
        </p:nvSpPr>
        <p:spPr>
          <a:xfrm>
            <a:off x="914400" y="5559552"/>
            <a:ext cx="10362895" cy="603504"/>
          </a:xfrm>
          <a:prstGeom prst="rect">
            <a:avLst/>
          </a:prstGeom>
          <a:noFill/>
          <a:ln/>
        </p:spPr>
        <p:txBody>
          <a:bodyPr wrap="square" lIns="0" tIns="0" rIns="0" bIns="0" rtlCol="0" anchor="ctr"/>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追加付与  </a:t>
            </a:r>
            <a:pPr indent="0" marL="0">
              <a:lnSpc>
                <a:spcPct val="90000"/>
              </a:lnSpc>
              <a:buNone/>
            </a:pPr>
            <a:r>
              <a:rPr lang="en-US" sz="850" dirty="0">
                <a:solidFill>
                  <a:srgbClr val="0D8A76"/>
                </a:solidFill>
                <a:latin typeface="Calibri" pitchFamily="34" charset="0"/>
                <a:ea typeface="Calibri" pitchFamily="34" charset="-122"/>
                <a:cs typeface="Calibri" pitchFamily="34" charset="-120"/>
              </a:rPr>
              <a:t>INJECT   </a:t>
            </a:r>
            <a:pPr indent="0" marL="0">
              <a:lnSpc>
                <a:spcPct val="90000"/>
              </a:lnSpc>
              <a:buNone/>
            </a:pPr>
            <a:r>
              <a:rPr lang="en-US" sz="12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100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visitor points a smartphone at you and starts filming.</a:t>
            </a:r>
            <a:endParaRPr lang="en-US" sz="1000" dirty="0"/>
          </a:p>
        </p:txBody>
      </p:sp>
      <p:sp>
        <p:nvSpPr>
          <p:cNvPr id="24" name="Text 2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5" name="Text 2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TTX③ 講評の観点</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TTX ③ — Assessment Points</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選んだ台詞は、拒否ではなく手続きへの誘導になっているか。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Does your line redirect to a procedure, rather than simply refuse?</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有形力（進路に立つ、腕に触れる）に頼っていないか。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Are you relying on physical means, such as blocking or touching?</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引き下がれる形を残し、選択肢を示したか。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Did you leave a way to step back, and offer choices?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撮影されている状況で、対応を変えたか。変えるべきか。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Did you change your response while being filmed? Should you?</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午後は他講師が担当します。第9時限で再開します。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Other instructors take the afternoon. We resume at Period 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2026-08-10T13:22:24Z</dcterms:created>
  <dcterms:modified xsi:type="dcterms:W3CDTF">2026-08-10T13:22:24Z</dcterms:modified>
</cp:coreProperties>
</file>