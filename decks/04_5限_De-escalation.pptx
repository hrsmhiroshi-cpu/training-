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219456"/>
            <a:ext cx="104241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AF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第5時限　11:30 – 12:30　業務別教育2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A9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— Task-Specific Training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12848"/>
            <a:ext cx="9966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De-escalation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対人対応の知識及び技能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80390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— Interpersonal Response Skills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28032"/>
            <a:ext cx="1371600" cy="32004"/>
          </a:xfrm>
          <a:prstGeom prst="rect">
            <a:avLst/>
          </a:prstGeom>
          <a:solidFill>
            <a:srgbClr val="17AF9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1206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2026年8月11日（火）　施設警備 現任教育　コーポレートセキュリティ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E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Aug 2026 — In-Service Training, Facility Security / Corporate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De-escalation とは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De-escalation 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10911535" cy="2395728"/>
          </a:xfrm>
          <a:prstGeom prst="roundRect">
            <a:avLst>
              <a:gd name="adj" fmla="val 1908"/>
            </a:avLst>
          </a:prstGeom>
          <a:solidFill>
            <a:srgbClr val="0F2D52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938528"/>
            <a:ext cx="999713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有形力を使わずに、緊張を下げる技術。</a:t>
            </a:r>
            <a:endParaRPr lang="en-US" sz="1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目的は「勝つこと」ではなく、「収めること」。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2971800"/>
            <a:ext cx="999713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of lowering tension without resorting to physical force.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not to win the exchange — it is to end it safely.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10911535" cy="1298448"/>
          </a:xfrm>
          <a:prstGeom prst="roundRect">
            <a:avLst>
              <a:gd name="adj" fmla="val 3521"/>
            </a:avLst>
          </a:prstGeom>
          <a:solidFill>
            <a:srgbClr val="E4F4F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404104"/>
            <a:ext cx="365760" cy="365760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404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99616" y="5047488"/>
            <a:ext cx="972281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議論に勝った警備員は、たいてい状況に負けています。相手を言い負かした瞬間、退路がなくなります。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E8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who wins the argument has usually lost the situation. The moment you defeat someone verbally, they have nowhere to go.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第5時限｜業務別教育2 その他当該警備業務を適正に実施するため必要な知識及び技能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| Task-Specific Training 2 — De-escalation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距離・姿勢・声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Space, Stance, Voice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2446020"/>
            <a:ext cx="3454298" cy="2971800"/>
          </a:xfrm>
          <a:prstGeom prst="roundRect">
            <a:avLst>
              <a:gd name="adj" fmla="val 1538"/>
            </a:avLst>
          </a:prstGeom>
          <a:solidFill>
            <a:srgbClr val="EFF4F8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2683764"/>
            <a:ext cx="384048" cy="384048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2683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89888" y="2665476"/>
            <a:ext cx="24667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3415284"/>
            <a:ext cx="294223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手が届かない距離を保つ（目安1.5〜2m）。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距離は安全であり、同時に相手への敬意でもある。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beyond arm's reach — roughly 1.5 to 2 metres. Distance is safety, and it also reads as respect.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2446020"/>
            <a:ext cx="3454298" cy="2971800"/>
          </a:xfrm>
          <a:prstGeom prst="roundRect">
            <a:avLst>
              <a:gd name="adj" fmla="val 1538"/>
            </a:avLst>
          </a:prstGeom>
          <a:solidFill>
            <a:srgbClr val="E4F4F0"/>
          </a:solidFill>
          <a:ln/>
        </p:spPr>
      </p:sp>
      <p:sp>
        <p:nvSpPr>
          <p:cNvPr id="9" name="Shape 7"/>
          <p:cNvSpPr/>
          <p:nvPr/>
        </p:nvSpPr>
        <p:spPr>
          <a:xfrm>
            <a:off x="4606442" y="2683764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0" name="Text 8"/>
          <p:cNvSpPr/>
          <p:nvPr/>
        </p:nvSpPr>
        <p:spPr>
          <a:xfrm>
            <a:off x="4606442" y="2683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18506" y="2665476"/>
            <a:ext cx="24667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姿勢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4730" y="3415284"/>
            <a:ext cx="294223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正対しない。半身で斜めに立つ。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手は相手から見える位置に。腕を組まない。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square up — stand at an angle. Keep your hands visible. Never fold your arms.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7317" y="2446020"/>
            <a:ext cx="3454298" cy="2971800"/>
          </a:xfrm>
          <a:prstGeom prst="roundRect">
            <a:avLst>
              <a:gd name="adj" fmla="val 1538"/>
            </a:avLst>
          </a:prstGeom>
          <a:solidFill>
            <a:srgbClr val="EF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5061" y="2683764"/>
            <a:ext cx="384048" cy="384048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15" name="Text 13"/>
          <p:cNvSpPr/>
          <p:nvPr/>
        </p:nvSpPr>
        <p:spPr>
          <a:xfrm>
            <a:off x="8335061" y="2683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47125" y="2665476"/>
            <a:ext cx="24667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3349" y="3415284"/>
            <a:ext cx="294223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トーン・速度・音量を「下げる」。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相手より大きな声を出さない。沈黙を怖がらない。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your tone, pace and volume. Never out-shout them. Do not be afraid of silence.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第5時限｜業務別教育2 その他当該警備業務を適正に実施するため必要な知識及び技能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| Task-Specific Training 2 — De-escalation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傾聴と、逃げ道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Listening, and Leaving a Way Out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10911535" cy="833933"/>
          </a:xfrm>
          <a:prstGeom prst="roundRect">
            <a:avLst>
              <a:gd name="adj" fmla="val 5482"/>
            </a:avLst>
          </a:prstGeom>
          <a:solidFill>
            <a:srgbClr val="EFF4F8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852574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8525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99616" y="1737360"/>
            <a:ext cx="9777679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最後まで聞く。遮らない。相手は「聞かれていない」ことに怒っていることが多い。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the end without interrupting. Often the anger is about not being heard.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71293"/>
            <a:ext cx="10911535" cy="833933"/>
          </a:xfrm>
          <a:prstGeom prst="roundRect">
            <a:avLst>
              <a:gd name="adj" fmla="val 5482"/>
            </a:avLst>
          </a:prstGeom>
          <a:solidFill>
            <a:srgbClr val="F7FAFC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796235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79623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9616" y="2681021"/>
            <a:ext cx="9777679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要約して返す ―「◯◯ということですね」。承認は同意ではない。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it back: "So the issue is X." Acknowledging is not agreeing.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514954"/>
            <a:ext cx="10911535" cy="833933"/>
          </a:xfrm>
          <a:prstGeom prst="roundRect">
            <a:avLst>
              <a:gd name="adj" fmla="val 5482"/>
            </a:avLst>
          </a:prstGeom>
          <a:solidFill>
            <a:srgbClr val="EF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739896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9616" y="3624682"/>
            <a:ext cx="9777679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逃げ道（面子）を残す。引き下がっても恥をかかない形を用意する。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 face-saving exit — a way to back down without humiliation.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458614"/>
            <a:ext cx="10911535" cy="833933"/>
          </a:xfrm>
          <a:prstGeom prst="roundRect">
            <a:avLst>
              <a:gd name="adj" fmla="val 5482"/>
            </a:avLst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" y="4683557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6835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99616" y="4568342"/>
            <a:ext cx="9777679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選択肢を2つ示す。選べる人は、戦う必要がなくなる。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two options. A person with a choice no longer needs to fight.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402275"/>
            <a:ext cx="10911535" cy="833933"/>
          </a:xfrm>
          <a:prstGeom prst="roundRect">
            <a:avLst>
              <a:gd name="adj" fmla="val 5482"/>
            </a:avLst>
          </a:prstGeom>
          <a:solidFill>
            <a:srgbClr val="EF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5627218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6272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99616" y="5512003"/>
            <a:ext cx="9777679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時間を味方にする。急がない。時間はこちらの武器。</a:t>
            </a:r>
            <a:endParaRPr lang="en-US" sz="13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time work for you. Do not rush — time is your tactic.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第5時限｜業務別教育2 その他当該警備業務を適正に実施するため必要な知識及び技能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| Task-Specific Training 2 — De-escalation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やってはいけない ― 緊張を上げる行動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— behaviours that raise the temperature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49961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いずれも共通して、相手の面子を潰します。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all share: they take away the other person's dignity.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670048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971800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43584" y="2743200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命令口調 ―「下がってください」を繰り返す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Commanding tone — repeating "step back"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3008" y="2670048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415888" y="2971800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10" name="Text 8"/>
          <p:cNvSpPr/>
          <p:nvPr/>
        </p:nvSpPr>
        <p:spPr>
          <a:xfrm>
            <a:off x="6415888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36512" y="2743200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指差し・腕組み・ため息・薄笑い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Pointing, folded arms, sighing, smirking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050792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43584" y="3822192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「落ち着いてください」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"Please calm down"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3008" y="3749040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5888" y="4050792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18" name="Text 16"/>
          <p:cNvSpPr/>
          <p:nvPr/>
        </p:nvSpPr>
        <p:spPr>
          <a:xfrm>
            <a:off x="6415888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6512" y="3822192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大勢で囲む・背後に回る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them, or moving behind them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28032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129784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43584" y="4901184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「規則ですから」で会話を打ち切る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the conversation with "those are the rules"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33008" y="4828032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5888" y="5129784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26" name="Text 24"/>
          <p:cNvSpPr/>
          <p:nvPr/>
        </p:nvSpPr>
        <p:spPr>
          <a:xfrm>
            <a:off x="6415888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6512" y="4901184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自分の意見や会社の見解を口にする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your own opinion, or the company's position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第5時限｜業務別教育2 その他当該警備業務を適正に実施するため必要な知識及び技能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| Task-Specific Training 2 — De-escalation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退き際の判断 ― De-escalation は万能ではない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to Stop — de-escalation is not universal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53619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効いていない兆候が出たら、続けるのではなく切り替えます。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these signs appear, switch tactics rather than persisting.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11535" cy="850392"/>
          </a:xfrm>
          <a:prstGeom prst="roundRect">
            <a:avLst>
              <a:gd name="adj" fmla="val 5376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519172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5191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99616" y="2395728"/>
            <a:ext cx="977767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兆候：声が大きくなり続ける／同じ言葉を繰り返す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Signs: volume keeps climbing; the same phrase repeats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10911535" cy="850392"/>
          </a:xfrm>
          <a:prstGeom prst="roundRect">
            <a:avLst>
              <a:gd name="adj" fmla="val 5376"/>
            </a:avLst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3552444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552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99616" y="3429000"/>
            <a:ext cx="977767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兆候：距離を詰めてくる／持ち物を握りしめる／視線を外さない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Signs: closing distance; gripping an object; fixed stare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352544"/>
            <a:ext cx="10911535" cy="850392"/>
          </a:xfrm>
          <a:prstGeom prst="roundRect">
            <a:avLst>
              <a:gd name="adj" fmla="val 5376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4585716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99616" y="4462272"/>
            <a:ext cx="977767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そのときの順序：離脱 → 応援要請 → 通報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sequence: disengage, call for backup, then report to police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385816"/>
            <a:ext cx="10911535" cy="850392"/>
          </a:xfrm>
          <a:prstGeom prst="roundRect">
            <a:avLst>
              <a:gd name="adj" fmla="val 5376"/>
            </a:avLst>
          </a:prstGeom>
          <a:solidFill>
            <a:srgbClr val="F7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5618988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56189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99616" y="5495544"/>
            <a:ext cx="977767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引くことは負けではありません。引くのも技術です。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Withdrawing is not losing. Withdrawing is a skill.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第5時限｜業務別教育2 その他当該警備業務を適正に実施するため必要な知識及び技能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| Task-Specific Training 2 — De-escalation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ソーシャルエンジニアリング ― 5つの典型手口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— five classic approaches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49961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いずれも「手続きを飛ばさせる」ことを狙っています。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aims to make you skip a procedure.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670048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971800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43584" y="2743200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権威 ―「役員に呼ばれている」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— "the director is expecting me"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3008" y="2670048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415888" y="2971800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10" name="Text 8"/>
          <p:cNvSpPr/>
          <p:nvPr/>
        </p:nvSpPr>
        <p:spPr>
          <a:xfrm>
            <a:off x="6415888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36512" y="2743200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 ―「今すぐ通さないと損害が出る」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— "if you delay me it will cost the company"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050792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43584" y="3822192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親近感 ―「前も通してもらった」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— "they let me through last time"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3008" y="3749040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5888" y="4050792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18" name="Text 16"/>
          <p:cNvSpPr/>
          <p:nvPr/>
        </p:nvSpPr>
        <p:spPr>
          <a:xfrm>
            <a:off x="6415888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6512" y="3822192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同情 ―「雨で困っている」「体調が悪い」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Sympathy — "I am soaked" / "I am unwell"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28032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129784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43584" y="4901184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共連れ ― 荷物を抱えて後ろにつく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 — following behind with full hands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33008" y="4828032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5888" y="5129784"/>
            <a:ext cx="329184" cy="329184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26" name="Text 24"/>
          <p:cNvSpPr/>
          <p:nvPr/>
        </p:nvSpPr>
        <p:spPr>
          <a:xfrm>
            <a:off x="6415888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6512" y="4901184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対処は共通：手続きに戻す。「確認します」は失礼ではない。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 to all: return to procedure. "Let me verify" is not rude.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第5時限｜業務別教育2 その他当該警備業務を適正に実施するため必要な知識及び技能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| Task-Specific Training 2 — De-escalation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元従業員・報道関係者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Employees and the Press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5300320" cy="3767328"/>
          </a:xfrm>
          <a:prstGeom prst="roundRect">
            <a:avLst>
              <a:gd name="adj" fmla="val 1214"/>
            </a:avLst>
          </a:prstGeom>
          <a:solidFill>
            <a:srgbClr val="EFF4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47088"/>
            <a:ext cx="475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元従業員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employees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15184"/>
            <a:ext cx="47516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・退職した時点で「来訪者」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Once they have left, they are a visitor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・入館手続きに戻す。例外を作らない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Return them to the visitor process; make no exceptions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・感情に反応しない。経緯に立ち入らない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Do not react to emotion, or engage with the history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・人事へ取り次ぐ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Refer them to HR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51296" y="1627632"/>
            <a:ext cx="5300320" cy="3767328"/>
          </a:xfrm>
          <a:prstGeom prst="roundRect">
            <a:avLst>
              <a:gd name="adj" fmla="val 1214"/>
            </a:avLst>
          </a:prstGeom>
          <a:solidFill>
            <a:srgbClr val="E4F4F0"/>
          </a:solidFill>
          <a:ln/>
        </p:spPr>
      </p:sp>
      <p:sp>
        <p:nvSpPr>
          <p:cNvPr id="7" name="Text 5"/>
          <p:cNvSpPr/>
          <p:nvPr/>
        </p:nvSpPr>
        <p:spPr>
          <a:xfrm>
            <a:off x="6525616" y="1847088"/>
            <a:ext cx="475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E8C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報道関係者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and media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25616" y="2615184"/>
            <a:ext cx="47516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・敷地内では取材に応じない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No interviews on company property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・広報へ取り次ぐ。窓口を一本化する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Refer to Communications; keep a single channel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・「お答えできる立場にありません」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"I am not in a position to comment"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・撮影されている前提で振る舞う</a:t>
            </a:r>
            <a:endParaRPr lang="en-US" sz="1250" dirty="0"/>
          </a:p>
          <a:p>
            <a:pPr indent="0" marL="0">
              <a:lnSpc>
                <a:spcPct val="94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Assume you are being filmed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61441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0E8C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共通原則：自分の意見を言わない。会社の見解をその場で作らない。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rule: never give your own opinion, and never invent the company's position on the spot.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第5時限｜業務別教育2 その他当該警備業務を適正に実施するため必要な知識及び技能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| Task-Specific Training 2 — De-escalation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F2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TTX③ この台詞のうち、どれを選びますか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③ — Which of These Would You Say?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10911535" cy="1481328"/>
          </a:xfrm>
          <a:prstGeom prst="roundRect">
            <a:avLst>
              <a:gd name="adj" fmla="val 3086"/>
            </a:avLst>
          </a:prstGeom>
          <a:solidFill>
            <a:srgbClr val="0F2D52"/>
          </a:solidFill>
          <a:ln/>
        </p:spPr>
      </p:sp>
      <p:sp>
        <p:nvSpPr>
          <p:cNvPr id="4" name="Text 2"/>
          <p:cNvSpPr/>
          <p:nvPr/>
        </p:nvSpPr>
        <p:spPr>
          <a:xfrm>
            <a:off x="1024128" y="1810512"/>
            <a:ext cx="1014343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17AF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7A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5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来訪者が「役員に呼ばれている、急いでいる」と述べ、入館手続きを拒んでいる。声はやや大きく、周囲の来訪者が振り返っている。</a:t>
            </a:r>
            <a:endParaRPr lang="en-US" sz="105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95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says they are expected by an executive and is in a hurry, refusing the sign-in process. Their voice is raised, and other visitors are turning to look.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3346704"/>
            <a:ext cx="10911535" cy="429768"/>
          </a:xfrm>
          <a:prstGeom prst="roundRect">
            <a:avLst>
              <a:gd name="adj" fmla="val 8511"/>
            </a:avLst>
          </a:prstGeom>
          <a:solidFill>
            <a:srgbClr val="EFF4F8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3396996"/>
            <a:ext cx="329184" cy="329184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33969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35024" y="3401568"/>
            <a:ext cx="9960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A「規則ですので通せません」　B「お急ぎのところ恐れ入ります。すぐ確認いたしますので、こちらでお待ちいただけますか」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"Rules are rules — I cannot let you through."　B: "I am sorry you are pressed for time. I will check right away — could you wait here?"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67912"/>
            <a:ext cx="10911535" cy="429768"/>
          </a:xfrm>
          <a:prstGeom prst="roundRect">
            <a:avLst>
              <a:gd name="adj" fmla="val 8511"/>
            </a:avLst>
          </a:prstGeom>
          <a:solidFill>
            <a:srgbClr val="EF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" y="3918204"/>
            <a:ext cx="329184" cy="329184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39182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35024" y="3922776"/>
            <a:ext cx="9960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C「落ち着いてください」　D「どちらの役員でしょうか。お名前を伺えれば、こちらからお繋ぎします」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"Please calm down."　D: "Which executive is it? If you give me the name I will connect you myself."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911535" cy="429768"/>
          </a:xfrm>
          <a:prstGeom prst="roundRect">
            <a:avLst>
              <a:gd name="adj" fmla="val 8511"/>
            </a:avLst>
          </a:prstGeom>
          <a:solidFill>
            <a:srgbClr val="EF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" y="4439412"/>
            <a:ext cx="329184" cy="329184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" y="44394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35024" y="4443984"/>
            <a:ext cx="9960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どれを選ぶか。そして、ほかはなぜ選ばないのか。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 you choose — and why not the others?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910328"/>
            <a:ext cx="10911535" cy="429768"/>
          </a:xfrm>
          <a:prstGeom prst="roundRect">
            <a:avLst>
              <a:gd name="adj" fmla="val 8511"/>
            </a:avLst>
          </a:prstGeom>
          <a:solidFill>
            <a:srgbClr val="EF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59536" y="4960620"/>
            <a:ext cx="329184" cy="329184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" y="49606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35024" y="4965192"/>
            <a:ext cx="9960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それでも相手が声を荒げたら、次に何と言うか。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raise their voice anyway, what do you say next?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911535" cy="749808"/>
          </a:xfrm>
          <a:prstGeom prst="roundRect">
            <a:avLst>
              <a:gd name="adj" fmla="val 4878"/>
            </a:avLst>
          </a:prstGeom>
          <a:solidFill>
            <a:srgbClr val="E4F4F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559552"/>
            <a:ext cx="103628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E8C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追加付与  </a:t>
            </a:r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E8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  </a:t>
            </a:r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相手が「もういい」と言って、ゲートに向かって歩き出した。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 "forget it" and start walking toward the gate.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第5時限｜業務別教育2 その他当該警備業務を適正に実施するため必要な知識及び技能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 | Task-Specific Training 2 — De-escalation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219456"/>
            <a:ext cx="104241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TTX③ 講評の観点</a:t>
            </a:r>
            <a:endParaRPr lang="en-US" sz="30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130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③ — What We Are Looking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0A203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31136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17904" y="2176272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選んだ台詞は「拒否」ではなく「手続きへの誘導」になっているか。</a:t>
            </a:r>
            <a:endParaRPr lang="en-US" sz="15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9F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line redirect to a process, rather than simply refuse?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62656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0A2039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108960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17904" y="3054096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有形力（進路に立つ等）に頼っていないか。</a:t>
            </a:r>
            <a:endParaRPr lang="en-US" sz="15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9F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leaning on physical means — stepping into their path?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0A2039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986784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17904" y="3931920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逃げ道（面子）を残したか。選択肢を示したか。</a:t>
            </a:r>
            <a:endParaRPr lang="en-US" sz="15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9F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leave a face-saving exit? Did you offer a choice?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718304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0A2039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864608"/>
            <a:ext cx="384048" cy="384048"/>
          </a:xfrm>
          <a:prstGeom prst="ellipse">
            <a:avLst/>
          </a:prstGeom>
          <a:solidFill>
            <a:srgbClr val="17AF9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17904" y="4809744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退き際の基準を、自分の言葉で言えるか。</a:t>
            </a:r>
            <a:endParaRPr lang="en-US" sz="15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9F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state, in your own words, when you would disengage?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596128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AF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午後は他講師が担当します。第9時限で再開 ― 通報と現場保存。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8E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instructors take the afternoon. We resume at Period 9 — reporting and scene preservation.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第5時限｜業務別教育2 その他当該警備業務を適正に実施するため必要な知識及び技能</dc:title>
  <dc:subject>PptxGenJS Presentation</dc:subject>
  <dc:creator>警備員指導教育責任者</dc:creator>
  <cp:lastModifiedBy>警備員指導教育責任者</cp:lastModifiedBy>
  <cp:revision>1</cp:revision>
  <dcterms:created xsi:type="dcterms:W3CDTF">2026-08-10T11:51:05Z</dcterms:created>
  <dcterms:modified xsi:type="dcterms:W3CDTF">2026-08-10T11:51:05Z</dcterms:modified>
</cp:coreProperties>
</file>