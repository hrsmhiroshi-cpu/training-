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D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37215" y="219456"/>
            <a:ext cx="104241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4173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AF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　10:25 – 11:25　業務別教育1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A9B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— Task-Specific Training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2212848"/>
            <a:ext cx="99669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巡回の方法に関すること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3236976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Methods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828032"/>
            <a:ext cx="1371600" cy="32004"/>
          </a:xfrm>
          <a:prstGeom prst="rect">
            <a:avLst/>
          </a:prstGeom>
          <a:solidFill>
            <a:srgbClr val="17AF9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1206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2026年8月11日（火）　施設警備 現任教育　コーポレートセキュリティ</a:t>
            </a: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8EA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Aug 2026 — In-Service Training, Facility Security / Corporate Security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巡回の目的は3つ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Has Three Purposes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2446020"/>
            <a:ext cx="3454298" cy="2971800"/>
          </a:xfrm>
          <a:prstGeom prst="roundRect">
            <a:avLst>
              <a:gd name="adj" fmla="val 1538"/>
            </a:avLst>
          </a:prstGeom>
          <a:solidFill>
            <a:srgbClr val="EFF4F8"/>
          </a:solidFill>
          <a:ln/>
        </p:spPr>
      </p:sp>
      <p:sp>
        <p:nvSpPr>
          <p:cNvPr id="4" name="Shape 2"/>
          <p:cNvSpPr/>
          <p:nvPr/>
        </p:nvSpPr>
        <p:spPr>
          <a:xfrm>
            <a:off x="877824" y="2683764"/>
            <a:ext cx="384048" cy="384048"/>
          </a:xfrm>
          <a:prstGeom prst="ellipse">
            <a:avLst/>
          </a:prstGeom>
          <a:solidFill>
            <a:srgbClr val="0F2D52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26837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89888" y="2665476"/>
            <a:ext cx="24667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発見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96112" y="3415284"/>
            <a:ext cx="2942234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異常を、被害になる前に見つける。見つけられる場所に、見つけられる時間に行く。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anomaly before it becomes a loss — by being in the right place at the right time.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68698" y="2446020"/>
            <a:ext cx="3454298" cy="2971800"/>
          </a:xfrm>
          <a:prstGeom prst="roundRect">
            <a:avLst>
              <a:gd name="adj" fmla="val 1538"/>
            </a:avLst>
          </a:prstGeom>
          <a:solidFill>
            <a:srgbClr val="E4F4F0"/>
          </a:solidFill>
          <a:ln/>
        </p:spPr>
      </p:sp>
      <p:sp>
        <p:nvSpPr>
          <p:cNvPr id="9" name="Shape 7"/>
          <p:cNvSpPr/>
          <p:nvPr/>
        </p:nvSpPr>
        <p:spPr>
          <a:xfrm>
            <a:off x="4606442" y="2683764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0" name="Text 8"/>
          <p:cNvSpPr/>
          <p:nvPr/>
        </p:nvSpPr>
        <p:spPr>
          <a:xfrm>
            <a:off x="4606442" y="26837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118506" y="2665476"/>
            <a:ext cx="24667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抑止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24730" y="3415284"/>
            <a:ext cx="2942234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「見られている」と思わせる。制服と存在そのものが機能する。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sense of being watched. The uniform and your presence do this work.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97317" y="2446020"/>
            <a:ext cx="3454298" cy="2971800"/>
          </a:xfrm>
          <a:prstGeom prst="roundRect">
            <a:avLst>
              <a:gd name="adj" fmla="val 1538"/>
            </a:avLst>
          </a:prstGeom>
          <a:solidFill>
            <a:srgbClr val="EFF4F8"/>
          </a:solidFill>
          <a:ln/>
        </p:spPr>
      </p:sp>
      <p:sp>
        <p:nvSpPr>
          <p:cNvPr id="14" name="Shape 12"/>
          <p:cNvSpPr/>
          <p:nvPr/>
        </p:nvSpPr>
        <p:spPr>
          <a:xfrm>
            <a:off x="8335061" y="2683764"/>
            <a:ext cx="384048" cy="384048"/>
          </a:xfrm>
          <a:prstGeom prst="ellipse">
            <a:avLst/>
          </a:prstGeom>
          <a:solidFill>
            <a:srgbClr val="0F2D52"/>
          </a:solidFill>
          <a:ln/>
        </p:spPr>
      </p:sp>
      <p:sp>
        <p:nvSpPr>
          <p:cNvPr id="15" name="Text 13"/>
          <p:cNvSpPr/>
          <p:nvPr/>
        </p:nvSpPr>
        <p:spPr>
          <a:xfrm>
            <a:off x="8335061" y="26837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847125" y="2665476"/>
            <a:ext cx="24667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53349" y="3415284"/>
            <a:ext cx="2942234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実施した事実を残す。後から証明できなければ、していないのと同じ。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evidence that it happened. What cannot be shown later may as well not have occurred.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定時巡回と不定時巡回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Fixed-Time and Variable-Time Patrols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627632"/>
            <a:ext cx="5300320" cy="3767328"/>
          </a:xfrm>
          <a:prstGeom prst="roundRect">
            <a:avLst>
              <a:gd name="adj" fmla="val 1214"/>
            </a:avLst>
          </a:prstGeom>
          <a:solidFill>
            <a:srgbClr val="EFF4F8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47088"/>
            <a:ext cx="475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定時巡回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Fixed-time patrol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2615184"/>
            <a:ext cx="4751680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・時刻を定めて実施する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 Carried out at set times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・確実で、記録も揃いやすい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 Reliable, and easy to evidence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・弱点：時刻を読まれる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 Weakness: the timing can be learned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51296" y="1627632"/>
            <a:ext cx="5300320" cy="3767328"/>
          </a:xfrm>
          <a:prstGeom prst="roundRect">
            <a:avLst>
              <a:gd name="adj" fmla="val 1214"/>
            </a:avLst>
          </a:prstGeom>
          <a:solidFill>
            <a:srgbClr val="E4F4F0"/>
          </a:solidFill>
          <a:ln/>
        </p:spPr>
      </p:sp>
      <p:sp>
        <p:nvSpPr>
          <p:cNvPr id="7" name="Text 5"/>
          <p:cNvSpPr/>
          <p:nvPr/>
        </p:nvSpPr>
        <p:spPr>
          <a:xfrm>
            <a:off x="6525616" y="1847088"/>
            <a:ext cx="475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E8C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不定時巡回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Variable-time patrol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25616" y="2615184"/>
            <a:ext cx="4751680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・時刻・順路をずらして実施する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 Timing and route are varied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・読まれにくく、抑止力が高い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 Harder to predict; stronger deterrence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・弱点：抜けが出やすい。設計が要る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 Weakness: gaps appear without deliberate design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5614416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0E8C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失敗例 ― 毎日同じ時刻、同じ順路。これは「警備員が来ない時間帯」を自分で作っていることになります。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failure: same time, same route, every day. You are advertising exactly when nobody will come.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経路・立寄点・警戒点・死角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Route, Checkpoints, Critical Points, Blind Spots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153619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巡回設計とは、要するに「死角をどう潰すか」の設計です。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a patrol is, in essence, designing how blind spots get eliminated.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2519172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5191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99616" y="2395728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 ― 巡回する順路。逆順・分割で変化をつける。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— the order you walk it. Reverse it, split it, vary 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319272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9" name="Shape 7"/>
          <p:cNvSpPr/>
          <p:nvPr/>
        </p:nvSpPr>
        <p:spPr>
          <a:xfrm>
            <a:off x="896112" y="3552444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3552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99616" y="3429000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立寄点 ― 必ず立ち寄り、確認したことを残せる地点。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— a point you must visit, and where the visit can be evidenced.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352544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13" name="Shape 11"/>
          <p:cNvSpPr/>
          <p:nvPr/>
        </p:nvSpPr>
        <p:spPr>
          <a:xfrm>
            <a:off x="896112" y="4585716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" y="45857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99616" y="4462272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警戒点 ― 事故が起きやすい、または被害が大きい重要箇所。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point — where incidents are likely, or where the loss would be greatest.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385816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7" name="Shape 15"/>
          <p:cNvSpPr/>
          <p:nvPr/>
        </p:nvSpPr>
        <p:spPr>
          <a:xfrm>
            <a:off x="896112" y="5618988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" y="56189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99616" y="5495544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死角 ― 目視できない範囲。時間帯によって増減する。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spot — what you cannot see. It grows and shrinks with the time of day.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巡回で「情報資産」も見る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Sees Information Assets Too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149961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物と人だけを見て歩くと、Asset の半分を見落とします。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looking only for people and property and you miss half of Asset.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2670048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971800"/>
            <a:ext cx="329184" cy="329184"/>
          </a:xfrm>
          <a:prstGeom prst="ellipse">
            <a:avLst/>
          </a:prstGeom>
          <a:solidFill>
            <a:srgbClr val="0F2D52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43584" y="2743200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無人の席に置かれたIDカード・鍵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cards or keys left at an unattended desk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3008" y="2670048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9" name="Shape 7"/>
          <p:cNvSpPr/>
          <p:nvPr/>
        </p:nvSpPr>
        <p:spPr>
          <a:xfrm>
            <a:off x="6415888" y="2971800"/>
            <a:ext cx="329184" cy="329184"/>
          </a:xfrm>
          <a:prstGeom prst="ellipse">
            <a:avLst/>
          </a:prstGeom>
          <a:solidFill>
            <a:srgbClr val="0F2D52"/>
          </a:solidFill>
          <a:ln/>
        </p:spPr>
      </p:sp>
      <p:sp>
        <p:nvSpPr>
          <p:cNvPr id="10" name="Text 8"/>
          <p:cNvSpPr/>
          <p:nvPr/>
        </p:nvSpPr>
        <p:spPr>
          <a:xfrm>
            <a:off x="6415888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36512" y="2743200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ホワイトボードに残った案件名・金額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names or figures left on a whiteboard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749040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4050792"/>
            <a:ext cx="329184" cy="329184"/>
          </a:xfrm>
          <a:prstGeom prst="ellipse">
            <a:avLst/>
          </a:prstGeom>
          <a:solidFill>
            <a:srgbClr val="0F2D52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050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43584" y="3822192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複合機のトレイに残った出力物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Printouts left in the copier tray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33008" y="3749040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415888" y="4050792"/>
            <a:ext cx="329184" cy="329184"/>
          </a:xfrm>
          <a:prstGeom prst="ellipse">
            <a:avLst/>
          </a:prstGeom>
          <a:solidFill>
            <a:srgbClr val="0F2D52"/>
          </a:solidFill>
          <a:ln/>
        </p:spPr>
      </p:sp>
      <p:sp>
        <p:nvSpPr>
          <p:cNvPr id="18" name="Text 16"/>
          <p:cNvSpPr/>
          <p:nvPr/>
        </p:nvSpPr>
        <p:spPr>
          <a:xfrm>
            <a:off x="6415888" y="4050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36512" y="3822192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会議室に残された配布資料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Handouts left behind in a meeting room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828032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5129784"/>
            <a:ext cx="329184" cy="329184"/>
          </a:xfrm>
          <a:prstGeom prst="ellipse">
            <a:avLst/>
          </a:prstGeom>
          <a:solidFill>
            <a:srgbClr val="0F2D52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5129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243584" y="4901184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サーバ室・書庫の施錠状態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status of server rooms and archives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233008" y="4828032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415888" y="5129784"/>
            <a:ext cx="329184" cy="329184"/>
          </a:xfrm>
          <a:prstGeom prst="ellipse">
            <a:avLst/>
          </a:prstGeom>
          <a:solidFill>
            <a:srgbClr val="0F2D52"/>
          </a:solidFill>
          <a:ln/>
        </p:spPr>
      </p:sp>
      <p:sp>
        <p:nvSpPr>
          <p:cNvPr id="26" name="Text 24"/>
          <p:cNvSpPr/>
          <p:nvPr/>
        </p:nvSpPr>
        <p:spPr>
          <a:xfrm>
            <a:off x="6415888" y="5129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36512" y="4901184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共連れの痕跡、開放されたままの扉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 of tailgating; doors propped open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巡回記録 ― 一般原則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Records — general principles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627632"/>
            <a:ext cx="10911535" cy="2395728"/>
          </a:xfrm>
          <a:prstGeom prst="roundRect">
            <a:avLst>
              <a:gd name="adj" fmla="val 1908"/>
            </a:avLst>
          </a:prstGeom>
          <a:solidFill>
            <a:srgbClr val="0F2D52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938528"/>
            <a:ext cx="9997135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記録のない巡回は、していないのと同じ。</a:t>
            </a:r>
            <a:endParaRPr lang="en-US" sz="19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「異常なし」も、記録すべき結果です。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97280" y="2971800"/>
            <a:ext cx="9997135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patrol without a record is a patrol that did not happen.</a:t>
            </a:r>
            <a:endParaRPr lang="en-US" sz="12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"Nothing to report" is itself a result worth recording.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4937760"/>
            <a:ext cx="10911535" cy="1298448"/>
          </a:xfrm>
          <a:prstGeom prst="roundRect">
            <a:avLst>
              <a:gd name="adj" fmla="val 3521"/>
            </a:avLst>
          </a:prstGeom>
          <a:solidFill>
            <a:srgbClr val="E4F4F0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5404104"/>
            <a:ext cx="365760" cy="365760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5404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99616" y="5047488"/>
            <a:ext cx="9722815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様式・頻度・立寄点の数・記録の保存方法は、サイトごとに異なります。必ず各現場の警備指令書によってください。</a:t>
            </a:r>
            <a:endParaRPr lang="en-US" sz="14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000" i="1" dirty="0">
                <a:solidFill>
                  <a:srgbClr val="0E8C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Formats, frequency, number of checkpoints and retention all differ by site. Always follow the post orders for your own site.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TTX② 巡回中、この場面に出会ったら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② — You Encounter This on Patrol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149961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班で3つ選んでください。次のスライドの4つの問いに答えます。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three as a group. You will answer the four questions on the next slide.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2670048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971800"/>
            <a:ext cx="329184" cy="329184"/>
          </a:xfrm>
          <a:prstGeom prst="ellipse">
            <a:avLst/>
          </a:prstGeom>
          <a:solidFill>
            <a:srgbClr val="0F2D52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43584" y="2743200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無人の席にIDカードが置かれている。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 card is lying on an unattended desk.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3008" y="2670048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9" name="Shape 7"/>
          <p:cNvSpPr/>
          <p:nvPr/>
        </p:nvSpPr>
        <p:spPr>
          <a:xfrm>
            <a:off x="6415888" y="2971800"/>
            <a:ext cx="329184" cy="329184"/>
          </a:xfrm>
          <a:prstGeom prst="ellipse">
            <a:avLst/>
          </a:prstGeom>
          <a:solidFill>
            <a:srgbClr val="0F2D52"/>
          </a:solidFill>
          <a:ln/>
        </p:spPr>
      </p:sp>
      <p:sp>
        <p:nvSpPr>
          <p:cNvPr id="10" name="Text 8"/>
          <p:cNvSpPr/>
          <p:nvPr/>
        </p:nvSpPr>
        <p:spPr>
          <a:xfrm>
            <a:off x="6415888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36512" y="2743200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会議室のホワイトボードに、案件名と金額が消されずに残っている。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whiteboard still shows a project name and a figure.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749040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4050792"/>
            <a:ext cx="329184" cy="329184"/>
          </a:xfrm>
          <a:prstGeom prst="ellipse">
            <a:avLst/>
          </a:prstGeom>
          <a:solidFill>
            <a:srgbClr val="0F2D52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050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43584" y="3822192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非常口の前に段ボールが3箱積まれている。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boxes are stacked in front of an emergency exit.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33008" y="3749040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415888" y="4050792"/>
            <a:ext cx="329184" cy="329184"/>
          </a:xfrm>
          <a:prstGeom prst="ellipse">
            <a:avLst/>
          </a:prstGeom>
          <a:solidFill>
            <a:srgbClr val="0F2D52"/>
          </a:solidFill>
          <a:ln/>
        </p:spPr>
      </p:sp>
      <p:sp>
        <p:nvSpPr>
          <p:cNvPr id="18" name="Text 16"/>
          <p:cNvSpPr/>
          <p:nvPr/>
        </p:nvSpPr>
        <p:spPr>
          <a:xfrm>
            <a:off x="6415888" y="4050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36512" y="3822192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サーバ室の扉が半開きになっている。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room door is standing half open.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828032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5129784"/>
            <a:ext cx="329184" cy="329184"/>
          </a:xfrm>
          <a:prstGeom prst="ellipse">
            <a:avLst/>
          </a:prstGeom>
          <a:solidFill>
            <a:srgbClr val="0F2D52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5129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243584" y="4901184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来訪者バッジをつけていない人物が執務フロアを歩いている。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without a visitor badge is walking the office floor.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233008" y="4828032"/>
            <a:ext cx="5318608" cy="932688"/>
          </a:xfrm>
          <a:prstGeom prst="roundRect">
            <a:avLst>
              <a:gd name="adj" fmla="val 3922"/>
            </a:avLst>
          </a:prstGeom>
          <a:solidFill>
            <a:srgbClr val="EFF4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415888" y="5129784"/>
            <a:ext cx="329184" cy="329184"/>
          </a:xfrm>
          <a:prstGeom prst="ellipse">
            <a:avLst/>
          </a:prstGeom>
          <a:solidFill>
            <a:srgbClr val="0F2D52"/>
          </a:solidFill>
          <a:ln/>
        </p:spPr>
      </p:sp>
      <p:sp>
        <p:nvSpPr>
          <p:cNvPr id="26" name="Text 24"/>
          <p:cNvSpPr/>
          <p:nvPr/>
        </p:nvSpPr>
        <p:spPr>
          <a:xfrm>
            <a:off x="6415888" y="5129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36512" y="4901184"/>
            <a:ext cx="447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外周フェンスの一部が破損している。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section of the perimeter fence is damaged.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TTX② 4つの問い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② — The Four Questions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153619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進め方：班で3場面 → 4問に回答（20分） → 班発表（15分）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Format: three scenes per group → answer all four questions (20 min) → present (15 min).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2519172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5191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99616" y="2395728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何に注意するか ― これは People / Asset / Reputation のどのリスクか。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at stake — is this a People, Asset, or Reputation risk?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319272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9" name="Shape 7"/>
          <p:cNvSpPr/>
          <p:nvPr/>
        </p:nvSpPr>
        <p:spPr>
          <a:xfrm>
            <a:off x="896112" y="3552444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3552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99616" y="3429000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どこを見るか ― この場面で、ほかに確認すべき点はどこか。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 you look — what else should you check in this scene?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352544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13" name="Shape 11"/>
          <p:cNvSpPr/>
          <p:nvPr/>
        </p:nvSpPr>
        <p:spPr>
          <a:xfrm>
            <a:off x="896112" y="4585716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" y="45857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99616" y="4462272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どう巡回するか ― 次の巡回で、何を変えるか。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patrol — what changes on your next round?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385816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7" name="Shape 15"/>
          <p:cNvSpPr/>
          <p:nvPr/>
        </p:nvSpPr>
        <p:spPr>
          <a:xfrm>
            <a:off x="896112" y="5618988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" y="56189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99616" y="5495544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どう報告するか ― 報告するか、誰に、何を。事実と評価を分けて。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report — whether, to whom, and what. Separate fact from assessment.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第4時限｜業務別教育1 巡回の方法に関すること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4 | Task-Specific Training 1 — Patrol Methods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D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37215" y="219456"/>
            <a:ext cx="104241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58368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TTX② 講評の観点</a:t>
            </a:r>
            <a:endParaRPr lang="en-US" sz="3000" dirty="0"/>
          </a:p>
          <a:p>
            <a:pPr indent="0" marL="0">
              <a:lnSpc>
                <a:spcPct val="96000"/>
              </a:lnSpc>
              <a:buNone/>
            </a:pPr>
            <a:r>
              <a:rPr lang="en-US" sz="13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② — What We Are Looking For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84832"/>
            <a:ext cx="10911535" cy="676656"/>
          </a:xfrm>
          <a:prstGeom prst="roundRect">
            <a:avLst>
              <a:gd name="adj" fmla="val 6757"/>
            </a:avLst>
          </a:prstGeom>
          <a:solidFill>
            <a:srgbClr val="0A2039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231136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31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17904" y="2176272"/>
            <a:ext cx="97228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リスクを People / Asset / Reputation で言い分けられたか。</a:t>
            </a:r>
            <a:endParaRPr lang="en-US" sz="15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9FB6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you name the risk as People, Asset, or Reputation?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962656"/>
            <a:ext cx="10911535" cy="676656"/>
          </a:xfrm>
          <a:prstGeom prst="roundRect">
            <a:avLst>
              <a:gd name="adj" fmla="val 6757"/>
            </a:avLst>
          </a:prstGeom>
          <a:solidFill>
            <a:srgbClr val="0A2039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108960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17904" y="3054096"/>
            <a:ext cx="97228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「その場の処置」と「報告」を分けて考えられたか。</a:t>
            </a:r>
            <a:endParaRPr lang="en-US" sz="15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9FB6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separate what you do on the spot from what you report?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840480"/>
            <a:ext cx="10911535" cy="676656"/>
          </a:xfrm>
          <a:prstGeom prst="roundRect">
            <a:avLst>
              <a:gd name="adj" fmla="val 6757"/>
            </a:avLst>
          </a:prstGeom>
          <a:solidFill>
            <a:srgbClr val="0A2039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3986784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986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517904" y="3931920"/>
            <a:ext cx="97228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次の巡回への反映 ― 設計変更まで踏み込めたか。</a:t>
            </a:r>
            <a:endParaRPr lang="en-US" sz="15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9FB6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go as far as changing the design of the next patrol?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718304"/>
            <a:ext cx="10911535" cy="676656"/>
          </a:xfrm>
          <a:prstGeom prst="roundRect">
            <a:avLst>
              <a:gd name="adj" fmla="val 6757"/>
            </a:avLst>
          </a:prstGeom>
          <a:solidFill>
            <a:srgbClr val="0A2039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4864608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17904" y="4809744"/>
            <a:ext cx="97228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報告の文面で、事実と評価が混ざっていなかったか。</a:t>
            </a:r>
            <a:endParaRPr lang="en-US" sz="15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9FB6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your report wording, did fact and assessment stay separate?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5596128"/>
            <a:ext cx="109115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AF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次は第5時限 ― 相手が人であるときの技術、De-escalation。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8EA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Next, Period 5 — the skill for when the risk is a person: de-escalation.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第4時限｜業務別教育1 巡回の方法に関すること</dc:title>
  <dc:subject>PptxGenJS Presentation</dc:subject>
  <dc:creator>警備員指導教育責任者</dc:creator>
  <cp:lastModifiedBy>警備員指導教育責任者</cp:lastModifiedBy>
  <cp:revision>1</cp:revision>
  <dcterms:created xsi:type="dcterms:W3CDTF">2026-08-10T11:51:05Z</dcterms:created>
  <dcterms:modified xsi:type="dcterms:W3CDTF">2026-08-10T11:51:05Z</dcterms:modified>
</cp:coreProperties>
</file>