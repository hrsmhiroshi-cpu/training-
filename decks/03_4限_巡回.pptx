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32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37215" y="219456"/>
            <a:ext cx="1042416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/>
        </p:spPr>
      </p:sp>
      <p:pic>
        <p:nvPicPr>
          <p:cNvPr id="3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4173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　10:25 – 11:25　業務別教育1</a:t>
            </a:r>
            <a:endParaRPr lang="en-US" sz="1300" dirty="0"/>
          </a:p>
          <a:p>
            <a:pPr indent="0" marL="0">
              <a:buNone/>
            </a:pPr>
            <a:r>
              <a:rPr lang="en-US" sz="1050" i="1" dirty="0">
                <a:solidFill>
                  <a:srgbClr val="A9B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— Task-Specific Training 1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212848"/>
            <a:ext cx="99669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巡回の方法に関すること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3236976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Patrol Methods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0080" y="4828032"/>
            <a:ext cx="1371600" cy="32004"/>
          </a:xfrm>
          <a:prstGeom prst="rect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512064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E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2026年8月11日（火）　施設警備 現任教育　コーポレートセキュリティ</a:t>
            </a: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8EA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Aug 2026 — In-Service Training, Facility Security / Corporate Security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巡回の目的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Purpose of Patrol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640080" y="2446020"/>
            <a:ext cx="3454298" cy="2971800"/>
          </a:xfrm>
          <a:prstGeom prst="roundRect">
            <a:avLst>
              <a:gd name="adj" fmla="val 1538"/>
            </a:avLst>
          </a:prstGeom>
          <a:solidFill>
            <a:srgbClr val="EFF4F8"/>
          </a:solidFill>
          <a:ln/>
        </p:spPr>
      </p:sp>
      <p:sp>
        <p:nvSpPr>
          <p:cNvPr id="5" name="Shape 2"/>
          <p:cNvSpPr/>
          <p:nvPr/>
        </p:nvSpPr>
        <p:spPr>
          <a:xfrm>
            <a:off x="877824" y="2683764"/>
            <a:ext cx="384048" cy="384048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6" name="Text 3"/>
          <p:cNvSpPr/>
          <p:nvPr/>
        </p:nvSpPr>
        <p:spPr>
          <a:xfrm>
            <a:off x="877824" y="26837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389888" y="2665476"/>
            <a:ext cx="24667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発見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96112" y="3415284"/>
            <a:ext cx="2942234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異常を、被害が生じる前に確認します。確認できる場所と時間に行きます。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problem before it becomes a loss. Go where and when you can see it.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68698" y="2446020"/>
            <a:ext cx="3454298" cy="2971800"/>
          </a:xfrm>
          <a:prstGeom prst="roundRect">
            <a:avLst>
              <a:gd name="adj" fmla="val 1538"/>
            </a:avLst>
          </a:prstGeom>
          <a:solidFill>
            <a:srgbClr val="E4F4F0"/>
          </a:solidFill>
          <a:ln/>
        </p:spPr>
      </p:sp>
      <p:sp>
        <p:nvSpPr>
          <p:cNvPr id="10" name="Shape 7"/>
          <p:cNvSpPr/>
          <p:nvPr/>
        </p:nvSpPr>
        <p:spPr>
          <a:xfrm>
            <a:off x="4606442" y="2683764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4606442" y="26837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118506" y="2665476"/>
            <a:ext cx="24667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抑止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624730" y="3415284"/>
            <a:ext cx="2942234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警備員が巡回していることを外部に示します。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that guards are patrolling.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97317" y="2446020"/>
            <a:ext cx="3454298" cy="2971800"/>
          </a:xfrm>
          <a:prstGeom prst="roundRect">
            <a:avLst>
              <a:gd name="adj" fmla="val 1538"/>
            </a:avLst>
          </a:prstGeom>
          <a:solidFill>
            <a:srgbClr val="EFF4F8"/>
          </a:solidFill>
          <a:ln/>
        </p:spPr>
      </p:sp>
      <p:sp>
        <p:nvSpPr>
          <p:cNvPr id="15" name="Shape 12"/>
          <p:cNvSpPr/>
          <p:nvPr/>
        </p:nvSpPr>
        <p:spPr>
          <a:xfrm>
            <a:off x="8335061" y="2683764"/>
            <a:ext cx="384048" cy="384048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6" name="Text 13"/>
          <p:cNvSpPr/>
          <p:nvPr/>
        </p:nvSpPr>
        <p:spPr>
          <a:xfrm>
            <a:off x="8335061" y="26837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847125" y="2665476"/>
            <a:ext cx="24667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8353349" y="3415284"/>
            <a:ext cx="2942234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実施した事実を残します。記録がなければ、実施を証明できません。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a record. Without it you cannot show the patrol took place.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定時巡回と不定時巡回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Fixed-Time and Variable-Time Patrols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640080" y="1627632"/>
            <a:ext cx="5300320" cy="3767328"/>
          </a:xfrm>
          <a:prstGeom prst="roundRect">
            <a:avLst>
              <a:gd name="adj" fmla="val 1214"/>
            </a:avLst>
          </a:prstGeom>
          <a:solidFill>
            <a:srgbClr val="EFF4F8"/>
          </a:solidFill>
          <a:ln/>
        </p:spPr>
      </p:sp>
      <p:sp>
        <p:nvSpPr>
          <p:cNvPr id="5" name="Text 2"/>
          <p:cNvSpPr/>
          <p:nvPr/>
        </p:nvSpPr>
        <p:spPr>
          <a:xfrm>
            <a:off x="914400" y="1847088"/>
            <a:ext cx="475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定時巡回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Fixed-time patrol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914400" y="2615184"/>
            <a:ext cx="4751680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・時刻を定めて実施します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 Carried out at set times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・実施が確実で、記録も揃います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 Reliable, and easy to record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・弱点：時刻を外部から把握されます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 Weakness: the timing can be learned from outside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251296" y="1627632"/>
            <a:ext cx="5300320" cy="3767328"/>
          </a:xfrm>
          <a:prstGeom prst="roundRect">
            <a:avLst>
              <a:gd name="adj" fmla="val 1214"/>
            </a:avLst>
          </a:prstGeom>
          <a:solidFill>
            <a:srgbClr val="E4F4F0"/>
          </a:solidFill>
          <a:ln/>
        </p:spPr>
      </p:sp>
      <p:sp>
        <p:nvSpPr>
          <p:cNvPr id="8" name="Text 5"/>
          <p:cNvSpPr/>
          <p:nvPr/>
        </p:nvSpPr>
        <p:spPr>
          <a:xfrm>
            <a:off x="6525616" y="1847088"/>
            <a:ext cx="475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不定時巡回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Variable-time patrol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525616" y="2615184"/>
            <a:ext cx="4751680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・時刻と順路を変えて実施します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 Timing and route are varied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・把握されにくく、抑止の効果が高い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 Harder to predict. Stronger deterrent effect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・弱点：確認の抜けが出ます。設計が必要です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 Weakness: gaps appear. It needs to be designed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40080" y="5614416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毎日同じ時刻、同じ順路で実施すると、巡回のない時間帯が固定され、外部から予測されます。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time and same route every day means the gaps become fixed, and can be predicted from outside.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経路・立寄点・警戒点・死角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Route, Checkpoints, Critical Points, Blind Spots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53619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巡回の設計では、死角の位置と、死角が生じる時間帯を確認します。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designing a patrol, check where the blind spots are and when they occur.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2286000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6" name="Shape 3"/>
          <p:cNvSpPr/>
          <p:nvPr/>
        </p:nvSpPr>
        <p:spPr>
          <a:xfrm>
            <a:off x="896112" y="2519172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7" name="Text 4"/>
          <p:cNvSpPr/>
          <p:nvPr/>
        </p:nvSpPr>
        <p:spPr>
          <a:xfrm>
            <a:off x="896112" y="25191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99616" y="2395728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経路 ― 巡回する順路。逆順や分割で変化をつけます。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Route: the order you walk. Reverse it or split it to vary the pattern.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40080" y="3319272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0" name="Shape 7"/>
          <p:cNvSpPr/>
          <p:nvPr/>
        </p:nvSpPr>
        <p:spPr>
          <a:xfrm>
            <a:off x="896112" y="3552444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96112" y="3552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499616" y="3429000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立寄点 ― 必ず立ち寄り、確認した記録を残せる地点。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Checkpoint: a point you must visit, where the visit can be recorded.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640080" y="4352544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896112" y="4585716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896112" y="45857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499616" y="4462272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警戒点 ― 事故が生じやすい、または被害が大きい箇所。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point: where incidents are likely, or where loss would be large.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640080" y="5385816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8" name="Shape 15"/>
          <p:cNvSpPr/>
          <p:nvPr/>
        </p:nvSpPr>
        <p:spPr>
          <a:xfrm>
            <a:off x="896112" y="5618988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96112" y="56189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499616" y="5495544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死角 ― 目視できない範囲。時間帯によって変わります。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spot: what you cannot see. It changes with the time of day.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巡回で確認する情報資産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Assets to Check on Patrol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49961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人と物だけでなく、情報資産も確認の対象です。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information assets as well as people and property.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2670048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6" name="Shape 3"/>
          <p:cNvSpPr/>
          <p:nvPr/>
        </p:nvSpPr>
        <p:spPr>
          <a:xfrm>
            <a:off x="822960" y="2971800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243584" y="2743200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無人の席に置かれたIDカード、鍵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cards or keys left at an unattended desk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33008" y="2670048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6415888" y="2971800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1" name="Text 8"/>
          <p:cNvSpPr/>
          <p:nvPr/>
        </p:nvSpPr>
        <p:spPr>
          <a:xfrm>
            <a:off x="6415888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36512" y="2743200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ホワイトボードに残った案件名、金額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names or figures left on a whiteboard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40080" y="3749040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822960" y="4050792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4050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243584" y="3822192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複合機のトレイに残った出力物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Printouts left in the copier tray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233008" y="3749040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6415888" y="4050792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9" name="Text 16"/>
          <p:cNvSpPr/>
          <p:nvPr/>
        </p:nvSpPr>
        <p:spPr>
          <a:xfrm>
            <a:off x="6415888" y="4050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836512" y="3822192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会議室に残された配布資料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Handouts left in a meeting room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40080" y="4828032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822960" y="5129784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3" name="Text 20"/>
          <p:cNvSpPr/>
          <p:nvPr/>
        </p:nvSpPr>
        <p:spPr>
          <a:xfrm>
            <a:off x="822960" y="5129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243584" y="4901184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サーバ室、書庫の施錠状態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status of server rooms and archives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233008" y="4828032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26" name="Shape 23"/>
          <p:cNvSpPr/>
          <p:nvPr/>
        </p:nvSpPr>
        <p:spPr>
          <a:xfrm>
            <a:off x="6415888" y="5129784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7" name="Text 24"/>
          <p:cNvSpPr/>
          <p:nvPr/>
        </p:nvSpPr>
        <p:spPr>
          <a:xfrm>
            <a:off x="6415888" y="5129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836512" y="4901184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共連れの痕跡、開放されたままの扉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 of tailgating. Doors left open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巡回記録 ― 一般原則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Patrol Records — General Principles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640080" y="1627632"/>
            <a:ext cx="10911535" cy="2395728"/>
          </a:xfrm>
          <a:prstGeom prst="roundRect">
            <a:avLst>
              <a:gd name="adj" fmla="val 1908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1097280" y="1938528"/>
            <a:ext cx="9997135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記録は実施の証跡です。記録がなければ、実施を証明できません。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「異常なし」も、記録すべき結果です。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097280" y="2971800"/>
            <a:ext cx="9997135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 is the evidence that the patrol took place.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"Nothing to report" is also a result, and must be recorded.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40080" y="4937760"/>
            <a:ext cx="10911535" cy="1298448"/>
          </a:xfrm>
          <a:prstGeom prst="roundRect">
            <a:avLst>
              <a:gd name="adj" fmla="val 3521"/>
            </a:avLst>
          </a:prstGeom>
          <a:solidFill>
            <a:srgbClr val="E4F4F0"/>
          </a:solidFill>
          <a:ln/>
        </p:spPr>
      </p:sp>
      <p:sp>
        <p:nvSpPr>
          <p:cNvPr id="8" name="Shape 5"/>
          <p:cNvSpPr/>
          <p:nvPr/>
        </p:nvSpPr>
        <p:spPr>
          <a:xfrm>
            <a:off x="914400" y="5404104"/>
            <a:ext cx="365760" cy="365760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5404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499616" y="5047488"/>
            <a:ext cx="9722815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様式、頻度、立寄点の数、保存方法は、サイトごとに異なります。各現場の警備指令書によってください。</a:t>
            </a:r>
            <a:endParaRPr lang="en-US" sz="14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000" i="1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Forms, frequency, number of checkpoints and retention differ by site. Follow the post orders for your own site.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TTX② 巡回中、この場面に出会ったら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② — You Encounter This on Patrol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49961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班で3つ選んでください。次のスライドの4つの問いに答えます。情報は不足しています。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three as a group, then answer the four questions on the next slide. Information is incomplete.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2670048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6" name="Shape 3"/>
          <p:cNvSpPr/>
          <p:nvPr/>
        </p:nvSpPr>
        <p:spPr>
          <a:xfrm>
            <a:off x="822960" y="2971800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243584" y="2743200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無人の席にIDカードがある。離席中かどうかは分からない。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 card is on an empty desk. You cannot tell if the person stepped away.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33008" y="2670048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6415888" y="2971800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1" name="Text 8"/>
          <p:cNvSpPr/>
          <p:nvPr/>
        </p:nvSpPr>
        <p:spPr>
          <a:xfrm>
            <a:off x="6415888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36512" y="2743200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ホワイトボードに案件名と金額が残っている。会議は終了している。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whiteboard shows a project name and a figure. The meeting has ended.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40080" y="3749040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822960" y="4050792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4050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243584" y="3822192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非常口の前に段ボールが3箱。搬入作業は続いている様子。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boxes block an emergency exit. A delivery appears to be in progress.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233008" y="3749040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6415888" y="4050792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9" name="Text 16"/>
          <p:cNvSpPr/>
          <p:nvPr/>
        </p:nvSpPr>
        <p:spPr>
          <a:xfrm>
            <a:off x="6415888" y="4050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836512" y="3822192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サーバ室の扉が半開き。中に人がいるかどうかは見えない。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room door is half open. You cannot see if anyone is inside.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40080" y="4828032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822960" y="5129784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3" name="Text 20"/>
          <p:cNvSpPr/>
          <p:nvPr/>
        </p:nvSpPr>
        <p:spPr>
          <a:xfrm>
            <a:off x="822960" y="5129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243584" y="4901184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バッジ未着用の人物が執務フロアにいる。「役員だ」と名乗る。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without a badge is on the office floor. They say they are an executive.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233008" y="4828032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26" name="Shape 23"/>
          <p:cNvSpPr/>
          <p:nvPr/>
        </p:nvSpPr>
        <p:spPr>
          <a:xfrm>
            <a:off x="6415888" y="5129784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7" name="Text 24"/>
          <p:cNvSpPr/>
          <p:nvPr/>
        </p:nvSpPr>
        <p:spPr>
          <a:xfrm>
            <a:off x="6415888" y="5129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836512" y="4901184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外周フェンスが破損。前回の巡回時にあったか記憶が定かでない。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perimeter fence is damaged. You cannot recall if it was there last round.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TTX② 4つの問い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② — The Four Questions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53619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進め方：班で3場面を選ぶ → 4問に回答（20分） → 班発表（15分）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Format: pick three scenes, answer all four questions (20 min), then present (15 min).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2286000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6" name="Shape 3"/>
          <p:cNvSpPr/>
          <p:nvPr/>
        </p:nvSpPr>
        <p:spPr>
          <a:xfrm>
            <a:off x="896112" y="2519172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7" name="Text 4"/>
          <p:cNvSpPr/>
          <p:nvPr/>
        </p:nvSpPr>
        <p:spPr>
          <a:xfrm>
            <a:off x="896112" y="25191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99616" y="2395728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何に注意するか ― People / Asset / Reputation のどのリスクか。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at stake? Is it a People, Asset, or Reputation risk?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40080" y="3319272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0" name="Shape 7"/>
          <p:cNvSpPr/>
          <p:nvPr/>
        </p:nvSpPr>
        <p:spPr>
          <a:xfrm>
            <a:off x="896112" y="3552444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96112" y="3552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499616" y="3429000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どこを見るか ― ほかに確認すべき点はどこか。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 you look? What else should you check?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640080" y="4352544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896112" y="4585716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896112" y="45857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499616" y="4462272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どう巡回するか ― 次の巡回で何を変えるか。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patrol? What changes on your next round?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640080" y="5385816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8" name="Shape 15"/>
          <p:cNvSpPr/>
          <p:nvPr/>
        </p:nvSpPr>
        <p:spPr>
          <a:xfrm>
            <a:off x="896112" y="5618988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96112" y="56189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499616" y="5495544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どう報告するか ― 報告するか、誰に、何を。事実と評価を分けて。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report? Whether, to whom, and what. Keep fact and assessment separate.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32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37215" y="219456"/>
            <a:ext cx="1042416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/>
        </p:spPr>
      </p:sp>
      <p:pic>
        <p:nvPicPr>
          <p:cNvPr id="3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58368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TTX② 講評の観点</a:t>
            </a:r>
            <a:endParaRPr lang="en-US" sz="3000" dirty="0"/>
          </a:p>
          <a:p>
            <a:pPr indent="0" marL="0">
              <a:lnSpc>
                <a:spcPct val="96000"/>
              </a:lnSpc>
              <a:buNone/>
            </a:pPr>
            <a:r>
              <a:rPr lang="en-US" sz="13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② — Assessment Points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2084832"/>
            <a:ext cx="10911535" cy="676656"/>
          </a:xfrm>
          <a:prstGeom prst="roundRect">
            <a:avLst>
              <a:gd name="adj" fmla="val 6757"/>
            </a:avLst>
          </a:prstGeom>
          <a:solidFill>
            <a:srgbClr val="06223D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231136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231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17904" y="2176272"/>
            <a:ext cx="97228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リスクを People / Asset / Reputation で区別できたか。</a:t>
            </a:r>
            <a:endParaRPr lang="en-US" sz="15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9FB6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you classify the risk as People, Asset, or Reputation?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0080" y="2962656"/>
            <a:ext cx="10911535" cy="676656"/>
          </a:xfrm>
          <a:prstGeom prst="roundRect">
            <a:avLst>
              <a:gd name="adj" fmla="val 6757"/>
            </a:avLst>
          </a:prstGeom>
          <a:solidFill>
            <a:srgbClr val="06223D"/>
          </a:solidFill>
          <a:ln/>
        </p:spPr>
      </p:sp>
      <p:sp>
        <p:nvSpPr>
          <p:cNvPr id="10" name="Shape 7"/>
          <p:cNvSpPr/>
          <p:nvPr/>
        </p:nvSpPr>
        <p:spPr>
          <a:xfrm>
            <a:off x="914400" y="3108960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914400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517904" y="3054096"/>
            <a:ext cx="97228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「その場の処置」と「報告」を分けて考えたか。</a:t>
            </a:r>
            <a:endParaRPr lang="en-US" sz="15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9FB6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separate action on the spot from reporting?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40080" y="3840480"/>
            <a:ext cx="10911535" cy="676656"/>
          </a:xfrm>
          <a:prstGeom prst="roundRect">
            <a:avLst>
              <a:gd name="adj" fmla="val 6757"/>
            </a:avLst>
          </a:prstGeom>
          <a:solidFill>
            <a:srgbClr val="06223D"/>
          </a:solidFill>
          <a:ln/>
        </p:spPr>
      </p:sp>
      <p:sp>
        <p:nvSpPr>
          <p:cNvPr id="14" name="Shape 11"/>
          <p:cNvSpPr/>
          <p:nvPr/>
        </p:nvSpPr>
        <p:spPr>
          <a:xfrm>
            <a:off x="914400" y="3986784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3986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517904" y="3931920"/>
            <a:ext cx="97228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情報が不足していることを、報告に書いたか。</a:t>
            </a:r>
            <a:endParaRPr lang="en-US" sz="15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9FB6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your report state that information was incomplete?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40080" y="4718304"/>
            <a:ext cx="10911535" cy="676656"/>
          </a:xfrm>
          <a:prstGeom prst="roundRect">
            <a:avLst>
              <a:gd name="adj" fmla="val 6757"/>
            </a:avLst>
          </a:prstGeom>
          <a:solidFill>
            <a:srgbClr val="06223D"/>
          </a:solidFill>
          <a:ln/>
        </p:spPr>
      </p:sp>
      <p:sp>
        <p:nvSpPr>
          <p:cNvPr id="18" name="Shape 15"/>
          <p:cNvSpPr/>
          <p:nvPr/>
        </p:nvSpPr>
        <p:spPr>
          <a:xfrm>
            <a:off x="914400" y="4864608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91440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517904" y="4809744"/>
            <a:ext cx="97228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次の巡回で何を変えるかまで検討したか。</a:t>
            </a:r>
            <a:endParaRPr lang="en-US" sz="15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9FB6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decide what to change on the next round?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40080" y="5596128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第5時限 ― 相手が人である場合の対応、De-escalation。</a:t>
            </a:r>
            <a:endParaRPr lang="en-US" sz="1200" dirty="0"/>
          </a:p>
          <a:p>
            <a:pPr indent="0" marL="0">
              <a:buNone/>
            </a:pPr>
            <a:r>
              <a:rPr lang="en-US" sz="950" i="1" dirty="0">
                <a:solidFill>
                  <a:srgbClr val="8EA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5 — responding when the risk is a person: de-escalation.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第4時限｜業務別教育1 巡回の方法に関すること</dc:title>
  <dc:subject>PptxGenJS Presentation</dc:subject>
  <dc:creator>警備員指導教育責任者</dc:creator>
  <cp:lastModifiedBy>警備員指導教育責任者</cp:lastModifiedBy>
  <cp:revision>1</cp:revision>
  <dcterms:created xsi:type="dcterms:W3CDTF">2026-08-10T13:22:24Z</dcterms:created>
  <dcterms:modified xsi:type="dcterms:W3CDTF">2026-08-10T13:22:24Z</dcterms:modified>
</cp:coreProperties>
</file>