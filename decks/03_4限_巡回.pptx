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219456"/>
            <a:ext cx="104241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4173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　10:25 – 11:25　業務別教育1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A9B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— Task-Specific Training 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212848"/>
            <a:ext cx="99669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巡回の方法に関すること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236976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Methods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4828032"/>
            <a:ext cx="1371600" cy="32004"/>
          </a:xfrm>
          <a:prstGeom prst="rect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51206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2026年8月11日（火）　施設警備 現任教育　コーポレートセキュリティ</a:t>
            </a: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8EA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Aug 2026 — In-Service Training, Facility Security / Corporate Security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巡回の目的と種類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and Types of Patrol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巡回が何のために行われるかを述べ、定時と不定時を使い分ける理由を説明できる。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state why patrols are carried out, and why fixed and variable timing are used differently.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3つの目的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Purposes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・発見：異常を、被害が生じる前に確認する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Detect: find a problem before it becomes a loss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・抑止：警備員が巡回していることを外部に示す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Deter: show that guards are patrolling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・記録：実施した事実を残す。証明できる形で残す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Document: leave evidence of what was done, in a form that can be shown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・3つのうち、記録が最も忘れられやすい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Of the three, documentation is the one most often forgotten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定時巡回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Fixed-Time Patrol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・時刻を定めて実施する。実施漏れが起きにくい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Carried out at set times. Less likely to be skipped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・記録が揃いやすく、契約上の履行を示しやすい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Records are consistent, and easy to show as contract performance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・弱点：時刻を外部から把握される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Weakness: the timing can be learned from outside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・毎日同じ時刻・同じ順路だと、巡回のない時間帯が固定される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Same time and route every day fixes the gaps in coverage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不定時巡回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Variable-Time Patrol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・時刻と順路を変えて実施する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Timing and route are varied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・外部から予測されにくく、抑止の効果が高い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Harder to predict, so the deterrent effect is stronger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・弱点：確認の抜けが生じやすい。設計が必要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Weakness: gaps in checking appear. It has to be designed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・「気まぐれに歩く」ことではない。順路の組み替えである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It does not mean wandering. It means recombining a defined route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コーポレートの現場での特徴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Corporate Office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・執務時間帯は人がいる。声をかけられる前提で歩く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During working hours people are present. Expect to be spoken to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・深夜は無人。異常の発見が巡回だけに依存する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At night the floor is empty. Detection depends on the patrol alone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・在館者がいる場合は、その所在を把握しておく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anyone remains in the building, know where they are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・執務の妨げにならない動線と時間帯を選ぶ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Choose routes and times that do not disturb the client's work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巡回の回数、時間帯、経路は現場ごとに指定される。Site SOPと警備指令書に従う。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timing and route are specified per site. Follow the Site SOP and post orders.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巡回の設計 ― 経路・立寄点・警戒点・死角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a Patrol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自分の現場の死角がどこにあるかを言え、経路の変え方を説明できる。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name the blind spots on your own site, and explain how to vary the route.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・巡回する順路。逆順、分割、開始点の変更で組み替える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order you walk. Reverse it, split it, or change the start point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・上から下か、下から上か。同じ方向を続けない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Top-down or bottom-up. Do not always use the same direction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・エレベーターと階段のどちらを使うかも変数になる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Whether you use the lift or the stairs is also a variable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・経路を変えても、立寄点はすべて通る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However you vary it, every checkpoint must still be visited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立寄点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・必ず立ち寄り、確認した記録を残せる地点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Points you must visit, where the visit can be recorded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・通過ではなく、確認して初めて立ち寄ったことになる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Passing by is not visiting. You must actually check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・記録の方法は現場による。方法よりも確実性を優先する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method varies by site. Reliability matters more than the method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・立寄点を飛ばした場合は、飛ばしたことを記録する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you skip one, record that you skipped it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警戒点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Points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・事故が生じやすい、または被害が大きい箇所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Where incidents are likely, or where the loss would be large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・受電設備、サーバ室、書庫、金庫室、危険物保管場所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Power rooms, server rooms, archives, safes, hazardous-material stores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・非常口、防火戸、消火設備、避難経路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Emergency exits, fire doors, firefighting equipment, escape routes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・外周、搬入口、駐車場、喫煙所も含める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Include the perimeter, loading bays, car parks and smoking areas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死角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Spots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・目視できない範囲。カメラの死角と、巡回の死角は別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What cannot be seen. Camera blind spots and patrol blind spots are different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・時間帯によって変わる。消灯後に増える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They change with the time of day, and increase after lights-out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・設備や什器の移動で新しく生じる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New ones appear when equipment or furniture is moved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・巡回の設計とは、死角をどこまで減らすかの検討である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Designing a patrol means deciding how far to reduce the blind spots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立寄点の数と位置、チェック方法（キー・QR・端末）は現場ごとに異なる。Site SOPによる。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and location of checkpoints, and the check method, differ by site.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巡回で確認する対象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Check on Patrol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人と物だけでなく、情報資産と防災設備を確認対象として挙げられる。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name information assets and fire-safety equipment as things to check, not only people and property.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情報資産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Assets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・無人の席のIDカード、鍵、離席中の端末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ID cards, keys, and unlocked devices at empty desks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・ホワイトボードの書き残し、複合機に残った出力物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Writing left on whiteboards, printouts left in the copier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・会議室に残された配布資料、机上の書類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Handouts left in meeting rooms, documents left on desks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・内容は読まない。分類表示と所在だけを記録する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read them. Record only the classification and the location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物的資産と施錠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Assets and Locks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・サーバ室、書庫、金庫室の施錠状態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Lock status of server rooms, archives and safes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・窓、外周扉、搬入口の閉鎖状態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Windows, perimeter doors and loading bays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・共連れの痕跡、扉の固定（開放したままの状態）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Signs of tailgating, and doors propped open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・外周フェンス、駐車場の車両、不審な放置物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Perimeter fence, vehicles, and unattended items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・在館者の有無と所在。深夜の残業者を把握する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Who remains in the building and where. Know who is working late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・バッジ未着用者。断定せず、手続きに戻す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People without badges. Do not conclude; return them to the process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・体調不良者。声をかけ、無理に立たせない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Anyone unwell. Speak to them, and do not make them stand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・清掃・工事など、契約外の作業者の出入り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Cleaners and contractors entering and leaving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防災・設備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Safety and Equipment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・非常口の前に物が置かれていないか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Whether anything blocks an emergency exit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・防火戸の閉鎖障害。ストッパーや荷物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Obstructions to fire doors, such as stoppers or boxes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・消火器の所在と期限表示、屋内消火栓の周囲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Extinguishers, their inspection labels, and the area around hydrants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・漏水、異臭、異音、温度の異常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Leaks, unusual smells, unusual sounds, unusual temperature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確認項目のチェックリストは現場ごとに定められている。Site SOPの項目を優先する。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checklist is defined per site. The Site SOP items take priority.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巡回記録と引継ぎ ― 一般原則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Records and Handover — General Principles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記録が何のために存在するかを述べ、引継ぎで何を渡すべきかを説明できる。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state why records exist, and what must be passed on at handover.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記録の目的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Records Exist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・実施の証跡。記録がなければ、実施を証明できない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Evidence of performance. Without it you cannot show the patrol happened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・「異常なし」も記録すべき結果である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"Nothing to report" is also a result, and must be recorded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・後の調査や訴訟で、当時の状況を示す資料になる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It becomes the account of what was happening, for later investigation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・契約履行の証明として、クライアントに示す資料になる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It is what shows the client that the contract was performed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書き方の原則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Write 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・事実を先に、評価を後に。混ぜない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Fact first, assessment second. Do not mix them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・時刻、場所、対象、状態を具体的に書く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Write the time, place, object and condition specifically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・「異常なし」で済ませず、確認した対象を残す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stop at "nothing to report". Record what you checked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・分からなかったことは「不明」と書く。推測で埋めない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Write "unknown" where you did not know. Do not fill gaps with guesses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引継ぎ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・未解決の事項を渡す。終わったことより、続いていること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Pass on what is unresolved, not what is finished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・継続監視が必要な箇所と、その理由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Points needing continued watch, and why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・在館者、工事、来客予定など、次の時間帯に影響すること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Anyone still in the building, works in progress, expected visitors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・口頭だけで渡さない。記録に残して渡す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hand over verbally only. Put it in the record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やってはいけないこと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Not to Do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・実施していない巡回を記録する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Recording a patrol you did not carry out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・まとめて後から書く。時間が経つと正確性が下がる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Writing it all up later. Accuracy drops with time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・書類の内容を記録に書き写す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Copying the contents of a document into your record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・個人の評価や推測を、事実のように書く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Writing your opinion or guess as though it were fact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様式、頻度、保存期間、電子か紙かは現場ごとに大きく異なる。必ずSite SOPと警備指令書による。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Format, frequency, retention and medium differ greatly by site. Always follow the Site SOP and post orders.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4-A　巡回中、この場面に出会ったら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4-A — You Encounter This on Patrol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49961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班で3つ選んでください。次のスライドの4つの問いに答えます。情報は不足しています。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three as a group, then answer the four questions on the next slide. Information is incomplete.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670048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22960" y="297180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43584" y="2743200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無人の席にIDカードがある。離席中かどうかは分からない。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 card is on an empty desk. You cannot tell if the person stepped away.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33008" y="2670048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6415888" y="297180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1" name="Text 8"/>
          <p:cNvSpPr/>
          <p:nvPr/>
        </p:nvSpPr>
        <p:spPr>
          <a:xfrm>
            <a:off x="6415888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36512" y="2743200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ホワイトボードに案件名と金額が残っている。会議は終了している。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whiteboard shows a project name and a figure. The meeting has ended.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374904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22960" y="405079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050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43584" y="382219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非常口の前に段ボールが3箱。搬入作業は続いている様子。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boxes block an emergency exit. A delivery appears to be in progress.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33008" y="374904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6415888" y="405079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9" name="Text 16"/>
          <p:cNvSpPr/>
          <p:nvPr/>
        </p:nvSpPr>
        <p:spPr>
          <a:xfrm>
            <a:off x="6415888" y="4050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836512" y="382219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サーバ室の扉が半開き。中に人がいるかどうかは見えない。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room door is half open. You cannot see if anyone is inside.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40080" y="4828032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822960" y="512978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3" name="Text 20"/>
          <p:cNvSpPr/>
          <p:nvPr/>
        </p:nvSpPr>
        <p:spPr>
          <a:xfrm>
            <a:off x="822960" y="5129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243584" y="4901184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バッジ未着用の人物が執務フロアにいる。「役員だ」と名乗る。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without a badge is on the office floor. They say they are an executive.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233008" y="4828032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6415888" y="512978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7" name="Text 24"/>
          <p:cNvSpPr/>
          <p:nvPr/>
        </p:nvSpPr>
        <p:spPr>
          <a:xfrm>
            <a:off x="6415888" y="5129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836512" y="4901184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外周フェンスが破損。前回の巡回時にあったか記憶が定かでない。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perimeter fence is damaged. You cannot recall if it was there last round.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4-A　4つの問い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4-A — The Four Questions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53619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進め方：班で3場面を選ぶ → 4問に回答（15分） → 班発表（10分）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Format: pick three scenes, answer all four questions (15 min), then present (10 min).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286000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96112" y="2519172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7" name="Text 4"/>
          <p:cNvSpPr/>
          <p:nvPr/>
        </p:nvSpPr>
        <p:spPr>
          <a:xfrm>
            <a:off x="896112" y="25191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99616" y="2395728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何に注意するか ― People / Asset / Reputation のどのリスクか。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at stake? Is it a People, Asset, or Reputation risk?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0080" y="3319272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3552444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3552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499616" y="3429000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どこを見るか ― ほかに確認すべき点はどこか。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 you look? What else should you check?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640080" y="4352544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96112" y="4585716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896112" y="45857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499616" y="4462272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どう巡回するか ― 次の巡回で何を変えるか。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patrol? What changes on your next round?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40080" y="5385816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8" name="Shape 15"/>
          <p:cNvSpPr/>
          <p:nvPr/>
        </p:nvSpPr>
        <p:spPr>
          <a:xfrm>
            <a:off x="896112" y="5618988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96112" y="56189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499616" y="5495544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どう報告するか ― 報告するか、誰に、何を。事実と評価を分けて。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report? Whether, to whom, and what. Keep fact and assessment separate.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4-A 模範解答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4-A — Model Answers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939546"/>
          </a:xfrm>
          <a:prstGeom prst="roundRect">
            <a:avLst>
              <a:gd name="adj" fmla="val 3893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148475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48475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252728"/>
            <a:ext cx="10033711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何に注意するか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A・B・D は Asset（情報）、C・E は People、F は Asset（物的）。分類してから動く。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 B and D are Asset (information); C and E are People; F is Asset (physical). Classify before acting.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40080" y="2228850"/>
            <a:ext cx="10911535" cy="939546"/>
          </a:xfrm>
          <a:prstGeom prst="roundRect">
            <a:avLst>
              <a:gd name="adj" fmla="val 3893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41248" y="252488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52488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292858"/>
            <a:ext cx="10033711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どこを見るか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周囲と時系列。誰の席か、会議は終わったか、作業は継続中か、前回はどうだったか。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surroundings and the timeline: whose desk, is the meeting over, is work ongoing, how was it last round.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0080" y="3268980"/>
            <a:ext cx="10911535" cy="939546"/>
          </a:xfrm>
          <a:prstGeom prst="roundRect">
            <a:avLst>
              <a:gd name="adj" fmla="val 3893"/>
            </a:avLst>
          </a:prstGeom>
          <a:solidFill>
            <a:srgbClr val="E4F4F0"/>
          </a:solidFill>
          <a:ln/>
        </p:spPr>
      </p:sp>
      <p:sp>
        <p:nvSpPr>
          <p:cNvPr id="15" name="Shape 12"/>
          <p:cNvSpPr/>
          <p:nvPr/>
        </p:nvSpPr>
        <p:spPr>
          <a:xfrm>
            <a:off x="841248" y="356501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356501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280160" y="3332988"/>
            <a:ext cx="10033711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問3　どう巡回するか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次の巡回で立寄点を増やす、時刻をずらす、経路を逆順にする。設計を変えるところまで踏み込む。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checkpoint, shift the timing, reverse the route. Go as far as changing the design.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40080" y="4309110"/>
            <a:ext cx="10911535" cy="939546"/>
          </a:xfrm>
          <a:prstGeom prst="roundRect">
            <a:avLst>
              <a:gd name="adj" fmla="val 3893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41248" y="460514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460514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80160" y="4373118"/>
            <a:ext cx="10033711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問4　どう報告するか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事実を先に、評価を後に。分からないことは「不明」と書く。C は避難障害として即時報告。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first, assessment second. Write "unknown" where you did not know. Report C immediately as an escape obstruction.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40080" y="5358384"/>
            <a:ext cx="10911535" cy="457200"/>
          </a:xfrm>
          <a:prstGeom prst="roundRect">
            <a:avLst>
              <a:gd name="adj" fmla="val 8000"/>
            </a:avLst>
          </a:prstGeom>
          <a:solidFill>
            <a:srgbClr val="093259"/>
          </a:solidFill>
          <a:ln/>
        </p:spPr>
      </p:sp>
      <p:sp>
        <p:nvSpPr>
          <p:cNvPr id="23" name="Text 20"/>
          <p:cNvSpPr/>
          <p:nvPr/>
        </p:nvSpPr>
        <p:spPr>
          <a:xfrm>
            <a:off x="859536" y="5385816"/>
            <a:ext cx="104726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9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割れる論点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 は避難障害で、その場で除去してよい数少ない例。F は「不確か」と報告に書けるかが要点。</a:t>
            </a:r>
            <a:endParaRPr lang="en-US" sz="90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may be cleared on the spot — one of the few. For F, the point is writing that you were unsure.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巡回記録の様式、立寄点、報告先は現場ごとに異なる。Site SOPと警備指令書による。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formats, checkpoints and reporting lines differ by site.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4-B　深夜、非常口が開放されている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4-B — An Emergency Door Standing Open at Night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4-B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1124712"/>
          </a:xfrm>
          <a:prstGeom prst="roundRect">
            <a:avLst>
              <a:gd name="adj" fmla="val 3252"/>
            </a:avLst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950976" y="1316736"/>
            <a:ext cx="102897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　</a:t>
            </a:r>
            <a:pPr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夜1時40分、B1の巡回中。通常は施錠されている東側非常口が、15cmほど開いている。扉の外は搬入用の通路。開放を示す記録も、工事の予定も引き継がれていない。館内には残業中の社員が1名いるとの引継ぎがある。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01:40, patrolling B1. The east emergency door, normally locked, stands about 15 cm open. Outside is a delivery corridor. Nothing in the handover mentions it being opened, and no works are scheduled. The handover notes one employee still working late.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245973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　</a:t>
            </a:r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あなたなら次の60秒、何をどう動きますか。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do in the next sixty seconds?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81528"/>
            <a:ext cx="5327752" cy="836676"/>
          </a:xfrm>
          <a:prstGeom prst="roundRect">
            <a:avLst>
              <a:gd name="adj" fmla="val 4372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804672" y="3353562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" y="335356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3136392"/>
            <a:ext cx="4596232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扉を閉めるか、そのままにするか。それぞれの理由は。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close the door or leave it? What is the reasoning either way?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23864" y="3081528"/>
            <a:ext cx="5327752" cy="836676"/>
          </a:xfrm>
          <a:prstGeom prst="roundRect">
            <a:avLst>
              <a:gd name="adj" fmla="val 4372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6388456" y="3353562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6388456" y="335356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72504" y="3136392"/>
            <a:ext cx="4596232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単独で外の通路を確認しに行くか。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go out and check the corridor alone?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4027932"/>
            <a:ext cx="5327752" cy="836676"/>
          </a:xfrm>
          <a:prstGeom prst="roundRect">
            <a:avLst>
              <a:gd name="adj" fmla="val 4372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" y="429996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04672" y="429996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88720" y="4082796"/>
            <a:ext cx="4596232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残業中の社員の存在は、判断をどう変えるか。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employee working late change your decision?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23864" y="4027932"/>
            <a:ext cx="5327752" cy="836676"/>
          </a:xfrm>
          <a:prstGeom prst="roundRect">
            <a:avLst>
              <a:gd name="adj" fmla="val 4372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388456" y="429996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3" name="Text 20"/>
          <p:cNvSpPr/>
          <p:nvPr/>
        </p:nvSpPr>
        <p:spPr>
          <a:xfrm>
            <a:off x="6388456" y="429996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772504" y="4082796"/>
            <a:ext cx="4596232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一次報告に何を入れるか。事実と評価をどう分けるか。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 your initial report? How do you separate fact from assessment?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0080" y="4919472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6" name="Text 23"/>
          <p:cNvSpPr/>
          <p:nvPr/>
        </p:nvSpPr>
        <p:spPr>
          <a:xfrm>
            <a:off x="877824" y="4946904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扉のそばの床に、館内のものではない足跡が見える。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floor near the door you see footprints that did not come from inside.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640080" y="5394960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8" name="Text 25"/>
          <p:cNvSpPr/>
          <p:nvPr/>
        </p:nvSpPr>
        <p:spPr>
          <a:xfrm>
            <a:off x="877824" y="5422392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地下のため無線が通じない。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in the basement and the radio does not reach.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非常口の開放時の対応、単独行動の可否、応援要請の基準は現場ごとに異なる。Site SOPによる。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to an open emergency door, whether to act alone, and when to call backup differ by site.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4-B 模範解答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4-B — Model Answers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825246"/>
          </a:xfrm>
          <a:prstGeom prst="roundRect">
            <a:avLst>
              <a:gd name="adj" fmla="val 4432"/>
            </a:avLst>
          </a:prstGeom>
          <a:solidFill>
            <a:srgbClr val="E4F4F0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142760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42760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252728"/>
            <a:ext cx="10033711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扉を閉めるか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すぐには閉めない。中に人がいる場合、退路を塞ぐことになる。まず状況を把握する。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immediately. If someone is inside you would cut off their exit. Establish the situation first.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40080" y="2114550"/>
            <a:ext cx="10911535" cy="825246"/>
          </a:xfrm>
          <a:prstGeom prst="roundRect">
            <a:avLst>
              <a:gd name="adj" fmla="val 4432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41248" y="235343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35343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178558"/>
            <a:ext cx="10033711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単独で外を確認するか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行かない。応援を待つ。やむを得ず行く場合は所在を伝えてから行く。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Wait for backup. If you must go, tell someone where you are first.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0080" y="3040380"/>
            <a:ext cx="10911535" cy="825246"/>
          </a:xfrm>
          <a:prstGeom prst="roundRect">
            <a:avLst>
              <a:gd name="adj" fmla="val 4432"/>
            </a:avLst>
          </a:prstGeom>
          <a:solidFill>
            <a:srgbClr val="EFF4F8"/>
          </a:solidFill>
          <a:ln/>
        </p:spPr>
      </p:sp>
      <p:sp>
        <p:nvSpPr>
          <p:cNvPr id="15" name="Shape 12"/>
          <p:cNvSpPr/>
          <p:nvPr/>
        </p:nvSpPr>
        <p:spPr>
          <a:xfrm>
            <a:off x="841248" y="327926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327926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280160" y="3104388"/>
            <a:ext cx="10033711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問3　残業中の社員の存在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People が最優先。所在確認を扉の処置より先に行う。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come first. Confirm where they are before you deal with the door.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40080" y="3966210"/>
            <a:ext cx="10911535" cy="825246"/>
          </a:xfrm>
          <a:prstGeom prst="roundRect">
            <a:avLst>
              <a:gd name="adj" fmla="val 4432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41248" y="420509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420509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80160" y="4030218"/>
            <a:ext cx="10033711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問4　一次報告に何を入れるか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事実（施錠されているはずの扉が15cm開いていた、1時40分）と評価（侵入の可能性）を分ける。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fact (a door that should be locked stood 15 cm open at 01:40) from assessment (possible intrusion).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40080" y="4901184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3" name="Text 20"/>
          <p:cNvSpPr/>
          <p:nvPr/>
        </p:nvSpPr>
        <p:spPr>
          <a:xfrm>
            <a:off x="859536" y="4928616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館内のものでない足跡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現場保存の対象。踏まない。写真と時刻を残し、範囲を広めに取る。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evidence. Do not step on it. Photograph it with the time, and cordon wide.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40080" y="5394960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5" name="Text 22"/>
          <p:cNvSpPr/>
          <p:nvPr/>
        </p:nvSpPr>
        <p:spPr>
          <a:xfrm>
            <a:off x="859536" y="5422392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地下で無線が通じない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代替手段を決めていたか。戻って報告することも選択肢。単独で奥へ進まない。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you agreed a fallback? Returning to report in person is valid. Do not push further in alone.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単独行動の可否、応援要請の基準、通信不良時の代替手段は現場ごとに定められている。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to act alone, when to call backup, and comms fallbacks are set per site.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第4時限｜業務別教育1 巡回の方法に関すること</dc:title>
  <dc:subject>PptxGenJS Presentation</dc:subject>
  <dc:creator>警備員指導教育責任者</dc:creator>
  <cp:lastModifiedBy>警備員指導教育責任者</cp:lastModifiedBy>
  <cp:revision>1</cp:revision>
  <dcterms:created xsi:type="dcterms:W3CDTF">2026-08-10T15:41:31Z</dcterms:created>
  <dcterms:modified xsi:type="dcterms:W3CDTF">2026-08-10T15:41:31Z</dcterms:modified>
</cp:coreProperties>
</file>