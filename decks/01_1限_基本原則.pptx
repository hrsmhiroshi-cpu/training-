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第1時限　07:00 – 08:00　基本教育1</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5"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6"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本日の3つの問い</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Three Questions for Today</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この3問は、本日私が担当する全コマで使います。判断の根拠を、この3つで説明してください。</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We use these three questions in every session I lead today. Explain your decisions with them.</a:t>
            </a:r>
            <a:endParaRPr lang="en-US" sz="1300" dirty="0"/>
          </a:p>
        </p:txBody>
      </p:sp>
      <p:sp>
        <p:nvSpPr>
          <p:cNvPr id="5" name="Shape 2"/>
          <p:cNvSpPr/>
          <p:nvPr/>
        </p:nvSpPr>
        <p:spPr>
          <a:xfrm>
            <a:off x="640080" y="2322576"/>
            <a:ext cx="10911535" cy="1170432"/>
          </a:xfrm>
          <a:prstGeom prst="roundRect">
            <a:avLst>
              <a:gd name="adj" fmla="val 3906"/>
            </a:avLst>
          </a:prstGeom>
          <a:solidFill>
            <a:srgbClr val="EFF4F8"/>
          </a:solidFill>
          <a:ln/>
        </p:spPr>
      </p:sp>
      <p:sp>
        <p:nvSpPr>
          <p:cNvPr id="6" name="Shape 3"/>
          <p:cNvSpPr/>
          <p:nvPr/>
        </p:nvSpPr>
        <p:spPr>
          <a:xfrm>
            <a:off x="896112" y="2715768"/>
            <a:ext cx="384048" cy="384048"/>
          </a:xfrm>
          <a:prstGeom prst="ellipse">
            <a:avLst/>
          </a:prstGeom>
          <a:solidFill>
            <a:srgbClr val="12B198"/>
          </a:solidFill>
          <a:ln/>
        </p:spPr>
      </p:sp>
      <p:sp>
        <p:nvSpPr>
          <p:cNvPr id="7" name="Text 4"/>
          <p:cNvSpPr/>
          <p:nvPr/>
        </p:nvSpPr>
        <p:spPr>
          <a:xfrm>
            <a:off x="896112" y="2715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432304"/>
            <a:ext cx="9777679" cy="98755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何を守っているのか。― People / Asset / Reputation のどれか。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What am I protecting? People, Assets, or Reputation.</a:t>
            </a:r>
            <a:endParaRPr lang="en-US" sz="1450" dirty="0"/>
          </a:p>
        </p:txBody>
      </p:sp>
      <p:sp>
        <p:nvSpPr>
          <p:cNvPr id="9" name="Shape 6"/>
          <p:cNvSpPr/>
          <p:nvPr/>
        </p:nvSpPr>
        <p:spPr>
          <a:xfrm>
            <a:off x="640080" y="3675888"/>
            <a:ext cx="10911535" cy="1170432"/>
          </a:xfrm>
          <a:prstGeom prst="roundRect">
            <a:avLst>
              <a:gd name="adj" fmla="val 3906"/>
            </a:avLst>
          </a:prstGeom>
          <a:solidFill>
            <a:srgbClr val="F7FAFC"/>
          </a:solidFill>
          <a:ln/>
        </p:spPr>
      </p:sp>
      <p:sp>
        <p:nvSpPr>
          <p:cNvPr id="10" name="Shape 7"/>
          <p:cNvSpPr/>
          <p:nvPr/>
        </p:nvSpPr>
        <p:spPr>
          <a:xfrm>
            <a:off x="896112" y="4069080"/>
            <a:ext cx="384048" cy="384048"/>
          </a:xfrm>
          <a:prstGeom prst="ellipse">
            <a:avLst/>
          </a:prstGeom>
          <a:solidFill>
            <a:srgbClr val="12B198"/>
          </a:solidFill>
          <a:ln/>
        </p:spPr>
      </p:sp>
      <p:sp>
        <p:nvSpPr>
          <p:cNvPr id="11" name="Text 8"/>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785616"/>
            <a:ext cx="9777679" cy="98755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どの立場で動くのか。―「私人」か、「管理権者の補助者」か。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In what capacity am I acting? As a private citizen, or for the site authority.</a:t>
            </a:r>
            <a:endParaRPr lang="en-US" sz="1450" dirty="0"/>
          </a:p>
        </p:txBody>
      </p:sp>
      <p:sp>
        <p:nvSpPr>
          <p:cNvPr id="13" name="Shape 10"/>
          <p:cNvSpPr/>
          <p:nvPr/>
        </p:nvSpPr>
        <p:spPr>
          <a:xfrm>
            <a:off x="640080" y="5029200"/>
            <a:ext cx="10911535" cy="1170432"/>
          </a:xfrm>
          <a:prstGeom prst="roundRect">
            <a:avLst>
              <a:gd name="adj" fmla="val 3906"/>
            </a:avLst>
          </a:prstGeom>
          <a:solidFill>
            <a:srgbClr val="EFF4F8"/>
          </a:solidFill>
          <a:ln/>
        </p:spPr>
      </p:sp>
      <p:sp>
        <p:nvSpPr>
          <p:cNvPr id="14" name="Shape 11"/>
          <p:cNvSpPr/>
          <p:nvPr/>
        </p:nvSpPr>
        <p:spPr>
          <a:xfrm>
            <a:off x="896112" y="5422392"/>
            <a:ext cx="384048" cy="384048"/>
          </a:xfrm>
          <a:prstGeom prst="ellipse">
            <a:avLst/>
          </a:prstGeom>
          <a:solidFill>
            <a:srgbClr val="12B198"/>
          </a:solidFill>
          <a:ln/>
        </p:spPr>
      </p:sp>
      <p:sp>
        <p:nvSpPr>
          <p:cNvPr id="15" name="Text 12"/>
          <p:cNvSpPr/>
          <p:nvPr/>
        </p:nvSpPr>
        <p:spPr>
          <a:xfrm>
            <a:off x="896112" y="5422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5138928"/>
            <a:ext cx="9777679" cy="987552"/>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その手段は最小限か。― 越えた場合、何の罪に当たるか。</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Is this the minimum action? If I go beyond it, what offence does it become?</a:t>
            </a:r>
            <a:endParaRPr lang="en-US" sz="1450" dirty="0"/>
          </a:p>
        </p:txBody>
      </p:sp>
      <p:sp>
        <p:nvSpPr>
          <p:cNvPr id="17" name="Text 14"/>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8" name="Text 15"/>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コーポレートセキュリティが守るもの</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What Corporate Security Protects</a:t>
            </a:r>
            <a:endParaRPr lang="en-US" sz="2700" dirty="0"/>
          </a:p>
        </p:txBody>
      </p:sp>
      <p:sp>
        <p:nvSpPr>
          <p:cNvPr id="4" name="Text 1"/>
          <p:cNvSpPr/>
          <p:nvPr/>
        </p:nvSpPr>
        <p:spPr>
          <a:xfrm>
            <a:off x="640080" y="1517904"/>
            <a:ext cx="10911535" cy="548640"/>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守る対象は3つ。情報は Asset に含みます。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Three categories. Information is part of Asset.</a:t>
            </a:r>
            <a:endParaRPr lang="en-US" sz="1300" dirty="0"/>
          </a:p>
        </p:txBody>
      </p:sp>
      <p:sp>
        <p:nvSpPr>
          <p:cNvPr id="5" name="Shape 2"/>
          <p:cNvSpPr/>
          <p:nvPr/>
        </p:nvSpPr>
        <p:spPr>
          <a:xfrm>
            <a:off x="640080" y="2756916"/>
            <a:ext cx="3454298" cy="2971800"/>
          </a:xfrm>
          <a:prstGeom prst="roundRect">
            <a:avLst>
              <a:gd name="adj" fmla="val 1538"/>
            </a:avLst>
          </a:prstGeom>
          <a:solidFill>
            <a:srgbClr val="EFF4F8"/>
          </a:solidFill>
          <a:ln/>
        </p:spPr>
      </p:sp>
      <p:sp>
        <p:nvSpPr>
          <p:cNvPr id="6" name="Shape 3"/>
          <p:cNvSpPr/>
          <p:nvPr/>
        </p:nvSpPr>
        <p:spPr>
          <a:xfrm>
            <a:off x="877824" y="2994660"/>
            <a:ext cx="384048" cy="384048"/>
          </a:xfrm>
          <a:prstGeom prst="ellipse">
            <a:avLst/>
          </a:prstGeom>
          <a:solidFill>
            <a:srgbClr val="093259"/>
          </a:solidFill>
          <a:ln/>
        </p:spPr>
      </p:sp>
      <p:sp>
        <p:nvSpPr>
          <p:cNvPr id="7" name="Text 4"/>
          <p:cNvSpPr/>
          <p:nvPr/>
        </p:nvSpPr>
        <p:spPr>
          <a:xfrm>
            <a:off x="877824" y="29946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a:t>
            </a:r>
            <a:endParaRPr lang="en-US" sz="1400" dirty="0"/>
          </a:p>
        </p:txBody>
      </p:sp>
      <p:sp>
        <p:nvSpPr>
          <p:cNvPr id="8" name="Text 5"/>
          <p:cNvSpPr/>
          <p:nvPr/>
        </p:nvSpPr>
        <p:spPr>
          <a:xfrm>
            <a:off x="1389888" y="2976372"/>
            <a:ext cx="2466746" cy="658368"/>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People</a:t>
            </a:r>
            <a:endParaRPr lang="en-US" sz="1600" dirty="0"/>
          </a:p>
          <a:p>
            <a:pPr indent="0" marL="0">
              <a:lnSpc>
                <a:spcPct val="90000"/>
              </a:lnSpc>
              <a:buNone/>
            </a:pPr>
            <a:r>
              <a:rPr lang="en-US" sz="1000" i="1" dirty="0">
                <a:solidFill>
                  <a:srgbClr val="12B198"/>
                </a:solidFill>
                <a:latin typeface="Calibri" pitchFamily="34" charset="0"/>
                <a:ea typeface="Calibri" pitchFamily="34" charset="-122"/>
                <a:cs typeface="Calibri" pitchFamily="34" charset="-120"/>
              </a:rPr>
              <a:t>人</a:t>
            </a:r>
            <a:endParaRPr lang="en-US" sz="1600" dirty="0"/>
          </a:p>
        </p:txBody>
      </p:sp>
      <p:sp>
        <p:nvSpPr>
          <p:cNvPr id="9" name="Text 6"/>
          <p:cNvSpPr/>
          <p:nvPr/>
        </p:nvSpPr>
        <p:spPr>
          <a:xfrm>
            <a:off x="896112" y="3726180"/>
            <a:ext cx="2942234" cy="1801368"/>
          </a:xfrm>
          <a:prstGeom prst="rect">
            <a:avLst/>
          </a:prstGeom>
          <a:noFill/>
          <a:ln/>
        </p:spPr>
        <p:txBody>
          <a:bodyPr wrap="square" lIns="0" tIns="0" rIns="0" bIns="0" rtlCol="0" anchor="t"/>
          <a:lstStyle/>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従業員、来訪者、役員、警備員自身。負傷や事件の当事者になりうる者。</a:t>
            </a:r>
            <a:endParaRPr lang="en-US" sz="1250" dirty="0"/>
          </a:p>
          <a:p>
            <a:pPr indent="0" marL="0">
              <a:lnSpc>
                <a:spcPct val="95000"/>
              </a:lnSpc>
              <a:buNone/>
            </a:pPr>
            <a:r>
              <a:rPr lang="en-US" sz="950" i="1" dirty="0">
                <a:solidFill>
                  <a:srgbClr val="5F7183"/>
                </a:solidFill>
                <a:latin typeface="Calibri" pitchFamily="34" charset="0"/>
                <a:ea typeface="Calibri" pitchFamily="34" charset="-122"/>
                <a:cs typeface="Calibri" pitchFamily="34" charset="-120"/>
              </a:rPr>
              <a:t>Employees, visitors, executives, and guards. Anyone who can be injured or involved.</a:t>
            </a:r>
            <a:endParaRPr lang="en-US" sz="1250" dirty="0"/>
          </a:p>
        </p:txBody>
      </p:sp>
      <p:sp>
        <p:nvSpPr>
          <p:cNvPr id="10" name="Shape 7"/>
          <p:cNvSpPr/>
          <p:nvPr/>
        </p:nvSpPr>
        <p:spPr>
          <a:xfrm>
            <a:off x="4368698" y="2756916"/>
            <a:ext cx="3454298" cy="2971800"/>
          </a:xfrm>
          <a:prstGeom prst="roundRect">
            <a:avLst>
              <a:gd name="adj" fmla="val 1538"/>
            </a:avLst>
          </a:prstGeom>
          <a:solidFill>
            <a:srgbClr val="E4F4F0"/>
          </a:solidFill>
          <a:ln/>
        </p:spPr>
      </p:sp>
      <p:sp>
        <p:nvSpPr>
          <p:cNvPr id="11" name="Shape 8"/>
          <p:cNvSpPr/>
          <p:nvPr/>
        </p:nvSpPr>
        <p:spPr>
          <a:xfrm>
            <a:off x="4606442" y="2994660"/>
            <a:ext cx="384048" cy="384048"/>
          </a:xfrm>
          <a:prstGeom prst="ellipse">
            <a:avLst/>
          </a:prstGeom>
          <a:solidFill>
            <a:srgbClr val="12B198"/>
          </a:solidFill>
          <a:ln/>
        </p:spPr>
      </p:sp>
      <p:sp>
        <p:nvSpPr>
          <p:cNvPr id="12" name="Text 9"/>
          <p:cNvSpPr/>
          <p:nvPr/>
        </p:nvSpPr>
        <p:spPr>
          <a:xfrm>
            <a:off x="4606442" y="29946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0"/>
          <p:cNvSpPr/>
          <p:nvPr/>
        </p:nvSpPr>
        <p:spPr>
          <a:xfrm>
            <a:off x="5118506" y="2976372"/>
            <a:ext cx="2466746" cy="658368"/>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Asset</a:t>
            </a:r>
            <a:endParaRPr lang="en-US" sz="1600" dirty="0"/>
          </a:p>
          <a:p>
            <a:pPr indent="0" marL="0">
              <a:lnSpc>
                <a:spcPct val="90000"/>
              </a:lnSpc>
              <a:buNone/>
            </a:pPr>
            <a:r>
              <a:rPr lang="en-US" sz="1000" i="1" dirty="0">
                <a:solidFill>
                  <a:srgbClr val="12B198"/>
                </a:solidFill>
                <a:latin typeface="Calibri" pitchFamily="34" charset="0"/>
                <a:ea typeface="Calibri" pitchFamily="34" charset="-122"/>
                <a:cs typeface="Calibri" pitchFamily="34" charset="-120"/>
              </a:rPr>
              <a:t>資産（物的・情報）</a:t>
            </a:r>
            <a:endParaRPr lang="en-US" sz="1600" dirty="0"/>
          </a:p>
        </p:txBody>
      </p:sp>
      <p:sp>
        <p:nvSpPr>
          <p:cNvPr id="14" name="Text 11"/>
          <p:cNvSpPr/>
          <p:nvPr/>
        </p:nvSpPr>
        <p:spPr>
          <a:xfrm>
            <a:off x="4624730" y="3726180"/>
            <a:ext cx="2942234" cy="1801368"/>
          </a:xfrm>
          <a:prstGeom prst="rect">
            <a:avLst/>
          </a:prstGeom>
          <a:noFill/>
          <a:ln/>
        </p:spPr>
        <p:txBody>
          <a:bodyPr wrap="square" lIns="0" tIns="0" rIns="0" bIns="0" rtlCol="0" anchor="t"/>
          <a:lstStyle/>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建物、設備、現金などの物的資産。書類、データ、ログなどの情報資産。</a:t>
            </a:r>
            <a:endParaRPr lang="en-US" sz="1250" dirty="0"/>
          </a:p>
          <a:p>
            <a:pPr indent="0" marL="0">
              <a:lnSpc>
                <a:spcPct val="95000"/>
              </a:lnSpc>
              <a:buNone/>
            </a:pPr>
            <a:r>
              <a:rPr lang="en-US" sz="950" i="1" dirty="0">
                <a:solidFill>
                  <a:srgbClr val="5F7183"/>
                </a:solidFill>
                <a:latin typeface="Calibri" pitchFamily="34" charset="0"/>
                <a:ea typeface="Calibri" pitchFamily="34" charset="-122"/>
                <a:cs typeface="Calibri" pitchFamily="34" charset="-120"/>
              </a:rPr>
              <a:t>Physical assets such as buildings, equipment and cash. Information assets such as documents, data and logs.</a:t>
            </a:r>
            <a:endParaRPr lang="en-US" sz="1250" dirty="0"/>
          </a:p>
        </p:txBody>
      </p:sp>
      <p:sp>
        <p:nvSpPr>
          <p:cNvPr id="15" name="Shape 12"/>
          <p:cNvSpPr/>
          <p:nvPr/>
        </p:nvSpPr>
        <p:spPr>
          <a:xfrm>
            <a:off x="8097317" y="2756916"/>
            <a:ext cx="3454298" cy="2971800"/>
          </a:xfrm>
          <a:prstGeom prst="roundRect">
            <a:avLst>
              <a:gd name="adj" fmla="val 1538"/>
            </a:avLst>
          </a:prstGeom>
          <a:solidFill>
            <a:srgbClr val="EFF4F8"/>
          </a:solidFill>
          <a:ln/>
        </p:spPr>
      </p:sp>
      <p:sp>
        <p:nvSpPr>
          <p:cNvPr id="16" name="Shape 13"/>
          <p:cNvSpPr/>
          <p:nvPr/>
        </p:nvSpPr>
        <p:spPr>
          <a:xfrm>
            <a:off x="8335061" y="2994660"/>
            <a:ext cx="384048" cy="384048"/>
          </a:xfrm>
          <a:prstGeom prst="ellipse">
            <a:avLst/>
          </a:prstGeom>
          <a:solidFill>
            <a:srgbClr val="093259"/>
          </a:solidFill>
          <a:ln/>
        </p:spPr>
      </p:sp>
      <p:sp>
        <p:nvSpPr>
          <p:cNvPr id="17" name="Text 14"/>
          <p:cNvSpPr/>
          <p:nvPr/>
        </p:nvSpPr>
        <p:spPr>
          <a:xfrm>
            <a:off x="8335061" y="29946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p>
        </p:txBody>
      </p:sp>
      <p:sp>
        <p:nvSpPr>
          <p:cNvPr id="18" name="Text 15"/>
          <p:cNvSpPr/>
          <p:nvPr/>
        </p:nvSpPr>
        <p:spPr>
          <a:xfrm>
            <a:off x="8847125" y="2976372"/>
            <a:ext cx="2466746" cy="658368"/>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Reputation</a:t>
            </a:r>
            <a:endParaRPr lang="en-US" sz="1600" dirty="0"/>
          </a:p>
          <a:p>
            <a:pPr indent="0" marL="0">
              <a:lnSpc>
                <a:spcPct val="90000"/>
              </a:lnSpc>
              <a:buNone/>
            </a:pPr>
            <a:r>
              <a:rPr lang="en-US" sz="1000" i="1" dirty="0">
                <a:solidFill>
                  <a:srgbClr val="12B198"/>
                </a:solidFill>
                <a:latin typeface="Calibri" pitchFamily="34" charset="0"/>
                <a:ea typeface="Calibri" pitchFamily="34" charset="-122"/>
                <a:cs typeface="Calibri" pitchFamily="34" charset="-120"/>
              </a:rPr>
              <a:t>信用</a:t>
            </a:r>
            <a:endParaRPr lang="en-US" sz="1600" dirty="0"/>
          </a:p>
        </p:txBody>
      </p:sp>
      <p:sp>
        <p:nvSpPr>
          <p:cNvPr id="19" name="Text 16"/>
          <p:cNvSpPr/>
          <p:nvPr/>
        </p:nvSpPr>
        <p:spPr>
          <a:xfrm>
            <a:off x="8353349" y="3726180"/>
            <a:ext cx="2942234" cy="1801368"/>
          </a:xfrm>
          <a:prstGeom prst="rect">
            <a:avLst/>
          </a:prstGeom>
          <a:noFill/>
          <a:ln/>
        </p:spPr>
        <p:txBody>
          <a:bodyPr wrap="square" lIns="0" tIns="0" rIns="0" bIns="0" rtlCol="0" anchor="t"/>
          <a:lstStyle/>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企業の信頼、ブランド、対外的な評価。</a:t>
            </a:r>
            <a:endParaRPr lang="en-US" sz="1250" dirty="0"/>
          </a:p>
          <a:p>
            <a:pPr indent="0" marL="0">
              <a:lnSpc>
                <a:spcPct val="95000"/>
              </a:lnSpc>
              <a:buNone/>
            </a:pPr>
            <a:r>
              <a:rPr lang="en-US" sz="950" i="1" dirty="0">
                <a:solidFill>
                  <a:srgbClr val="5F7183"/>
                </a:solidFill>
                <a:latin typeface="Calibri" pitchFamily="34" charset="0"/>
                <a:ea typeface="Calibri" pitchFamily="34" charset="-122"/>
                <a:cs typeface="Calibri" pitchFamily="34" charset="-120"/>
              </a:rPr>
              <a:t>Company trust, brand, and public standing.</a:t>
            </a:r>
            <a:endParaRPr lang="en-US" sz="1250" dirty="0"/>
          </a:p>
        </p:txBody>
      </p:sp>
      <p:sp>
        <p:nvSpPr>
          <p:cNvPr id="20" name="Text 1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Asset の内訳</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What Counts as an Asset</a:t>
            </a:r>
            <a:endParaRPr lang="en-US" sz="2700" dirty="0"/>
          </a:p>
        </p:txBody>
      </p:sp>
      <p:sp>
        <p:nvSpPr>
          <p:cNvPr id="4" name="Shape 1"/>
          <p:cNvSpPr/>
          <p:nvPr/>
        </p:nvSpPr>
        <p:spPr>
          <a:xfrm>
            <a:off x="640080" y="1627632"/>
            <a:ext cx="5300320" cy="3767328"/>
          </a:xfrm>
          <a:prstGeom prst="roundRect">
            <a:avLst>
              <a:gd name="adj" fmla="val 1214"/>
            </a:avLst>
          </a:prstGeom>
          <a:solidFill>
            <a:srgbClr val="EFF4F8"/>
          </a:solidFill>
          <a:ln/>
        </p:spPr>
      </p:sp>
      <p:sp>
        <p:nvSpPr>
          <p:cNvPr id="5" name="Text 2"/>
          <p:cNvSpPr/>
          <p:nvPr/>
        </p:nvSpPr>
        <p:spPr>
          <a:xfrm>
            <a:off x="914400" y="1847088"/>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物的資産</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Physical assets</a:t>
            </a:r>
            <a:endParaRPr lang="en-US" sz="1600" dirty="0"/>
          </a:p>
        </p:txBody>
      </p:sp>
      <p:sp>
        <p:nvSpPr>
          <p:cNvPr id="6" name="Text 3"/>
          <p:cNvSpPr/>
          <p:nvPr/>
        </p:nvSpPr>
        <p:spPr>
          <a:xfrm>
            <a:off x="914400" y="2615184"/>
            <a:ext cx="4751680" cy="2542032"/>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・建物、設備、電源、空調</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Buildings, equipment, power, air conditioning</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・現金、金券、什器</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Cash, vouchers, fixtures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・在庫、原材料、製品</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Stock, materials, products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・車両、鍵、カード類</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Vehicles, keys, access cards</a:t>
            </a:r>
            <a:endParaRPr lang="en-US" sz="1250" dirty="0"/>
          </a:p>
        </p:txBody>
      </p:sp>
      <p:sp>
        <p:nvSpPr>
          <p:cNvPr id="7" name="Shape 4"/>
          <p:cNvSpPr/>
          <p:nvPr/>
        </p:nvSpPr>
        <p:spPr>
          <a:xfrm>
            <a:off x="6251296" y="1627632"/>
            <a:ext cx="5300320" cy="3767328"/>
          </a:xfrm>
          <a:prstGeom prst="roundRect">
            <a:avLst>
              <a:gd name="adj" fmla="val 1214"/>
            </a:avLst>
          </a:prstGeom>
          <a:solidFill>
            <a:srgbClr val="E4F4F0"/>
          </a:solidFill>
          <a:ln/>
        </p:spPr>
      </p:sp>
      <p:sp>
        <p:nvSpPr>
          <p:cNvPr id="8" name="Text 5"/>
          <p:cNvSpPr/>
          <p:nvPr/>
        </p:nvSpPr>
        <p:spPr>
          <a:xfrm>
            <a:off x="6525616" y="1847088"/>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D8A76"/>
                </a:solidFill>
                <a:latin typeface="Yu Gothic" pitchFamily="34" charset="0"/>
                <a:ea typeface="Yu Gothic" pitchFamily="34" charset="-122"/>
                <a:cs typeface="Yu Gothic" pitchFamily="34" charset="-120"/>
              </a:rPr>
              <a:t>情報資産</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Information assets</a:t>
            </a:r>
            <a:endParaRPr lang="en-US" sz="1600" dirty="0"/>
          </a:p>
        </p:txBody>
      </p:sp>
      <p:sp>
        <p:nvSpPr>
          <p:cNvPr id="9" name="Text 6"/>
          <p:cNvSpPr/>
          <p:nvPr/>
        </p:nvSpPr>
        <p:spPr>
          <a:xfrm>
            <a:off x="6525616" y="2615184"/>
            <a:ext cx="4751680" cy="2542032"/>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・書類、図面、契約書</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Documents, drawings, contracts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・データ、端末、記録媒体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Data, devices, storage media</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・顧客情報、人事情報</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Customer data, HR data</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・入退室ログ、カメラ画像</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Access logs, camera footage</a:t>
            </a:r>
            <a:endParaRPr lang="en-US" sz="1250" dirty="0"/>
          </a:p>
        </p:txBody>
      </p:sp>
      <p:sp>
        <p:nvSpPr>
          <p:cNvPr id="10" name="Text 7"/>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施錠されたサーバ室も、机上に放置された書類も、同じ Asset として扱います。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 locked server room and a document left on a desk are both Assets.</a:t>
            </a:r>
            <a:endParaRPr lang="en-US" sz="1300" dirty="0"/>
          </a:p>
        </p:txBody>
      </p:sp>
      <p:sp>
        <p:nvSpPr>
          <p:cNvPr id="11" name="Text 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2" name="Text 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Reputation への影響</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Impact on Reputation</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700" b="1" dirty="0">
                <a:solidFill>
                  <a:srgbClr val="FFFFFF"/>
                </a:solidFill>
                <a:latin typeface="Yu Gothic" pitchFamily="34" charset="0"/>
                <a:ea typeface="Yu Gothic" pitchFamily="34" charset="-122"/>
                <a:cs typeface="Yu Gothic" pitchFamily="34" charset="-120"/>
              </a:rPr>
              <a:t>信用の毀損は、物的損害と異なり、回復に長期を要します。</a:t>
            </a:r>
            <a:endParaRPr lang="en-US" sz="1700" dirty="0"/>
          </a:p>
          <a:p>
            <a:pPr indent="0" marL="0">
              <a:lnSpc>
                <a:spcPct val="102000"/>
              </a:lnSpc>
              <a:buNone/>
            </a:pPr>
            <a:r>
              <a:rPr lang="en-US" sz="1700" b="1" dirty="0">
                <a:solidFill>
                  <a:srgbClr val="FFFFFF"/>
                </a:solidFill>
                <a:latin typeface="Yu Gothic" pitchFamily="34" charset="0"/>
                <a:ea typeface="Yu Gothic" pitchFamily="34" charset="-122"/>
                <a:cs typeface="Yu Gothic" pitchFamily="34" charset="-120"/>
              </a:rPr>
              <a:t>現場の対応がそのまま企業の評価になります。</a:t>
            </a:r>
            <a:endParaRPr lang="en-US" sz="170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150" i="1" dirty="0">
                <a:solidFill>
                  <a:srgbClr val="9FD8CD"/>
                </a:solidFill>
                <a:latin typeface="Calibri" pitchFamily="34" charset="0"/>
                <a:ea typeface="Calibri" pitchFamily="34" charset="-122"/>
                <a:cs typeface="Calibri" pitchFamily="34" charset="-120"/>
              </a:rPr>
              <a:t>Damage to reputation takes a long time to repair, unlike physical loss.</a:t>
            </a:r>
            <a:endParaRPr lang="en-US" sz="1150" dirty="0"/>
          </a:p>
          <a:p>
            <a:pPr indent="0" marL="0">
              <a:lnSpc>
                <a:spcPct val="100000"/>
              </a:lnSpc>
              <a:buNone/>
            </a:pPr>
            <a:r>
              <a:rPr lang="en-US" sz="1150" i="1" dirty="0">
                <a:solidFill>
                  <a:srgbClr val="9FD8CD"/>
                </a:solidFill>
                <a:latin typeface="Calibri" pitchFamily="34" charset="0"/>
                <a:ea typeface="Calibri" pitchFamily="34" charset="-122"/>
                <a:cs typeface="Calibri" pitchFamily="34" charset="-120"/>
              </a:rPr>
              <a:t>How you act on site becomes how the company is judged.</a:t>
            </a:r>
            <a:endParaRPr lang="en-US" sz="1150" dirty="0"/>
          </a:p>
        </p:txBody>
      </p:sp>
      <p:sp>
        <p:nvSpPr>
          <p:cNvPr id="7" name="Shape 4"/>
          <p:cNvSpPr/>
          <p:nvPr/>
        </p:nvSpPr>
        <p:spPr>
          <a:xfrm>
            <a:off x="640080" y="4937760"/>
            <a:ext cx="10911535" cy="1298448"/>
          </a:xfrm>
          <a:prstGeom prst="roundRect">
            <a:avLst>
              <a:gd name="adj" fmla="val 3521"/>
            </a:avLst>
          </a:prstGeom>
          <a:solidFill>
            <a:srgbClr val="E4F4F0"/>
          </a:solidFill>
          <a:ln/>
        </p:spPr>
      </p:sp>
      <p:sp>
        <p:nvSpPr>
          <p:cNvPr id="8" name="Shape 5"/>
          <p:cNvSpPr/>
          <p:nvPr/>
        </p:nvSpPr>
        <p:spPr>
          <a:xfrm>
            <a:off x="914400" y="5404104"/>
            <a:ext cx="365760" cy="365760"/>
          </a:xfrm>
          <a:prstGeom prst="ellipse">
            <a:avLst/>
          </a:prstGeom>
          <a:solidFill>
            <a:srgbClr val="12B198"/>
          </a:solidFill>
          <a:ln/>
        </p:spPr>
      </p:sp>
      <p:sp>
        <p:nvSpPr>
          <p:cNvPr id="9" name="Text 6"/>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0" name="Text 7"/>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450" b="1" dirty="0">
                <a:solidFill>
                  <a:srgbClr val="093259"/>
                </a:solidFill>
                <a:latin typeface="Yu Gothic" pitchFamily="34" charset="0"/>
                <a:ea typeface="Yu Gothic" pitchFamily="34" charset="-122"/>
                <a:cs typeface="Yu Gothic" pitchFamily="34" charset="-120"/>
              </a:rPr>
              <a:t>過剰な有形力、断定的な発言、情報の放置。いずれも企業全体の問題になりえます。</a:t>
            </a:r>
            <a:endParaRPr lang="en-US" sz="1450" dirty="0"/>
          </a:p>
          <a:p>
            <a:pPr indent="0" marL="0">
              <a:lnSpc>
                <a:spcPct val="95000"/>
              </a:lnSpc>
              <a:buNone/>
            </a:pPr>
            <a:r>
              <a:rPr lang="en-US" sz="1000" i="1" dirty="0">
                <a:solidFill>
                  <a:srgbClr val="0D8A76"/>
                </a:solidFill>
                <a:latin typeface="Calibri" pitchFamily="34" charset="0"/>
                <a:ea typeface="Calibri" pitchFamily="34" charset="-122"/>
                <a:cs typeface="Calibri" pitchFamily="34" charset="-120"/>
              </a:rPr>
              <a:t>Excessive force, statements you cannot support, and unattended information can all become company-level problems.</a:t>
            </a:r>
            <a:endParaRPr lang="en-US" sz="1450" dirty="0"/>
          </a:p>
        </p:txBody>
      </p:sp>
      <p:sp>
        <p:nvSpPr>
          <p:cNvPr id="11" name="Text 8"/>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2" name="Text 9"/>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警備業法 第15条</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Security Services Act, Article 15</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450" b="1" dirty="0">
                <a:solidFill>
                  <a:srgbClr val="FFFFFF"/>
                </a:solidFill>
                <a:latin typeface="Yu Gothic" pitchFamily="34" charset="0"/>
                <a:ea typeface="Yu Gothic" pitchFamily="34" charset="-122"/>
                <a:cs typeface="Yu Gothic" pitchFamily="34" charset="-120"/>
              </a:rPr>
              <a:t>警備業者及び警備員は、警備業務を行うに当たっては、この法律により特別に権限を与えられているものでないことに留意するとともに、他人の権利及び自由を侵害し、又は個人若しくは団体の正当な活動に干渉してはならない。</a:t>
            </a:r>
            <a:endParaRPr lang="en-US" sz="145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050" i="1" dirty="0">
                <a:solidFill>
                  <a:srgbClr val="9FD8CD"/>
                </a:solidFill>
                <a:latin typeface="Calibri" pitchFamily="34" charset="0"/>
                <a:ea typeface="Calibri" pitchFamily="34" charset="-122"/>
                <a:cs typeface="Calibri" pitchFamily="34" charset="-120"/>
              </a:rPr>
              <a:t>When carrying out security operations, security businesses and guards must remember that this Act gives them no special authority. They must not infringe the rights or freedoms of others, and must not interfere with lawful activities.</a:t>
            </a:r>
            <a:endParaRPr lang="en-US" sz="1050" dirty="0"/>
          </a:p>
        </p:txBody>
      </p:sp>
      <p:sp>
        <p:nvSpPr>
          <p:cNvPr id="7"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2B198"/>
                </a:solidFill>
                <a:latin typeface="Calibri" pitchFamily="34" charset="0"/>
                <a:ea typeface="Calibri" pitchFamily="34" charset="-122"/>
                <a:cs typeface="Calibri" pitchFamily="34" charset="-120"/>
              </a:rPr>
              <a:t>警備業法 第15条 / Article 15</a:t>
            </a:r>
            <a:endParaRPr lang="en-US" sz="1000" dirty="0"/>
          </a:p>
        </p:txBody>
      </p:sp>
      <p:sp>
        <p:nvSpPr>
          <p:cNvPr id="8" name="Shape 5"/>
          <p:cNvSpPr/>
          <p:nvPr/>
        </p:nvSpPr>
        <p:spPr>
          <a:xfrm>
            <a:off x="640080" y="4937760"/>
            <a:ext cx="10911535" cy="1298448"/>
          </a:xfrm>
          <a:prstGeom prst="roundRect">
            <a:avLst>
              <a:gd name="adj" fmla="val 3521"/>
            </a:avLst>
          </a:prstGeom>
          <a:solidFill>
            <a:srgbClr val="E4F4F0"/>
          </a:solidFill>
          <a:ln/>
        </p:spPr>
      </p:sp>
      <p:sp>
        <p:nvSpPr>
          <p:cNvPr id="9" name="Shape 6"/>
          <p:cNvSpPr/>
          <p:nvPr/>
        </p:nvSpPr>
        <p:spPr>
          <a:xfrm>
            <a:off x="914400" y="5404104"/>
            <a:ext cx="365760" cy="365760"/>
          </a:xfrm>
          <a:prstGeom prst="ellipse">
            <a:avLst/>
          </a:prstGeom>
          <a:solidFill>
            <a:srgbClr val="12B198"/>
          </a:solidFill>
          <a:ln/>
        </p:spPr>
      </p:sp>
      <p:sp>
        <p:nvSpPr>
          <p:cNvPr id="10"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450" b="1" dirty="0">
                <a:solidFill>
                  <a:srgbClr val="093259"/>
                </a:solidFill>
                <a:latin typeface="Yu Gothic" pitchFamily="34" charset="0"/>
                <a:ea typeface="Yu Gothic" pitchFamily="34" charset="-122"/>
                <a:cs typeface="Yu Gothic" pitchFamily="34" charset="-120"/>
              </a:rPr>
              <a:t>警備員の法的な立場は私人です。制服により権限が加わることはありません。</a:t>
            </a:r>
            <a:endParaRPr lang="en-US" sz="1450" dirty="0"/>
          </a:p>
          <a:p>
            <a:pPr indent="0" marL="0">
              <a:lnSpc>
                <a:spcPct val="95000"/>
              </a:lnSpc>
              <a:buNone/>
            </a:pPr>
            <a:r>
              <a:rPr lang="en-US" sz="1000" i="1" dirty="0">
                <a:solidFill>
                  <a:srgbClr val="0D8A76"/>
                </a:solidFill>
                <a:latin typeface="Calibri" pitchFamily="34" charset="0"/>
                <a:ea typeface="Calibri" pitchFamily="34" charset="-122"/>
                <a:cs typeface="Calibri" pitchFamily="34" charset="-120"/>
              </a:rPr>
              <a:t>A security guard is a private citizen in law. The uniform adds no legal authority.</a:t>
            </a:r>
            <a:endParaRPr lang="en-US" sz="145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警察官と警備員 ― 権限の違い</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Police Officers and Security Guards — Different Powers</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警察官には法律で与えられた権限があります。警備員にはありません。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Police officers have powers granted by law. Security guards do not.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警察官にある権限</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Police powers (Police Duties Execution Act)</a:t>
            </a:r>
            <a:endParaRPr lang="en-US" sz="16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・職務質問（第2条）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Stop and question a person (Art. 2)</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・保護（第3条）、避難等の措置（第4条）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Protective custody (Art. 3). Order evacuation (Art. 4)</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・犯罪の予防及び制止（第5条）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Prevent and stop a crime (Art. 5)</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・立入（第6条）、武器の使用（第7条）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Enter premises (Art. 6). Use weapons (Art. 7)</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・逮捕状による逮捕、取り調べ</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Arrest by warrant. Interrogation</a:t>
            </a:r>
            <a:endParaRPr lang="en-US" sz="125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D8A76"/>
                </a:solidFill>
                <a:latin typeface="Yu Gothic" pitchFamily="34" charset="0"/>
                <a:ea typeface="Yu Gothic" pitchFamily="34" charset="-122"/>
                <a:cs typeface="Yu Gothic" pitchFamily="34" charset="-120"/>
              </a:rPr>
              <a:t>警備員にある権限</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What a security guard has</a:t>
            </a:r>
            <a:endParaRPr lang="en-US" sz="16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・左の権限は、いずれもありません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None of the powers on the left</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・現行犯逮捕（刑訴法213条）― 誰でもできる</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Arrest of a flagrant offender — anyone may do this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・正当防衛（刑法36条）、緊急避難（37条）― 誰でもできる</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Self-defence and necessity — anyone may do this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・管理権者から委ねられた範囲</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What the site authority has delegated</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・その範囲は契約と警備指令書で決まります</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That scope is set by the contract and the post orders</a:t>
            </a:r>
            <a:endParaRPr lang="en-US" sz="125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警備業法第16条 ― 警備員の服装は、警察官など公務員の制服と明確に識別できるものでなければなりません。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Security Services Act Art. 16 — a guard's uniform must be clearly distinguishable from the uniform of a police officer or other public official.</a:t>
            </a:r>
            <a:endParaRPr lang="en-US" sz="130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権限の根拠は2つだけ</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Your Authority Has Only Two Sources</a:t>
            </a:r>
            <a:endParaRPr lang="en-US" sz="2700" dirty="0"/>
          </a:p>
        </p:txBody>
      </p:sp>
      <p:sp>
        <p:nvSpPr>
          <p:cNvPr id="4" name="Shape 1"/>
          <p:cNvSpPr/>
          <p:nvPr/>
        </p:nvSpPr>
        <p:spPr>
          <a:xfrm>
            <a:off x="640080" y="2446020"/>
            <a:ext cx="5318608" cy="2971800"/>
          </a:xfrm>
          <a:prstGeom prst="roundRect">
            <a:avLst>
              <a:gd name="adj" fmla="val 1538"/>
            </a:avLst>
          </a:prstGeom>
          <a:solidFill>
            <a:srgbClr val="EFF4F8"/>
          </a:solidFill>
          <a:ln/>
        </p:spPr>
      </p:sp>
      <p:sp>
        <p:nvSpPr>
          <p:cNvPr id="5" name="Shape 2"/>
          <p:cNvSpPr/>
          <p:nvPr/>
        </p:nvSpPr>
        <p:spPr>
          <a:xfrm>
            <a:off x="877824" y="2683764"/>
            <a:ext cx="384048" cy="384048"/>
          </a:xfrm>
          <a:prstGeom prst="ellipse">
            <a:avLst/>
          </a:prstGeom>
          <a:solidFill>
            <a:srgbClr val="093259"/>
          </a:solidFill>
          <a:ln/>
        </p:spPr>
      </p:sp>
      <p:sp>
        <p:nvSpPr>
          <p:cNvPr id="6" name="Text 3"/>
          <p:cNvSpPr/>
          <p:nvPr/>
        </p:nvSpPr>
        <p:spPr>
          <a:xfrm>
            <a:off x="877824" y="26837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4"/>
          <p:cNvSpPr/>
          <p:nvPr/>
        </p:nvSpPr>
        <p:spPr>
          <a:xfrm>
            <a:off x="1389888" y="2665476"/>
            <a:ext cx="4331056" cy="658368"/>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誰でもできること</a:t>
            </a:r>
            <a:endParaRPr lang="en-US" sz="1600" dirty="0"/>
          </a:p>
          <a:p>
            <a:pPr indent="0" marL="0">
              <a:lnSpc>
                <a:spcPct val="90000"/>
              </a:lnSpc>
              <a:buNone/>
            </a:pPr>
            <a:r>
              <a:rPr lang="en-US" sz="1000" i="1" dirty="0">
                <a:solidFill>
                  <a:srgbClr val="12B198"/>
                </a:solidFill>
                <a:latin typeface="Calibri" pitchFamily="34" charset="0"/>
                <a:ea typeface="Calibri" pitchFamily="34" charset="-122"/>
                <a:cs typeface="Calibri" pitchFamily="34" charset="-120"/>
              </a:rPr>
              <a:t>What any person may do</a:t>
            </a:r>
            <a:endParaRPr lang="en-US" sz="1600" dirty="0"/>
          </a:p>
        </p:txBody>
      </p:sp>
      <p:sp>
        <p:nvSpPr>
          <p:cNvPr id="8" name="Text 5"/>
          <p:cNvSpPr/>
          <p:nvPr/>
        </p:nvSpPr>
        <p:spPr>
          <a:xfrm>
            <a:off x="896112" y="3415284"/>
            <a:ext cx="4806544" cy="1801368"/>
          </a:xfrm>
          <a:prstGeom prst="rect">
            <a:avLst/>
          </a:prstGeom>
          <a:noFill/>
          <a:ln/>
        </p:spPr>
        <p:txBody>
          <a:bodyPr wrap="square" lIns="0" tIns="0" rIns="0" bIns="0" rtlCol="0" anchor="t"/>
          <a:lstStyle/>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現行犯逮捕、正当防衛、緊急避難。</a:t>
            </a:r>
            <a:endParaRPr lang="en-US" sz="1250" dirty="0"/>
          </a:p>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警備員だからできるのではありません。要件は誰に対しても同じです。</a:t>
            </a:r>
            <a:endParaRPr lang="en-US" sz="1250" dirty="0"/>
          </a:p>
          <a:p>
            <a:pPr indent="0" marL="0">
              <a:lnSpc>
                <a:spcPct val="95000"/>
              </a:lnSpc>
              <a:buNone/>
            </a:pPr>
            <a:r>
              <a:rPr lang="en-US" sz="950" i="1" dirty="0">
                <a:solidFill>
                  <a:srgbClr val="5F7183"/>
                </a:solidFill>
                <a:latin typeface="Calibri" pitchFamily="34" charset="0"/>
                <a:ea typeface="Calibri" pitchFamily="34" charset="-122"/>
                <a:cs typeface="Calibri" pitchFamily="34" charset="-120"/>
              </a:rPr>
              <a:t>Citizen's arrest, self-defence, necessity. You have these as a person, not as a guard. The legal tests are the same for everyone.</a:t>
            </a:r>
            <a:endParaRPr lang="en-US" sz="1250" dirty="0"/>
          </a:p>
        </p:txBody>
      </p:sp>
      <p:sp>
        <p:nvSpPr>
          <p:cNvPr id="9" name="Shape 6"/>
          <p:cNvSpPr/>
          <p:nvPr/>
        </p:nvSpPr>
        <p:spPr>
          <a:xfrm>
            <a:off x="6233008" y="2446020"/>
            <a:ext cx="5318608" cy="2971800"/>
          </a:xfrm>
          <a:prstGeom prst="roundRect">
            <a:avLst>
              <a:gd name="adj" fmla="val 1538"/>
            </a:avLst>
          </a:prstGeom>
          <a:solidFill>
            <a:srgbClr val="E4F4F0"/>
          </a:solidFill>
          <a:ln/>
        </p:spPr>
      </p:sp>
      <p:sp>
        <p:nvSpPr>
          <p:cNvPr id="10" name="Shape 7"/>
          <p:cNvSpPr/>
          <p:nvPr/>
        </p:nvSpPr>
        <p:spPr>
          <a:xfrm>
            <a:off x="6470752" y="2683764"/>
            <a:ext cx="384048" cy="384048"/>
          </a:xfrm>
          <a:prstGeom prst="ellipse">
            <a:avLst/>
          </a:prstGeom>
          <a:solidFill>
            <a:srgbClr val="12B198"/>
          </a:solidFill>
          <a:ln/>
        </p:spPr>
      </p:sp>
      <p:sp>
        <p:nvSpPr>
          <p:cNvPr id="11" name="Text 8"/>
          <p:cNvSpPr/>
          <p:nvPr/>
        </p:nvSpPr>
        <p:spPr>
          <a:xfrm>
            <a:off x="6470752" y="26837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6982816" y="2665476"/>
            <a:ext cx="4331056" cy="658368"/>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管理権者から委ねられたこと</a:t>
            </a:r>
            <a:endParaRPr lang="en-US" sz="1600" dirty="0"/>
          </a:p>
          <a:p>
            <a:pPr indent="0" marL="0">
              <a:lnSpc>
                <a:spcPct val="90000"/>
              </a:lnSpc>
              <a:buNone/>
            </a:pPr>
            <a:r>
              <a:rPr lang="en-US" sz="1000" i="1" dirty="0">
                <a:solidFill>
                  <a:srgbClr val="12B198"/>
                </a:solidFill>
                <a:latin typeface="Calibri" pitchFamily="34" charset="0"/>
                <a:ea typeface="Calibri" pitchFamily="34" charset="-122"/>
                <a:cs typeface="Calibri" pitchFamily="34" charset="-120"/>
              </a:rPr>
              <a:t>What the site authority delegates</a:t>
            </a:r>
            <a:endParaRPr lang="en-US" sz="1600" dirty="0"/>
          </a:p>
        </p:txBody>
      </p:sp>
      <p:sp>
        <p:nvSpPr>
          <p:cNvPr id="13" name="Text 10"/>
          <p:cNvSpPr/>
          <p:nvPr/>
        </p:nvSpPr>
        <p:spPr>
          <a:xfrm>
            <a:off x="6489040" y="3415284"/>
            <a:ext cx="4806544" cy="1801368"/>
          </a:xfrm>
          <a:prstGeom prst="rect">
            <a:avLst/>
          </a:prstGeom>
          <a:noFill/>
          <a:ln/>
        </p:spPr>
        <p:txBody>
          <a:bodyPr wrap="square" lIns="0" tIns="0" rIns="0" bIns="0" rtlCol="0" anchor="t"/>
          <a:lstStyle/>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入館の可否、退去の要請、立入制限、記録。</a:t>
            </a:r>
            <a:endParaRPr lang="en-US" sz="1250" dirty="0"/>
          </a:p>
          <a:p>
            <a:pPr indent="0" marL="0">
              <a:lnSpc>
                <a:spcPct val="95000"/>
              </a:lnSpc>
              <a:buNone/>
            </a:pPr>
            <a:r>
              <a:rPr lang="en-US" sz="1250" dirty="0">
                <a:solidFill>
                  <a:srgbClr val="1B2733"/>
                </a:solidFill>
                <a:latin typeface="Yu Gothic" pitchFamily="34" charset="0"/>
                <a:ea typeface="Yu Gothic" pitchFamily="34" charset="-122"/>
                <a:cs typeface="Yu Gothic" pitchFamily="34" charset="-120"/>
              </a:rPr>
              <a:t>委ねられた範囲を超えることはできません。</a:t>
            </a:r>
            <a:endParaRPr lang="en-US" sz="1250" dirty="0"/>
          </a:p>
          <a:p>
            <a:pPr indent="0" marL="0">
              <a:lnSpc>
                <a:spcPct val="95000"/>
              </a:lnSpc>
              <a:buNone/>
            </a:pPr>
            <a:r>
              <a:rPr lang="en-US" sz="950" i="1" dirty="0">
                <a:solidFill>
                  <a:srgbClr val="5F7183"/>
                </a:solidFill>
                <a:latin typeface="Calibri" pitchFamily="34" charset="0"/>
                <a:ea typeface="Calibri" pitchFamily="34" charset="-122"/>
                <a:cs typeface="Calibri" pitchFamily="34" charset="-120"/>
              </a:rPr>
              <a:t>Admission, requests to leave, access restriction, record-keeping. You cannot go beyond what was delegated.</a:t>
            </a:r>
            <a:endParaRPr lang="en-US" sz="1250" dirty="0"/>
          </a:p>
        </p:txBody>
      </p:sp>
      <p:sp>
        <p:nvSpPr>
          <p:cNvPr id="14" name="Text 11"/>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5" name="Text 12"/>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Write your answer and your reason. No hands needed. I will call on you.</a:t>
            </a:r>
            <a:endParaRPr lang="en-US" sz="1300" dirty="0"/>
          </a:p>
        </p:txBody>
      </p:sp>
      <p:sp>
        <p:nvSpPr>
          <p:cNvPr id="5" name="Shape 2"/>
          <p:cNvSpPr/>
          <p:nvPr/>
        </p:nvSpPr>
        <p:spPr>
          <a:xfrm>
            <a:off x="640080" y="2194560"/>
            <a:ext cx="5318608" cy="900684"/>
          </a:xfrm>
          <a:prstGeom prst="roundRect">
            <a:avLst>
              <a:gd name="adj" fmla="val 4061"/>
            </a:avLst>
          </a:prstGeom>
          <a:solidFill>
            <a:srgbClr val="EFF4F8"/>
          </a:solidFill>
          <a:ln/>
        </p:spPr>
      </p:sp>
      <p:sp>
        <p:nvSpPr>
          <p:cNvPr id="6" name="Shape 3"/>
          <p:cNvSpPr/>
          <p:nvPr/>
        </p:nvSpPr>
        <p:spPr>
          <a:xfrm>
            <a:off x="822960" y="2480310"/>
            <a:ext cx="329184" cy="329184"/>
          </a:xfrm>
          <a:prstGeom prst="ellipse">
            <a:avLst/>
          </a:prstGeom>
          <a:solidFill>
            <a:srgbClr val="093259"/>
          </a:solidFill>
          <a:ln/>
        </p:spPr>
      </p:sp>
      <p:sp>
        <p:nvSpPr>
          <p:cNvPr id="7" name="Text 4"/>
          <p:cNvSpPr/>
          <p:nvPr/>
        </p:nvSpPr>
        <p:spPr>
          <a:xfrm>
            <a:off x="822960"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制服を着ているので、来訪者のカバンを開けて確認した。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In uniform, you open a visitor's bag to check it.</a:t>
            </a:r>
            <a:endParaRPr lang="en-US" sz="1150" dirty="0"/>
          </a:p>
        </p:txBody>
      </p:sp>
      <p:sp>
        <p:nvSpPr>
          <p:cNvPr id="9" name="Shape 6"/>
          <p:cNvSpPr/>
          <p:nvPr/>
        </p:nvSpPr>
        <p:spPr>
          <a:xfrm>
            <a:off x="6233008" y="2194560"/>
            <a:ext cx="5318608" cy="900684"/>
          </a:xfrm>
          <a:prstGeom prst="roundRect">
            <a:avLst>
              <a:gd name="adj" fmla="val 4061"/>
            </a:avLst>
          </a:prstGeom>
          <a:solidFill>
            <a:srgbClr val="EFF4F8"/>
          </a:solidFill>
          <a:ln/>
        </p:spPr>
      </p:sp>
      <p:sp>
        <p:nvSpPr>
          <p:cNvPr id="10" name="Shape 7"/>
          <p:cNvSpPr/>
          <p:nvPr/>
        </p:nvSpPr>
        <p:spPr>
          <a:xfrm>
            <a:off x="6415888" y="2480310"/>
            <a:ext cx="329184" cy="329184"/>
          </a:xfrm>
          <a:prstGeom prst="ellipse">
            <a:avLst/>
          </a:prstGeom>
          <a:solidFill>
            <a:srgbClr val="093259"/>
          </a:solidFill>
          <a:ln/>
        </p:spPr>
      </p:sp>
      <p:sp>
        <p:nvSpPr>
          <p:cNvPr id="11" name="Text 8"/>
          <p:cNvSpPr/>
          <p:nvPr/>
        </p:nvSpPr>
        <p:spPr>
          <a:xfrm>
            <a:off x="6415888"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目の前で商品を隠して出口を通過した者を取り押さえた。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detain someone who hid goods and walked out.</a:t>
            </a:r>
            <a:endParaRPr lang="en-US" sz="1150" dirty="0"/>
          </a:p>
        </p:txBody>
      </p:sp>
      <p:sp>
        <p:nvSpPr>
          <p:cNvPr id="13" name="Shape 10"/>
          <p:cNvSpPr/>
          <p:nvPr/>
        </p:nvSpPr>
        <p:spPr>
          <a:xfrm>
            <a:off x="640080" y="3241548"/>
            <a:ext cx="5318608" cy="900684"/>
          </a:xfrm>
          <a:prstGeom prst="roundRect">
            <a:avLst>
              <a:gd name="adj" fmla="val 4061"/>
            </a:avLst>
          </a:prstGeom>
          <a:solidFill>
            <a:srgbClr val="EFF4F8"/>
          </a:solidFill>
          <a:ln/>
        </p:spPr>
      </p:sp>
      <p:sp>
        <p:nvSpPr>
          <p:cNvPr id="14" name="Shape 11"/>
          <p:cNvSpPr/>
          <p:nvPr/>
        </p:nvSpPr>
        <p:spPr>
          <a:xfrm>
            <a:off x="822960" y="3527298"/>
            <a:ext cx="329184" cy="329184"/>
          </a:xfrm>
          <a:prstGeom prst="ellipse">
            <a:avLst/>
          </a:prstGeom>
          <a:solidFill>
            <a:srgbClr val="093259"/>
          </a:solidFill>
          <a:ln/>
        </p:spPr>
      </p:sp>
      <p:sp>
        <p:nvSpPr>
          <p:cNvPr id="15" name="Text 12"/>
          <p:cNvSpPr/>
          <p:nvPr/>
        </p:nvSpPr>
        <p:spPr>
          <a:xfrm>
            <a:off x="822960"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逮捕した相手から、事務所で30分間、事情を聞いた。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question a detained person in the office for 30 minutes.</a:t>
            </a:r>
            <a:endParaRPr lang="en-US" sz="1150" dirty="0"/>
          </a:p>
        </p:txBody>
      </p:sp>
      <p:sp>
        <p:nvSpPr>
          <p:cNvPr id="17" name="Shape 14"/>
          <p:cNvSpPr/>
          <p:nvPr/>
        </p:nvSpPr>
        <p:spPr>
          <a:xfrm>
            <a:off x="6233008" y="3241548"/>
            <a:ext cx="5318608" cy="900684"/>
          </a:xfrm>
          <a:prstGeom prst="roundRect">
            <a:avLst>
              <a:gd name="adj" fmla="val 4061"/>
            </a:avLst>
          </a:prstGeom>
          <a:solidFill>
            <a:srgbClr val="EFF4F8"/>
          </a:solidFill>
          <a:ln/>
        </p:spPr>
      </p:sp>
      <p:sp>
        <p:nvSpPr>
          <p:cNvPr id="18" name="Shape 15"/>
          <p:cNvSpPr/>
          <p:nvPr/>
        </p:nvSpPr>
        <p:spPr>
          <a:xfrm>
            <a:off x="6415888" y="3527298"/>
            <a:ext cx="329184" cy="329184"/>
          </a:xfrm>
          <a:prstGeom prst="ellipse">
            <a:avLst/>
          </a:prstGeom>
          <a:solidFill>
            <a:srgbClr val="093259"/>
          </a:solidFill>
          <a:ln/>
        </p:spPr>
      </p:sp>
      <p:sp>
        <p:nvSpPr>
          <p:cNvPr id="19" name="Text 16"/>
          <p:cNvSpPr/>
          <p:nvPr/>
        </p:nvSpPr>
        <p:spPr>
          <a:xfrm>
            <a:off x="6415888"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殴りかかってきた相手の腕を押さえて止めた。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stop an incoming punch by holding the arm.</a:t>
            </a:r>
            <a:endParaRPr lang="en-US" sz="1150" dirty="0"/>
          </a:p>
        </p:txBody>
      </p:sp>
      <p:sp>
        <p:nvSpPr>
          <p:cNvPr id="21" name="Shape 18"/>
          <p:cNvSpPr/>
          <p:nvPr/>
        </p:nvSpPr>
        <p:spPr>
          <a:xfrm>
            <a:off x="640080" y="4288536"/>
            <a:ext cx="5318608" cy="900684"/>
          </a:xfrm>
          <a:prstGeom prst="roundRect">
            <a:avLst>
              <a:gd name="adj" fmla="val 4061"/>
            </a:avLst>
          </a:prstGeom>
          <a:solidFill>
            <a:srgbClr val="EFF4F8"/>
          </a:solidFill>
          <a:ln/>
        </p:spPr>
      </p:sp>
      <p:sp>
        <p:nvSpPr>
          <p:cNvPr id="22" name="Shape 19"/>
          <p:cNvSpPr/>
          <p:nvPr/>
        </p:nvSpPr>
        <p:spPr>
          <a:xfrm>
            <a:off x="822960" y="4574286"/>
            <a:ext cx="329184" cy="329184"/>
          </a:xfrm>
          <a:prstGeom prst="ellipse">
            <a:avLst/>
          </a:prstGeom>
          <a:solidFill>
            <a:srgbClr val="093259"/>
          </a:solidFill>
          <a:ln/>
        </p:spPr>
      </p:sp>
      <p:sp>
        <p:nvSpPr>
          <p:cNvPr id="23" name="Text 20"/>
          <p:cNvSpPr/>
          <p:nvPr/>
        </p:nvSpPr>
        <p:spPr>
          <a:xfrm>
            <a:off x="822960"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相手が倒れた後も、念のため押さえ続けた。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keep holding the person down after they are down.</a:t>
            </a:r>
            <a:endParaRPr lang="en-US" sz="1150" dirty="0"/>
          </a:p>
        </p:txBody>
      </p:sp>
      <p:sp>
        <p:nvSpPr>
          <p:cNvPr id="25" name="Shape 22"/>
          <p:cNvSpPr/>
          <p:nvPr/>
        </p:nvSpPr>
        <p:spPr>
          <a:xfrm>
            <a:off x="6233008" y="4288536"/>
            <a:ext cx="5318608" cy="900684"/>
          </a:xfrm>
          <a:prstGeom prst="roundRect">
            <a:avLst>
              <a:gd name="adj" fmla="val 4061"/>
            </a:avLst>
          </a:prstGeom>
          <a:solidFill>
            <a:srgbClr val="EFF4F8"/>
          </a:solidFill>
          <a:ln/>
        </p:spPr>
      </p:sp>
      <p:sp>
        <p:nvSpPr>
          <p:cNvPr id="26" name="Shape 23"/>
          <p:cNvSpPr/>
          <p:nvPr/>
        </p:nvSpPr>
        <p:spPr>
          <a:xfrm>
            <a:off x="6415888" y="4574286"/>
            <a:ext cx="329184" cy="329184"/>
          </a:xfrm>
          <a:prstGeom prst="ellipse">
            <a:avLst/>
          </a:prstGeom>
          <a:solidFill>
            <a:srgbClr val="093259"/>
          </a:solidFill>
          <a:ln/>
        </p:spPr>
      </p:sp>
      <p:sp>
        <p:nvSpPr>
          <p:cNvPr id="27" name="Text 24"/>
          <p:cNvSpPr/>
          <p:nvPr/>
        </p:nvSpPr>
        <p:spPr>
          <a:xfrm>
            <a:off x="6415888"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管理権者の指示で、入館証のない者に退去を求めた。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On the authority's instruction, you ask an unbadged person to leave.</a:t>
            </a:r>
            <a:endParaRPr lang="en-US" sz="1150" dirty="0"/>
          </a:p>
        </p:txBody>
      </p:sp>
      <p:sp>
        <p:nvSpPr>
          <p:cNvPr id="29" name="Shape 26"/>
          <p:cNvSpPr/>
          <p:nvPr/>
        </p:nvSpPr>
        <p:spPr>
          <a:xfrm>
            <a:off x="640080" y="5335524"/>
            <a:ext cx="5318608" cy="900684"/>
          </a:xfrm>
          <a:prstGeom prst="roundRect">
            <a:avLst>
              <a:gd name="adj" fmla="val 4061"/>
            </a:avLst>
          </a:prstGeom>
          <a:solidFill>
            <a:srgbClr val="EFF4F8"/>
          </a:solidFill>
          <a:ln/>
        </p:spPr>
      </p:sp>
      <p:sp>
        <p:nvSpPr>
          <p:cNvPr id="30" name="Shape 27"/>
          <p:cNvSpPr/>
          <p:nvPr/>
        </p:nvSpPr>
        <p:spPr>
          <a:xfrm>
            <a:off x="822960" y="5621274"/>
            <a:ext cx="329184" cy="329184"/>
          </a:xfrm>
          <a:prstGeom prst="ellipse">
            <a:avLst/>
          </a:prstGeom>
          <a:solidFill>
            <a:srgbClr val="093259"/>
          </a:solidFill>
          <a:ln/>
        </p:spPr>
      </p:sp>
      <p:sp>
        <p:nvSpPr>
          <p:cNvPr id="31" name="Text 28"/>
          <p:cNvSpPr/>
          <p:nvPr/>
        </p:nvSpPr>
        <p:spPr>
          <a:xfrm>
            <a:off x="822960"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「怪しい」と思ったので、相手の進路に立ちふさがった。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block a person's path because they look suspicious.</a:t>
            </a:r>
            <a:endParaRPr lang="en-US" sz="1150" dirty="0"/>
          </a:p>
        </p:txBody>
      </p:sp>
      <p:sp>
        <p:nvSpPr>
          <p:cNvPr id="33" name="Shape 30"/>
          <p:cNvSpPr/>
          <p:nvPr/>
        </p:nvSpPr>
        <p:spPr>
          <a:xfrm>
            <a:off x="6233008" y="5335524"/>
            <a:ext cx="5318608" cy="900684"/>
          </a:xfrm>
          <a:prstGeom prst="roundRect">
            <a:avLst>
              <a:gd name="adj" fmla="val 4061"/>
            </a:avLst>
          </a:prstGeom>
          <a:solidFill>
            <a:srgbClr val="EFF4F8"/>
          </a:solidFill>
          <a:ln/>
        </p:spPr>
      </p:sp>
      <p:sp>
        <p:nvSpPr>
          <p:cNvPr id="34" name="Shape 31"/>
          <p:cNvSpPr/>
          <p:nvPr/>
        </p:nvSpPr>
        <p:spPr>
          <a:xfrm>
            <a:off x="6415888" y="5621274"/>
            <a:ext cx="329184" cy="329184"/>
          </a:xfrm>
          <a:prstGeom prst="ellipse">
            <a:avLst/>
          </a:prstGeom>
          <a:solidFill>
            <a:srgbClr val="093259"/>
          </a:solidFill>
          <a:ln/>
        </p:spPr>
      </p:sp>
      <p:sp>
        <p:nvSpPr>
          <p:cNvPr id="35" name="Text 32"/>
          <p:cNvSpPr/>
          <p:nvPr/>
        </p:nvSpPr>
        <p:spPr>
          <a:xfrm>
            <a:off x="6415888"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落ちていた書類を拾い、そのままゴミ箱に捨てた。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pick up a stray document and put it in the bin.</a:t>
            </a:r>
            <a:endParaRPr lang="en-US" sz="1150" dirty="0"/>
          </a:p>
        </p:txBody>
      </p:sp>
      <p:sp>
        <p:nvSpPr>
          <p:cNvPr id="37" name="Text 34"/>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8" name="Text 35"/>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解答と根拠の示し方</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Mini TTX — Answers and How to State Your Reasoning</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Answers:  1 No · 2 Yes · 3 No · 4 Yes · 5 No · 6 Yes · 7 No · 8 No</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×の多くは、委ねられていないことを行っています。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Most of the "No" answers do something that was never delegated to you.</a:t>
            </a:r>
            <a:endParaRPr lang="en-US" sz="145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○は、「誰でもできること」か「委ねられたこと」のどちらかに収まっています。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Each "Yes" fits into source 1 or source 2.</a:t>
            </a:r>
            <a:endParaRPr lang="en-US" sz="145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設問5は終期の問題です。侵害が終われば、正当防衛も終わります。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Item 5 is about when it ends. When the attack stops, the right to defend stops.</a:t>
            </a:r>
            <a:endParaRPr lang="en-US" sz="145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設問8は Asset の問題です。書類は情報資産です。廃棄すると証跡が残りません。</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Item 8 is an Asset question. A document is an information asset. Binning it destroys the record.</a:t>
            </a:r>
            <a:endParaRPr lang="en-US" sz="145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根拠の示し方：「〔私人／補助者〕として、〔目的〕のため、〔手段〕を取った」</a:t>
            </a:r>
            <a:endParaRPr lang="en-US" sz="1300" dirty="0"/>
          </a:p>
          <a:p>
            <a:pPr indent="0" marL="0">
              <a:lnSpc>
                <a:spcPct val="92000"/>
              </a:lnSpc>
              <a:buNone/>
            </a:pPr>
            <a:r>
              <a:rPr lang="en-US" sz="950" i="1" dirty="0">
                <a:solidFill>
                  <a:srgbClr val="5F7183"/>
                </a:solidFill>
                <a:latin typeface="Calibri" pitchFamily="34" charset="0"/>
                <a:ea typeface="Calibri" pitchFamily="34" charset="-122"/>
                <a:cs typeface="Calibri" pitchFamily="34" charset="-120"/>
              </a:rPr>
              <a:t>State it this way: "As a [citizen / delegated agent], I took [action] for [purpose]."</a:t>
            </a:r>
            <a:endParaRPr lang="en-US" sz="1300" dirty="0"/>
          </a:p>
        </p:txBody>
      </p:sp>
      <p:sp>
        <p:nvSpPr>
          <p:cNvPr id="25" name="Text 2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6" name="Text 2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i="1" dirty="0">
                <a:solidFill>
                  <a:srgbClr val="9FD8CD"/>
                </a:solidFill>
                <a:latin typeface="Calibri" pitchFamily="34" charset="0"/>
                <a:ea typeface="Calibri" pitchFamily="34" charset="-122"/>
                <a:cs typeface="Calibri" pitchFamily="34" charset="-120"/>
              </a:rPr>
              <a:t>Period 1 — Summary</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守る対象は People / Asset / Reputation。情報は Asset に含む。</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People, Assets, Reputation. Information is part of Asset.</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特別な権限は与えられていない。立場は私人。</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Article 15 — no special authority. You act as a private citizen.</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警察官にある権限は、警備員にはない。服装も区別が求められる。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Police powers do not extend to guards. Uniforms must also be distinguishable.</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権限の根拠は「誰でもできること」と「委ねられたこと」の2つ。</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Two sources only: what anyone may do, and what was delegated.</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第2時限 ― その限界を、条文と罪名で確認します。</a:t>
            </a:r>
            <a:endParaRPr lang="en-US" sz="1200" dirty="0"/>
          </a:p>
          <a:p>
            <a:pPr indent="0" marL="0">
              <a:buNone/>
            </a:pPr>
            <a:r>
              <a:rPr lang="en-US" sz="950" i="1" dirty="0">
                <a:solidFill>
                  <a:srgbClr val="8EA3B7"/>
                </a:solidFill>
                <a:latin typeface="Calibri" pitchFamily="34" charset="0"/>
                <a:ea typeface="Calibri" pitchFamily="34" charset="-122"/>
                <a:cs typeface="Calibri" pitchFamily="34" charset="-120"/>
              </a:rPr>
              <a:t>Period 2 — those limits, in statutes and offence names.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2026-08-10T13:22:24Z</dcterms:created>
  <dcterms:modified xsi:type="dcterms:W3CDTF">2026-08-10T13:22:24Z</dcterms:modified>
</cp:coreProperties>
</file>