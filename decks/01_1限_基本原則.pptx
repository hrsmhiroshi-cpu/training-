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D52"/>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sp>
        <p:nvSpPr>
          <p:cNvPr id="3"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7AF98"/>
                </a:solidFill>
                <a:latin typeface="Yu Gothic" pitchFamily="34" charset="0"/>
                <a:ea typeface="Yu Gothic" pitchFamily="34" charset="-122"/>
                <a:cs typeface="Yu Gothic" pitchFamily="34" charset="-120"/>
              </a:rPr>
              <a:t>第1時限　07:00 – 08:00　基本教育1</a:t>
            </a:r>
            <a:endParaRPr lang="en-US" sz="1300" dirty="0"/>
          </a:p>
          <a:p>
            <a:pPr indent="0" marL="0">
              <a:buNone/>
            </a:pPr>
            <a:r>
              <a:rPr lang="en-US" sz="1050" i="1" dirty="0">
                <a:solidFill>
                  <a:srgbClr val="A9BCCE"/>
                </a:solidFill>
                <a:latin typeface="Calibri" pitchFamily="34" charset="0"/>
                <a:ea typeface="Calibri" pitchFamily="34" charset="-122"/>
                <a:cs typeface="Calibri" pitchFamily="34" charset="-120"/>
              </a:rPr>
              <a:t>Period 1 — Basic Training 1</a:t>
            </a:r>
            <a:endParaRPr lang="en-US" sz="1300" dirty="0"/>
          </a:p>
        </p:txBody>
      </p:sp>
      <p:sp>
        <p:nvSpPr>
          <p:cNvPr id="4" name="Text 2"/>
          <p:cNvSpPr/>
          <p:nvPr/>
        </p:nvSpPr>
        <p:spPr>
          <a:xfrm>
            <a:off x="640080" y="2212848"/>
            <a:ext cx="9966960" cy="896112"/>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警備業務実施の基本原則</a:t>
            </a:r>
            <a:endParaRPr lang="en-US" sz="3600" dirty="0"/>
          </a:p>
        </p:txBody>
      </p:sp>
      <p:sp>
        <p:nvSpPr>
          <p:cNvPr id="5" name="Text 3"/>
          <p:cNvSpPr/>
          <p:nvPr/>
        </p:nvSpPr>
        <p:spPr>
          <a:xfrm>
            <a:off x="640080" y="3236976"/>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Fundamental Principles of Security Operations</a:t>
            </a:r>
            <a:endParaRPr lang="en-US" sz="1600" dirty="0"/>
          </a:p>
        </p:txBody>
      </p:sp>
      <p:sp>
        <p:nvSpPr>
          <p:cNvPr id="6" name="Shape 4"/>
          <p:cNvSpPr/>
          <p:nvPr/>
        </p:nvSpPr>
        <p:spPr>
          <a:xfrm>
            <a:off x="640080" y="4828032"/>
            <a:ext cx="1371600" cy="32004"/>
          </a:xfrm>
          <a:prstGeom prst="rect">
            <a:avLst/>
          </a:prstGeom>
          <a:solidFill>
            <a:srgbClr val="17AF98"/>
          </a:solidFill>
          <a:ln/>
        </p:spPr>
      </p:sp>
      <p:sp>
        <p:nvSpPr>
          <p:cNvPr id="7"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2026年8月11日（火）　施設警備 現任教育　コーポレートセキュリティ</a:t>
            </a:r>
            <a:endParaRPr lang="en-US" sz="1200" dirty="0"/>
          </a:p>
          <a:p>
            <a:pPr indent="0" marL="0">
              <a:buNone/>
            </a:pPr>
            <a:r>
              <a:rPr lang="en-US" sz="1000" i="1" dirty="0">
                <a:solidFill>
                  <a:srgbClr val="8EA3B7"/>
                </a:solidFill>
                <a:latin typeface="Calibri" pitchFamily="34" charset="0"/>
                <a:ea typeface="Calibri" pitchFamily="34" charset="-122"/>
                <a:cs typeface="Calibri" pitchFamily="34" charset="-120"/>
              </a:rPr>
              <a:t>11 Aug 2026 — In-Service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F2D52"/>
                </a:solidFill>
                <a:latin typeface="Yu Gothic" pitchFamily="34" charset="0"/>
                <a:ea typeface="Yu Gothic" pitchFamily="34" charset="-122"/>
                <a:cs typeface="Yu Gothic" pitchFamily="34" charset="-120"/>
              </a:rPr>
              <a:t>本日の縦串 ― 3つの問い</a:t>
            </a:r>
            <a:endParaRPr lang="en-US" sz="2700" dirty="0"/>
          </a:p>
          <a:p>
            <a:pPr indent="0" marL="0">
              <a:lnSpc>
                <a:spcPct val="94000"/>
              </a:lnSpc>
              <a:buNone/>
            </a:pPr>
            <a:r>
              <a:rPr lang="en-US" sz="1250" i="1" dirty="0">
                <a:solidFill>
                  <a:srgbClr val="17AF98"/>
                </a:solidFill>
                <a:latin typeface="Calibri" pitchFamily="34" charset="0"/>
                <a:ea typeface="Calibri" pitchFamily="34" charset="-122"/>
                <a:cs typeface="Calibri" pitchFamily="34" charset="-120"/>
              </a:rPr>
              <a:t>The Three Questions — our thread through every session today</a:t>
            </a:r>
            <a:endParaRPr lang="en-US" sz="2700" dirty="0"/>
          </a:p>
        </p:txBody>
      </p:sp>
      <p:sp>
        <p:nvSpPr>
          <p:cNvPr id="3" name="Text 1"/>
          <p:cNvSpPr/>
          <p:nvPr/>
        </p:nvSpPr>
        <p:spPr>
          <a:xfrm>
            <a:off x="640080" y="1536192"/>
            <a:ext cx="10911535" cy="566928"/>
          </a:xfrm>
          <a:prstGeom prst="rect">
            <a:avLst/>
          </a:prstGeom>
          <a:noFill/>
          <a:ln/>
        </p:spPr>
        <p:txBody>
          <a:bodyPr wrap="square" lIns="0" tIns="0" rIns="0" bIns="0" rtlCol="0" anchor="t"/>
          <a:lstStyle/>
          <a:p>
            <a:pPr algn="l" indent="0" marL="0">
              <a:lnSpc>
                <a:spcPct val="92000"/>
              </a:lnSpc>
              <a:buNone/>
            </a:pPr>
            <a:r>
              <a:rPr lang="en-US" sz="1300" dirty="0">
                <a:solidFill>
                  <a:srgbClr val="0F2D52"/>
                </a:solidFill>
                <a:latin typeface="Yu Gothic" pitchFamily="34" charset="0"/>
                <a:ea typeface="Yu Gothic" pitchFamily="34" charset="-122"/>
                <a:cs typeface="Yu Gothic" pitchFamily="34" charset="-120"/>
              </a:rPr>
              <a:t>この3問は、本日私が担当する全コマで繰り返します。答えではなく、根拠を言えるようになることが目標です。</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We will return to these in every session I lead today. The goal is not the answer — it is being able to state your reasoning.</a:t>
            </a:r>
            <a:endParaRPr lang="en-US" sz="1300" dirty="0"/>
          </a:p>
        </p:txBody>
      </p:sp>
      <p:sp>
        <p:nvSpPr>
          <p:cNvPr id="4" name="Shape 2"/>
          <p:cNvSpPr/>
          <p:nvPr/>
        </p:nvSpPr>
        <p:spPr>
          <a:xfrm>
            <a:off x="640080" y="2322576"/>
            <a:ext cx="10911535" cy="1170432"/>
          </a:xfrm>
          <a:prstGeom prst="roundRect">
            <a:avLst>
              <a:gd name="adj" fmla="val 3906"/>
            </a:avLst>
          </a:prstGeom>
          <a:solidFill>
            <a:srgbClr val="EFF4F8"/>
          </a:solidFill>
          <a:ln/>
        </p:spPr>
      </p:sp>
      <p:sp>
        <p:nvSpPr>
          <p:cNvPr id="5" name="Shape 3"/>
          <p:cNvSpPr/>
          <p:nvPr/>
        </p:nvSpPr>
        <p:spPr>
          <a:xfrm>
            <a:off x="896112" y="2715768"/>
            <a:ext cx="384048" cy="384048"/>
          </a:xfrm>
          <a:prstGeom prst="ellipse">
            <a:avLst/>
          </a:prstGeom>
          <a:solidFill>
            <a:srgbClr val="17AF98"/>
          </a:solidFill>
          <a:ln/>
        </p:spPr>
      </p:sp>
      <p:sp>
        <p:nvSpPr>
          <p:cNvPr id="6" name="Text 4"/>
          <p:cNvSpPr/>
          <p:nvPr/>
        </p:nvSpPr>
        <p:spPr>
          <a:xfrm>
            <a:off x="896112" y="2715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499616" y="2432304"/>
            <a:ext cx="9777679" cy="987552"/>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何を守っているのか？ ― People / Asset / Reputation のどれか。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What am I protecting? — People, Assets, or Reputation.</a:t>
            </a:r>
            <a:endParaRPr lang="en-US" sz="1450" dirty="0"/>
          </a:p>
        </p:txBody>
      </p:sp>
      <p:sp>
        <p:nvSpPr>
          <p:cNvPr id="8" name="Shape 6"/>
          <p:cNvSpPr/>
          <p:nvPr/>
        </p:nvSpPr>
        <p:spPr>
          <a:xfrm>
            <a:off x="640080" y="3675888"/>
            <a:ext cx="10911535" cy="1170432"/>
          </a:xfrm>
          <a:prstGeom prst="roundRect">
            <a:avLst>
              <a:gd name="adj" fmla="val 3906"/>
            </a:avLst>
          </a:prstGeom>
          <a:solidFill>
            <a:srgbClr val="F7FAFC"/>
          </a:solidFill>
          <a:ln/>
        </p:spPr>
      </p:sp>
      <p:sp>
        <p:nvSpPr>
          <p:cNvPr id="9" name="Shape 7"/>
          <p:cNvSpPr/>
          <p:nvPr/>
        </p:nvSpPr>
        <p:spPr>
          <a:xfrm>
            <a:off x="896112" y="4069080"/>
            <a:ext cx="384048" cy="384048"/>
          </a:xfrm>
          <a:prstGeom prst="ellipse">
            <a:avLst/>
          </a:prstGeom>
          <a:solidFill>
            <a:srgbClr val="17AF98"/>
          </a:solidFill>
          <a:ln/>
        </p:spPr>
      </p:sp>
      <p:sp>
        <p:nvSpPr>
          <p:cNvPr id="10" name="Text 8"/>
          <p:cNvSpPr/>
          <p:nvPr/>
        </p:nvSpPr>
        <p:spPr>
          <a:xfrm>
            <a:off x="896112" y="4069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p:nvPr/>
        </p:nvSpPr>
        <p:spPr>
          <a:xfrm>
            <a:off x="1499616" y="3785616"/>
            <a:ext cx="9777679" cy="987552"/>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私はいまどの立場で動くのか？ ―「私人」か、「管理権者の補助者」か。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In what capacity am I acting? — As a private citizen, or as an agent of the site's authority.</a:t>
            </a:r>
            <a:endParaRPr lang="en-US" sz="1450" dirty="0"/>
          </a:p>
        </p:txBody>
      </p:sp>
      <p:sp>
        <p:nvSpPr>
          <p:cNvPr id="12" name="Shape 10"/>
          <p:cNvSpPr/>
          <p:nvPr/>
        </p:nvSpPr>
        <p:spPr>
          <a:xfrm>
            <a:off x="640080" y="5029200"/>
            <a:ext cx="10911535" cy="1170432"/>
          </a:xfrm>
          <a:prstGeom prst="roundRect">
            <a:avLst>
              <a:gd name="adj" fmla="val 3906"/>
            </a:avLst>
          </a:prstGeom>
          <a:solidFill>
            <a:srgbClr val="EFF4F8"/>
          </a:solidFill>
          <a:ln/>
        </p:spPr>
      </p:sp>
      <p:sp>
        <p:nvSpPr>
          <p:cNvPr id="13" name="Shape 11"/>
          <p:cNvSpPr/>
          <p:nvPr/>
        </p:nvSpPr>
        <p:spPr>
          <a:xfrm>
            <a:off x="896112" y="5422392"/>
            <a:ext cx="384048" cy="384048"/>
          </a:xfrm>
          <a:prstGeom prst="ellipse">
            <a:avLst/>
          </a:prstGeom>
          <a:solidFill>
            <a:srgbClr val="17AF98"/>
          </a:solidFill>
          <a:ln/>
        </p:spPr>
      </p:sp>
      <p:sp>
        <p:nvSpPr>
          <p:cNvPr id="14" name="Text 12"/>
          <p:cNvSpPr/>
          <p:nvPr/>
        </p:nvSpPr>
        <p:spPr>
          <a:xfrm>
            <a:off x="896112" y="54223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5" name="Text 13"/>
          <p:cNvSpPr/>
          <p:nvPr/>
        </p:nvSpPr>
        <p:spPr>
          <a:xfrm>
            <a:off x="1499616" y="5138928"/>
            <a:ext cx="9777679" cy="987552"/>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その手段は目的に対して最小限か？ ― 越えたら、それは何になるか。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Is this the minimum necessary? — And if I go beyond it, what does it become?</a:t>
            </a:r>
            <a:endParaRPr lang="en-US" sz="1450" dirty="0"/>
          </a:p>
        </p:txBody>
      </p:sp>
      <p:sp>
        <p:nvSpPr>
          <p:cNvPr id="16" name="Text 14"/>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7" name="Text 15"/>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F2D52"/>
                </a:solidFill>
                <a:latin typeface="Yu Gothic" pitchFamily="34" charset="0"/>
                <a:ea typeface="Yu Gothic" pitchFamily="34" charset="-122"/>
                <a:cs typeface="Yu Gothic" pitchFamily="34" charset="-120"/>
              </a:rPr>
              <a:t>コーポレートセキュリティが守るもの</a:t>
            </a:r>
            <a:endParaRPr lang="en-US" sz="2700" dirty="0"/>
          </a:p>
          <a:p>
            <a:pPr indent="0" marL="0">
              <a:lnSpc>
                <a:spcPct val="94000"/>
              </a:lnSpc>
              <a:buNone/>
            </a:pPr>
            <a:r>
              <a:rPr lang="en-US" sz="1250" i="1" dirty="0">
                <a:solidFill>
                  <a:srgbClr val="17AF98"/>
                </a:solidFill>
                <a:latin typeface="Calibri" pitchFamily="34" charset="0"/>
                <a:ea typeface="Calibri" pitchFamily="34" charset="-122"/>
                <a:cs typeface="Calibri" pitchFamily="34" charset="-120"/>
              </a:rPr>
              <a:t>What Corporate Security Protects</a:t>
            </a:r>
            <a:endParaRPr lang="en-US" sz="2700" dirty="0"/>
          </a:p>
        </p:txBody>
      </p:sp>
      <p:sp>
        <p:nvSpPr>
          <p:cNvPr id="3" name="Text 1"/>
          <p:cNvSpPr/>
          <p:nvPr/>
        </p:nvSpPr>
        <p:spPr>
          <a:xfrm>
            <a:off x="640080" y="1517904"/>
            <a:ext cx="10911535" cy="548640"/>
          </a:xfrm>
          <a:prstGeom prst="rect">
            <a:avLst/>
          </a:prstGeom>
          <a:noFill/>
          <a:ln/>
        </p:spPr>
        <p:txBody>
          <a:bodyPr wrap="square" lIns="0" tIns="0" rIns="0" bIns="0" rtlCol="0" anchor="t"/>
          <a:lstStyle/>
          <a:p>
            <a:pPr algn="l" indent="0" marL="0">
              <a:lnSpc>
                <a:spcPct val="92000"/>
              </a:lnSpc>
              <a:buNone/>
            </a:pPr>
            <a:r>
              <a:rPr lang="en-US" sz="1300" dirty="0">
                <a:solidFill>
                  <a:srgbClr val="0F2D52"/>
                </a:solidFill>
                <a:latin typeface="Yu Gothic" pitchFamily="34" charset="0"/>
                <a:ea typeface="Yu Gothic" pitchFamily="34" charset="-122"/>
                <a:cs typeface="Yu Gothic" pitchFamily="34" charset="-120"/>
              </a:rPr>
              <a:t>守る対象は3つ。情報は「Asset」の中に含みます。</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Three categories. Information sits inside Asset.</a:t>
            </a:r>
            <a:endParaRPr lang="en-US" sz="1300" dirty="0"/>
          </a:p>
        </p:txBody>
      </p:sp>
      <p:sp>
        <p:nvSpPr>
          <p:cNvPr id="4" name="Shape 2"/>
          <p:cNvSpPr/>
          <p:nvPr/>
        </p:nvSpPr>
        <p:spPr>
          <a:xfrm>
            <a:off x="640080" y="2756916"/>
            <a:ext cx="3454298" cy="2971800"/>
          </a:xfrm>
          <a:prstGeom prst="roundRect">
            <a:avLst>
              <a:gd name="adj" fmla="val 1538"/>
            </a:avLst>
          </a:prstGeom>
          <a:solidFill>
            <a:srgbClr val="EFF4F8"/>
          </a:solidFill>
          <a:ln/>
        </p:spPr>
      </p:sp>
      <p:sp>
        <p:nvSpPr>
          <p:cNvPr id="5" name="Shape 3"/>
          <p:cNvSpPr/>
          <p:nvPr/>
        </p:nvSpPr>
        <p:spPr>
          <a:xfrm>
            <a:off x="877824" y="2994660"/>
            <a:ext cx="384048" cy="384048"/>
          </a:xfrm>
          <a:prstGeom prst="ellipse">
            <a:avLst/>
          </a:prstGeom>
          <a:solidFill>
            <a:srgbClr val="0F2D52"/>
          </a:solidFill>
          <a:ln/>
        </p:spPr>
      </p:sp>
      <p:sp>
        <p:nvSpPr>
          <p:cNvPr id="6" name="Text 4"/>
          <p:cNvSpPr/>
          <p:nvPr/>
        </p:nvSpPr>
        <p:spPr>
          <a:xfrm>
            <a:off x="877824" y="29946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a:t>
            </a:r>
            <a:endParaRPr lang="en-US" sz="1400" dirty="0"/>
          </a:p>
        </p:txBody>
      </p:sp>
      <p:sp>
        <p:nvSpPr>
          <p:cNvPr id="7" name="Text 5"/>
          <p:cNvSpPr/>
          <p:nvPr/>
        </p:nvSpPr>
        <p:spPr>
          <a:xfrm>
            <a:off x="1389888" y="2976372"/>
            <a:ext cx="2466746" cy="658368"/>
          </a:xfrm>
          <a:prstGeom prst="rect">
            <a:avLst/>
          </a:prstGeom>
          <a:noFill/>
          <a:ln/>
        </p:spPr>
        <p:txBody>
          <a:bodyPr wrap="square" lIns="0" tIns="0" rIns="0" bIns="0" rtlCol="0" anchor="t"/>
          <a:lstStyle/>
          <a:p>
            <a:pPr indent="0" marL="0">
              <a:lnSpc>
                <a:spcPct val="90000"/>
              </a:lnSpc>
              <a:buNone/>
            </a:pPr>
            <a:r>
              <a:rPr lang="en-US" sz="1600" b="1" dirty="0">
                <a:solidFill>
                  <a:srgbClr val="0F2D52"/>
                </a:solidFill>
                <a:latin typeface="Yu Gothic" pitchFamily="34" charset="0"/>
                <a:ea typeface="Yu Gothic" pitchFamily="34" charset="-122"/>
                <a:cs typeface="Yu Gothic" pitchFamily="34" charset="-120"/>
              </a:rPr>
              <a:t>People</a:t>
            </a:r>
            <a:endParaRPr lang="en-US" sz="1600" dirty="0"/>
          </a:p>
          <a:p>
            <a:pPr indent="0" marL="0">
              <a:lnSpc>
                <a:spcPct val="90000"/>
              </a:lnSpc>
              <a:buNone/>
            </a:pPr>
            <a:r>
              <a:rPr lang="en-US" sz="1000" i="1" dirty="0">
                <a:solidFill>
                  <a:srgbClr val="17AF98"/>
                </a:solidFill>
                <a:latin typeface="Calibri" pitchFamily="34" charset="0"/>
                <a:ea typeface="Calibri" pitchFamily="34" charset="-122"/>
                <a:cs typeface="Calibri" pitchFamily="34" charset="-120"/>
              </a:rPr>
              <a:t>人</a:t>
            </a:r>
            <a:endParaRPr lang="en-US" sz="1600" dirty="0"/>
          </a:p>
        </p:txBody>
      </p:sp>
      <p:sp>
        <p:nvSpPr>
          <p:cNvPr id="8" name="Text 6"/>
          <p:cNvSpPr/>
          <p:nvPr/>
        </p:nvSpPr>
        <p:spPr>
          <a:xfrm>
            <a:off x="896112" y="3726180"/>
            <a:ext cx="2942234" cy="1801368"/>
          </a:xfrm>
          <a:prstGeom prst="rect">
            <a:avLst/>
          </a:prstGeom>
          <a:noFill/>
          <a:ln/>
        </p:spPr>
        <p:txBody>
          <a:bodyPr wrap="square" lIns="0" tIns="0" rIns="0" bIns="0" rtlCol="0" anchor="t"/>
          <a:lstStyle/>
          <a:p>
            <a:pPr indent="0" marL="0">
              <a:lnSpc>
                <a:spcPct val="95000"/>
              </a:lnSpc>
              <a:buNone/>
            </a:pPr>
            <a:r>
              <a:rPr lang="en-US" sz="1250" dirty="0">
                <a:solidFill>
                  <a:srgbClr val="1B2733"/>
                </a:solidFill>
                <a:latin typeface="Yu Gothic" pitchFamily="34" charset="0"/>
                <a:ea typeface="Yu Gothic" pitchFamily="34" charset="-122"/>
                <a:cs typeface="Yu Gothic" pitchFamily="34" charset="-120"/>
              </a:rPr>
              <a:t>従業員・来訪者・役員、そして警備員自身。負傷や事件の当事者になりうる全員。</a:t>
            </a:r>
            <a:endParaRPr lang="en-US" sz="1250" dirty="0"/>
          </a:p>
          <a:p>
            <a:pPr indent="0" marL="0">
              <a:lnSpc>
                <a:spcPct val="95000"/>
              </a:lnSpc>
              <a:buNone/>
            </a:pPr>
            <a:r>
              <a:rPr lang="en-US" sz="950" i="1" dirty="0">
                <a:solidFill>
                  <a:srgbClr val="5F7183"/>
                </a:solidFill>
                <a:latin typeface="Calibri" pitchFamily="34" charset="0"/>
                <a:ea typeface="Calibri" pitchFamily="34" charset="-122"/>
                <a:cs typeface="Calibri" pitchFamily="34" charset="-120"/>
              </a:rPr>
              <a:t>Employees, visitors, executives — and you. Everyone who can become a casualty or a party to an incident.</a:t>
            </a:r>
            <a:endParaRPr lang="en-US" sz="1250" dirty="0"/>
          </a:p>
        </p:txBody>
      </p:sp>
      <p:sp>
        <p:nvSpPr>
          <p:cNvPr id="9" name="Shape 7"/>
          <p:cNvSpPr/>
          <p:nvPr/>
        </p:nvSpPr>
        <p:spPr>
          <a:xfrm>
            <a:off x="4368698" y="2756916"/>
            <a:ext cx="3454298" cy="2971800"/>
          </a:xfrm>
          <a:prstGeom prst="roundRect">
            <a:avLst>
              <a:gd name="adj" fmla="val 1538"/>
            </a:avLst>
          </a:prstGeom>
          <a:solidFill>
            <a:srgbClr val="E4F4F0"/>
          </a:solidFill>
          <a:ln/>
        </p:spPr>
      </p:sp>
      <p:sp>
        <p:nvSpPr>
          <p:cNvPr id="10" name="Shape 8"/>
          <p:cNvSpPr/>
          <p:nvPr/>
        </p:nvSpPr>
        <p:spPr>
          <a:xfrm>
            <a:off x="4606442" y="2994660"/>
            <a:ext cx="384048" cy="384048"/>
          </a:xfrm>
          <a:prstGeom prst="ellipse">
            <a:avLst/>
          </a:prstGeom>
          <a:solidFill>
            <a:srgbClr val="17AF98"/>
          </a:solidFill>
          <a:ln/>
        </p:spPr>
      </p:sp>
      <p:sp>
        <p:nvSpPr>
          <p:cNvPr id="11" name="Text 9"/>
          <p:cNvSpPr/>
          <p:nvPr/>
        </p:nvSpPr>
        <p:spPr>
          <a:xfrm>
            <a:off x="4606442" y="29946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p>
        </p:txBody>
      </p:sp>
      <p:sp>
        <p:nvSpPr>
          <p:cNvPr id="12" name="Text 10"/>
          <p:cNvSpPr/>
          <p:nvPr/>
        </p:nvSpPr>
        <p:spPr>
          <a:xfrm>
            <a:off x="5118506" y="2976372"/>
            <a:ext cx="2466746" cy="658368"/>
          </a:xfrm>
          <a:prstGeom prst="rect">
            <a:avLst/>
          </a:prstGeom>
          <a:noFill/>
          <a:ln/>
        </p:spPr>
        <p:txBody>
          <a:bodyPr wrap="square" lIns="0" tIns="0" rIns="0" bIns="0" rtlCol="0" anchor="t"/>
          <a:lstStyle/>
          <a:p>
            <a:pPr indent="0" marL="0">
              <a:lnSpc>
                <a:spcPct val="90000"/>
              </a:lnSpc>
              <a:buNone/>
            </a:pPr>
            <a:r>
              <a:rPr lang="en-US" sz="1600" b="1" dirty="0">
                <a:solidFill>
                  <a:srgbClr val="0F2D52"/>
                </a:solidFill>
                <a:latin typeface="Yu Gothic" pitchFamily="34" charset="0"/>
                <a:ea typeface="Yu Gothic" pitchFamily="34" charset="-122"/>
                <a:cs typeface="Yu Gothic" pitchFamily="34" charset="-120"/>
              </a:rPr>
              <a:t>Asset</a:t>
            </a:r>
            <a:endParaRPr lang="en-US" sz="1600" dirty="0"/>
          </a:p>
          <a:p>
            <a:pPr indent="0" marL="0">
              <a:lnSpc>
                <a:spcPct val="90000"/>
              </a:lnSpc>
              <a:buNone/>
            </a:pPr>
            <a:r>
              <a:rPr lang="en-US" sz="1000" i="1" dirty="0">
                <a:solidFill>
                  <a:srgbClr val="17AF98"/>
                </a:solidFill>
                <a:latin typeface="Calibri" pitchFamily="34" charset="0"/>
                <a:ea typeface="Calibri" pitchFamily="34" charset="-122"/>
                <a:cs typeface="Calibri" pitchFamily="34" charset="-120"/>
              </a:rPr>
              <a:t>資産（物的＋情報）</a:t>
            </a:r>
            <a:endParaRPr lang="en-US" sz="1600" dirty="0"/>
          </a:p>
        </p:txBody>
      </p:sp>
      <p:sp>
        <p:nvSpPr>
          <p:cNvPr id="13" name="Text 11"/>
          <p:cNvSpPr/>
          <p:nvPr/>
        </p:nvSpPr>
        <p:spPr>
          <a:xfrm>
            <a:off x="4624730" y="3726180"/>
            <a:ext cx="2942234" cy="1801368"/>
          </a:xfrm>
          <a:prstGeom prst="rect">
            <a:avLst/>
          </a:prstGeom>
          <a:noFill/>
          <a:ln/>
        </p:spPr>
        <p:txBody>
          <a:bodyPr wrap="square" lIns="0" tIns="0" rIns="0" bIns="0" rtlCol="0" anchor="t"/>
          <a:lstStyle/>
          <a:p>
            <a:pPr indent="0" marL="0">
              <a:lnSpc>
                <a:spcPct val="95000"/>
              </a:lnSpc>
              <a:buNone/>
            </a:pPr>
            <a:r>
              <a:rPr lang="en-US" sz="1250" dirty="0">
                <a:solidFill>
                  <a:srgbClr val="1B2733"/>
                </a:solidFill>
                <a:latin typeface="Yu Gothic" pitchFamily="34" charset="0"/>
                <a:ea typeface="Yu Gothic" pitchFamily="34" charset="-122"/>
                <a:cs typeface="Yu Gothic" pitchFamily="34" charset="-120"/>
              </a:rPr>
              <a:t>建物・設備・現金といった物的資産と、書類・データ・ログといった情報資産の両方。</a:t>
            </a:r>
            <a:endParaRPr lang="en-US" sz="1250" dirty="0"/>
          </a:p>
          <a:p>
            <a:pPr indent="0" marL="0">
              <a:lnSpc>
                <a:spcPct val="95000"/>
              </a:lnSpc>
              <a:buNone/>
            </a:pPr>
            <a:r>
              <a:rPr lang="en-US" sz="950" i="1" dirty="0">
                <a:solidFill>
                  <a:srgbClr val="5F7183"/>
                </a:solidFill>
                <a:latin typeface="Calibri" pitchFamily="34" charset="0"/>
                <a:ea typeface="Calibri" pitchFamily="34" charset="-122"/>
                <a:cs typeface="Calibri" pitchFamily="34" charset="-120"/>
              </a:rPr>
              <a:t>Physical assets such as buildings, equipment and cash — and information assets such as documents, data and logs.</a:t>
            </a:r>
            <a:endParaRPr lang="en-US" sz="1250" dirty="0"/>
          </a:p>
        </p:txBody>
      </p:sp>
      <p:sp>
        <p:nvSpPr>
          <p:cNvPr id="14" name="Shape 12"/>
          <p:cNvSpPr/>
          <p:nvPr/>
        </p:nvSpPr>
        <p:spPr>
          <a:xfrm>
            <a:off x="8097317" y="2756916"/>
            <a:ext cx="3454298" cy="2971800"/>
          </a:xfrm>
          <a:prstGeom prst="roundRect">
            <a:avLst>
              <a:gd name="adj" fmla="val 1538"/>
            </a:avLst>
          </a:prstGeom>
          <a:solidFill>
            <a:srgbClr val="EFF4F8"/>
          </a:solidFill>
          <a:ln/>
        </p:spPr>
      </p:sp>
      <p:sp>
        <p:nvSpPr>
          <p:cNvPr id="15" name="Shape 13"/>
          <p:cNvSpPr/>
          <p:nvPr/>
        </p:nvSpPr>
        <p:spPr>
          <a:xfrm>
            <a:off x="8335061" y="2994660"/>
            <a:ext cx="384048" cy="384048"/>
          </a:xfrm>
          <a:prstGeom prst="ellipse">
            <a:avLst/>
          </a:prstGeom>
          <a:solidFill>
            <a:srgbClr val="0F2D52"/>
          </a:solidFill>
          <a:ln/>
        </p:spPr>
      </p:sp>
      <p:sp>
        <p:nvSpPr>
          <p:cNvPr id="16" name="Text 14"/>
          <p:cNvSpPr/>
          <p:nvPr/>
        </p:nvSpPr>
        <p:spPr>
          <a:xfrm>
            <a:off x="8335061" y="29946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p>
        </p:txBody>
      </p:sp>
      <p:sp>
        <p:nvSpPr>
          <p:cNvPr id="17" name="Text 15"/>
          <p:cNvSpPr/>
          <p:nvPr/>
        </p:nvSpPr>
        <p:spPr>
          <a:xfrm>
            <a:off x="8847125" y="2976372"/>
            <a:ext cx="2466746" cy="658368"/>
          </a:xfrm>
          <a:prstGeom prst="rect">
            <a:avLst/>
          </a:prstGeom>
          <a:noFill/>
          <a:ln/>
        </p:spPr>
        <p:txBody>
          <a:bodyPr wrap="square" lIns="0" tIns="0" rIns="0" bIns="0" rtlCol="0" anchor="t"/>
          <a:lstStyle/>
          <a:p>
            <a:pPr indent="0" marL="0">
              <a:lnSpc>
                <a:spcPct val="90000"/>
              </a:lnSpc>
              <a:buNone/>
            </a:pPr>
            <a:r>
              <a:rPr lang="en-US" sz="1600" b="1" dirty="0">
                <a:solidFill>
                  <a:srgbClr val="0F2D52"/>
                </a:solidFill>
                <a:latin typeface="Yu Gothic" pitchFamily="34" charset="0"/>
                <a:ea typeface="Yu Gothic" pitchFamily="34" charset="-122"/>
                <a:cs typeface="Yu Gothic" pitchFamily="34" charset="-120"/>
              </a:rPr>
              <a:t>Reputation</a:t>
            </a:r>
            <a:endParaRPr lang="en-US" sz="1600" dirty="0"/>
          </a:p>
          <a:p>
            <a:pPr indent="0" marL="0">
              <a:lnSpc>
                <a:spcPct val="90000"/>
              </a:lnSpc>
              <a:buNone/>
            </a:pPr>
            <a:r>
              <a:rPr lang="en-US" sz="1000" i="1" dirty="0">
                <a:solidFill>
                  <a:srgbClr val="17AF98"/>
                </a:solidFill>
                <a:latin typeface="Calibri" pitchFamily="34" charset="0"/>
                <a:ea typeface="Calibri" pitchFamily="34" charset="-122"/>
                <a:cs typeface="Calibri" pitchFamily="34" charset="-120"/>
              </a:rPr>
              <a:t>信用</a:t>
            </a:r>
            <a:endParaRPr lang="en-US" sz="1600" dirty="0"/>
          </a:p>
        </p:txBody>
      </p:sp>
      <p:sp>
        <p:nvSpPr>
          <p:cNvPr id="18" name="Text 16"/>
          <p:cNvSpPr/>
          <p:nvPr/>
        </p:nvSpPr>
        <p:spPr>
          <a:xfrm>
            <a:off x="8353349" y="3726180"/>
            <a:ext cx="2942234" cy="1801368"/>
          </a:xfrm>
          <a:prstGeom prst="rect">
            <a:avLst/>
          </a:prstGeom>
          <a:noFill/>
          <a:ln/>
        </p:spPr>
        <p:txBody>
          <a:bodyPr wrap="square" lIns="0" tIns="0" rIns="0" bIns="0" rtlCol="0" anchor="t"/>
          <a:lstStyle/>
          <a:p>
            <a:pPr indent="0" marL="0">
              <a:lnSpc>
                <a:spcPct val="95000"/>
              </a:lnSpc>
              <a:buNone/>
            </a:pPr>
            <a:r>
              <a:rPr lang="en-US" sz="1250" dirty="0">
                <a:solidFill>
                  <a:srgbClr val="1B2733"/>
                </a:solidFill>
                <a:latin typeface="Yu Gothic" pitchFamily="34" charset="0"/>
                <a:ea typeface="Yu Gothic" pitchFamily="34" charset="-122"/>
                <a:cs typeface="Yu Gothic" pitchFamily="34" charset="-120"/>
              </a:rPr>
              <a:t>企業の信頼・ブランド・対外的な評価。失うと最も戻りにくい。</a:t>
            </a:r>
            <a:endParaRPr lang="en-US" sz="1250" dirty="0"/>
          </a:p>
          <a:p>
            <a:pPr indent="0" marL="0">
              <a:lnSpc>
                <a:spcPct val="95000"/>
              </a:lnSpc>
              <a:buNone/>
            </a:pPr>
            <a:r>
              <a:rPr lang="en-US" sz="950" i="1" dirty="0">
                <a:solidFill>
                  <a:srgbClr val="5F7183"/>
                </a:solidFill>
                <a:latin typeface="Calibri" pitchFamily="34" charset="0"/>
                <a:ea typeface="Calibri" pitchFamily="34" charset="-122"/>
                <a:cs typeface="Calibri" pitchFamily="34" charset="-120"/>
              </a:rPr>
              <a:t>Trust, brand and public standing. The hardest of the three to recover.</a:t>
            </a:r>
            <a:endParaRPr lang="en-US" sz="1250" dirty="0"/>
          </a:p>
        </p:txBody>
      </p:sp>
      <p:sp>
        <p:nvSpPr>
          <p:cNvPr id="19" name="Text 1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0" name="Text 1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F2D52"/>
                </a:solidFill>
                <a:latin typeface="Yu Gothic" pitchFamily="34" charset="0"/>
                <a:ea typeface="Yu Gothic" pitchFamily="34" charset="-122"/>
                <a:cs typeface="Yu Gothic" pitchFamily="34" charset="-120"/>
              </a:rPr>
              <a:t>Asset の内訳 ― 情報も「資産」</a:t>
            </a:r>
            <a:endParaRPr lang="en-US" sz="2700" dirty="0"/>
          </a:p>
          <a:p>
            <a:pPr indent="0" marL="0">
              <a:lnSpc>
                <a:spcPct val="94000"/>
              </a:lnSpc>
              <a:buNone/>
            </a:pPr>
            <a:r>
              <a:rPr lang="en-US" sz="1250" i="1" dirty="0">
                <a:solidFill>
                  <a:srgbClr val="17AF98"/>
                </a:solidFill>
                <a:latin typeface="Calibri" pitchFamily="34" charset="0"/>
                <a:ea typeface="Calibri" pitchFamily="34" charset="-122"/>
                <a:cs typeface="Calibri" pitchFamily="34" charset="-120"/>
              </a:rPr>
              <a:t>Inside Asset — Information Is an Asset Too</a:t>
            </a:r>
            <a:endParaRPr lang="en-US" sz="2700" dirty="0"/>
          </a:p>
        </p:txBody>
      </p:sp>
      <p:sp>
        <p:nvSpPr>
          <p:cNvPr id="3" name="Shape 1"/>
          <p:cNvSpPr/>
          <p:nvPr/>
        </p:nvSpPr>
        <p:spPr>
          <a:xfrm>
            <a:off x="640080" y="1627632"/>
            <a:ext cx="5300320" cy="3767328"/>
          </a:xfrm>
          <a:prstGeom prst="roundRect">
            <a:avLst>
              <a:gd name="adj" fmla="val 1214"/>
            </a:avLst>
          </a:prstGeom>
          <a:solidFill>
            <a:srgbClr val="EFF4F8"/>
          </a:solidFill>
          <a:ln/>
        </p:spPr>
      </p:sp>
      <p:sp>
        <p:nvSpPr>
          <p:cNvPr id="4" name="Text 2"/>
          <p:cNvSpPr/>
          <p:nvPr/>
        </p:nvSpPr>
        <p:spPr>
          <a:xfrm>
            <a:off x="914400" y="1847088"/>
            <a:ext cx="4751680" cy="676656"/>
          </a:xfrm>
          <a:prstGeom prst="rect">
            <a:avLst/>
          </a:prstGeom>
          <a:noFill/>
          <a:ln/>
        </p:spPr>
        <p:txBody>
          <a:bodyPr wrap="square" lIns="0" tIns="0" rIns="0" bIns="0" rtlCol="0" anchor="t"/>
          <a:lstStyle/>
          <a:p>
            <a:pPr indent="0" marL="0">
              <a:lnSpc>
                <a:spcPct val="90000"/>
              </a:lnSpc>
              <a:buNone/>
            </a:pPr>
            <a:r>
              <a:rPr lang="en-US" sz="1600" b="1" dirty="0">
                <a:solidFill>
                  <a:srgbClr val="0F2D52"/>
                </a:solidFill>
                <a:latin typeface="Yu Gothic" pitchFamily="34" charset="0"/>
                <a:ea typeface="Yu Gothic" pitchFamily="34" charset="-122"/>
                <a:cs typeface="Yu Gothic" pitchFamily="34" charset="-120"/>
              </a:rPr>
              <a:t>物的資産</a:t>
            </a:r>
            <a:endParaRPr lang="en-US" sz="1600" dirty="0"/>
          </a:p>
          <a:p>
            <a:pPr indent="0" marL="0">
              <a:lnSpc>
                <a:spcPct val="90000"/>
              </a:lnSpc>
              <a:buNone/>
            </a:pPr>
            <a:r>
              <a:rPr lang="en-US" sz="1000" i="1" dirty="0">
                <a:solidFill>
                  <a:srgbClr val="5F7183"/>
                </a:solidFill>
                <a:latin typeface="Calibri" pitchFamily="34" charset="0"/>
                <a:ea typeface="Calibri" pitchFamily="34" charset="-122"/>
                <a:cs typeface="Calibri" pitchFamily="34" charset="-120"/>
              </a:rPr>
              <a:t>Physical Assets</a:t>
            </a:r>
            <a:endParaRPr lang="en-US" sz="1600" dirty="0"/>
          </a:p>
        </p:txBody>
      </p:sp>
      <p:sp>
        <p:nvSpPr>
          <p:cNvPr id="5" name="Text 3"/>
          <p:cNvSpPr/>
          <p:nvPr/>
        </p:nvSpPr>
        <p:spPr>
          <a:xfrm>
            <a:off x="914400" y="2615184"/>
            <a:ext cx="4751680" cy="2542032"/>
          </a:xfrm>
          <a:prstGeom prst="rect">
            <a:avLst/>
          </a:prstGeom>
          <a:noFill/>
          <a:ln/>
        </p:spPr>
        <p:txBody>
          <a:bodyPr wrap="square" lIns="0" tIns="0" rIns="0" bIns="0" rtlCol="0" anchor="t"/>
          <a:lstStyle/>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・建物・設備・電源・空調</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Buildings, equipment, power, HVAC</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・現金・金券・什器</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Cash, vouchers, fixtures</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・在庫・原材料・製品</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Stock, materials, products</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・車両・鍵・カード類</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Vehicles, keys, access cards</a:t>
            </a:r>
            <a:endParaRPr lang="en-US" sz="1250" dirty="0"/>
          </a:p>
        </p:txBody>
      </p:sp>
      <p:sp>
        <p:nvSpPr>
          <p:cNvPr id="6" name="Shape 4"/>
          <p:cNvSpPr/>
          <p:nvPr/>
        </p:nvSpPr>
        <p:spPr>
          <a:xfrm>
            <a:off x="6251296" y="1627632"/>
            <a:ext cx="5300320" cy="3767328"/>
          </a:xfrm>
          <a:prstGeom prst="roundRect">
            <a:avLst>
              <a:gd name="adj" fmla="val 1214"/>
            </a:avLst>
          </a:prstGeom>
          <a:solidFill>
            <a:srgbClr val="E4F4F0"/>
          </a:solidFill>
          <a:ln/>
        </p:spPr>
      </p:sp>
      <p:sp>
        <p:nvSpPr>
          <p:cNvPr id="7" name="Text 5"/>
          <p:cNvSpPr/>
          <p:nvPr/>
        </p:nvSpPr>
        <p:spPr>
          <a:xfrm>
            <a:off x="6525616" y="1847088"/>
            <a:ext cx="4751680" cy="676656"/>
          </a:xfrm>
          <a:prstGeom prst="rect">
            <a:avLst/>
          </a:prstGeom>
          <a:noFill/>
          <a:ln/>
        </p:spPr>
        <p:txBody>
          <a:bodyPr wrap="square" lIns="0" tIns="0" rIns="0" bIns="0" rtlCol="0" anchor="t"/>
          <a:lstStyle/>
          <a:p>
            <a:pPr indent="0" marL="0">
              <a:lnSpc>
                <a:spcPct val="90000"/>
              </a:lnSpc>
              <a:buNone/>
            </a:pPr>
            <a:r>
              <a:rPr lang="en-US" sz="1600" b="1" dirty="0">
                <a:solidFill>
                  <a:srgbClr val="0E8C79"/>
                </a:solidFill>
                <a:latin typeface="Yu Gothic" pitchFamily="34" charset="0"/>
                <a:ea typeface="Yu Gothic" pitchFamily="34" charset="-122"/>
                <a:cs typeface="Yu Gothic" pitchFamily="34" charset="-120"/>
              </a:rPr>
              <a:t>情報資産</a:t>
            </a:r>
            <a:endParaRPr lang="en-US" sz="1600" dirty="0"/>
          </a:p>
          <a:p>
            <a:pPr indent="0" marL="0">
              <a:lnSpc>
                <a:spcPct val="90000"/>
              </a:lnSpc>
              <a:buNone/>
            </a:pPr>
            <a:r>
              <a:rPr lang="en-US" sz="1000" i="1" dirty="0">
                <a:solidFill>
                  <a:srgbClr val="5F7183"/>
                </a:solidFill>
                <a:latin typeface="Calibri" pitchFamily="34" charset="0"/>
                <a:ea typeface="Calibri" pitchFamily="34" charset="-122"/>
                <a:cs typeface="Calibri" pitchFamily="34" charset="-120"/>
              </a:rPr>
              <a:t>Information Assets</a:t>
            </a:r>
            <a:endParaRPr lang="en-US" sz="1600" dirty="0"/>
          </a:p>
        </p:txBody>
      </p:sp>
      <p:sp>
        <p:nvSpPr>
          <p:cNvPr id="8" name="Text 6"/>
          <p:cNvSpPr/>
          <p:nvPr/>
        </p:nvSpPr>
        <p:spPr>
          <a:xfrm>
            <a:off x="6525616" y="2615184"/>
            <a:ext cx="4751680" cy="2542032"/>
          </a:xfrm>
          <a:prstGeom prst="rect">
            <a:avLst/>
          </a:prstGeom>
          <a:noFill/>
          <a:ln/>
        </p:spPr>
        <p:txBody>
          <a:bodyPr wrap="square" lIns="0" tIns="0" rIns="0" bIns="0" rtlCol="0" anchor="t"/>
          <a:lstStyle/>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・書類・図面・契約書</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Documents, drawings, contracts</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・データ・端末・記録媒体</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Data, devices, storage media</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・顧客情報・人事情報</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Customer and HR information</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・入退室ログ・カメラ画像</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Access logs and camera footage</a:t>
            </a:r>
            <a:endParaRPr lang="en-US" sz="1250" dirty="0"/>
          </a:p>
        </p:txBody>
      </p:sp>
      <p:sp>
        <p:nvSpPr>
          <p:cNvPr id="9" name="Text 7"/>
          <p:cNvSpPr/>
          <p:nvPr/>
        </p:nvSpPr>
        <p:spPr>
          <a:xfrm>
            <a:off x="640080" y="5614416"/>
            <a:ext cx="10911535" cy="621792"/>
          </a:xfrm>
          <a:prstGeom prst="rect">
            <a:avLst/>
          </a:prstGeom>
          <a:noFill/>
          <a:ln/>
        </p:spPr>
        <p:txBody>
          <a:bodyPr wrap="square" lIns="0" tIns="0" rIns="0" bIns="0" rtlCol="0" anchor="t"/>
          <a:lstStyle/>
          <a:p>
            <a:pPr algn="l" indent="0" marL="0">
              <a:lnSpc>
                <a:spcPct val="92000"/>
              </a:lnSpc>
              <a:buNone/>
            </a:pPr>
            <a:r>
              <a:rPr lang="en-US" sz="1300" b="1" dirty="0">
                <a:solidFill>
                  <a:srgbClr val="0E8C79"/>
                </a:solidFill>
                <a:latin typeface="Yu Gothic" pitchFamily="34" charset="0"/>
                <a:ea typeface="Yu Gothic" pitchFamily="34" charset="-122"/>
                <a:cs typeface="Yu Gothic" pitchFamily="34" charset="-120"/>
              </a:rPr>
              <a:t>施錠されたサーバ室も、机上に放置された1枚の書類も、同じ「Asset」です。</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A locked server room and a single sheet left on a desk fall into the same category.</a:t>
            </a:r>
            <a:endParaRPr lang="en-US" sz="1300" dirty="0"/>
          </a:p>
        </p:txBody>
      </p:sp>
      <p:sp>
        <p:nvSpPr>
          <p:cNvPr id="10" name="Text 8"/>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1" name="Text 9"/>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F2D52"/>
                </a:solidFill>
                <a:latin typeface="Yu Gothic" pitchFamily="34" charset="0"/>
                <a:ea typeface="Yu Gothic" pitchFamily="34" charset="-122"/>
                <a:cs typeface="Yu Gothic" pitchFamily="34" charset="-120"/>
              </a:rPr>
              <a:t>最も戻らない損失は Reputation</a:t>
            </a:r>
            <a:endParaRPr lang="en-US" sz="2700" dirty="0"/>
          </a:p>
          <a:p>
            <a:pPr indent="0" marL="0">
              <a:lnSpc>
                <a:spcPct val="94000"/>
              </a:lnSpc>
              <a:buNone/>
            </a:pPr>
            <a:r>
              <a:rPr lang="en-US" sz="1250" i="1" dirty="0">
                <a:solidFill>
                  <a:srgbClr val="17AF98"/>
                </a:solidFill>
                <a:latin typeface="Calibri" pitchFamily="34" charset="0"/>
                <a:ea typeface="Calibri" pitchFamily="34" charset="-122"/>
                <a:cs typeface="Calibri" pitchFamily="34" charset="-120"/>
              </a:rPr>
              <a:t>The Loss That Does Not Come Back</a:t>
            </a:r>
            <a:endParaRPr lang="en-US" sz="2700" dirty="0"/>
          </a:p>
        </p:txBody>
      </p:sp>
      <p:sp>
        <p:nvSpPr>
          <p:cNvPr id="3" name="Shape 1"/>
          <p:cNvSpPr/>
          <p:nvPr/>
        </p:nvSpPr>
        <p:spPr>
          <a:xfrm>
            <a:off x="640080" y="1627632"/>
            <a:ext cx="10911535" cy="2395728"/>
          </a:xfrm>
          <a:prstGeom prst="roundRect">
            <a:avLst>
              <a:gd name="adj" fmla="val 1908"/>
            </a:avLst>
          </a:prstGeom>
          <a:solidFill>
            <a:srgbClr val="0F2D52"/>
          </a:solidFill>
          <a:ln/>
        </p:spPr>
      </p:sp>
      <p:sp>
        <p:nvSpPr>
          <p:cNvPr id="4" name="Text 2"/>
          <p:cNvSpPr/>
          <p:nvPr/>
        </p:nvSpPr>
        <p:spPr>
          <a:xfrm>
            <a:off x="1097280" y="1938528"/>
            <a:ext cx="9997135" cy="1014984"/>
          </a:xfrm>
          <a:prstGeom prst="rect">
            <a:avLst/>
          </a:prstGeom>
          <a:noFill/>
          <a:ln/>
        </p:spPr>
        <p:txBody>
          <a:bodyPr wrap="square" lIns="0" tIns="0" rIns="0" bIns="0" rtlCol="0" anchor="t"/>
          <a:lstStyle/>
          <a:p>
            <a:pPr indent="0" marL="0">
              <a:lnSpc>
                <a:spcPct val="102000"/>
              </a:lnSpc>
              <a:buNone/>
            </a:pPr>
            <a:r>
              <a:rPr lang="en-US" sz="2000" b="1" dirty="0">
                <a:solidFill>
                  <a:srgbClr val="FFFFFF"/>
                </a:solidFill>
                <a:latin typeface="Yu Gothic" pitchFamily="34" charset="0"/>
                <a:ea typeface="Yu Gothic" pitchFamily="34" charset="-122"/>
                <a:cs typeface="Yu Gothic" pitchFamily="34" charset="-120"/>
              </a:rPr>
              <a:t>物と情報の損失は、金額で埋め合わせられることがある。</a:t>
            </a:r>
            <a:endParaRPr lang="en-US" sz="2000" dirty="0"/>
          </a:p>
          <a:p>
            <a:pPr indent="0" marL="0">
              <a:lnSpc>
                <a:spcPct val="102000"/>
              </a:lnSpc>
              <a:buNone/>
            </a:pPr>
            <a:r>
              <a:rPr lang="en-US" sz="2000" b="1" dirty="0">
                <a:solidFill>
                  <a:srgbClr val="FFFFFF"/>
                </a:solidFill>
                <a:latin typeface="Yu Gothic" pitchFamily="34" charset="0"/>
                <a:ea typeface="Yu Gothic" pitchFamily="34" charset="-122"/>
                <a:cs typeface="Yu Gothic" pitchFamily="34" charset="-120"/>
              </a:rPr>
              <a:t>信用は、金額では戻らない。</a:t>
            </a:r>
            <a:endParaRPr lang="en-US" sz="2000" dirty="0"/>
          </a:p>
        </p:txBody>
      </p:sp>
      <p:sp>
        <p:nvSpPr>
          <p:cNvPr id="5" name="Text 3"/>
          <p:cNvSpPr/>
          <p:nvPr/>
        </p:nvSpPr>
        <p:spPr>
          <a:xfrm>
            <a:off x="1097280" y="2971800"/>
            <a:ext cx="9997135" cy="795528"/>
          </a:xfrm>
          <a:prstGeom prst="rect">
            <a:avLst/>
          </a:prstGeom>
          <a:noFill/>
          <a:ln/>
        </p:spPr>
        <p:txBody>
          <a:bodyPr wrap="square" lIns="0" tIns="0" rIns="0" bIns="0" rtlCol="0" anchor="t"/>
          <a:lstStyle/>
          <a:p>
            <a:pPr indent="0" marL="0">
              <a:lnSpc>
                <a:spcPct val="100000"/>
              </a:lnSpc>
              <a:buNone/>
            </a:pPr>
            <a:r>
              <a:rPr lang="en-US" sz="1300" i="1" dirty="0">
                <a:solidFill>
                  <a:srgbClr val="9FD8CD"/>
                </a:solidFill>
                <a:latin typeface="Calibri" pitchFamily="34" charset="0"/>
                <a:ea typeface="Calibri" pitchFamily="34" charset="-122"/>
                <a:cs typeface="Calibri" pitchFamily="34" charset="-120"/>
              </a:rPr>
              <a:t>A loss of property or information can sometimes be repaid.</a:t>
            </a:r>
            <a:endParaRPr lang="en-US" sz="1300" dirty="0"/>
          </a:p>
          <a:p>
            <a:pPr indent="0" marL="0">
              <a:lnSpc>
                <a:spcPct val="100000"/>
              </a:lnSpc>
              <a:buNone/>
            </a:pPr>
            <a:r>
              <a:rPr lang="en-US" sz="1300" i="1" dirty="0">
                <a:solidFill>
                  <a:srgbClr val="9FD8CD"/>
                </a:solidFill>
                <a:latin typeface="Calibri" pitchFamily="34" charset="0"/>
                <a:ea typeface="Calibri" pitchFamily="34" charset="-122"/>
                <a:cs typeface="Calibri" pitchFamily="34" charset="-120"/>
              </a:rPr>
              <a:t>A loss of reputation cannot.</a:t>
            </a:r>
            <a:endParaRPr lang="en-US" sz="1300" dirty="0"/>
          </a:p>
        </p:txBody>
      </p:sp>
      <p:sp>
        <p:nvSpPr>
          <p:cNvPr id="6" name="Shape 4"/>
          <p:cNvSpPr/>
          <p:nvPr/>
        </p:nvSpPr>
        <p:spPr>
          <a:xfrm>
            <a:off x="640080" y="4937760"/>
            <a:ext cx="10911535" cy="1298448"/>
          </a:xfrm>
          <a:prstGeom prst="roundRect">
            <a:avLst>
              <a:gd name="adj" fmla="val 3521"/>
            </a:avLst>
          </a:prstGeom>
          <a:solidFill>
            <a:srgbClr val="E4F4F0"/>
          </a:solidFill>
          <a:ln/>
        </p:spPr>
      </p:sp>
      <p:sp>
        <p:nvSpPr>
          <p:cNvPr id="7" name="Shape 5"/>
          <p:cNvSpPr/>
          <p:nvPr/>
        </p:nvSpPr>
        <p:spPr>
          <a:xfrm>
            <a:off x="914400" y="5404104"/>
            <a:ext cx="365760" cy="365760"/>
          </a:xfrm>
          <a:prstGeom prst="ellipse">
            <a:avLst/>
          </a:prstGeom>
          <a:solidFill>
            <a:srgbClr val="17AF98"/>
          </a:solidFill>
          <a:ln/>
        </p:spPr>
      </p:sp>
      <p:sp>
        <p:nvSpPr>
          <p:cNvPr id="8" name="Text 6"/>
          <p:cNvSpPr/>
          <p:nvPr/>
        </p:nvSpPr>
        <p:spPr>
          <a:xfrm>
            <a:off x="914400" y="5404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9" name="Text 7"/>
          <p:cNvSpPr/>
          <p:nvPr/>
        </p:nvSpPr>
        <p:spPr>
          <a:xfrm>
            <a:off x="1499616" y="5047488"/>
            <a:ext cx="9722815" cy="1078992"/>
          </a:xfrm>
          <a:prstGeom prst="rect">
            <a:avLst/>
          </a:prstGeom>
          <a:noFill/>
          <a:ln/>
        </p:spPr>
        <p:txBody>
          <a:bodyPr wrap="square" lIns="0" tIns="0" rIns="0" bIns="0" rtlCol="0" anchor="ctr"/>
          <a:lstStyle/>
          <a:p>
            <a:pPr indent="0" marL="0">
              <a:lnSpc>
                <a:spcPct val="95000"/>
              </a:lnSpc>
              <a:buNone/>
            </a:pPr>
            <a:r>
              <a:rPr lang="en-US" sz="1450" b="1" dirty="0">
                <a:solidFill>
                  <a:srgbClr val="0F2D52"/>
                </a:solidFill>
                <a:latin typeface="Yu Gothic" pitchFamily="34" charset="0"/>
                <a:ea typeface="Yu Gothic" pitchFamily="34" charset="-122"/>
                <a:cs typeface="Yu Gothic" pitchFamily="34" charset="-120"/>
              </a:rPr>
              <a:t>現場の一言、過剰な有形力、放置された書類 ― どれも「企業の事件」に変わりうる。</a:t>
            </a:r>
            <a:endParaRPr lang="en-US" sz="1450" dirty="0"/>
          </a:p>
          <a:p>
            <a:pPr indent="0" marL="0">
              <a:lnSpc>
                <a:spcPct val="95000"/>
              </a:lnSpc>
              <a:buNone/>
            </a:pPr>
            <a:r>
              <a:rPr lang="en-US" sz="1000" i="1" dirty="0">
                <a:solidFill>
                  <a:srgbClr val="0E8C79"/>
                </a:solidFill>
                <a:latin typeface="Calibri" pitchFamily="34" charset="0"/>
                <a:ea typeface="Calibri" pitchFamily="34" charset="-122"/>
                <a:cs typeface="Calibri" pitchFamily="34" charset="-120"/>
              </a:rPr>
              <a:t>A single remark, an excessive use of force, an unattended document — any of these can become a company-level incident.</a:t>
            </a:r>
            <a:endParaRPr lang="en-US" sz="1450" dirty="0"/>
          </a:p>
        </p:txBody>
      </p:sp>
      <p:sp>
        <p:nvSpPr>
          <p:cNvPr id="10" name="Text 8"/>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1" name="Text 9"/>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F2D52"/>
                </a:solidFill>
                <a:latin typeface="Yu Gothic" pitchFamily="34" charset="0"/>
                <a:ea typeface="Yu Gothic" pitchFamily="34" charset="-122"/>
                <a:cs typeface="Yu Gothic" pitchFamily="34" charset="-120"/>
              </a:rPr>
              <a:t>警備業法 第15条 ― 本日の背骨</a:t>
            </a:r>
            <a:endParaRPr lang="en-US" sz="2700" dirty="0"/>
          </a:p>
          <a:p>
            <a:pPr indent="0" marL="0">
              <a:lnSpc>
                <a:spcPct val="94000"/>
              </a:lnSpc>
              <a:buNone/>
            </a:pPr>
            <a:r>
              <a:rPr lang="en-US" sz="1250" i="1" dirty="0">
                <a:solidFill>
                  <a:srgbClr val="17AF98"/>
                </a:solidFill>
                <a:latin typeface="Calibri" pitchFamily="34" charset="0"/>
                <a:ea typeface="Calibri" pitchFamily="34" charset="-122"/>
                <a:cs typeface="Calibri" pitchFamily="34" charset="-120"/>
              </a:rPr>
              <a:t>Security Services Act, Article 15 — the backbone of today</a:t>
            </a:r>
            <a:endParaRPr lang="en-US" sz="2700" dirty="0"/>
          </a:p>
        </p:txBody>
      </p:sp>
      <p:sp>
        <p:nvSpPr>
          <p:cNvPr id="3" name="Shape 1"/>
          <p:cNvSpPr/>
          <p:nvPr/>
        </p:nvSpPr>
        <p:spPr>
          <a:xfrm>
            <a:off x="640080" y="1627632"/>
            <a:ext cx="10911535" cy="2395728"/>
          </a:xfrm>
          <a:prstGeom prst="roundRect">
            <a:avLst>
              <a:gd name="adj" fmla="val 1908"/>
            </a:avLst>
          </a:prstGeom>
          <a:solidFill>
            <a:srgbClr val="0F2D52"/>
          </a:solidFill>
          <a:ln/>
        </p:spPr>
      </p:sp>
      <p:sp>
        <p:nvSpPr>
          <p:cNvPr id="4" name="Text 2"/>
          <p:cNvSpPr/>
          <p:nvPr/>
        </p:nvSpPr>
        <p:spPr>
          <a:xfrm>
            <a:off x="1097280" y="1938528"/>
            <a:ext cx="9997135" cy="1014984"/>
          </a:xfrm>
          <a:prstGeom prst="rect">
            <a:avLst/>
          </a:prstGeom>
          <a:noFill/>
          <a:ln/>
        </p:spPr>
        <p:txBody>
          <a:bodyPr wrap="square" lIns="0" tIns="0" rIns="0" bIns="0" rtlCol="0" anchor="t"/>
          <a:lstStyle/>
          <a:p>
            <a:pPr indent="0" marL="0">
              <a:lnSpc>
                <a:spcPct val="102000"/>
              </a:lnSpc>
              <a:buNone/>
            </a:pPr>
            <a:r>
              <a:rPr lang="en-US" sz="1450" b="1" dirty="0">
                <a:solidFill>
                  <a:srgbClr val="FFFFFF"/>
                </a:solidFill>
                <a:latin typeface="Yu Gothic" pitchFamily="34" charset="0"/>
                <a:ea typeface="Yu Gothic" pitchFamily="34" charset="-122"/>
                <a:cs typeface="Yu Gothic" pitchFamily="34" charset="-120"/>
              </a:rPr>
              <a:t>警備業者及び警備員は、警備業務を行うに当たっては、この法律により特別に権限を与えられているものでないことに留意するとともに、他人の権利及び自由を侵害し、又は個人若しくは団体の正当な活動に干渉してはならない。</a:t>
            </a:r>
            <a:endParaRPr lang="en-US" sz="1450" dirty="0"/>
          </a:p>
        </p:txBody>
      </p:sp>
      <p:sp>
        <p:nvSpPr>
          <p:cNvPr id="5" name="Text 3"/>
          <p:cNvSpPr/>
          <p:nvPr/>
        </p:nvSpPr>
        <p:spPr>
          <a:xfrm>
            <a:off x="1097280" y="2971800"/>
            <a:ext cx="9997135" cy="795528"/>
          </a:xfrm>
          <a:prstGeom prst="rect">
            <a:avLst/>
          </a:prstGeom>
          <a:noFill/>
          <a:ln/>
        </p:spPr>
        <p:txBody>
          <a:bodyPr wrap="square" lIns="0" tIns="0" rIns="0" bIns="0" rtlCol="0" anchor="t"/>
          <a:lstStyle/>
          <a:p>
            <a:pPr indent="0" marL="0">
              <a:lnSpc>
                <a:spcPct val="100000"/>
              </a:lnSpc>
              <a:buNone/>
            </a:pPr>
            <a:r>
              <a:rPr lang="en-US" sz="1050" i="1" dirty="0">
                <a:solidFill>
                  <a:srgbClr val="9FD8CD"/>
                </a:solidFill>
                <a:latin typeface="Calibri" pitchFamily="34" charset="0"/>
                <a:ea typeface="Calibri" pitchFamily="34" charset="-122"/>
                <a:cs typeface="Calibri" pitchFamily="34" charset="-120"/>
              </a:rPr>
              <a:t>In carrying out security operations, security businesses and security guards must bear in mind that this Act confers upon them no special authority, and must not infringe upon the rights and freedoms of others, nor interfere with the legitimate activities of any individual or organisation.</a:t>
            </a:r>
            <a:endParaRPr lang="en-US" sz="1050" dirty="0"/>
          </a:p>
        </p:txBody>
      </p:sp>
      <p:sp>
        <p:nvSpPr>
          <p:cNvPr id="6" name="Text 4"/>
          <p:cNvSpPr/>
          <p:nvPr/>
        </p:nvSpPr>
        <p:spPr>
          <a:xfrm>
            <a:off x="1097280" y="3639312"/>
            <a:ext cx="9997135" cy="274320"/>
          </a:xfrm>
          <a:prstGeom prst="rect">
            <a:avLst/>
          </a:prstGeom>
          <a:noFill/>
          <a:ln/>
        </p:spPr>
        <p:txBody>
          <a:bodyPr wrap="square" lIns="0" tIns="0" rIns="0" bIns="0" rtlCol="0" anchor="ctr"/>
          <a:lstStyle/>
          <a:p>
            <a:pPr algn="r" indent="0" marL="0">
              <a:buNone/>
            </a:pPr>
            <a:r>
              <a:rPr lang="en-US" sz="1000" dirty="0">
                <a:solidFill>
                  <a:srgbClr val="17AF98"/>
                </a:solidFill>
                <a:latin typeface="Calibri" pitchFamily="34" charset="0"/>
                <a:ea typeface="Calibri" pitchFamily="34" charset="-122"/>
                <a:cs typeface="Calibri" pitchFamily="34" charset="-120"/>
              </a:rPr>
              <a:t>警備業法 第15条 / Article 15</a:t>
            </a:r>
            <a:endParaRPr lang="en-US" sz="1000" dirty="0"/>
          </a:p>
        </p:txBody>
      </p:sp>
      <p:sp>
        <p:nvSpPr>
          <p:cNvPr id="7" name="Shape 5"/>
          <p:cNvSpPr/>
          <p:nvPr/>
        </p:nvSpPr>
        <p:spPr>
          <a:xfrm>
            <a:off x="640080" y="4937760"/>
            <a:ext cx="10911535" cy="1298448"/>
          </a:xfrm>
          <a:prstGeom prst="roundRect">
            <a:avLst>
              <a:gd name="adj" fmla="val 3521"/>
            </a:avLst>
          </a:prstGeom>
          <a:solidFill>
            <a:srgbClr val="E4F4F0"/>
          </a:solidFill>
          <a:ln/>
        </p:spPr>
      </p:sp>
      <p:sp>
        <p:nvSpPr>
          <p:cNvPr id="8" name="Shape 6"/>
          <p:cNvSpPr/>
          <p:nvPr/>
        </p:nvSpPr>
        <p:spPr>
          <a:xfrm>
            <a:off x="914400" y="5404104"/>
            <a:ext cx="365760" cy="365760"/>
          </a:xfrm>
          <a:prstGeom prst="ellipse">
            <a:avLst/>
          </a:prstGeom>
          <a:solidFill>
            <a:srgbClr val="17AF98"/>
          </a:solidFill>
          <a:ln/>
        </p:spPr>
      </p:sp>
      <p:sp>
        <p:nvSpPr>
          <p:cNvPr id="9" name="Text 7"/>
          <p:cNvSpPr/>
          <p:nvPr/>
        </p:nvSpPr>
        <p:spPr>
          <a:xfrm>
            <a:off x="914400" y="5404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0" name="Text 8"/>
          <p:cNvSpPr/>
          <p:nvPr/>
        </p:nvSpPr>
        <p:spPr>
          <a:xfrm>
            <a:off x="1499616" y="5047488"/>
            <a:ext cx="9722815" cy="1078992"/>
          </a:xfrm>
          <a:prstGeom prst="rect">
            <a:avLst/>
          </a:prstGeom>
          <a:noFill/>
          <a:ln/>
        </p:spPr>
        <p:txBody>
          <a:bodyPr wrap="square" lIns="0" tIns="0" rIns="0" bIns="0" rtlCol="0" anchor="ctr"/>
          <a:lstStyle/>
          <a:p>
            <a:pPr indent="0" marL="0">
              <a:lnSpc>
                <a:spcPct val="95000"/>
              </a:lnSpc>
              <a:buNone/>
            </a:pPr>
            <a:r>
              <a:rPr lang="en-US" sz="1450" b="1" dirty="0">
                <a:solidFill>
                  <a:srgbClr val="0F2D52"/>
                </a:solidFill>
                <a:latin typeface="Yu Gothic" pitchFamily="34" charset="0"/>
                <a:ea typeface="Yu Gothic" pitchFamily="34" charset="-122"/>
                <a:cs typeface="Yu Gothic" pitchFamily="34" charset="-120"/>
              </a:rPr>
              <a:t>制服を着ていても、あなたの法的な立場は通行人と同じ「私人」です。</a:t>
            </a:r>
            <a:endParaRPr lang="en-US" sz="1450" dirty="0"/>
          </a:p>
          <a:p>
            <a:pPr indent="0" marL="0">
              <a:lnSpc>
                <a:spcPct val="95000"/>
              </a:lnSpc>
              <a:buNone/>
            </a:pPr>
            <a:r>
              <a:rPr lang="en-US" sz="1000" i="1" dirty="0">
                <a:solidFill>
                  <a:srgbClr val="0E8C79"/>
                </a:solidFill>
                <a:latin typeface="Calibri" pitchFamily="34" charset="0"/>
                <a:ea typeface="Calibri" pitchFamily="34" charset="-122"/>
                <a:cs typeface="Calibri" pitchFamily="34" charset="-120"/>
              </a:rPr>
              <a:t>Even in uniform, your legal standing is exactly that of a passer-by: a private citizen.</a:t>
            </a:r>
            <a:endParaRPr lang="en-US" sz="1450" dirty="0"/>
          </a:p>
        </p:txBody>
      </p:sp>
      <p:sp>
        <p:nvSpPr>
          <p:cNvPr id="11" name="Text 9"/>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2" name="Text 10"/>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F2D52"/>
                </a:solidFill>
                <a:latin typeface="Yu Gothic" pitchFamily="34" charset="0"/>
                <a:ea typeface="Yu Gothic" pitchFamily="34" charset="-122"/>
                <a:cs typeface="Yu Gothic" pitchFamily="34" charset="-120"/>
              </a:rPr>
              <a:t>できることは、2つだけ</a:t>
            </a:r>
            <a:endParaRPr lang="en-US" sz="2700" dirty="0"/>
          </a:p>
          <a:p>
            <a:pPr indent="0" marL="0">
              <a:lnSpc>
                <a:spcPct val="94000"/>
              </a:lnSpc>
              <a:buNone/>
            </a:pPr>
            <a:r>
              <a:rPr lang="en-US" sz="1250" i="1" dirty="0">
                <a:solidFill>
                  <a:srgbClr val="17AF98"/>
                </a:solidFill>
                <a:latin typeface="Calibri" pitchFamily="34" charset="0"/>
                <a:ea typeface="Calibri" pitchFamily="34" charset="-122"/>
                <a:cs typeface="Calibri" pitchFamily="34" charset="-120"/>
              </a:rPr>
              <a:t>You Have Exactly Two Sources of Authority</a:t>
            </a:r>
            <a:endParaRPr lang="en-US" sz="2700" dirty="0"/>
          </a:p>
        </p:txBody>
      </p:sp>
      <p:sp>
        <p:nvSpPr>
          <p:cNvPr id="3" name="Shape 1"/>
          <p:cNvSpPr/>
          <p:nvPr/>
        </p:nvSpPr>
        <p:spPr>
          <a:xfrm>
            <a:off x="640080" y="2446020"/>
            <a:ext cx="5318608" cy="2971800"/>
          </a:xfrm>
          <a:prstGeom prst="roundRect">
            <a:avLst>
              <a:gd name="adj" fmla="val 1538"/>
            </a:avLst>
          </a:prstGeom>
          <a:solidFill>
            <a:srgbClr val="EFF4F8"/>
          </a:solidFill>
          <a:ln/>
        </p:spPr>
      </p:sp>
      <p:sp>
        <p:nvSpPr>
          <p:cNvPr id="4" name="Shape 2"/>
          <p:cNvSpPr/>
          <p:nvPr/>
        </p:nvSpPr>
        <p:spPr>
          <a:xfrm>
            <a:off x="877824" y="2683764"/>
            <a:ext cx="384048" cy="384048"/>
          </a:xfrm>
          <a:prstGeom prst="ellipse">
            <a:avLst/>
          </a:prstGeom>
          <a:solidFill>
            <a:srgbClr val="0F2D52"/>
          </a:solidFill>
          <a:ln/>
        </p:spPr>
      </p:sp>
      <p:sp>
        <p:nvSpPr>
          <p:cNvPr id="5" name="Text 3"/>
          <p:cNvSpPr/>
          <p:nvPr/>
        </p:nvSpPr>
        <p:spPr>
          <a:xfrm>
            <a:off x="877824" y="26837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p:nvPr/>
        </p:nvSpPr>
        <p:spPr>
          <a:xfrm>
            <a:off x="1389888" y="2665476"/>
            <a:ext cx="4331056" cy="658368"/>
          </a:xfrm>
          <a:prstGeom prst="rect">
            <a:avLst/>
          </a:prstGeom>
          <a:noFill/>
          <a:ln/>
        </p:spPr>
        <p:txBody>
          <a:bodyPr wrap="square" lIns="0" tIns="0" rIns="0" bIns="0" rtlCol="0" anchor="t"/>
          <a:lstStyle/>
          <a:p>
            <a:pPr indent="0" marL="0">
              <a:lnSpc>
                <a:spcPct val="90000"/>
              </a:lnSpc>
              <a:buNone/>
            </a:pPr>
            <a:r>
              <a:rPr lang="en-US" sz="1600" b="1" dirty="0">
                <a:solidFill>
                  <a:srgbClr val="0F2D52"/>
                </a:solidFill>
                <a:latin typeface="Yu Gothic" pitchFamily="34" charset="0"/>
                <a:ea typeface="Yu Gothic" pitchFamily="34" charset="-122"/>
                <a:cs typeface="Yu Gothic" pitchFamily="34" charset="-120"/>
              </a:rPr>
              <a:t>誰でもできること</a:t>
            </a:r>
            <a:endParaRPr lang="en-US" sz="1600" dirty="0"/>
          </a:p>
          <a:p>
            <a:pPr indent="0" marL="0">
              <a:lnSpc>
                <a:spcPct val="90000"/>
              </a:lnSpc>
              <a:buNone/>
            </a:pPr>
            <a:r>
              <a:rPr lang="en-US" sz="1000" i="1" dirty="0">
                <a:solidFill>
                  <a:srgbClr val="17AF98"/>
                </a:solidFill>
                <a:latin typeface="Calibri" pitchFamily="34" charset="0"/>
                <a:ea typeface="Calibri" pitchFamily="34" charset="-122"/>
                <a:cs typeface="Calibri" pitchFamily="34" charset="-120"/>
              </a:rPr>
              <a:t>What anyone may lawfully do</a:t>
            </a:r>
            <a:endParaRPr lang="en-US" sz="1600" dirty="0"/>
          </a:p>
        </p:txBody>
      </p:sp>
      <p:sp>
        <p:nvSpPr>
          <p:cNvPr id="7" name="Text 5"/>
          <p:cNvSpPr/>
          <p:nvPr/>
        </p:nvSpPr>
        <p:spPr>
          <a:xfrm>
            <a:off x="896112" y="3415284"/>
            <a:ext cx="4806544" cy="1801368"/>
          </a:xfrm>
          <a:prstGeom prst="rect">
            <a:avLst/>
          </a:prstGeom>
          <a:noFill/>
          <a:ln/>
        </p:spPr>
        <p:txBody>
          <a:bodyPr wrap="square" lIns="0" tIns="0" rIns="0" bIns="0" rtlCol="0" anchor="t"/>
          <a:lstStyle/>
          <a:p>
            <a:pPr indent="0" marL="0">
              <a:lnSpc>
                <a:spcPct val="95000"/>
              </a:lnSpc>
              <a:buNone/>
            </a:pPr>
            <a:r>
              <a:rPr lang="en-US" sz="1250" dirty="0">
                <a:solidFill>
                  <a:srgbClr val="1B2733"/>
                </a:solidFill>
                <a:latin typeface="Yu Gothic" pitchFamily="34" charset="0"/>
                <a:ea typeface="Yu Gothic" pitchFamily="34" charset="-122"/>
                <a:cs typeface="Yu Gothic" pitchFamily="34" charset="-120"/>
              </a:rPr>
              <a:t>現行犯逮捕、正当防衛、緊急避難。</a:t>
            </a:r>
            <a:endParaRPr lang="en-US" sz="1250" dirty="0"/>
          </a:p>
          <a:p>
            <a:pPr indent="0" marL="0">
              <a:lnSpc>
                <a:spcPct val="95000"/>
              </a:lnSpc>
              <a:buNone/>
            </a:pPr>
            <a:r>
              <a:rPr lang="en-US" sz="1250" dirty="0">
                <a:solidFill>
                  <a:srgbClr val="1B2733"/>
                </a:solidFill>
                <a:latin typeface="Yu Gothic" pitchFamily="34" charset="0"/>
                <a:ea typeface="Yu Gothic" pitchFamily="34" charset="-122"/>
                <a:cs typeface="Yu Gothic" pitchFamily="34" charset="-120"/>
              </a:rPr>
              <a:t>これらは「警備員だから」ではなく、私人だからできることです。相手が誰であっても要件は変わりません。</a:t>
            </a:r>
            <a:endParaRPr lang="en-US" sz="1250" dirty="0"/>
          </a:p>
          <a:p>
            <a:pPr indent="0" marL="0">
              <a:lnSpc>
                <a:spcPct val="95000"/>
              </a:lnSpc>
              <a:buNone/>
            </a:pPr>
            <a:r>
              <a:rPr lang="en-US" sz="950" i="1" dirty="0">
                <a:solidFill>
                  <a:srgbClr val="5F7183"/>
                </a:solidFill>
                <a:latin typeface="Calibri" pitchFamily="34" charset="0"/>
                <a:ea typeface="Calibri" pitchFamily="34" charset="-122"/>
                <a:cs typeface="Calibri" pitchFamily="34" charset="-120"/>
              </a:rPr>
              <a:t>Citizen's arrest, self-defence, necessity. These are available to you as a private citizen — not because you are a guard. The legal tests do not change.</a:t>
            </a:r>
            <a:endParaRPr lang="en-US" sz="1250" dirty="0"/>
          </a:p>
        </p:txBody>
      </p:sp>
      <p:sp>
        <p:nvSpPr>
          <p:cNvPr id="8" name="Shape 6"/>
          <p:cNvSpPr/>
          <p:nvPr/>
        </p:nvSpPr>
        <p:spPr>
          <a:xfrm>
            <a:off x="6233008" y="2446020"/>
            <a:ext cx="5318608" cy="2971800"/>
          </a:xfrm>
          <a:prstGeom prst="roundRect">
            <a:avLst>
              <a:gd name="adj" fmla="val 1538"/>
            </a:avLst>
          </a:prstGeom>
          <a:solidFill>
            <a:srgbClr val="E4F4F0"/>
          </a:solidFill>
          <a:ln/>
        </p:spPr>
      </p:sp>
      <p:sp>
        <p:nvSpPr>
          <p:cNvPr id="9" name="Shape 7"/>
          <p:cNvSpPr/>
          <p:nvPr/>
        </p:nvSpPr>
        <p:spPr>
          <a:xfrm>
            <a:off x="6470752" y="2683764"/>
            <a:ext cx="384048" cy="384048"/>
          </a:xfrm>
          <a:prstGeom prst="ellipse">
            <a:avLst/>
          </a:prstGeom>
          <a:solidFill>
            <a:srgbClr val="17AF98"/>
          </a:solidFill>
          <a:ln/>
        </p:spPr>
      </p:sp>
      <p:sp>
        <p:nvSpPr>
          <p:cNvPr id="10" name="Text 8"/>
          <p:cNvSpPr/>
          <p:nvPr/>
        </p:nvSpPr>
        <p:spPr>
          <a:xfrm>
            <a:off x="6470752" y="26837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p:nvPr/>
        </p:nvSpPr>
        <p:spPr>
          <a:xfrm>
            <a:off x="6982816" y="2665476"/>
            <a:ext cx="4331056" cy="658368"/>
          </a:xfrm>
          <a:prstGeom prst="rect">
            <a:avLst/>
          </a:prstGeom>
          <a:noFill/>
          <a:ln/>
        </p:spPr>
        <p:txBody>
          <a:bodyPr wrap="square" lIns="0" tIns="0" rIns="0" bIns="0" rtlCol="0" anchor="t"/>
          <a:lstStyle/>
          <a:p>
            <a:pPr indent="0" marL="0">
              <a:lnSpc>
                <a:spcPct val="90000"/>
              </a:lnSpc>
              <a:buNone/>
            </a:pPr>
            <a:r>
              <a:rPr lang="en-US" sz="1600" b="1" dirty="0">
                <a:solidFill>
                  <a:srgbClr val="0F2D52"/>
                </a:solidFill>
                <a:latin typeface="Yu Gothic" pitchFamily="34" charset="0"/>
                <a:ea typeface="Yu Gothic" pitchFamily="34" charset="-122"/>
                <a:cs typeface="Yu Gothic" pitchFamily="34" charset="-120"/>
              </a:rPr>
              <a:t>管理権者から委ねられたこと</a:t>
            </a:r>
            <a:endParaRPr lang="en-US" sz="1600" dirty="0"/>
          </a:p>
          <a:p>
            <a:pPr indent="0" marL="0">
              <a:lnSpc>
                <a:spcPct val="90000"/>
              </a:lnSpc>
              <a:buNone/>
            </a:pPr>
            <a:r>
              <a:rPr lang="en-US" sz="1000" i="1" dirty="0">
                <a:solidFill>
                  <a:srgbClr val="17AF98"/>
                </a:solidFill>
                <a:latin typeface="Calibri" pitchFamily="34" charset="0"/>
                <a:ea typeface="Calibri" pitchFamily="34" charset="-122"/>
                <a:cs typeface="Calibri" pitchFamily="34" charset="-120"/>
              </a:rPr>
              <a:t>What the site's authority has delegated</a:t>
            </a:r>
            <a:endParaRPr lang="en-US" sz="1600" dirty="0"/>
          </a:p>
        </p:txBody>
      </p:sp>
      <p:sp>
        <p:nvSpPr>
          <p:cNvPr id="12" name="Text 10"/>
          <p:cNvSpPr/>
          <p:nvPr/>
        </p:nvSpPr>
        <p:spPr>
          <a:xfrm>
            <a:off x="6489040" y="3415284"/>
            <a:ext cx="4806544" cy="1801368"/>
          </a:xfrm>
          <a:prstGeom prst="rect">
            <a:avLst/>
          </a:prstGeom>
          <a:noFill/>
          <a:ln/>
        </p:spPr>
        <p:txBody>
          <a:bodyPr wrap="square" lIns="0" tIns="0" rIns="0" bIns="0" rtlCol="0" anchor="t"/>
          <a:lstStyle/>
          <a:p>
            <a:pPr indent="0" marL="0">
              <a:lnSpc>
                <a:spcPct val="95000"/>
              </a:lnSpc>
              <a:buNone/>
            </a:pPr>
            <a:r>
              <a:rPr lang="en-US" sz="1250" dirty="0">
                <a:solidFill>
                  <a:srgbClr val="1B2733"/>
                </a:solidFill>
                <a:latin typeface="Yu Gothic" pitchFamily="34" charset="0"/>
                <a:ea typeface="Yu Gothic" pitchFamily="34" charset="-122"/>
                <a:cs typeface="Yu Gothic" pitchFamily="34" charset="-120"/>
              </a:rPr>
              <a:t>入館の可否、退去の要請、立入制限、記録。</a:t>
            </a:r>
            <a:endParaRPr lang="en-US" sz="1250" dirty="0"/>
          </a:p>
          <a:p>
            <a:pPr indent="0" marL="0">
              <a:lnSpc>
                <a:spcPct val="95000"/>
              </a:lnSpc>
              <a:buNone/>
            </a:pPr>
            <a:r>
              <a:rPr lang="en-US" sz="1250" dirty="0">
                <a:solidFill>
                  <a:srgbClr val="1B2733"/>
                </a:solidFill>
                <a:latin typeface="Yu Gothic" pitchFamily="34" charset="0"/>
                <a:ea typeface="Yu Gothic" pitchFamily="34" charset="-122"/>
                <a:cs typeface="Yu Gothic" pitchFamily="34" charset="-120"/>
              </a:rPr>
              <a:t>委ねられた範囲を超えることはできません。範囲は契約と指令書で決まります。</a:t>
            </a:r>
            <a:endParaRPr lang="en-US" sz="1250" dirty="0"/>
          </a:p>
          <a:p>
            <a:pPr indent="0" marL="0">
              <a:lnSpc>
                <a:spcPct val="95000"/>
              </a:lnSpc>
              <a:buNone/>
            </a:pPr>
            <a:r>
              <a:rPr lang="en-US" sz="950" i="1" dirty="0">
                <a:solidFill>
                  <a:srgbClr val="5F7183"/>
                </a:solidFill>
                <a:latin typeface="Calibri" pitchFamily="34" charset="0"/>
                <a:ea typeface="Calibri" pitchFamily="34" charset="-122"/>
                <a:cs typeface="Calibri" pitchFamily="34" charset="-120"/>
              </a:rPr>
              <a:t>Admission, requests to leave, access restriction, record-keeping. You cannot exceed what was delegated — and the scope is set by the contract and post orders.</a:t>
            </a:r>
            <a:endParaRPr lang="en-US" sz="1250" dirty="0"/>
          </a:p>
        </p:txBody>
      </p:sp>
      <p:sp>
        <p:nvSpPr>
          <p:cNvPr id="13" name="Text 11"/>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4" name="Text 12"/>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F2D52"/>
                </a:solidFill>
                <a:latin typeface="Yu Gothic" pitchFamily="34" charset="0"/>
                <a:ea typeface="Yu Gothic" pitchFamily="34" charset="-122"/>
                <a:cs typeface="Yu Gothic" pitchFamily="34" charset="-120"/>
              </a:rPr>
              <a:t>ミニTTX ― ○か×か、根拠を一言で</a:t>
            </a:r>
            <a:endParaRPr lang="en-US" sz="2700" dirty="0"/>
          </a:p>
          <a:p>
            <a:pPr indent="0" marL="0">
              <a:lnSpc>
                <a:spcPct val="94000"/>
              </a:lnSpc>
              <a:buNone/>
            </a:pPr>
            <a:r>
              <a:rPr lang="en-US" sz="1250" i="1" dirty="0">
                <a:solidFill>
                  <a:srgbClr val="17AF98"/>
                </a:solidFill>
                <a:latin typeface="Calibri" pitchFamily="34" charset="0"/>
                <a:ea typeface="Calibri" pitchFamily="34" charset="-122"/>
                <a:cs typeface="Calibri" pitchFamily="34" charset="-120"/>
              </a:rPr>
              <a:t>Mini TTX — Yes or No, and state your reason in one line</a:t>
            </a:r>
            <a:endParaRPr lang="en-US" sz="2700" dirty="0"/>
          </a:p>
        </p:txBody>
      </p:sp>
      <p:sp>
        <p:nvSpPr>
          <p:cNvPr id="3"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F2D52"/>
                </a:solidFill>
                <a:latin typeface="Yu Gothic" pitchFamily="34" charset="0"/>
                <a:ea typeface="Yu Gothic" pitchFamily="34" charset="-122"/>
                <a:cs typeface="Yu Gothic" pitchFamily="34" charset="-120"/>
              </a:rPr>
              <a:t>手元に○×と根拠を書いてください。挙手は求めません。指名します。</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Write your answer and your reason. No hands needed — I will call on you.</a:t>
            </a:r>
            <a:endParaRPr lang="en-US" sz="1300" dirty="0"/>
          </a:p>
        </p:txBody>
      </p:sp>
      <p:sp>
        <p:nvSpPr>
          <p:cNvPr id="4" name="Shape 2"/>
          <p:cNvSpPr/>
          <p:nvPr/>
        </p:nvSpPr>
        <p:spPr>
          <a:xfrm>
            <a:off x="640080" y="2194560"/>
            <a:ext cx="5318608" cy="900684"/>
          </a:xfrm>
          <a:prstGeom prst="roundRect">
            <a:avLst>
              <a:gd name="adj" fmla="val 4061"/>
            </a:avLst>
          </a:prstGeom>
          <a:solidFill>
            <a:srgbClr val="EFF4F8"/>
          </a:solidFill>
          <a:ln/>
        </p:spPr>
      </p:sp>
      <p:sp>
        <p:nvSpPr>
          <p:cNvPr id="5" name="Shape 3"/>
          <p:cNvSpPr/>
          <p:nvPr/>
        </p:nvSpPr>
        <p:spPr>
          <a:xfrm>
            <a:off x="822960" y="2480310"/>
            <a:ext cx="329184" cy="329184"/>
          </a:xfrm>
          <a:prstGeom prst="ellipse">
            <a:avLst/>
          </a:prstGeom>
          <a:solidFill>
            <a:srgbClr val="0F2D52"/>
          </a:solidFill>
          <a:ln/>
        </p:spPr>
      </p:sp>
      <p:sp>
        <p:nvSpPr>
          <p:cNvPr id="6" name="Text 4"/>
          <p:cNvSpPr/>
          <p:nvPr/>
        </p:nvSpPr>
        <p:spPr>
          <a:xfrm>
            <a:off x="822960" y="248031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p:nvPr/>
        </p:nvSpPr>
        <p:spPr>
          <a:xfrm>
            <a:off x="1243584" y="2267712"/>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制服を着ているので、来訪者のカバンを開けて確認した。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In uniform, you open a visitor's bag to check it.</a:t>
            </a:r>
            <a:endParaRPr lang="en-US" sz="1150" dirty="0"/>
          </a:p>
        </p:txBody>
      </p:sp>
      <p:sp>
        <p:nvSpPr>
          <p:cNvPr id="8" name="Shape 6"/>
          <p:cNvSpPr/>
          <p:nvPr/>
        </p:nvSpPr>
        <p:spPr>
          <a:xfrm>
            <a:off x="6233008" y="2194560"/>
            <a:ext cx="5318608" cy="900684"/>
          </a:xfrm>
          <a:prstGeom prst="roundRect">
            <a:avLst>
              <a:gd name="adj" fmla="val 4061"/>
            </a:avLst>
          </a:prstGeom>
          <a:solidFill>
            <a:srgbClr val="EFF4F8"/>
          </a:solidFill>
          <a:ln/>
        </p:spPr>
      </p:sp>
      <p:sp>
        <p:nvSpPr>
          <p:cNvPr id="9" name="Shape 7"/>
          <p:cNvSpPr/>
          <p:nvPr/>
        </p:nvSpPr>
        <p:spPr>
          <a:xfrm>
            <a:off x="6415888" y="2480310"/>
            <a:ext cx="329184" cy="329184"/>
          </a:xfrm>
          <a:prstGeom prst="ellipse">
            <a:avLst/>
          </a:prstGeom>
          <a:solidFill>
            <a:srgbClr val="0F2D52"/>
          </a:solidFill>
          <a:ln/>
        </p:spPr>
      </p:sp>
      <p:sp>
        <p:nvSpPr>
          <p:cNvPr id="10" name="Text 8"/>
          <p:cNvSpPr/>
          <p:nvPr/>
        </p:nvSpPr>
        <p:spPr>
          <a:xfrm>
            <a:off x="6415888" y="248031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9"/>
          <p:cNvSpPr/>
          <p:nvPr/>
        </p:nvSpPr>
        <p:spPr>
          <a:xfrm>
            <a:off x="6836512" y="2267712"/>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目の前で商品を隠して出口を通過した者を取り押さえた。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detain someone who concealed goods and walked out.</a:t>
            </a:r>
            <a:endParaRPr lang="en-US" sz="1150" dirty="0"/>
          </a:p>
        </p:txBody>
      </p:sp>
      <p:sp>
        <p:nvSpPr>
          <p:cNvPr id="12" name="Shape 10"/>
          <p:cNvSpPr/>
          <p:nvPr/>
        </p:nvSpPr>
        <p:spPr>
          <a:xfrm>
            <a:off x="640080" y="3241548"/>
            <a:ext cx="5318608" cy="900684"/>
          </a:xfrm>
          <a:prstGeom prst="roundRect">
            <a:avLst>
              <a:gd name="adj" fmla="val 4061"/>
            </a:avLst>
          </a:prstGeom>
          <a:solidFill>
            <a:srgbClr val="EFF4F8"/>
          </a:solidFill>
          <a:ln/>
        </p:spPr>
      </p:sp>
      <p:sp>
        <p:nvSpPr>
          <p:cNvPr id="13" name="Shape 11"/>
          <p:cNvSpPr/>
          <p:nvPr/>
        </p:nvSpPr>
        <p:spPr>
          <a:xfrm>
            <a:off x="822960" y="3527298"/>
            <a:ext cx="329184" cy="329184"/>
          </a:xfrm>
          <a:prstGeom prst="ellipse">
            <a:avLst/>
          </a:prstGeom>
          <a:solidFill>
            <a:srgbClr val="0F2D52"/>
          </a:solidFill>
          <a:ln/>
        </p:spPr>
      </p:sp>
      <p:sp>
        <p:nvSpPr>
          <p:cNvPr id="14" name="Text 12"/>
          <p:cNvSpPr/>
          <p:nvPr/>
        </p:nvSpPr>
        <p:spPr>
          <a:xfrm>
            <a:off x="822960" y="352729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3"/>
          <p:cNvSpPr/>
          <p:nvPr/>
        </p:nvSpPr>
        <p:spPr>
          <a:xfrm>
            <a:off x="1243584" y="3314700"/>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逮捕した相手から、事務所で30分間、事情を聞いた。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question a detained person in the office for 30 minutes.</a:t>
            </a:r>
            <a:endParaRPr lang="en-US" sz="1150" dirty="0"/>
          </a:p>
        </p:txBody>
      </p:sp>
      <p:sp>
        <p:nvSpPr>
          <p:cNvPr id="16" name="Shape 14"/>
          <p:cNvSpPr/>
          <p:nvPr/>
        </p:nvSpPr>
        <p:spPr>
          <a:xfrm>
            <a:off x="6233008" y="3241548"/>
            <a:ext cx="5318608" cy="900684"/>
          </a:xfrm>
          <a:prstGeom prst="roundRect">
            <a:avLst>
              <a:gd name="adj" fmla="val 4061"/>
            </a:avLst>
          </a:prstGeom>
          <a:solidFill>
            <a:srgbClr val="EFF4F8"/>
          </a:solidFill>
          <a:ln/>
        </p:spPr>
      </p:sp>
      <p:sp>
        <p:nvSpPr>
          <p:cNvPr id="17" name="Shape 15"/>
          <p:cNvSpPr/>
          <p:nvPr/>
        </p:nvSpPr>
        <p:spPr>
          <a:xfrm>
            <a:off x="6415888" y="3527298"/>
            <a:ext cx="329184" cy="329184"/>
          </a:xfrm>
          <a:prstGeom prst="ellipse">
            <a:avLst/>
          </a:prstGeom>
          <a:solidFill>
            <a:srgbClr val="0F2D52"/>
          </a:solidFill>
          <a:ln/>
        </p:spPr>
      </p:sp>
      <p:sp>
        <p:nvSpPr>
          <p:cNvPr id="18" name="Text 16"/>
          <p:cNvSpPr/>
          <p:nvPr/>
        </p:nvSpPr>
        <p:spPr>
          <a:xfrm>
            <a:off x="6415888" y="352729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9" name="Text 17"/>
          <p:cNvSpPr/>
          <p:nvPr/>
        </p:nvSpPr>
        <p:spPr>
          <a:xfrm>
            <a:off x="6836512" y="3314700"/>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殴りかかってきた相手の腕を押さえて止めた。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block an incoming punch by holding the arm.</a:t>
            </a:r>
            <a:endParaRPr lang="en-US" sz="1150" dirty="0"/>
          </a:p>
        </p:txBody>
      </p:sp>
      <p:sp>
        <p:nvSpPr>
          <p:cNvPr id="20" name="Shape 18"/>
          <p:cNvSpPr/>
          <p:nvPr/>
        </p:nvSpPr>
        <p:spPr>
          <a:xfrm>
            <a:off x="640080" y="4288536"/>
            <a:ext cx="5318608" cy="900684"/>
          </a:xfrm>
          <a:prstGeom prst="roundRect">
            <a:avLst>
              <a:gd name="adj" fmla="val 4061"/>
            </a:avLst>
          </a:prstGeom>
          <a:solidFill>
            <a:srgbClr val="EFF4F8"/>
          </a:solidFill>
          <a:ln/>
        </p:spPr>
      </p:sp>
      <p:sp>
        <p:nvSpPr>
          <p:cNvPr id="21" name="Shape 19"/>
          <p:cNvSpPr/>
          <p:nvPr/>
        </p:nvSpPr>
        <p:spPr>
          <a:xfrm>
            <a:off x="822960" y="4574286"/>
            <a:ext cx="329184" cy="329184"/>
          </a:xfrm>
          <a:prstGeom prst="ellipse">
            <a:avLst/>
          </a:prstGeom>
          <a:solidFill>
            <a:srgbClr val="0F2D52"/>
          </a:solidFill>
          <a:ln/>
        </p:spPr>
      </p:sp>
      <p:sp>
        <p:nvSpPr>
          <p:cNvPr id="22" name="Text 20"/>
          <p:cNvSpPr/>
          <p:nvPr/>
        </p:nvSpPr>
        <p:spPr>
          <a:xfrm>
            <a:off x="822960" y="457428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3" name="Text 21"/>
          <p:cNvSpPr/>
          <p:nvPr/>
        </p:nvSpPr>
        <p:spPr>
          <a:xfrm>
            <a:off x="1243584" y="4361688"/>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相手が倒れた後も、念のため押さえ続けた。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keep holding them down after they are already down.</a:t>
            </a:r>
            <a:endParaRPr lang="en-US" sz="1150" dirty="0"/>
          </a:p>
        </p:txBody>
      </p:sp>
      <p:sp>
        <p:nvSpPr>
          <p:cNvPr id="24" name="Shape 22"/>
          <p:cNvSpPr/>
          <p:nvPr/>
        </p:nvSpPr>
        <p:spPr>
          <a:xfrm>
            <a:off x="6233008" y="4288536"/>
            <a:ext cx="5318608" cy="900684"/>
          </a:xfrm>
          <a:prstGeom prst="roundRect">
            <a:avLst>
              <a:gd name="adj" fmla="val 4061"/>
            </a:avLst>
          </a:prstGeom>
          <a:solidFill>
            <a:srgbClr val="EFF4F8"/>
          </a:solidFill>
          <a:ln/>
        </p:spPr>
      </p:sp>
      <p:sp>
        <p:nvSpPr>
          <p:cNvPr id="25" name="Shape 23"/>
          <p:cNvSpPr/>
          <p:nvPr/>
        </p:nvSpPr>
        <p:spPr>
          <a:xfrm>
            <a:off x="6415888" y="4574286"/>
            <a:ext cx="329184" cy="329184"/>
          </a:xfrm>
          <a:prstGeom prst="ellipse">
            <a:avLst/>
          </a:prstGeom>
          <a:solidFill>
            <a:srgbClr val="0F2D52"/>
          </a:solidFill>
          <a:ln/>
        </p:spPr>
      </p:sp>
      <p:sp>
        <p:nvSpPr>
          <p:cNvPr id="26" name="Text 24"/>
          <p:cNvSpPr/>
          <p:nvPr/>
        </p:nvSpPr>
        <p:spPr>
          <a:xfrm>
            <a:off x="6415888" y="457428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7" name="Text 25"/>
          <p:cNvSpPr/>
          <p:nvPr/>
        </p:nvSpPr>
        <p:spPr>
          <a:xfrm>
            <a:off x="6836512" y="4361688"/>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管理権者の指示で、入館証のない者に退去を求めた。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At the authority's instruction, you ask an unbadged person to leave.</a:t>
            </a:r>
            <a:endParaRPr lang="en-US" sz="1150" dirty="0"/>
          </a:p>
        </p:txBody>
      </p:sp>
      <p:sp>
        <p:nvSpPr>
          <p:cNvPr id="28" name="Shape 26"/>
          <p:cNvSpPr/>
          <p:nvPr/>
        </p:nvSpPr>
        <p:spPr>
          <a:xfrm>
            <a:off x="640080" y="5335524"/>
            <a:ext cx="5318608" cy="900684"/>
          </a:xfrm>
          <a:prstGeom prst="roundRect">
            <a:avLst>
              <a:gd name="adj" fmla="val 4061"/>
            </a:avLst>
          </a:prstGeom>
          <a:solidFill>
            <a:srgbClr val="EFF4F8"/>
          </a:solidFill>
          <a:ln/>
        </p:spPr>
      </p:sp>
      <p:sp>
        <p:nvSpPr>
          <p:cNvPr id="29" name="Shape 27"/>
          <p:cNvSpPr/>
          <p:nvPr/>
        </p:nvSpPr>
        <p:spPr>
          <a:xfrm>
            <a:off x="822960" y="5621274"/>
            <a:ext cx="329184" cy="329184"/>
          </a:xfrm>
          <a:prstGeom prst="ellipse">
            <a:avLst/>
          </a:prstGeom>
          <a:solidFill>
            <a:srgbClr val="0F2D52"/>
          </a:solidFill>
          <a:ln/>
        </p:spPr>
      </p:sp>
      <p:sp>
        <p:nvSpPr>
          <p:cNvPr id="30" name="Text 28"/>
          <p:cNvSpPr/>
          <p:nvPr/>
        </p:nvSpPr>
        <p:spPr>
          <a:xfrm>
            <a:off x="822960" y="562127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1" name="Text 29"/>
          <p:cNvSpPr/>
          <p:nvPr/>
        </p:nvSpPr>
        <p:spPr>
          <a:xfrm>
            <a:off x="1243584" y="5408676"/>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「怪しい」と思ったので、相手の進路に立ちふさがった。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block someone's path because they look suspicious.</a:t>
            </a:r>
            <a:endParaRPr lang="en-US" sz="1150" dirty="0"/>
          </a:p>
        </p:txBody>
      </p:sp>
      <p:sp>
        <p:nvSpPr>
          <p:cNvPr id="32" name="Shape 30"/>
          <p:cNvSpPr/>
          <p:nvPr/>
        </p:nvSpPr>
        <p:spPr>
          <a:xfrm>
            <a:off x="6233008" y="5335524"/>
            <a:ext cx="5318608" cy="900684"/>
          </a:xfrm>
          <a:prstGeom prst="roundRect">
            <a:avLst>
              <a:gd name="adj" fmla="val 4061"/>
            </a:avLst>
          </a:prstGeom>
          <a:solidFill>
            <a:srgbClr val="EFF4F8"/>
          </a:solidFill>
          <a:ln/>
        </p:spPr>
      </p:sp>
      <p:sp>
        <p:nvSpPr>
          <p:cNvPr id="33" name="Shape 31"/>
          <p:cNvSpPr/>
          <p:nvPr/>
        </p:nvSpPr>
        <p:spPr>
          <a:xfrm>
            <a:off x="6415888" y="5621274"/>
            <a:ext cx="329184" cy="329184"/>
          </a:xfrm>
          <a:prstGeom prst="ellipse">
            <a:avLst/>
          </a:prstGeom>
          <a:solidFill>
            <a:srgbClr val="0F2D52"/>
          </a:solidFill>
          <a:ln/>
        </p:spPr>
      </p:sp>
      <p:sp>
        <p:nvSpPr>
          <p:cNvPr id="34" name="Text 32"/>
          <p:cNvSpPr/>
          <p:nvPr/>
        </p:nvSpPr>
        <p:spPr>
          <a:xfrm>
            <a:off x="6415888" y="562127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5" name="Text 33"/>
          <p:cNvSpPr/>
          <p:nvPr/>
        </p:nvSpPr>
        <p:spPr>
          <a:xfrm>
            <a:off x="6836512" y="5408676"/>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落ちていた書類を拾い、そのままゴミ箱に捨てた。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pick up a stray document and drop it in the bin.</a:t>
            </a:r>
            <a:endParaRPr lang="en-US" sz="1150" dirty="0"/>
          </a:p>
        </p:txBody>
      </p:sp>
      <p:sp>
        <p:nvSpPr>
          <p:cNvPr id="36" name="Text 34"/>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7" name="Text 35"/>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F2D52"/>
                </a:solidFill>
                <a:latin typeface="Yu Gothic" pitchFamily="34" charset="0"/>
                <a:ea typeface="Yu Gothic" pitchFamily="34" charset="-122"/>
                <a:cs typeface="Yu Gothic" pitchFamily="34" charset="-120"/>
              </a:rPr>
              <a:t>ミニTTX 解説 ― 覚えるのは答えではなく「根拠の型」</a:t>
            </a:r>
            <a:endParaRPr lang="en-US" sz="2700" dirty="0"/>
          </a:p>
          <a:p>
            <a:pPr indent="0" marL="0">
              <a:lnSpc>
                <a:spcPct val="94000"/>
              </a:lnSpc>
              <a:buNone/>
            </a:pPr>
            <a:r>
              <a:rPr lang="en-US" sz="1250" i="1" dirty="0">
                <a:solidFill>
                  <a:srgbClr val="17AF98"/>
                </a:solidFill>
                <a:latin typeface="Calibri" pitchFamily="34" charset="0"/>
                <a:ea typeface="Calibri" pitchFamily="34" charset="-122"/>
                <a:cs typeface="Calibri" pitchFamily="34" charset="-120"/>
              </a:rPr>
              <a:t>Debrief — Learn the reasoning pattern, not the answers</a:t>
            </a:r>
            <a:endParaRPr lang="en-US" sz="2700" dirty="0"/>
          </a:p>
        </p:txBody>
      </p:sp>
      <p:sp>
        <p:nvSpPr>
          <p:cNvPr id="3" name="Text 1"/>
          <p:cNvSpPr/>
          <p:nvPr/>
        </p:nvSpPr>
        <p:spPr>
          <a:xfrm>
            <a:off x="640080" y="1536192"/>
            <a:ext cx="10911535" cy="566928"/>
          </a:xfrm>
          <a:prstGeom prst="rect">
            <a:avLst/>
          </a:prstGeom>
          <a:noFill/>
          <a:ln/>
        </p:spPr>
        <p:txBody>
          <a:bodyPr wrap="square" lIns="0" tIns="0" rIns="0" bIns="0" rtlCol="0" anchor="t"/>
          <a:lstStyle/>
          <a:p>
            <a:pPr algn="l" indent="0" marL="0">
              <a:lnSpc>
                <a:spcPct val="92000"/>
              </a:lnSpc>
              <a:buNone/>
            </a:pPr>
            <a:r>
              <a:rPr lang="en-US" sz="1300" dirty="0">
                <a:solidFill>
                  <a:srgbClr val="0F2D52"/>
                </a:solidFill>
                <a:latin typeface="Yu Gothic" pitchFamily="34" charset="0"/>
                <a:ea typeface="Yu Gothic" pitchFamily="34" charset="-122"/>
                <a:cs typeface="Yu Gothic" pitchFamily="34" charset="-120"/>
              </a:rPr>
              <a:t>解答　1 ×　2 ○　3 ×　4 ○　5 ×　6 ○　7 ×　8 ×</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Answer key:  1 No · 2 Yes · 3 No · 4 Yes · 5 No · 6 Yes · 7 No · 8 No</a:t>
            </a:r>
            <a:endParaRPr lang="en-US" sz="1300" dirty="0"/>
          </a:p>
        </p:txBody>
      </p:sp>
      <p:sp>
        <p:nvSpPr>
          <p:cNvPr id="4" name="Shape 2"/>
          <p:cNvSpPr/>
          <p:nvPr/>
        </p:nvSpPr>
        <p:spPr>
          <a:xfrm>
            <a:off x="640080" y="2286000"/>
            <a:ext cx="10911535" cy="702259"/>
          </a:xfrm>
          <a:prstGeom prst="roundRect">
            <a:avLst>
              <a:gd name="adj" fmla="val 6510"/>
            </a:avLst>
          </a:prstGeom>
          <a:solidFill>
            <a:srgbClr val="EFF4F8"/>
          </a:solidFill>
          <a:ln/>
        </p:spPr>
      </p:sp>
      <p:sp>
        <p:nvSpPr>
          <p:cNvPr id="5" name="Shape 3"/>
          <p:cNvSpPr/>
          <p:nvPr/>
        </p:nvSpPr>
        <p:spPr>
          <a:xfrm>
            <a:off x="896112" y="2445106"/>
            <a:ext cx="384048" cy="384048"/>
          </a:xfrm>
          <a:prstGeom prst="ellipse">
            <a:avLst/>
          </a:prstGeom>
          <a:solidFill>
            <a:srgbClr val="17AF98"/>
          </a:solidFill>
          <a:ln/>
        </p:spPr>
      </p:sp>
      <p:sp>
        <p:nvSpPr>
          <p:cNvPr id="6" name="Text 4"/>
          <p:cNvSpPr/>
          <p:nvPr/>
        </p:nvSpPr>
        <p:spPr>
          <a:xfrm>
            <a:off x="896112" y="244510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499616" y="2395728"/>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×の多くは、②の踏み外し ― 委ねられていないことをしている。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Most of the "No" cases are overreach of source ②: doing something never delegated to you.</a:t>
            </a:r>
            <a:endParaRPr lang="en-US" sz="1450" dirty="0"/>
          </a:p>
        </p:txBody>
      </p:sp>
      <p:sp>
        <p:nvSpPr>
          <p:cNvPr id="8" name="Shape 6"/>
          <p:cNvSpPr/>
          <p:nvPr/>
        </p:nvSpPr>
        <p:spPr>
          <a:xfrm>
            <a:off x="640080" y="3097987"/>
            <a:ext cx="10911535" cy="702259"/>
          </a:xfrm>
          <a:prstGeom prst="roundRect">
            <a:avLst>
              <a:gd name="adj" fmla="val 6510"/>
            </a:avLst>
          </a:prstGeom>
          <a:solidFill>
            <a:srgbClr val="F7FAFC"/>
          </a:solidFill>
          <a:ln/>
        </p:spPr>
      </p:sp>
      <p:sp>
        <p:nvSpPr>
          <p:cNvPr id="9" name="Shape 7"/>
          <p:cNvSpPr/>
          <p:nvPr/>
        </p:nvSpPr>
        <p:spPr>
          <a:xfrm>
            <a:off x="896112" y="3257093"/>
            <a:ext cx="384048" cy="384048"/>
          </a:xfrm>
          <a:prstGeom prst="ellipse">
            <a:avLst/>
          </a:prstGeom>
          <a:solidFill>
            <a:srgbClr val="17AF98"/>
          </a:solidFill>
          <a:ln/>
        </p:spPr>
      </p:sp>
      <p:sp>
        <p:nvSpPr>
          <p:cNvPr id="10" name="Text 8"/>
          <p:cNvSpPr/>
          <p:nvPr/>
        </p:nvSpPr>
        <p:spPr>
          <a:xfrm>
            <a:off x="896112" y="3257093"/>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p:nvPr/>
        </p:nvSpPr>
        <p:spPr>
          <a:xfrm>
            <a:off x="1499616" y="3207715"/>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○は、①か②のどちらかに、きちんと収まっている。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Every "Yes" sits cleanly inside source ① or source ②.</a:t>
            </a:r>
            <a:endParaRPr lang="en-US" sz="1450" dirty="0"/>
          </a:p>
        </p:txBody>
      </p:sp>
      <p:sp>
        <p:nvSpPr>
          <p:cNvPr id="12" name="Shape 10"/>
          <p:cNvSpPr/>
          <p:nvPr/>
        </p:nvSpPr>
        <p:spPr>
          <a:xfrm>
            <a:off x="640080" y="3909974"/>
            <a:ext cx="10911535" cy="702259"/>
          </a:xfrm>
          <a:prstGeom prst="roundRect">
            <a:avLst>
              <a:gd name="adj" fmla="val 6510"/>
            </a:avLst>
          </a:prstGeom>
          <a:solidFill>
            <a:srgbClr val="EFF4F8"/>
          </a:solidFill>
          <a:ln/>
        </p:spPr>
      </p:sp>
      <p:sp>
        <p:nvSpPr>
          <p:cNvPr id="13" name="Shape 11"/>
          <p:cNvSpPr/>
          <p:nvPr/>
        </p:nvSpPr>
        <p:spPr>
          <a:xfrm>
            <a:off x="896112" y="4069080"/>
            <a:ext cx="384048" cy="384048"/>
          </a:xfrm>
          <a:prstGeom prst="ellipse">
            <a:avLst/>
          </a:prstGeom>
          <a:solidFill>
            <a:srgbClr val="17AF98"/>
          </a:solidFill>
          <a:ln/>
        </p:spPr>
      </p:sp>
      <p:sp>
        <p:nvSpPr>
          <p:cNvPr id="14" name="Text 12"/>
          <p:cNvSpPr/>
          <p:nvPr/>
        </p:nvSpPr>
        <p:spPr>
          <a:xfrm>
            <a:off x="896112" y="4069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5" name="Text 13"/>
          <p:cNvSpPr/>
          <p:nvPr/>
        </p:nvSpPr>
        <p:spPr>
          <a:xfrm>
            <a:off x="1499616" y="4019702"/>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設問5は「終期」の問題。侵害が終われば、正当防衛も終わります。</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Item 5 is about when it ends: once the attack stops, so does the right to defend.</a:t>
            </a:r>
            <a:endParaRPr lang="en-US" sz="1450" dirty="0"/>
          </a:p>
        </p:txBody>
      </p:sp>
      <p:sp>
        <p:nvSpPr>
          <p:cNvPr id="16" name="Shape 14"/>
          <p:cNvSpPr/>
          <p:nvPr/>
        </p:nvSpPr>
        <p:spPr>
          <a:xfrm>
            <a:off x="640080" y="4721962"/>
            <a:ext cx="10911535" cy="702259"/>
          </a:xfrm>
          <a:prstGeom prst="roundRect">
            <a:avLst>
              <a:gd name="adj" fmla="val 6510"/>
            </a:avLst>
          </a:prstGeom>
          <a:solidFill>
            <a:srgbClr val="F7FAFC"/>
          </a:solidFill>
          <a:ln/>
        </p:spPr>
      </p:sp>
      <p:sp>
        <p:nvSpPr>
          <p:cNvPr id="17" name="Shape 15"/>
          <p:cNvSpPr/>
          <p:nvPr/>
        </p:nvSpPr>
        <p:spPr>
          <a:xfrm>
            <a:off x="896112" y="4881067"/>
            <a:ext cx="384048" cy="384048"/>
          </a:xfrm>
          <a:prstGeom prst="ellipse">
            <a:avLst/>
          </a:prstGeom>
          <a:solidFill>
            <a:srgbClr val="17AF98"/>
          </a:solidFill>
          <a:ln/>
        </p:spPr>
      </p:sp>
      <p:sp>
        <p:nvSpPr>
          <p:cNvPr id="18" name="Text 16"/>
          <p:cNvSpPr/>
          <p:nvPr/>
        </p:nvSpPr>
        <p:spPr>
          <a:xfrm>
            <a:off x="896112" y="4881067"/>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9" name="Text 17"/>
          <p:cNvSpPr/>
          <p:nvPr/>
        </p:nvSpPr>
        <p:spPr>
          <a:xfrm>
            <a:off x="1499616" y="4831690"/>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設問8は Asset の問題。書類は情報資産です。捨てた時点で証跡が消えます。</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Item 8 is an Asset question. A document is an information asset — binning it destroys the record.</a:t>
            </a:r>
            <a:endParaRPr lang="en-US" sz="1450" dirty="0"/>
          </a:p>
        </p:txBody>
      </p:sp>
      <p:sp>
        <p:nvSpPr>
          <p:cNvPr id="20" name="Shape 18"/>
          <p:cNvSpPr/>
          <p:nvPr/>
        </p:nvSpPr>
        <p:spPr>
          <a:xfrm>
            <a:off x="640080" y="5533949"/>
            <a:ext cx="10911535" cy="702259"/>
          </a:xfrm>
          <a:prstGeom prst="roundRect">
            <a:avLst>
              <a:gd name="adj" fmla="val 6510"/>
            </a:avLst>
          </a:prstGeom>
          <a:solidFill>
            <a:srgbClr val="EFF4F8"/>
          </a:solidFill>
          <a:ln/>
        </p:spPr>
      </p:sp>
      <p:sp>
        <p:nvSpPr>
          <p:cNvPr id="21" name="Shape 19"/>
          <p:cNvSpPr/>
          <p:nvPr/>
        </p:nvSpPr>
        <p:spPr>
          <a:xfrm>
            <a:off x="896112" y="5693054"/>
            <a:ext cx="384048" cy="384048"/>
          </a:xfrm>
          <a:prstGeom prst="ellipse">
            <a:avLst/>
          </a:prstGeom>
          <a:solidFill>
            <a:srgbClr val="17AF98"/>
          </a:solidFill>
          <a:ln/>
        </p:spPr>
      </p:sp>
      <p:sp>
        <p:nvSpPr>
          <p:cNvPr id="22" name="Text 20"/>
          <p:cNvSpPr/>
          <p:nvPr/>
        </p:nvSpPr>
        <p:spPr>
          <a:xfrm>
            <a:off x="896112" y="569305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3" name="Text 21"/>
          <p:cNvSpPr/>
          <p:nvPr/>
        </p:nvSpPr>
        <p:spPr>
          <a:xfrm>
            <a:off x="1499616" y="5643677"/>
            <a:ext cx="9777679" cy="519379"/>
          </a:xfrm>
          <a:prstGeom prst="rect">
            <a:avLst/>
          </a:prstGeom>
          <a:noFill/>
          <a:ln/>
        </p:spPr>
        <p:txBody>
          <a:bodyPr wrap="square" lIns="0" tIns="0" rIns="0" bIns="0" rtlCol="0" anchor="ctr"/>
          <a:lstStyle/>
          <a:p>
            <a:pPr indent="0" marL="0">
              <a:lnSpc>
                <a:spcPct val="92000"/>
              </a:lnSpc>
              <a:buNone/>
            </a:pPr>
            <a:r>
              <a:rPr lang="en-US" sz="1300" b="1" dirty="0">
                <a:solidFill>
                  <a:srgbClr val="1B2733"/>
                </a:solidFill>
                <a:latin typeface="Yu Gothic" pitchFamily="34" charset="0"/>
                <a:ea typeface="Yu Gothic" pitchFamily="34" charset="-122"/>
                <a:cs typeface="Yu Gothic" pitchFamily="34" charset="-120"/>
              </a:rPr>
              <a:t>根拠の型：「私は〔私人／補助者〕として、〔目的〕のため、〔最小限の手段〕を取った」</a:t>
            </a:r>
            <a:endParaRPr lang="en-US" sz="1300" dirty="0"/>
          </a:p>
          <a:p>
            <a:pPr indent="0" marL="0">
              <a:lnSpc>
                <a:spcPct val="92000"/>
              </a:lnSpc>
              <a:buNone/>
            </a:pPr>
            <a:r>
              <a:rPr lang="en-US" sz="950" i="1" dirty="0">
                <a:solidFill>
                  <a:srgbClr val="5F7183"/>
                </a:solidFill>
                <a:latin typeface="Calibri" pitchFamily="34" charset="0"/>
                <a:ea typeface="Calibri" pitchFamily="34" charset="-122"/>
                <a:cs typeface="Calibri" pitchFamily="34" charset="-120"/>
              </a:rPr>
              <a:t>The pattern: "As a [citizen / delegated agent], I took [the minimum action] in order to [purpose]."</a:t>
            </a:r>
            <a:endParaRPr lang="en-US" sz="1300" dirty="0"/>
          </a:p>
        </p:txBody>
      </p:sp>
      <p:sp>
        <p:nvSpPr>
          <p:cNvPr id="24" name="Text 22"/>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5" name="Text 23"/>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D52"/>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sp>
        <p:nvSpPr>
          <p:cNvPr id="3" name="Text 1"/>
          <p:cNvSpPr/>
          <p:nvPr/>
        </p:nvSpPr>
        <p:spPr>
          <a:xfrm>
            <a:off x="640080" y="658368"/>
            <a:ext cx="9692640" cy="1188720"/>
          </a:xfrm>
          <a:prstGeom prst="rect">
            <a:avLst/>
          </a:prstGeom>
          <a:noFill/>
          <a:ln/>
        </p:spPr>
        <p:txBody>
          <a:bodyPr wrap="square" lIns="0" tIns="0" rIns="0" bIns="0" rtlCol="0" anchor="t"/>
          <a:lstStyle/>
          <a:p>
            <a:pPr indent="0" marL="0">
              <a:lnSpc>
                <a:spcPct val="96000"/>
              </a:lnSpc>
              <a:buNone/>
            </a:pPr>
            <a:r>
              <a:rPr lang="en-US" sz="3000" b="1" dirty="0">
                <a:solidFill>
                  <a:srgbClr val="FFFFFF"/>
                </a:solidFill>
                <a:latin typeface="Yu Gothic" pitchFamily="34" charset="0"/>
                <a:ea typeface="Yu Gothic" pitchFamily="34" charset="-122"/>
                <a:cs typeface="Yu Gothic" pitchFamily="34" charset="-120"/>
              </a:rPr>
              <a:t>第1時限 まとめ</a:t>
            </a:r>
            <a:endParaRPr lang="en-US" sz="3000" dirty="0"/>
          </a:p>
          <a:p>
            <a:pPr indent="0" marL="0">
              <a:lnSpc>
                <a:spcPct val="96000"/>
              </a:lnSpc>
              <a:buNone/>
            </a:pPr>
            <a:r>
              <a:rPr lang="en-US" sz="1300" i="1" dirty="0">
                <a:solidFill>
                  <a:srgbClr val="9FD8CD"/>
                </a:solidFill>
                <a:latin typeface="Calibri" pitchFamily="34" charset="0"/>
                <a:ea typeface="Calibri" pitchFamily="34" charset="-122"/>
                <a:cs typeface="Calibri" pitchFamily="34" charset="-120"/>
              </a:rPr>
              <a:t>Period 1 — Recap</a:t>
            </a:r>
            <a:endParaRPr lang="en-US" sz="3000" dirty="0"/>
          </a:p>
        </p:txBody>
      </p:sp>
      <p:sp>
        <p:nvSpPr>
          <p:cNvPr id="4" name="Shape 2"/>
          <p:cNvSpPr/>
          <p:nvPr/>
        </p:nvSpPr>
        <p:spPr>
          <a:xfrm>
            <a:off x="640080" y="2084832"/>
            <a:ext cx="10911535" cy="969264"/>
          </a:xfrm>
          <a:prstGeom prst="roundRect">
            <a:avLst>
              <a:gd name="adj" fmla="val 4717"/>
            </a:avLst>
          </a:prstGeom>
          <a:solidFill>
            <a:srgbClr val="0A2039"/>
          </a:solidFill>
          <a:ln/>
        </p:spPr>
      </p:sp>
      <p:sp>
        <p:nvSpPr>
          <p:cNvPr id="5" name="Shape 3"/>
          <p:cNvSpPr/>
          <p:nvPr/>
        </p:nvSpPr>
        <p:spPr>
          <a:xfrm>
            <a:off x="914400" y="2377440"/>
            <a:ext cx="384048" cy="384048"/>
          </a:xfrm>
          <a:prstGeom prst="ellipse">
            <a:avLst/>
          </a:prstGeom>
          <a:solidFill>
            <a:srgbClr val="17AF98"/>
          </a:solidFill>
          <a:ln/>
        </p:spPr>
      </p:sp>
      <p:sp>
        <p:nvSpPr>
          <p:cNvPr id="6" name="Text 4"/>
          <p:cNvSpPr/>
          <p:nvPr/>
        </p:nvSpPr>
        <p:spPr>
          <a:xfrm>
            <a:off x="914400" y="23774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517904" y="2176272"/>
            <a:ext cx="9722815" cy="786384"/>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守る対象は People / Asset / Reputation。情報は Asset の中。</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People, Assets, Reputation — with information inside Asset.</a:t>
            </a:r>
            <a:endParaRPr lang="en-US" sz="1500" dirty="0"/>
          </a:p>
        </p:txBody>
      </p:sp>
      <p:sp>
        <p:nvSpPr>
          <p:cNvPr id="8" name="Shape 6"/>
          <p:cNvSpPr/>
          <p:nvPr/>
        </p:nvSpPr>
        <p:spPr>
          <a:xfrm>
            <a:off x="640080" y="3255264"/>
            <a:ext cx="10911535" cy="969264"/>
          </a:xfrm>
          <a:prstGeom prst="roundRect">
            <a:avLst>
              <a:gd name="adj" fmla="val 4717"/>
            </a:avLst>
          </a:prstGeom>
          <a:solidFill>
            <a:srgbClr val="0A2039"/>
          </a:solidFill>
          <a:ln/>
        </p:spPr>
      </p:sp>
      <p:sp>
        <p:nvSpPr>
          <p:cNvPr id="9" name="Shape 7"/>
          <p:cNvSpPr/>
          <p:nvPr/>
        </p:nvSpPr>
        <p:spPr>
          <a:xfrm>
            <a:off x="914400" y="3547872"/>
            <a:ext cx="384048" cy="384048"/>
          </a:xfrm>
          <a:prstGeom prst="ellipse">
            <a:avLst/>
          </a:prstGeom>
          <a:solidFill>
            <a:srgbClr val="17AF98"/>
          </a:solidFill>
          <a:ln/>
        </p:spPr>
      </p:sp>
      <p:sp>
        <p:nvSpPr>
          <p:cNvPr id="10" name="Text 8"/>
          <p:cNvSpPr/>
          <p:nvPr/>
        </p:nvSpPr>
        <p:spPr>
          <a:xfrm>
            <a:off x="914400" y="35478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p:nvPr/>
        </p:nvSpPr>
        <p:spPr>
          <a:xfrm>
            <a:off x="1517904" y="3346704"/>
            <a:ext cx="9722815" cy="786384"/>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警備業法15条 ― 特別な権限は与えられていない。立場は私人。</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Article 15 — no special authority is conferred. You act as a private citizen.</a:t>
            </a:r>
            <a:endParaRPr lang="en-US" sz="1500" dirty="0"/>
          </a:p>
        </p:txBody>
      </p:sp>
      <p:sp>
        <p:nvSpPr>
          <p:cNvPr id="12" name="Shape 10"/>
          <p:cNvSpPr/>
          <p:nvPr/>
        </p:nvSpPr>
        <p:spPr>
          <a:xfrm>
            <a:off x="640080" y="4425696"/>
            <a:ext cx="10911535" cy="969264"/>
          </a:xfrm>
          <a:prstGeom prst="roundRect">
            <a:avLst>
              <a:gd name="adj" fmla="val 4717"/>
            </a:avLst>
          </a:prstGeom>
          <a:solidFill>
            <a:srgbClr val="0A2039"/>
          </a:solidFill>
          <a:ln/>
        </p:spPr>
      </p:sp>
      <p:sp>
        <p:nvSpPr>
          <p:cNvPr id="13" name="Shape 11"/>
          <p:cNvSpPr/>
          <p:nvPr/>
        </p:nvSpPr>
        <p:spPr>
          <a:xfrm>
            <a:off x="914400" y="4718304"/>
            <a:ext cx="384048" cy="384048"/>
          </a:xfrm>
          <a:prstGeom prst="ellipse">
            <a:avLst/>
          </a:prstGeom>
          <a:solidFill>
            <a:srgbClr val="17AF98"/>
          </a:solidFill>
          <a:ln/>
        </p:spPr>
      </p:sp>
      <p:sp>
        <p:nvSpPr>
          <p:cNvPr id="14" name="Text 12"/>
          <p:cNvSpPr/>
          <p:nvPr/>
        </p:nvSpPr>
        <p:spPr>
          <a:xfrm>
            <a:off x="914400" y="471830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5" name="Text 13"/>
          <p:cNvSpPr/>
          <p:nvPr/>
        </p:nvSpPr>
        <p:spPr>
          <a:xfrm>
            <a:off x="1517904" y="4517136"/>
            <a:ext cx="9722815" cy="786384"/>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できるのは「誰でもできること」と「委ねられたこと」の2つだけ。</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Only two sources of authority: what anyone may do, and what was delegated.</a:t>
            </a:r>
            <a:endParaRPr lang="en-US" sz="1500" dirty="0"/>
          </a:p>
        </p:txBody>
      </p:sp>
      <p:sp>
        <p:nvSpPr>
          <p:cNvPr id="16" name="Text 14"/>
          <p:cNvSpPr/>
          <p:nvPr/>
        </p:nvSpPr>
        <p:spPr>
          <a:xfrm>
            <a:off x="640080" y="5596128"/>
            <a:ext cx="10911535" cy="603504"/>
          </a:xfrm>
          <a:prstGeom prst="rect">
            <a:avLst/>
          </a:prstGeom>
          <a:noFill/>
          <a:ln/>
        </p:spPr>
        <p:txBody>
          <a:bodyPr wrap="square" lIns="0" tIns="0" rIns="0" bIns="0" rtlCol="0" anchor="t"/>
          <a:lstStyle/>
          <a:p>
            <a:pPr indent="0" marL="0">
              <a:buNone/>
            </a:pPr>
            <a:r>
              <a:rPr lang="en-US" sz="1200" b="1" dirty="0">
                <a:solidFill>
                  <a:srgbClr val="17AF98"/>
                </a:solidFill>
                <a:latin typeface="Yu Gothic" pitchFamily="34" charset="0"/>
                <a:ea typeface="Yu Gothic" pitchFamily="34" charset="-122"/>
                <a:cs typeface="Yu Gothic" pitchFamily="34" charset="-120"/>
              </a:rPr>
              <a:t>次は第2時限 ― 権限の限界を、条文と罪名で具体的に押さえます。</a:t>
            </a:r>
            <a:endParaRPr lang="en-US" sz="1200" dirty="0"/>
          </a:p>
          <a:p>
            <a:pPr indent="0" marL="0">
              <a:buNone/>
            </a:pPr>
            <a:r>
              <a:rPr lang="en-US" sz="950" i="1" dirty="0">
                <a:solidFill>
                  <a:srgbClr val="8EA3B7"/>
                </a:solidFill>
                <a:latin typeface="Calibri" pitchFamily="34" charset="0"/>
                <a:ea typeface="Calibri" pitchFamily="34" charset="-122"/>
                <a:cs typeface="Calibri" pitchFamily="34" charset="-120"/>
              </a:rPr>
              <a:t>Next, Period 2 — the limits of that authority, in statutes and offence names.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第1時限｜基本教育1 警備業務実施の基本原則</dc:title>
  <dc:subject>PptxGenJS Presentation</dc:subject>
  <dc:creator>警備員指導教育責任者</dc:creator>
  <cp:lastModifiedBy>警備員指導教育責任者</cp:lastModifiedBy>
  <cp:revision>1</cp:revision>
  <dcterms:created xsi:type="dcterms:W3CDTF">2026-08-10T11:51:05Z</dcterms:created>
  <dcterms:modified xsi:type="dcterms:W3CDTF">2026-08-10T11:51:05Z</dcterms:modified>
</cp:coreProperties>
</file>