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コーポレートセキュリティ理解（1/2）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Understanding Corporate Security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コーポレートセキュリティの位置づけと自分の任務、誰のために何を守るのかを言語化できる。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articulate where corporate security fits, your own duties, and who and what you protect.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コーポレートセキュリティとは</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What Corporate Security Is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・1号警備（施設警備）のうち、企業オフィス常駐に特化した業務</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 form of Type-1 facility security, focused on stationed duty at corporate offices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・2号（雑踏・交通誘導）、3号（運搬）、4号（身辺警備）とは目的も接遇水準も異なる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Differs from Types 2, 3 and 4 in purpose and in the standard of conduct required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・商業施設・病院とも違い、守る対象は企業活動そのもの</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Unlike retail or hospitals, what is protected is the client's business activity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Conduct and confidentiality are themselves the quality of the service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守るべき3本柱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Pillars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People: the safety of client staff, visitors, and yourself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・Asset：物理資産（建物・設備）と情報資産（書類・端末・データ）</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Asset: physical assets, and information assets such as documents, devices and data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・Reputation：クライアント企業の信用。応対品質と情報秘匿が直接効く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Reputation: the client's standing. Your conduct and confidentiality affect it directly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・物理被害がゼロでも、Reputationを毀損すれば任務は失敗</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Even with zero physical loss, harming reputation is a failed mission</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コーポレートセキュリティ理解（2/2）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Understanding Corporate Security</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ステークホルダー三層構造</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Three-Tier Stakeholder Structure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Our company: your employer, responsible for training and the chain of command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Building owner / facility manager: holds authority over the building itself</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・クライアント企業（テナント）：発注主であり、Site SOPの実質決定者</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Client tenant: commissions the service and effectively defines the Site SOP</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・報告は現場リーダーから自社へ。クライアントへの対応は上長経由</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Report via the site leader to our company. Client matters go through your supervisor</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本日の3つの問い</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Three Questions for Today</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What am I protecting? People, Asset, or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 what capacity am I acting? Private citizen, or agent for the site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Is this the minimum action? If I exceed it, what offence does it become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・全コマでこの3問を使う。結論ではなく根拠を述べること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We use these in every session. State your reasoning, not just your conclusion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守秘義務・NDA・コンプライアンス（1/2）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Confidentiality, NDA, Compliance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業務上知った情報の扱いと、違反した場合に何が起きるかを説明できる。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explain how to handle information learned on duty, and what happens if you breach it.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業務上知った情報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Information Learned on Duty</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・フロア配置、社員の動向、来客、トラブル、設備。すべて他言禁止</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Floor layout, staff movements, visitors, incidents, equipment. None of it may be discussed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・家族・同僚・他現場の警備員に対しても同じ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same applies to family, colleagues, and guards at other sites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・「もう終わった話」も対象。時間の経過で解除されない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It applies to closed matters too. Time does not release the obligation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・退職後も守秘義務は継続する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obligation continues after you leave employment</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SNSと撮影</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Social Media and Photography</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・業務中の撮影は原則禁止。制服・社章が写るものも含む</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Photography on duty is prohibited as a rule, including anything showing uniform or insignia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・勤務先が特定できる投稿をしない。位置情報にも注意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post anything that identifies the site. Watch location metadata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・「誰にも分からない」は成立しない。内装や窓景で特定される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"Nobody will know" does not hold. Interiors and views identify a building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・業務用端末で撮影した画像も、私物に移さない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move images from a work device to a personal one</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守秘義務・NDA・コンプライアンス（2/2）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Confidentiality, NDA, Compliance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営業秘密の3要件</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The Three Tests for a Trade Secret</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・秘密管理性：秘密として管理されていること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Managed as a secret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・有用性：事業活動に有用な技術上・営業上の情報であること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Useful to business activity, technically or commercially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・非公知性：公然と知られていないこと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Not publicly known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・3つを満たす情報を侵害すると、不正競争防止法上の刑事罰の対象になりうる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Infringing information that meets all three can carry criminal penalties</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実務での境界</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Where the Line Falls in Practice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・落ちている書類は「読まない」。表紙の分類表示までで判断する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read a document you find. Judge from the classification on the cover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・会話が聞こえてしまうことは避けられない。記憶を持ち出さない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cannot avoid overhearing. Do not carry what you heard out with you</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・来訪者名簿・入退室ログは、業務目的以外で見ない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Do not look at visitor lists or access logs outside their purpose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・判断に迷った情報は、上長に「扱ってよいか」を先に聞く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If unsure, ask your supervisor whether you may handle it, before you do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dirty="0">
                <a:solidFill>
                  <a:srgbClr val="DCEFEB"/>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60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600" dirty="0"/>
          </a:p>
          <a:p>
            <a:pPr indent="0" marL="0">
              <a:lnSpc>
                <a:spcPct val="95000"/>
              </a:lnSpc>
              <a:buNone/>
            </a:pPr>
            <a:r>
              <a:rPr lang="en-US" sz="1500" dirty="0">
                <a:solidFill>
                  <a:srgbClr val="1B2733"/>
                </a:solidFill>
                <a:latin typeface="Calibri" pitchFamily="34" charset="0"/>
                <a:ea typeface="Calibri" pitchFamily="34" charset="-122"/>
                <a:cs typeface="Calibri" pitchFamily="34" charset="-120"/>
              </a:rPr>
              <a:t>A security guard is a private citizen in law. The uniform adds no legal authority.</a:t>
            </a:r>
            <a:endParaRPr lang="en-US" sz="16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93259"/>
                </a:solidFill>
                <a:latin typeface="Yu Gothic" pitchFamily="34" charset="0"/>
                <a:ea typeface="Yu Gothic" pitchFamily="34" charset="-122"/>
                <a:cs typeface="Yu Gothic" pitchFamily="34" charset="-120"/>
              </a:rPr>
              <a:t>警察官にある権限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Police powers (Police Duties Execution Act)</a:t>
            </a:r>
            <a:endParaRPr lang="en-US" sz="19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・職務質問（第2条）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Stop and question a person (Art. 2)</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・保護（第3条）、避難等の措置（第4条）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Protective custody (Art. 3). Order evacuation (Art. 4)</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・犯罪の予防及び制止（第5条）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Prevent and stop a crime (Art. 5)</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・立入（第6条）、武器の使用（第7条）</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Enter premises (Art. 6). Use weapons (Art. 7)</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・逮捕状による逮捕、取り調べ</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by warrant. Interrogation</a:t>
            </a:r>
            <a:endParaRPr lang="en-US" sz="150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900" b="1" dirty="0">
                <a:solidFill>
                  <a:srgbClr val="0D8A76"/>
                </a:solidFill>
                <a:latin typeface="Yu Gothic" pitchFamily="34" charset="0"/>
                <a:ea typeface="Yu Gothic" pitchFamily="34" charset="-122"/>
                <a:cs typeface="Yu Gothic" pitchFamily="34" charset="-120"/>
              </a:rPr>
              <a:t>警備員にある権限</a:t>
            </a:r>
            <a:endParaRPr lang="en-US" sz="1900" dirty="0"/>
          </a:p>
          <a:p>
            <a:pPr indent="0" marL="0">
              <a:lnSpc>
                <a:spcPct val="90000"/>
              </a:lnSpc>
              <a:buNone/>
            </a:pPr>
            <a:r>
              <a:rPr lang="en-US" sz="1300" dirty="0">
                <a:solidFill>
                  <a:srgbClr val="5F7183"/>
                </a:solidFill>
                <a:latin typeface="Calibri" pitchFamily="34" charset="0"/>
                <a:ea typeface="Calibri" pitchFamily="34" charset="-122"/>
                <a:cs typeface="Calibri" pitchFamily="34" charset="-120"/>
              </a:rPr>
              <a:t>What a security guard has</a:t>
            </a:r>
            <a:endParaRPr lang="en-US" sz="19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・左の権限は、いずれもありません</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None of the powers on the left</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Arrest of a flagrant offender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Self-defence and necessity — anyone may do this</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・管理権者から委ねられた範囲</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What the site authority has delegated</a:t>
            </a:r>
            <a:endParaRPr lang="en-US" sz="1500" dirty="0"/>
          </a:p>
          <a:p>
            <a:pPr indent="0" marL="0">
              <a:lnSpc>
                <a:spcPct val="94000"/>
              </a:lnSpc>
              <a:spcAft>
                <a:spcPts val="300"/>
              </a:spcAft>
              <a:buNone/>
            </a:pPr>
            <a:r>
              <a:rPr lang="en-US" sz="150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500" dirty="0"/>
          </a:p>
          <a:p>
            <a:pPr indent="0" marL="0">
              <a:lnSpc>
                <a:spcPct val="94000"/>
              </a:lnSpc>
              <a:spcAft>
                <a:spcPts val="300"/>
              </a:spcAft>
              <a:buNone/>
            </a:pPr>
            <a:r>
              <a:rPr lang="en-US" sz="1500" dirty="0">
                <a:solidFill>
                  <a:srgbClr val="1B2733"/>
                </a:solidFill>
                <a:latin typeface="Calibri" pitchFamily="34" charset="0"/>
                <a:ea typeface="Calibri" pitchFamily="34" charset="-122"/>
                <a:cs typeface="Calibri" pitchFamily="34" charset="-120"/>
              </a:rPr>
              <a:t>That scope is set by the contract and the post orders</a:t>
            </a:r>
            <a:endParaRPr lang="en-US" sz="150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権限の根拠は2つだけ（1/2）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Your Authority Has Only Two Sources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自分の行為が、2つの根拠のどちらに当たるかを、その場で判断できる。</a:t>
            </a:r>
            <a:endParaRPr lang="en-US" sz="1100" dirty="0"/>
          </a:p>
          <a:p>
            <a:pPr indent="0" marL="0">
              <a:lnSpc>
                <a:spcPct val="90000"/>
              </a:lnSpc>
              <a:buNone/>
            </a:pPr>
            <a:r>
              <a:rPr lang="en-US" sz="1300" dirty="0">
                <a:solidFill>
                  <a:srgbClr val="1B2733"/>
                </a:solidFill>
                <a:latin typeface="Calibri" pitchFamily="34" charset="0"/>
                <a:ea typeface="Calibri" pitchFamily="34" charset="-122"/>
                <a:cs typeface="Calibri" pitchFamily="34" charset="-120"/>
              </a:rPr>
              <a:t>You can decide, on the spot, which of the two sources your action rests on.</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誰でもできること</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What Any Person May Do</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・現行犯逮捕（刑訴法213条）。要件は明白性と時間的接着性</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Citizen's arrest. It must be obvious, and immediate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・正当防衛（刑法36条）。侵害が終われば権利も終わる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Self-defence. The right ends when the attack ends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・緊急避難（刑法37条）。生じた害が避けた害を超えないこと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Necessity. Harm caused must not exceed harm avoided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・いずれも警備員だからできるのではない。要件は誰に対しても同じ</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None of these come from being a guard. The tests are the same for everyone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委ねられてできること</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What Is Delegated to You</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・入館の可否の判断。管理権者の基準に従う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Deciding admission, according to the authority's criteria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・退去の要請。管理権者の意思に基づくこと</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Requesting a person to leave, based on the authority's intent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・立入制限、鍵の管理、記録の作成</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Restricting access, key control, and record-keeping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・範囲は契約と警備指令書で決まる。自分で広げられない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scope is set by contract and post orders. You cannot widen it yourself</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権限の根拠は2つだけ（2/2）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Your Authority Has Only Two Sources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できないこと</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What You Cannot Do</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・所持品検査の強制。同意がなければできない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Forcing a bag search. Not possible without consent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・取り調べ。逮捕した相手からの聴取も含む</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Interrogation, including questioning a person you have detained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・実力による取戻し（自救行為）。原則として認められない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Recovering property by force. Not permitted as a rule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・身体の拘束。正当防衛と現行犯逮捕に伴う場合を除く</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Restraining a person, except incidental to self-defence or a lawful arrest</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越えた場合</a:t>
            </a:r>
            <a:endParaRPr lang="en-US" sz="1700" dirty="0"/>
          </a:p>
          <a:p>
            <a:pPr indent="0" marL="0">
              <a:lnSpc>
                <a:spcPct val="88000"/>
              </a:lnSpc>
              <a:buNone/>
            </a:pPr>
            <a:r>
              <a:rPr lang="en-US" sz="1500" dirty="0">
                <a:solidFill>
                  <a:srgbClr val="12B198"/>
                </a:solidFill>
                <a:latin typeface="Calibri" pitchFamily="34" charset="0"/>
                <a:ea typeface="Calibri" pitchFamily="34" charset="-122"/>
                <a:cs typeface="Calibri" pitchFamily="34" charset="-120"/>
              </a:rPr>
              <a:t>If You Exceed It</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・逮捕監禁罪、暴行罪、傷害罪、強要罪</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Unlawful confinement, assault, injury, coercion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・会社は契約を失い、クライアントは Reputation を失う</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The company can lose the contract, and the client loses reputation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・本人は刑事責任と、民事の損害賠償を負いうる</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You may face criminal liability and civil damages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・「良かれと思った」は抗弁にならない</a:t>
            </a:r>
            <a:endParaRPr lang="en-US" sz="1400" dirty="0"/>
          </a:p>
          <a:p>
            <a:pPr indent="0" marL="0">
              <a:lnSpc>
                <a:spcPct val="90000"/>
              </a:lnSpc>
              <a:spcAft>
                <a:spcPts val="200"/>
              </a:spcAft>
              <a:buNone/>
            </a:pPr>
            <a:r>
              <a:rPr lang="en-US" sz="1400" dirty="0">
                <a:solidFill>
                  <a:srgbClr val="1B2733"/>
                </a:solidFill>
                <a:latin typeface="Calibri" pitchFamily="34" charset="0"/>
                <a:ea typeface="Calibri" pitchFamily="34" charset="-122"/>
                <a:cs typeface="Calibri" pitchFamily="34" charset="-120"/>
              </a:rPr>
              <a:t>"I meant well" is not a defence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In uniform, you open a visitor's bag to check it.</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detain someone who hid goods and walked out.</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question a detained person in the office for 30 minutes.</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stop an incoming punch by holding the arm.</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keep holding the person down after they are down.</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同僚に「今日は◯◯社の役員が来ていた」と話した。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tell a colleague which company's executives visited today.</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block a person's path because they look suspicious.</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落ちていた社外秘の書類を拾い、中身を確認した。</a:t>
            </a:r>
            <a:endParaRPr lang="en-US" sz="15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You pick up a confidential document and read the contents.</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Answers:  1 No · 2 Yes · 3 No · 4 Yes · 5 No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Most "No" answers do something that was never delegated to you.</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5 is about when it ends. When the attack stops, the right to defend stops.</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設問6は守秘義務です。相手が同僚でも、業務上知った情報は他言できません。</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Item 6 is confidentiality. Even to a colleague, you may not pass on what you learned on duty.</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設問8は、拾うことではなく読むことが問題です。分類表示までで判断します。</a:t>
            </a:r>
            <a:endParaRPr lang="en-US" sz="1700" dirty="0"/>
          </a:p>
          <a:p>
            <a:pPr indent="0" marL="0">
              <a:lnSpc>
                <a:spcPct val="92000"/>
              </a:lnSpc>
              <a:buNone/>
            </a:pPr>
            <a:r>
              <a:rPr lang="en-US" sz="1600" dirty="0">
                <a:solidFill>
                  <a:srgbClr val="1B2733"/>
                </a:solidFill>
                <a:latin typeface="Calibri" pitchFamily="34" charset="0"/>
                <a:ea typeface="Calibri" pitchFamily="34" charset="-122"/>
                <a:cs typeface="Calibri" pitchFamily="34" charset="-120"/>
              </a:rPr>
              <a:t>In item 8 the problem is reading it, not picking it up. Judge from the cover classification.</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5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State it this way: "As a [citizen / delegated agent], I took [action] for [purpose]."</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社外秘の書類が落ちている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A Confidential Document on the Floor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深夜2時、クライアントのオフィスを巡回中。執務エリアの床にA4書類が1枚落ちている。表紙に「【社外秘】◯◯プロジェクト 役員会議資料」。ページをめくれば中身が読める状態。周囲に人はいない。</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02:00, patrolling the client's office. A single A4 document lies on the floor of the work area. The cover reads "Confidential — Board Meeting Material." Turning the page would reveal the contents. Nobody is around.</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Which pillar does this concern: People, Asset, or Reputation?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拾い上げてよいか。中身を読んでよいか。その理由は。</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pick it up? May you read it? Why or why not?</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誰に、いつ報告するか。深夜であることは影響するか。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Whom do you report to, and when? Does the hour change your answer?</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警備日誌とインシデントレポートに、どう書くか。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How do you write it in the log and the incident report?</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書類を手にしたところで、清掃員が入室してきた。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As you pick it up, a cleaner enters the room.</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翌朝、クライアントの社員から「昨夜あの資料を見なかったか」と聞かれた。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next morning a client employee asks whether you saw that document last night.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機密書類の取扱フローは現場ごとに異なる。Site SOPを必ず確認する。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Procedures for handling confidential documents differ by site. Always check the Site SOP.</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669119"/>
          </a:xfrm>
          <a:prstGeom prst="roundRect">
            <a:avLst>
              <a:gd name="adj" fmla="val 5466"/>
            </a:avLst>
          </a:prstGeom>
          <a:solidFill>
            <a:srgbClr val="EFF4F8"/>
          </a:solidFill>
          <a:ln/>
        </p:spPr>
      </p:sp>
      <p:sp>
        <p:nvSpPr>
          <p:cNvPr id="7" name="Shape 4"/>
          <p:cNvSpPr/>
          <p:nvPr/>
        </p:nvSpPr>
        <p:spPr>
          <a:xfrm>
            <a:off x="841248" y="1276392"/>
            <a:ext cx="347472" cy="347472"/>
          </a:xfrm>
          <a:prstGeom prst="ellipse">
            <a:avLst/>
          </a:prstGeom>
          <a:solidFill>
            <a:srgbClr val="12B198"/>
          </a:solidFill>
          <a:ln/>
        </p:spPr>
      </p:sp>
      <p:sp>
        <p:nvSpPr>
          <p:cNvPr id="8" name="Text 5"/>
          <p:cNvSpPr/>
          <p:nvPr/>
        </p:nvSpPr>
        <p:spPr>
          <a:xfrm>
            <a:off x="841248" y="127639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4110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どの柱に関わるか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Asset（情報資産）。外部に出れば Reputation にも及ぶ。</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Asset — information. If it leaves the building it becomes Reputation as well.</a:t>
            </a:r>
            <a:endParaRPr lang="en-US" sz="1150" dirty="0"/>
          </a:p>
        </p:txBody>
      </p:sp>
      <p:sp>
        <p:nvSpPr>
          <p:cNvPr id="10" name="Shape 7"/>
          <p:cNvSpPr/>
          <p:nvPr/>
        </p:nvSpPr>
        <p:spPr>
          <a:xfrm>
            <a:off x="640080" y="1885271"/>
            <a:ext cx="10911535" cy="669119"/>
          </a:xfrm>
          <a:prstGeom prst="roundRect">
            <a:avLst>
              <a:gd name="adj" fmla="val 5466"/>
            </a:avLst>
          </a:prstGeom>
          <a:solidFill>
            <a:srgbClr val="E4F4F0"/>
          </a:solidFill>
          <a:ln/>
        </p:spPr>
      </p:sp>
      <p:sp>
        <p:nvSpPr>
          <p:cNvPr id="11" name="Shape 8"/>
          <p:cNvSpPr/>
          <p:nvPr/>
        </p:nvSpPr>
        <p:spPr>
          <a:xfrm>
            <a:off x="841248" y="2046095"/>
            <a:ext cx="347472" cy="347472"/>
          </a:xfrm>
          <a:prstGeom prst="ellipse">
            <a:avLst/>
          </a:prstGeom>
          <a:solidFill>
            <a:srgbClr val="12B198"/>
          </a:solidFill>
          <a:ln/>
        </p:spPr>
      </p:sp>
      <p:sp>
        <p:nvSpPr>
          <p:cNvPr id="12" name="Text 9"/>
          <p:cNvSpPr/>
          <p:nvPr/>
        </p:nvSpPr>
        <p:spPr>
          <a:xfrm>
            <a:off x="841248" y="20460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49279"/>
            <a:ext cx="10033711" cy="54110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拾ってよいか。読んでよいか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拾ってよい。読んではいけない。表紙の分類表示までで判断する。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Pick it up, yes. Do not read it. Judge from the cover classification only.</a:t>
            </a:r>
            <a:endParaRPr lang="en-US" sz="1150" dirty="0"/>
          </a:p>
        </p:txBody>
      </p:sp>
      <p:sp>
        <p:nvSpPr>
          <p:cNvPr id="14" name="Shape 11"/>
          <p:cNvSpPr/>
          <p:nvPr/>
        </p:nvSpPr>
        <p:spPr>
          <a:xfrm>
            <a:off x="640080" y="2654974"/>
            <a:ext cx="10911535" cy="854714"/>
          </a:xfrm>
          <a:prstGeom prst="roundRect">
            <a:avLst>
              <a:gd name="adj" fmla="val 4279"/>
            </a:avLst>
          </a:prstGeom>
          <a:solidFill>
            <a:srgbClr val="EFF4F8"/>
          </a:solidFill>
          <a:ln/>
        </p:spPr>
      </p:sp>
      <p:sp>
        <p:nvSpPr>
          <p:cNvPr id="15" name="Shape 12"/>
          <p:cNvSpPr/>
          <p:nvPr/>
        </p:nvSpPr>
        <p:spPr>
          <a:xfrm>
            <a:off x="841248" y="2908596"/>
            <a:ext cx="347472" cy="347472"/>
          </a:xfrm>
          <a:prstGeom prst="ellipse">
            <a:avLst/>
          </a:prstGeom>
          <a:solidFill>
            <a:srgbClr val="12B198"/>
          </a:solidFill>
          <a:ln/>
        </p:spPr>
      </p:sp>
      <p:sp>
        <p:nvSpPr>
          <p:cNvPr id="16" name="Text 13"/>
          <p:cNvSpPr/>
          <p:nvPr/>
        </p:nvSpPr>
        <p:spPr>
          <a:xfrm>
            <a:off x="841248" y="290859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718982"/>
            <a:ext cx="10033711" cy="726698"/>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誰にいつ報告するか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警備責任者へその場で。深夜でも翌朝に回さない。発見時刻が記録の価値を決める。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The security supervisor, immediately. Do not wait for morning — the time of discovery is what gives the record value.</a:t>
            </a:r>
            <a:endParaRPr lang="en-US" sz="1150" dirty="0"/>
          </a:p>
        </p:txBody>
      </p:sp>
      <p:sp>
        <p:nvSpPr>
          <p:cNvPr id="18" name="Shape 15"/>
          <p:cNvSpPr/>
          <p:nvPr/>
        </p:nvSpPr>
        <p:spPr>
          <a:xfrm>
            <a:off x="640080" y="3610273"/>
            <a:ext cx="10911535" cy="669119"/>
          </a:xfrm>
          <a:prstGeom prst="roundRect">
            <a:avLst>
              <a:gd name="adj" fmla="val 5466"/>
            </a:avLst>
          </a:prstGeom>
          <a:solidFill>
            <a:srgbClr val="EFF4F8"/>
          </a:solidFill>
          <a:ln/>
        </p:spPr>
      </p:sp>
      <p:sp>
        <p:nvSpPr>
          <p:cNvPr id="19" name="Shape 16"/>
          <p:cNvSpPr/>
          <p:nvPr/>
        </p:nvSpPr>
        <p:spPr>
          <a:xfrm>
            <a:off x="841248" y="3771096"/>
            <a:ext cx="347472" cy="347472"/>
          </a:xfrm>
          <a:prstGeom prst="ellipse">
            <a:avLst/>
          </a:prstGeom>
          <a:solidFill>
            <a:srgbClr val="12B198"/>
          </a:solidFill>
          <a:ln/>
        </p:spPr>
      </p:sp>
      <p:sp>
        <p:nvSpPr>
          <p:cNvPr id="20" name="Text 17"/>
          <p:cNvSpPr/>
          <p:nvPr/>
        </p:nvSpPr>
        <p:spPr>
          <a:xfrm>
            <a:off x="841248" y="377109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74281"/>
            <a:ext cx="10033711" cy="54110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日誌にどう書くか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発見時刻、場所、分類表示、引渡し先を書く。中身は書かない。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Time, place, classification, and who you handed it to. Never the contents.</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清掃員が入室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面前で扱う。単独で処理しない。誰が見ていたかも記録する。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Handle it in their presence. Do not process it alone. Record who saw it.</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翌朝「あの資料見なかった？」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事実のみ答える。「拾って◯◯へ引き渡しました」。中身には触れない。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Answer with fact only: you picked it up and handed it over. Say nothing of the contents.</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保管するか、その場に置いて報告するか。どちらも成り立つ。根拠を述べさせる。</a:t>
            </a:r>
            <a:endParaRPr lang="en-US" sz="1050" dirty="0"/>
          </a:p>
          <a:p>
            <a:pPr indent="0" marL="0">
              <a:lnSpc>
                <a:spcPct val="86000"/>
              </a:lnSpc>
              <a:buNone/>
            </a:pPr>
            <a:r>
              <a:rPr lang="en-US" sz="1300" dirty="0">
                <a:solidFill>
                  <a:srgbClr val="DCEFEB"/>
                </a:solidFill>
                <a:latin typeface="Calibri" pitchFamily="34" charset="0"/>
                <a:ea typeface="Calibri" pitchFamily="34" charset="-122"/>
                <a:cs typeface="Calibri" pitchFamily="34" charset="-120"/>
              </a:rPr>
              <a:t>Secure it, or leave it and report? Both are defensible. Make them state the reasoning.</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役員フロアで撮影している人物</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Someone Photographing on the Executive Floor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平日19時、役員フロアの通路で、社員証を提げた人物がスマートフォンで壁面のホワイトボードを撮影している。ボードには組織図と数字が書かれている。声をかけると「自分の部署の資料だ」と答える。</a:t>
            </a:r>
            <a:endParaRPr lang="en-US" sz="1100" dirty="0"/>
          </a:p>
          <a:p>
            <a:pPr indent="0" marL="0">
              <a:lnSpc>
                <a:spcPct val="92000"/>
              </a:lnSpc>
              <a:buNone/>
            </a:pPr>
            <a:r>
              <a:rPr lang="en-US" sz="1450" dirty="0">
                <a:solidFill>
                  <a:srgbClr val="DCEFEB"/>
                </a:solidFill>
                <a:latin typeface="Calibri" pitchFamily="34" charset="0"/>
                <a:ea typeface="Calibri" pitchFamily="34" charset="-122"/>
                <a:cs typeface="Calibri" pitchFamily="34" charset="-120"/>
              </a:rPr>
              <a:t>19:00 on a weekday. On the executive floor, a person wearing an employee badge is photographing a whiteboard with a smartphone. The board shows an org chart and figures. Asked about it, they say "this is my own department's material."</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50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社員証があることは、撮影してよい根拠になるか。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Does the employee badge make the photography permissible?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撮影の中止を求められるか。求める根拠は何か。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ask them to stop? On what basis?</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画像の削除を求めてよいか。応じない場合どうするか。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May you ask them to delete the images? What if they refuse?</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報告するか。するとすれば誰に、何を事実として書くか。</a:t>
            </a:r>
            <a:endParaRPr lang="en-US" sz="140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Do you report it? To whom, and what do you record as fact?</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相手が「上司に確認してくれ」と言い、その場を離れようとした。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They say "check with my manager" and start to walk away.</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翌日、その人物が実際にその部署の社員だと判明した。</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The next day it turns out they really do work in that department.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撮影の可否と、社員による撮影への対応は現場ごとに異なる。Site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Whether photography is allowed, and how to handle it by employees, differ by site. Check the Site SOP.</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FF4F8"/>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社員証は撮影の根拠になるか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ならない。社員証は入館の資格を示すだけで、撮影の可否とは別の問題。</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A badge shows a right of entry. Whether they may photograph is separate.</a:t>
            </a:r>
            <a:endParaRPr lang="en-US" sz="1150" dirty="0"/>
          </a:p>
        </p:txBody>
      </p:sp>
      <p:sp>
        <p:nvSpPr>
          <p:cNvPr id="10" name="Shape 7"/>
          <p:cNvSpPr/>
          <p:nvPr/>
        </p:nvSpPr>
        <p:spPr>
          <a:xfrm>
            <a:off x="640080" y="2073402"/>
            <a:ext cx="10911535" cy="857250"/>
          </a:xfrm>
          <a:prstGeom prst="roundRect">
            <a:avLst>
              <a:gd name="adj" fmla="val 4267"/>
            </a:avLst>
          </a:prstGeom>
          <a:solidFill>
            <a:srgbClr val="EFF4F8"/>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中止を求められるか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求められる。根拠は管理権者から委ねられた撮影禁止の運用。</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Yes. The basis is the no-photography rule delegated by the site authority.</a:t>
            </a:r>
            <a:endParaRPr lang="en-US" sz="1150" dirty="0"/>
          </a:p>
        </p:txBody>
      </p:sp>
      <p:sp>
        <p:nvSpPr>
          <p:cNvPr id="14" name="Shape 11"/>
          <p:cNvSpPr/>
          <p:nvPr/>
        </p:nvSpPr>
        <p:spPr>
          <a:xfrm>
            <a:off x="640080" y="3031236"/>
            <a:ext cx="10911535" cy="857250"/>
          </a:xfrm>
          <a:prstGeom prst="roundRect">
            <a:avLst>
              <a:gd name="adj" fmla="val 4267"/>
            </a:avLst>
          </a:prstGeom>
          <a:solidFill>
            <a:srgbClr val="E4F4F0"/>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削除を求めてよいか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求められない。端末の中身は相手の管理下。応じない場合も引き止めない。</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No. The device is theirs. If they refuse, do not detain them.</a:t>
            </a:r>
            <a:endParaRPr lang="en-US" sz="11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報告するか。何を書くか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報告する。時刻、場所、撮影対象、社員証の氏名、発言をそのまま記録する。</a:t>
            </a:r>
            <a:endParaRPr lang="en-US" sz="1150" dirty="0"/>
          </a:p>
          <a:p>
            <a:pPr indent="0" marL="0">
              <a:lnSpc>
                <a:spcPct val="88000"/>
              </a:lnSpc>
              <a:buNone/>
            </a:pPr>
            <a:r>
              <a:rPr lang="en-US" sz="1500" dirty="0">
                <a:solidFill>
                  <a:srgbClr val="1B2733"/>
                </a:solidFill>
                <a:latin typeface="Calibri" pitchFamily="34" charset="0"/>
                <a:ea typeface="Calibri" pitchFamily="34" charset="-122"/>
                <a:cs typeface="Calibri" pitchFamily="34" charset="-120"/>
              </a:rPr>
              <a:t>Yes. Record the time, place, what was photographed, the name on the badge, and their words verbatim.</a:t>
            </a:r>
            <a:endParaRPr lang="en-US" sz="11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「上司に確認してくれ」と離脱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追わない。氏名と所属を確認できていれば足りる。</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Do not follow. Having the name and department is enough.</a:t>
            </a:r>
            <a:endParaRPr lang="en-US" sz="10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翌日、本当に当該部署の社員と判明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対応は誤りではない。確認は手続きであり、疑いではない。</a:t>
            </a:r>
            <a:endParaRPr lang="en-US" sz="1050" dirty="0"/>
          </a:p>
          <a:p>
            <a:pPr indent="0" marL="0">
              <a:lnSpc>
                <a:spcPct val="86000"/>
              </a:lnSpc>
              <a:buNone/>
            </a:pPr>
            <a:r>
              <a:rPr lang="en-US" sz="1350" dirty="0">
                <a:solidFill>
                  <a:srgbClr val="1B2733"/>
                </a:solidFill>
                <a:latin typeface="Calibri" pitchFamily="34" charset="0"/>
                <a:ea typeface="Calibri" pitchFamily="34" charset="-122"/>
                <a:cs typeface="Calibri" pitchFamily="34" charset="-120"/>
              </a:rPr>
              <a:t>Your response was not wrong. Verifying is a procedure, not an accusation.</a:t>
            </a:r>
            <a:endParaRPr lang="en-US" sz="10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注記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模範解答は判断の型を示すものです。実際の手順は各現場のSite SOPと警備指令書が優先します。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These answers show a pattern of reasoning. The Site SOP and post orders always take precedence.</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警備業法、個人情報保護法、不正競争防止法</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People, Asset,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守秘義務は退職後も継続する。営業秘密の侵害は刑事罰の対象になりうる。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Confidentiality continues after employment. Trade-secret breaches can carry criminal penalties.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2026-08-10T22:51:40Z</dcterms:created>
  <dcterms:modified xsi:type="dcterms:W3CDTF">2026-08-10T22:51:40Z</dcterms:modified>
</cp:coreProperties>
</file>