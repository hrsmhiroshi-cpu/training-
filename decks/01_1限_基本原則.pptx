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3259"/>
        </a:solidFill>
      </p:bgPr>
    </p:bg>
    <p:spTree>
      <p:nvGrpSpPr>
        <p:cNvPr id="1" name=""/>
        <p:cNvGrpSpPr/>
        <p:nvPr/>
      </p:nvGrpSpPr>
      <p:grpSpPr>
        <a:xfrm>
          <a:off x="0" y="0"/>
          <a:ext cx="0" cy="0"/>
          <a:chOff x="0" y="0"/>
          <a:chExt cx="0" cy="0"/>
        </a:xfrm>
      </p:grpSpPr>
      <p:sp>
        <p:nvSpPr>
          <p:cNvPr id="2" name="Shape 0"/>
          <p:cNvSpPr/>
          <p:nvPr/>
        </p:nvSpPr>
        <p:spPr>
          <a:xfrm>
            <a:off x="10637215" y="219456"/>
            <a:ext cx="1042416" cy="969264"/>
          </a:xfrm>
          <a:prstGeom prst="roundRect">
            <a:avLst>
              <a:gd name="adj" fmla="val 5660"/>
            </a:avLst>
          </a:prstGeom>
          <a:solidFill>
            <a:srgbClr val="FFFFFF"/>
          </a:solidFill>
          <a:ln/>
        </p:spPr>
      </p:sp>
      <p:pic>
        <p:nvPicPr>
          <p:cNvPr id="3"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4" name="Text 1"/>
          <p:cNvSpPr/>
          <p:nvPr/>
        </p:nvSpPr>
        <p:spPr>
          <a:xfrm>
            <a:off x="640080" y="1417320"/>
            <a:ext cx="9692640" cy="640080"/>
          </a:xfrm>
          <a:prstGeom prst="rect">
            <a:avLst/>
          </a:prstGeom>
          <a:noFill/>
          <a:ln/>
        </p:spPr>
        <p:txBody>
          <a:bodyPr wrap="square" lIns="0" tIns="0" rIns="0" bIns="0" rtlCol="0" anchor="t"/>
          <a:lstStyle/>
          <a:p>
            <a:pPr indent="0" marL="0">
              <a:buNone/>
            </a:pPr>
            <a:r>
              <a:rPr lang="en-US" sz="1300" b="1" dirty="0">
                <a:solidFill>
                  <a:srgbClr val="12B198"/>
                </a:solidFill>
                <a:latin typeface="Yu Gothic" pitchFamily="34" charset="0"/>
                <a:ea typeface="Yu Gothic" pitchFamily="34" charset="-122"/>
                <a:cs typeface="Yu Gothic" pitchFamily="34" charset="-120"/>
              </a:rPr>
              <a:t>第1時限　07:00 – 08:00　基本教育1</a:t>
            </a:r>
            <a:endParaRPr lang="en-US" sz="1300" dirty="0"/>
          </a:p>
          <a:p>
            <a:pPr indent="0" marL="0">
              <a:buNone/>
            </a:pPr>
            <a:r>
              <a:rPr lang="en-US" sz="1050" i="1" dirty="0">
                <a:solidFill>
                  <a:srgbClr val="A9BCCE"/>
                </a:solidFill>
                <a:latin typeface="Calibri" pitchFamily="34" charset="0"/>
                <a:ea typeface="Calibri" pitchFamily="34" charset="-122"/>
                <a:cs typeface="Calibri" pitchFamily="34" charset="-120"/>
              </a:rPr>
              <a:t>Period 1 — Basic Training 1</a:t>
            </a:r>
            <a:endParaRPr lang="en-US" sz="1300" dirty="0"/>
          </a:p>
        </p:txBody>
      </p:sp>
      <p:sp>
        <p:nvSpPr>
          <p:cNvPr id="5" name="Text 2"/>
          <p:cNvSpPr/>
          <p:nvPr/>
        </p:nvSpPr>
        <p:spPr>
          <a:xfrm>
            <a:off x="640080" y="2212848"/>
            <a:ext cx="9966960" cy="896112"/>
          </a:xfrm>
          <a:prstGeom prst="rect">
            <a:avLst/>
          </a:prstGeom>
          <a:noFill/>
          <a:ln/>
        </p:spPr>
        <p:txBody>
          <a:bodyPr wrap="square" lIns="0" tIns="0" rIns="0" bIns="0" rtlCol="0" anchor="t"/>
          <a:lstStyle/>
          <a:p>
            <a:pPr indent="0" marL="0">
              <a:lnSpc>
                <a:spcPct val="98000"/>
              </a:lnSpc>
              <a:buNone/>
            </a:pPr>
            <a:r>
              <a:rPr lang="en-US" sz="3600" b="1" dirty="0">
                <a:solidFill>
                  <a:srgbClr val="FFFFFF"/>
                </a:solidFill>
                <a:latin typeface="Yu Gothic" pitchFamily="34" charset="0"/>
                <a:ea typeface="Yu Gothic" pitchFamily="34" charset="-122"/>
                <a:cs typeface="Yu Gothic" pitchFamily="34" charset="-120"/>
              </a:rPr>
              <a:t>警備業務実施の基本原則</a:t>
            </a:r>
            <a:endParaRPr lang="en-US" sz="3600" dirty="0"/>
          </a:p>
        </p:txBody>
      </p:sp>
      <p:sp>
        <p:nvSpPr>
          <p:cNvPr id="6" name="Text 3"/>
          <p:cNvSpPr/>
          <p:nvPr/>
        </p:nvSpPr>
        <p:spPr>
          <a:xfrm>
            <a:off x="640080" y="3236976"/>
            <a:ext cx="9966960" cy="777240"/>
          </a:xfrm>
          <a:prstGeom prst="rect">
            <a:avLst/>
          </a:prstGeom>
          <a:noFill/>
          <a:ln/>
        </p:spPr>
        <p:txBody>
          <a:bodyPr wrap="square" lIns="0" tIns="0" rIns="0" bIns="0" rtlCol="0" anchor="t"/>
          <a:lstStyle/>
          <a:p>
            <a:pPr indent="0" marL="0">
              <a:buNone/>
            </a:pPr>
            <a:r>
              <a:rPr lang="en-US" sz="1600" i="1" dirty="0">
                <a:solidFill>
                  <a:srgbClr val="9FD8CD"/>
                </a:solidFill>
                <a:latin typeface="Calibri" pitchFamily="34" charset="0"/>
                <a:ea typeface="Calibri" pitchFamily="34" charset="-122"/>
                <a:cs typeface="Calibri" pitchFamily="34" charset="-120"/>
              </a:rPr>
              <a:t>Fundamental Principles of Security Operations</a:t>
            </a:r>
            <a:endParaRPr lang="en-US" sz="1600" dirty="0"/>
          </a:p>
        </p:txBody>
      </p:sp>
      <p:sp>
        <p:nvSpPr>
          <p:cNvPr id="7" name="Shape 4"/>
          <p:cNvSpPr/>
          <p:nvPr/>
        </p:nvSpPr>
        <p:spPr>
          <a:xfrm>
            <a:off x="640080" y="4828032"/>
            <a:ext cx="1371600" cy="32004"/>
          </a:xfrm>
          <a:prstGeom prst="rect">
            <a:avLst/>
          </a:prstGeom>
          <a:solidFill>
            <a:srgbClr val="12B198"/>
          </a:solidFill>
          <a:ln/>
        </p:spPr>
      </p:sp>
      <p:sp>
        <p:nvSpPr>
          <p:cNvPr id="8" name="Text 5"/>
          <p:cNvSpPr/>
          <p:nvPr/>
        </p:nvSpPr>
        <p:spPr>
          <a:xfrm>
            <a:off x="640080" y="5120640"/>
            <a:ext cx="9966960" cy="822960"/>
          </a:xfrm>
          <a:prstGeom prst="rect">
            <a:avLst/>
          </a:prstGeom>
          <a:noFill/>
          <a:ln/>
        </p:spPr>
        <p:txBody>
          <a:bodyPr wrap="square" lIns="0" tIns="0" rIns="0" bIns="0" rtlCol="0" anchor="t"/>
          <a:lstStyle/>
          <a:p>
            <a:pPr indent="0" marL="0">
              <a:buNone/>
            </a:pPr>
            <a:r>
              <a:rPr lang="en-US" sz="1200" dirty="0">
                <a:solidFill>
                  <a:srgbClr val="C9D6E2"/>
                </a:solidFill>
                <a:latin typeface="Yu Gothic" pitchFamily="34" charset="0"/>
                <a:ea typeface="Yu Gothic" pitchFamily="34" charset="-122"/>
                <a:cs typeface="Yu Gothic" pitchFamily="34" charset="-120"/>
              </a:rPr>
              <a:t>2026年8月11日（火）　施設警備 現任教育　コーポレートセキュリティ</a:t>
            </a:r>
            <a:endParaRPr lang="en-US" sz="1200" dirty="0"/>
          </a:p>
          <a:p>
            <a:pPr indent="0" marL="0">
              <a:buNone/>
            </a:pPr>
            <a:r>
              <a:rPr lang="en-US" sz="1000" i="1" dirty="0">
                <a:solidFill>
                  <a:srgbClr val="8EA3B7"/>
                </a:solidFill>
                <a:latin typeface="Calibri" pitchFamily="34" charset="0"/>
                <a:ea typeface="Calibri" pitchFamily="34" charset="-122"/>
                <a:cs typeface="Calibri" pitchFamily="34" charset="-120"/>
              </a:rPr>
              <a:t>11 Aug 2026 — In-Service Training, Facility Security / Corporate Security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84048"/>
            <a:ext cx="8982151" cy="768096"/>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コーポレートセキュリティ理解</a:t>
            </a:r>
            <a:endParaRPr lang="en-US" sz="2300" dirty="0"/>
          </a:p>
          <a:p>
            <a:pPr indent="0" marL="0">
              <a:lnSpc>
                <a:spcPct val="94000"/>
              </a:lnSpc>
              <a:buNone/>
            </a:pPr>
            <a:r>
              <a:rPr lang="en-US" sz="1100" i="1" dirty="0">
                <a:solidFill>
                  <a:srgbClr val="12B198"/>
                </a:solidFill>
                <a:latin typeface="Calibri" pitchFamily="34" charset="0"/>
                <a:ea typeface="Calibri" pitchFamily="34" charset="-122"/>
                <a:cs typeface="Calibri" pitchFamily="34" charset="-120"/>
              </a:rPr>
              <a:t>Understanding Corporate Security</a:t>
            </a:r>
            <a:endParaRPr lang="en-US" sz="2300" dirty="0"/>
          </a:p>
        </p:txBody>
      </p:sp>
      <p:sp>
        <p:nvSpPr>
          <p:cNvPr id="4" name="Shape 1"/>
          <p:cNvSpPr/>
          <p:nvPr/>
        </p:nvSpPr>
        <p:spPr>
          <a:xfrm>
            <a:off x="9686239" y="438912"/>
            <a:ext cx="932688" cy="310896"/>
          </a:xfrm>
          <a:prstGeom prst="roundRect">
            <a:avLst>
              <a:gd name="adj" fmla="val 14706"/>
            </a:avLst>
          </a:prstGeom>
          <a:solidFill>
            <a:srgbClr val="093259"/>
          </a:solidFill>
          <a:ln/>
        </p:spPr>
      </p:sp>
      <p:sp>
        <p:nvSpPr>
          <p:cNvPr id="5" name="Text 2"/>
          <p:cNvSpPr/>
          <p:nvPr/>
        </p:nvSpPr>
        <p:spPr>
          <a:xfrm>
            <a:off x="9686239" y="438912"/>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6" name="Shape 3"/>
          <p:cNvSpPr/>
          <p:nvPr/>
        </p:nvSpPr>
        <p:spPr>
          <a:xfrm>
            <a:off x="640080" y="1188720"/>
            <a:ext cx="10911535" cy="530352"/>
          </a:xfrm>
          <a:prstGeom prst="roundRect">
            <a:avLst>
              <a:gd name="adj" fmla="val 6897"/>
            </a:avLst>
          </a:prstGeom>
          <a:solidFill>
            <a:srgbClr val="E4F4F0"/>
          </a:solidFill>
          <a:ln/>
        </p:spPr>
      </p:sp>
      <p:sp>
        <p:nvSpPr>
          <p:cNvPr id="7" name="Text 4"/>
          <p:cNvSpPr/>
          <p:nvPr/>
        </p:nvSpPr>
        <p:spPr>
          <a:xfrm>
            <a:off x="877824" y="1234440"/>
            <a:ext cx="10436047" cy="438912"/>
          </a:xfrm>
          <a:prstGeom prst="rect">
            <a:avLst/>
          </a:prstGeom>
          <a:noFill/>
          <a:ln/>
        </p:spPr>
        <p:txBody>
          <a:bodyPr wrap="square" lIns="0" tIns="0" rIns="0" bIns="0" rtlCol="0" anchor="ctr"/>
          <a:lstStyle/>
          <a:p>
            <a:pPr indent="0" marL="0">
              <a:lnSpc>
                <a:spcPct val="90000"/>
              </a:lnSpc>
              <a:buNone/>
            </a:pPr>
            <a:r>
              <a:rPr lang="en-US" sz="950" b="1" dirty="0">
                <a:solidFill>
                  <a:srgbClr val="0D8A76"/>
                </a:solidFill>
                <a:latin typeface="Yu Gothic" pitchFamily="34" charset="0"/>
                <a:ea typeface="Yu Gothic" pitchFamily="34" charset="-122"/>
                <a:cs typeface="Yu Gothic" pitchFamily="34" charset="-120"/>
              </a:rPr>
              <a:t>身につくこと　</a:t>
            </a:r>
            <a:pPr indent="0" marL="0">
              <a:lnSpc>
                <a:spcPct val="90000"/>
              </a:lnSpc>
              <a:buNone/>
            </a:pPr>
            <a:r>
              <a:rPr lang="en-US" sz="800" dirty="0">
                <a:solidFill>
                  <a:srgbClr val="0D8A76"/>
                </a:solidFill>
                <a:latin typeface="Calibri" pitchFamily="34" charset="0"/>
                <a:ea typeface="Calibri" pitchFamily="34" charset="-122"/>
                <a:cs typeface="Calibri" pitchFamily="34" charset="-120"/>
              </a:rPr>
              <a:t>What You'll Learn　</a:t>
            </a:r>
            <a:pPr indent="0" marL="0">
              <a:lnSpc>
                <a:spcPct val="90000"/>
              </a:lnSpc>
              <a:buNone/>
            </a:pPr>
            <a:r>
              <a:rPr lang="en-US" sz="1050" b="1" dirty="0">
                <a:solidFill>
                  <a:srgbClr val="1B2733"/>
                </a:solidFill>
                <a:latin typeface="Yu Gothic" pitchFamily="34" charset="0"/>
                <a:ea typeface="Yu Gothic" pitchFamily="34" charset="-122"/>
                <a:cs typeface="Yu Gothic" pitchFamily="34" charset="-120"/>
              </a:rPr>
              <a:t>コーポレートセキュリティの位置づけと自分の任務、誰のために何を守るのかを言語化できる。</a:t>
            </a:r>
            <a:endParaRPr lang="en-US" sz="950" dirty="0"/>
          </a:p>
          <a:p>
            <a:pPr indent="0" marL="0">
              <a:lnSpc>
                <a:spcPct val="90000"/>
              </a:lnSpc>
              <a:buNone/>
            </a:pPr>
            <a:r>
              <a:rPr lang="en-US" sz="850" i="1" dirty="0">
                <a:solidFill>
                  <a:srgbClr val="5F7183"/>
                </a:solidFill>
                <a:latin typeface="Calibri" pitchFamily="34" charset="0"/>
                <a:ea typeface="Calibri" pitchFamily="34" charset="-122"/>
                <a:cs typeface="Calibri" pitchFamily="34" charset="-120"/>
              </a:rPr>
              <a:t>You can articulate where corporate security fits, your own duties, and who and what you protect.</a:t>
            </a:r>
            <a:endParaRPr lang="en-US" sz="950" dirty="0"/>
          </a:p>
        </p:txBody>
      </p:sp>
      <p:sp>
        <p:nvSpPr>
          <p:cNvPr id="8" name="Shape 5"/>
          <p:cNvSpPr/>
          <p:nvPr/>
        </p:nvSpPr>
        <p:spPr>
          <a:xfrm>
            <a:off x="640080" y="1810512"/>
            <a:ext cx="5327752" cy="1920240"/>
          </a:xfrm>
          <a:prstGeom prst="roundRect">
            <a:avLst>
              <a:gd name="adj" fmla="val 1905"/>
            </a:avLst>
          </a:prstGeom>
          <a:solidFill>
            <a:srgbClr val="EFF4F8"/>
          </a:solidFill>
          <a:ln/>
        </p:spPr>
      </p:sp>
      <p:sp>
        <p:nvSpPr>
          <p:cNvPr id="9" name="Shape 6"/>
          <p:cNvSpPr/>
          <p:nvPr/>
        </p:nvSpPr>
        <p:spPr>
          <a:xfrm>
            <a:off x="822960" y="1975104"/>
            <a:ext cx="310896" cy="310896"/>
          </a:xfrm>
          <a:prstGeom prst="ellipse">
            <a:avLst/>
          </a:prstGeom>
          <a:solidFill>
            <a:srgbClr val="093259"/>
          </a:solidFill>
          <a:ln/>
        </p:spPr>
      </p:sp>
      <p:sp>
        <p:nvSpPr>
          <p:cNvPr id="10" name="Text 7"/>
          <p:cNvSpPr/>
          <p:nvPr/>
        </p:nvSpPr>
        <p:spPr>
          <a:xfrm>
            <a:off x="822960" y="19751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207008" y="1938528"/>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コーポレートセキュリティとは</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What Corporate Security Is</a:t>
            </a:r>
            <a:endParaRPr lang="en-US" sz="1200" dirty="0"/>
          </a:p>
        </p:txBody>
      </p:sp>
      <p:sp>
        <p:nvSpPr>
          <p:cNvPr id="12" name="Text 9"/>
          <p:cNvSpPr/>
          <p:nvPr/>
        </p:nvSpPr>
        <p:spPr>
          <a:xfrm>
            <a:off x="859536" y="2487168"/>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・1号警備（施設警備）のうち、企業オフィス常駐に特化した業務</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A form of Type-1 facility security, focused on stationed duty at corporate offices</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・2号（雑踏・交通誘導）、3号（運搬）、4号（身辺警備）とは目的も接遇水準も異なる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Differs from Types 2, 3 and 4 in purpose and in the standard of conduct required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・商業施設・病院とも違い、守る対象は企業活動そのもの</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Unlike retail or hospitals, what is protected is the client's business activity itself</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・接遇と情報秘匿が、警備の質そのものになる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Conduct and confidentiality are themselves the quality of the service</a:t>
            </a:r>
            <a:endParaRPr lang="en-US" sz="950" dirty="0"/>
          </a:p>
        </p:txBody>
      </p:sp>
      <p:sp>
        <p:nvSpPr>
          <p:cNvPr id="13" name="Shape 10"/>
          <p:cNvSpPr/>
          <p:nvPr/>
        </p:nvSpPr>
        <p:spPr>
          <a:xfrm>
            <a:off x="6223864" y="1810512"/>
            <a:ext cx="5327752" cy="1920240"/>
          </a:xfrm>
          <a:prstGeom prst="roundRect">
            <a:avLst>
              <a:gd name="adj" fmla="val 1905"/>
            </a:avLst>
          </a:prstGeom>
          <a:solidFill>
            <a:srgbClr val="F7FAFC"/>
          </a:solidFill>
          <a:ln/>
        </p:spPr>
      </p:sp>
      <p:sp>
        <p:nvSpPr>
          <p:cNvPr id="14" name="Shape 11"/>
          <p:cNvSpPr/>
          <p:nvPr/>
        </p:nvSpPr>
        <p:spPr>
          <a:xfrm>
            <a:off x="6406744" y="1975104"/>
            <a:ext cx="310896" cy="310896"/>
          </a:xfrm>
          <a:prstGeom prst="ellipse">
            <a:avLst/>
          </a:prstGeom>
          <a:solidFill>
            <a:srgbClr val="093259"/>
          </a:solidFill>
          <a:ln/>
        </p:spPr>
      </p:sp>
      <p:sp>
        <p:nvSpPr>
          <p:cNvPr id="15" name="Text 12"/>
          <p:cNvSpPr/>
          <p:nvPr/>
        </p:nvSpPr>
        <p:spPr>
          <a:xfrm>
            <a:off x="6406744" y="19751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90792" y="1938528"/>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守るべき3本柱</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The Three Pillars</a:t>
            </a:r>
            <a:endParaRPr lang="en-US" sz="1200" dirty="0"/>
          </a:p>
        </p:txBody>
      </p:sp>
      <p:sp>
        <p:nvSpPr>
          <p:cNvPr id="17" name="Text 14"/>
          <p:cNvSpPr/>
          <p:nvPr/>
        </p:nvSpPr>
        <p:spPr>
          <a:xfrm>
            <a:off x="6443320" y="2487168"/>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・People：クライアント社員、来訪者、そして自分自身の安全</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People: the safety of client staff, visitors, and yourself</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・Asset：物理資産（建物・設備）と情報資産（書類・端末・データ）</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Asset: physical assets, and information assets such as documents, devices and data</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・Reputation：クライアント企業の信用。応対品質と情報秘匿が直接効く</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Reputation: the client's standing. Your conduct and confidentiality affect it directly</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・物理被害がゼロでも、Reputationを毀損すれば任務は失敗</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Even with zero physical loss, harming reputation is a failed mission</a:t>
            </a:r>
            <a:endParaRPr lang="en-US" sz="950" dirty="0"/>
          </a:p>
        </p:txBody>
      </p:sp>
      <p:sp>
        <p:nvSpPr>
          <p:cNvPr id="18" name="Shape 15"/>
          <p:cNvSpPr/>
          <p:nvPr/>
        </p:nvSpPr>
        <p:spPr>
          <a:xfrm>
            <a:off x="640080" y="3931920"/>
            <a:ext cx="5327752" cy="1920240"/>
          </a:xfrm>
          <a:prstGeom prst="roundRect">
            <a:avLst>
              <a:gd name="adj" fmla="val 1905"/>
            </a:avLst>
          </a:prstGeom>
          <a:solidFill>
            <a:srgbClr val="EFF4F8"/>
          </a:solidFill>
          <a:ln/>
        </p:spPr>
      </p:sp>
      <p:sp>
        <p:nvSpPr>
          <p:cNvPr id="19" name="Shape 16"/>
          <p:cNvSpPr/>
          <p:nvPr/>
        </p:nvSpPr>
        <p:spPr>
          <a:xfrm>
            <a:off x="822960" y="4096512"/>
            <a:ext cx="310896" cy="310896"/>
          </a:xfrm>
          <a:prstGeom prst="ellipse">
            <a:avLst/>
          </a:prstGeom>
          <a:solidFill>
            <a:srgbClr val="093259"/>
          </a:solidFill>
          <a:ln/>
        </p:spPr>
      </p:sp>
      <p:sp>
        <p:nvSpPr>
          <p:cNvPr id="20" name="Text 17"/>
          <p:cNvSpPr/>
          <p:nvPr/>
        </p:nvSpPr>
        <p:spPr>
          <a:xfrm>
            <a:off x="822960" y="4096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8"/>
          <p:cNvSpPr/>
          <p:nvPr/>
        </p:nvSpPr>
        <p:spPr>
          <a:xfrm>
            <a:off x="1207008" y="4059936"/>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ステークホルダー三層構造</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Three-Tier Stakeholder Structure</a:t>
            </a:r>
            <a:endParaRPr lang="en-US" sz="1200" dirty="0"/>
          </a:p>
        </p:txBody>
      </p:sp>
      <p:sp>
        <p:nvSpPr>
          <p:cNvPr id="22" name="Text 19"/>
          <p:cNvSpPr/>
          <p:nvPr/>
        </p:nvSpPr>
        <p:spPr>
          <a:xfrm>
            <a:off x="859536" y="4608576"/>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・自社：警備員の雇用主。教育と指揮命令の主体</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Our company: your employer, responsible for training and the chain of command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・ビルオーナー／施設管理会社：建物そのものの管理権原者</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Building owner / facility manager: holds authority over the building itself</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・クライアント企業（テナント）：発注主であり、Site SOPの実質決定者</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Client tenant: commissions the service and effectively defines the Site SOP</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・報告は現場リーダーから自社へ。クライアントへの対応は上長経由</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Report via the site leader to our company. Client matters go through your supervisor</a:t>
            </a:r>
            <a:endParaRPr lang="en-US" sz="950" dirty="0"/>
          </a:p>
        </p:txBody>
      </p:sp>
      <p:sp>
        <p:nvSpPr>
          <p:cNvPr id="23" name="Shape 20"/>
          <p:cNvSpPr/>
          <p:nvPr/>
        </p:nvSpPr>
        <p:spPr>
          <a:xfrm>
            <a:off x="6223864" y="3931920"/>
            <a:ext cx="5327752" cy="1920240"/>
          </a:xfrm>
          <a:prstGeom prst="roundRect">
            <a:avLst>
              <a:gd name="adj" fmla="val 1905"/>
            </a:avLst>
          </a:prstGeom>
          <a:solidFill>
            <a:srgbClr val="F7FAFC"/>
          </a:solidFill>
          <a:ln/>
        </p:spPr>
      </p:sp>
      <p:sp>
        <p:nvSpPr>
          <p:cNvPr id="24" name="Shape 21"/>
          <p:cNvSpPr/>
          <p:nvPr/>
        </p:nvSpPr>
        <p:spPr>
          <a:xfrm>
            <a:off x="6406744" y="4096512"/>
            <a:ext cx="310896" cy="310896"/>
          </a:xfrm>
          <a:prstGeom prst="ellipse">
            <a:avLst/>
          </a:prstGeom>
          <a:solidFill>
            <a:srgbClr val="093259"/>
          </a:solidFill>
          <a:ln/>
        </p:spPr>
      </p:sp>
      <p:sp>
        <p:nvSpPr>
          <p:cNvPr id="25" name="Text 22"/>
          <p:cNvSpPr/>
          <p:nvPr/>
        </p:nvSpPr>
        <p:spPr>
          <a:xfrm>
            <a:off x="6406744" y="4096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p:nvPr/>
        </p:nvSpPr>
        <p:spPr>
          <a:xfrm>
            <a:off x="6790792" y="4059936"/>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本日の3つの問い</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Three Questions for Today</a:t>
            </a:r>
            <a:endParaRPr lang="en-US" sz="1200" dirty="0"/>
          </a:p>
        </p:txBody>
      </p:sp>
      <p:sp>
        <p:nvSpPr>
          <p:cNvPr id="27" name="Text 24"/>
          <p:cNvSpPr/>
          <p:nvPr/>
        </p:nvSpPr>
        <p:spPr>
          <a:xfrm>
            <a:off x="6443320" y="4608576"/>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・何を守っているのか。People / Asset / Reputation のどれか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What am I protecting? People, Asset, or Reputation</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・どの立場で動くのか。私人か、管理権者の補助者か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In what capacity am I acting? Private citizen, or agent for the site authority</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・その手段は最小限か。越えた場合、何の罪に当たるか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Is this the minimum action? If I exceed it, what offence does it become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・全コマでこの3問を使う。結論ではなく根拠を述べること</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We use these in every session. State your reasoning, not just your conclusion</a:t>
            </a:r>
            <a:endParaRPr lang="en-US" sz="950" dirty="0"/>
          </a:p>
        </p:txBody>
      </p:sp>
      <p:sp>
        <p:nvSpPr>
          <p:cNvPr id="28" name="Text 25"/>
          <p:cNvSpPr/>
          <p:nvPr/>
        </p:nvSpPr>
        <p:spPr>
          <a:xfrm>
            <a:off x="640080" y="5907024"/>
            <a:ext cx="10911535" cy="310896"/>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報告ライン、クライアント窓口、常駐時間帯は現場ごとに異なる。Site SOPに従う。</a:t>
            </a:r>
            <a:endParaRPr lang="en-US" sz="900" dirty="0"/>
          </a:p>
          <a:p>
            <a:pPr indent="0" marL="0">
              <a:lnSpc>
                <a:spcPct val="88000"/>
              </a:lnSpc>
              <a:buNone/>
            </a:pPr>
            <a:r>
              <a:rPr lang="en-US" sz="750" i="1" dirty="0">
                <a:solidFill>
                  <a:srgbClr val="5F7183"/>
                </a:solidFill>
                <a:latin typeface="Calibri" pitchFamily="34" charset="0"/>
                <a:ea typeface="Calibri" pitchFamily="34" charset="-122"/>
                <a:cs typeface="Calibri" pitchFamily="34" charset="-120"/>
              </a:rPr>
              <a:t>Reporting lines, client contacts and staffing hours differ by site. Follow the Site SOP.</a:t>
            </a:r>
            <a:endParaRPr lang="en-US" sz="900" dirty="0"/>
          </a:p>
        </p:txBody>
      </p:sp>
      <p:sp>
        <p:nvSpPr>
          <p:cNvPr id="29" name="Text 26"/>
          <p:cNvSpPr/>
          <p:nvPr/>
        </p:nvSpPr>
        <p:spPr>
          <a:xfrm>
            <a:off x="640080" y="6272784"/>
            <a:ext cx="9905695" cy="237744"/>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警備業法、警察庁「警備員教育」</a:t>
            </a:r>
            <a:endParaRPr lang="en-US" sz="750" dirty="0"/>
          </a:p>
        </p:txBody>
      </p:sp>
      <p:sp>
        <p:nvSpPr>
          <p:cNvPr id="30" name="Text 27"/>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31" name="Text 28"/>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84048"/>
            <a:ext cx="8982151" cy="768096"/>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守秘義務・NDA・コンプライアンス</a:t>
            </a:r>
            <a:endParaRPr lang="en-US" sz="2300" dirty="0"/>
          </a:p>
          <a:p>
            <a:pPr indent="0" marL="0">
              <a:lnSpc>
                <a:spcPct val="94000"/>
              </a:lnSpc>
              <a:buNone/>
            </a:pPr>
            <a:r>
              <a:rPr lang="en-US" sz="1100" i="1" dirty="0">
                <a:solidFill>
                  <a:srgbClr val="12B198"/>
                </a:solidFill>
                <a:latin typeface="Calibri" pitchFamily="34" charset="0"/>
                <a:ea typeface="Calibri" pitchFamily="34" charset="-122"/>
                <a:cs typeface="Calibri" pitchFamily="34" charset="-120"/>
              </a:rPr>
              <a:t>Confidentiality, NDA, Compliance</a:t>
            </a:r>
            <a:endParaRPr lang="en-US" sz="2300" dirty="0"/>
          </a:p>
        </p:txBody>
      </p:sp>
      <p:sp>
        <p:nvSpPr>
          <p:cNvPr id="4" name="Shape 1"/>
          <p:cNvSpPr/>
          <p:nvPr/>
        </p:nvSpPr>
        <p:spPr>
          <a:xfrm>
            <a:off x="9686239" y="438912"/>
            <a:ext cx="932688" cy="310896"/>
          </a:xfrm>
          <a:prstGeom prst="roundRect">
            <a:avLst>
              <a:gd name="adj" fmla="val 14706"/>
            </a:avLst>
          </a:prstGeom>
          <a:solidFill>
            <a:srgbClr val="093259"/>
          </a:solidFill>
          <a:ln/>
        </p:spPr>
      </p:sp>
      <p:sp>
        <p:nvSpPr>
          <p:cNvPr id="5" name="Text 2"/>
          <p:cNvSpPr/>
          <p:nvPr/>
        </p:nvSpPr>
        <p:spPr>
          <a:xfrm>
            <a:off x="9686239" y="438912"/>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6" name="Shape 3"/>
          <p:cNvSpPr/>
          <p:nvPr/>
        </p:nvSpPr>
        <p:spPr>
          <a:xfrm>
            <a:off x="640080" y="1188720"/>
            <a:ext cx="10911535" cy="530352"/>
          </a:xfrm>
          <a:prstGeom prst="roundRect">
            <a:avLst>
              <a:gd name="adj" fmla="val 6897"/>
            </a:avLst>
          </a:prstGeom>
          <a:solidFill>
            <a:srgbClr val="E4F4F0"/>
          </a:solidFill>
          <a:ln/>
        </p:spPr>
      </p:sp>
      <p:sp>
        <p:nvSpPr>
          <p:cNvPr id="7" name="Text 4"/>
          <p:cNvSpPr/>
          <p:nvPr/>
        </p:nvSpPr>
        <p:spPr>
          <a:xfrm>
            <a:off x="877824" y="1234440"/>
            <a:ext cx="10436047" cy="438912"/>
          </a:xfrm>
          <a:prstGeom prst="rect">
            <a:avLst/>
          </a:prstGeom>
          <a:noFill/>
          <a:ln/>
        </p:spPr>
        <p:txBody>
          <a:bodyPr wrap="square" lIns="0" tIns="0" rIns="0" bIns="0" rtlCol="0" anchor="ctr"/>
          <a:lstStyle/>
          <a:p>
            <a:pPr indent="0" marL="0">
              <a:lnSpc>
                <a:spcPct val="90000"/>
              </a:lnSpc>
              <a:buNone/>
            </a:pPr>
            <a:r>
              <a:rPr lang="en-US" sz="950" b="1" dirty="0">
                <a:solidFill>
                  <a:srgbClr val="0D8A76"/>
                </a:solidFill>
                <a:latin typeface="Yu Gothic" pitchFamily="34" charset="0"/>
                <a:ea typeface="Yu Gothic" pitchFamily="34" charset="-122"/>
                <a:cs typeface="Yu Gothic" pitchFamily="34" charset="-120"/>
              </a:rPr>
              <a:t>身につくこと　</a:t>
            </a:r>
            <a:pPr indent="0" marL="0">
              <a:lnSpc>
                <a:spcPct val="90000"/>
              </a:lnSpc>
              <a:buNone/>
            </a:pPr>
            <a:r>
              <a:rPr lang="en-US" sz="800" dirty="0">
                <a:solidFill>
                  <a:srgbClr val="0D8A76"/>
                </a:solidFill>
                <a:latin typeface="Calibri" pitchFamily="34" charset="0"/>
                <a:ea typeface="Calibri" pitchFamily="34" charset="-122"/>
                <a:cs typeface="Calibri" pitchFamily="34" charset="-120"/>
              </a:rPr>
              <a:t>What You'll Learn　</a:t>
            </a:r>
            <a:pPr indent="0" marL="0">
              <a:lnSpc>
                <a:spcPct val="90000"/>
              </a:lnSpc>
              <a:buNone/>
            </a:pPr>
            <a:r>
              <a:rPr lang="en-US" sz="1050" b="1" dirty="0">
                <a:solidFill>
                  <a:srgbClr val="1B2733"/>
                </a:solidFill>
                <a:latin typeface="Yu Gothic" pitchFamily="34" charset="0"/>
                <a:ea typeface="Yu Gothic" pitchFamily="34" charset="-122"/>
                <a:cs typeface="Yu Gothic" pitchFamily="34" charset="-120"/>
              </a:rPr>
              <a:t>業務上知った情報の扱いと、違反した場合に何が起きるかを説明できる。</a:t>
            </a:r>
            <a:endParaRPr lang="en-US" sz="950" dirty="0"/>
          </a:p>
          <a:p>
            <a:pPr indent="0" marL="0">
              <a:lnSpc>
                <a:spcPct val="90000"/>
              </a:lnSpc>
              <a:buNone/>
            </a:pPr>
            <a:r>
              <a:rPr lang="en-US" sz="850" i="1" dirty="0">
                <a:solidFill>
                  <a:srgbClr val="5F7183"/>
                </a:solidFill>
                <a:latin typeface="Calibri" pitchFamily="34" charset="0"/>
                <a:ea typeface="Calibri" pitchFamily="34" charset="-122"/>
                <a:cs typeface="Calibri" pitchFamily="34" charset="-120"/>
              </a:rPr>
              <a:t>You can explain how to handle information learned on duty, and what happens if you breach it.</a:t>
            </a:r>
            <a:endParaRPr lang="en-US" sz="950" dirty="0"/>
          </a:p>
        </p:txBody>
      </p:sp>
      <p:sp>
        <p:nvSpPr>
          <p:cNvPr id="8" name="Shape 5"/>
          <p:cNvSpPr/>
          <p:nvPr/>
        </p:nvSpPr>
        <p:spPr>
          <a:xfrm>
            <a:off x="640080" y="1810512"/>
            <a:ext cx="5327752" cy="1920240"/>
          </a:xfrm>
          <a:prstGeom prst="roundRect">
            <a:avLst>
              <a:gd name="adj" fmla="val 1905"/>
            </a:avLst>
          </a:prstGeom>
          <a:solidFill>
            <a:srgbClr val="EFF4F8"/>
          </a:solidFill>
          <a:ln/>
        </p:spPr>
      </p:sp>
      <p:sp>
        <p:nvSpPr>
          <p:cNvPr id="9" name="Shape 6"/>
          <p:cNvSpPr/>
          <p:nvPr/>
        </p:nvSpPr>
        <p:spPr>
          <a:xfrm>
            <a:off x="822960" y="1975104"/>
            <a:ext cx="310896" cy="310896"/>
          </a:xfrm>
          <a:prstGeom prst="ellipse">
            <a:avLst/>
          </a:prstGeom>
          <a:solidFill>
            <a:srgbClr val="093259"/>
          </a:solidFill>
          <a:ln/>
        </p:spPr>
      </p:sp>
      <p:sp>
        <p:nvSpPr>
          <p:cNvPr id="10" name="Text 7"/>
          <p:cNvSpPr/>
          <p:nvPr/>
        </p:nvSpPr>
        <p:spPr>
          <a:xfrm>
            <a:off x="822960" y="19751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207008" y="1938528"/>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業務上知った情報</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Information Learned on Duty</a:t>
            </a:r>
            <a:endParaRPr lang="en-US" sz="1200" dirty="0"/>
          </a:p>
        </p:txBody>
      </p:sp>
      <p:sp>
        <p:nvSpPr>
          <p:cNvPr id="12" name="Text 9"/>
          <p:cNvSpPr/>
          <p:nvPr/>
        </p:nvSpPr>
        <p:spPr>
          <a:xfrm>
            <a:off x="859536" y="2487168"/>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・フロア配置、社員の動向、来客、トラブル、設備。すべて他言禁止</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Floor layout, staff movements, visitors, incidents, equipment. None of it may be discussed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・家族・同僚・他現場の警備員に対しても同じ</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The same applies to family, colleagues, and guards at other sites</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・「もう終わった話」も対象。時間の経過で解除されない</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It applies to closed matters too. Time does not release the obligation</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・退職後も守秘義務は継続する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The obligation continues after you leave employment</a:t>
            </a:r>
            <a:endParaRPr lang="en-US" sz="950" dirty="0"/>
          </a:p>
        </p:txBody>
      </p:sp>
      <p:sp>
        <p:nvSpPr>
          <p:cNvPr id="13" name="Shape 10"/>
          <p:cNvSpPr/>
          <p:nvPr/>
        </p:nvSpPr>
        <p:spPr>
          <a:xfrm>
            <a:off x="6223864" y="1810512"/>
            <a:ext cx="5327752" cy="1920240"/>
          </a:xfrm>
          <a:prstGeom prst="roundRect">
            <a:avLst>
              <a:gd name="adj" fmla="val 1905"/>
            </a:avLst>
          </a:prstGeom>
          <a:solidFill>
            <a:srgbClr val="F7FAFC"/>
          </a:solidFill>
          <a:ln/>
        </p:spPr>
      </p:sp>
      <p:sp>
        <p:nvSpPr>
          <p:cNvPr id="14" name="Shape 11"/>
          <p:cNvSpPr/>
          <p:nvPr/>
        </p:nvSpPr>
        <p:spPr>
          <a:xfrm>
            <a:off x="6406744" y="1975104"/>
            <a:ext cx="310896" cy="310896"/>
          </a:xfrm>
          <a:prstGeom prst="ellipse">
            <a:avLst/>
          </a:prstGeom>
          <a:solidFill>
            <a:srgbClr val="093259"/>
          </a:solidFill>
          <a:ln/>
        </p:spPr>
      </p:sp>
      <p:sp>
        <p:nvSpPr>
          <p:cNvPr id="15" name="Text 12"/>
          <p:cNvSpPr/>
          <p:nvPr/>
        </p:nvSpPr>
        <p:spPr>
          <a:xfrm>
            <a:off x="6406744" y="19751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90792" y="1938528"/>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SNSと撮影</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Social Media and Photography</a:t>
            </a:r>
            <a:endParaRPr lang="en-US" sz="1200" dirty="0"/>
          </a:p>
        </p:txBody>
      </p:sp>
      <p:sp>
        <p:nvSpPr>
          <p:cNvPr id="17" name="Text 14"/>
          <p:cNvSpPr/>
          <p:nvPr/>
        </p:nvSpPr>
        <p:spPr>
          <a:xfrm>
            <a:off x="6443320" y="2487168"/>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・業務中の撮影は原則禁止。制服・社章が写るものも含む</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Photography on duty is prohibited as a rule, including anything showing uniform or insignia</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・勤務先が特定できる投稿をしない。位置情報にも注意</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Do not post anything that identifies the site. Watch location metadata</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・「誰にも分からない」は成立しない。内装や窓景で特定される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"Nobody will know" does not hold. Interiors and views identify a building</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・業務用端末で撮影した画像も、私物に移さない</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Do not move images from a work device to a personal one</a:t>
            </a:r>
            <a:endParaRPr lang="en-US" sz="950" dirty="0"/>
          </a:p>
        </p:txBody>
      </p:sp>
      <p:sp>
        <p:nvSpPr>
          <p:cNvPr id="18" name="Shape 15"/>
          <p:cNvSpPr/>
          <p:nvPr/>
        </p:nvSpPr>
        <p:spPr>
          <a:xfrm>
            <a:off x="640080" y="3931920"/>
            <a:ext cx="5327752" cy="1920240"/>
          </a:xfrm>
          <a:prstGeom prst="roundRect">
            <a:avLst>
              <a:gd name="adj" fmla="val 1905"/>
            </a:avLst>
          </a:prstGeom>
          <a:solidFill>
            <a:srgbClr val="EFF4F8"/>
          </a:solidFill>
          <a:ln/>
        </p:spPr>
      </p:sp>
      <p:sp>
        <p:nvSpPr>
          <p:cNvPr id="19" name="Shape 16"/>
          <p:cNvSpPr/>
          <p:nvPr/>
        </p:nvSpPr>
        <p:spPr>
          <a:xfrm>
            <a:off x="822960" y="4096512"/>
            <a:ext cx="310896" cy="310896"/>
          </a:xfrm>
          <a:prstGeom prst="ellipse">
            <a:avLst/>
          </a:prstGeom>
          <a:solidFill>
            <a:srgbClr val="093259"/>
          </a:solidFill>
          <a:ln/>
        </p:spPr>
      </p:sp>
      <p:sp>
        <p:nvSpPr>
          <p:cNvPr id="20" name="Text 17"/>
          <p:cNvSpPr/>
          <p:nvPr/>
        </p:nvSpPr>
        <p:spPr>
          <a:xfrm>
            <a:off x="822960" y="4096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8"/>
          <p:cNvSpPr/>
          <p:nvPr/>
        </p:nvSpPr>
        <p:spPr>
          <a:xfrm>
            <a:off x="1207008" y="4059936"/>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営業秘密の3要件</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The Three Tests for a Trade Secret</a:t>
            </a:r>
            <a:endParaRPr lang="en-US" sz="1200" dirty="0"/>
          </a:p>
        </p:txBody>
      </p:sp>
      <p:sp>
        <p:nvSpPr>
          <p:cNvPr id="22" name="Text 19"/>
          <p:cNvSpPr/>
          <p:nvPr/>
        </p:nvSpPr>
        <p:spPr>
          <a:xfrm>
            <a:off x="859536" y="4608576"/>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・秘密管理性：秘密として管理されていること</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Managed as a secret</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・有用性：事業活動に有用な技術上・営業上の情報であること</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Useful to business activity, technically or commercially</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・非公知性：公然と知られていないこと</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Not publicly known</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・3つを満たす情報を侵害すると、不正競争防止法上の刑事罰の対象になりうる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Infringing information that meets all three can carry criminal penalties</a:t>
            </a:r>
            <a:endParaRPr lang="en-US" sz="950" dirty="0"/>
          </a:p>
        </p:txBody>
      </p:sp>
      <p:sp>
        <p:nvSpPr>
          <p:cNvPr id="23" name="Shape 20"/>
          <p:cNvSpPr/>
          <p:nvPr/>
        </p:nvSpPr>
        <p:spPr>
          <a:xfrm>
            <a:off x="6223864" y="3931920"/>
            <a:ext cx="5327752" cy="1920240"/>
          </a:xfrm>
          <a:prstGeom prst="roundRect">
            <a:avLst>
              <a:gd name="adj" fmla="val 1905"/>
            </a:avLst>
          </a:prstGeom>
          <a:solidFill>
            <a:srgbClr val="F7FAFC"/>
          </a:solidFill>
          <a:ln/>
        </p:spPr>
      </p:sp>
      <p:sp>
        <p:nvSpPr>
          <p:cNvPr id="24" name="Shape 21"/>
          <p:cNvSpPr/>
          <p:nvPr/>
        </p:nvSpPr>
        <p:spPr>
          <a:xfrm>
            <a:off x="6406744" y="4096512"/>
            <a:ext cx="310896" cy="310896"/>
          </a:xfrm>
          <a:prstGeom prst="ellipse">
            <a:avLst/>
          </a:prstGeom>
          <a:solidFill>
            <a:srgbClr val="093259"/>
          </a:solidFill>
          <a:ln/>
        </p:spPr>
      </p:sp>
      <p:sp>
        <p:nvSpPr>
          <p:cNvPr id="25" name="Text 22"/>
          <p:cNvSpPr/>
          <p:nvPr/>
        </p:nvSpPr>
        <p:spPr>
          <a:xfrm>
            <a:off x="6406744" y="4096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p:nvPr/>
        </p:nvSpPr>
        <p:spPr>
          <a:xfrm>
            <a:off x="6790792" y="4059936"/>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実務での境界</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Where the Line Falls in Practice</a:t>
            </a:r>
            <a:endParaRPr lang="en-US" sz="1200" dirty="0"/>
          </a:p>
        </p:txBody>
      </p:sp>
      <p:sp>
        <p:nvSpPr>
          <p:cNvPr id="27" name="Text 24"/>
          <p:cNvSpPr/>
          <p:nvPr/>
        </p:nvSpPr>
        <p:spPr>
          <a:xfrm>
            <a:off x="6443320" y="4608576"/>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・落ちている書類は「読まない」。表紙の分類表示までで判断する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Do not read a document you find. Judge from the classification on the cover</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・会話が聞こえてしまうことは避けられない。記憶を持ち出さない</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You cannot avoid overhearing. Do not carry what you heard out with you</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・来訪者名簿・入退室ログは、業務目的以外で見ない</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Do not look at visitor lists or access logs outside their purpose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・判断に迷った情報は、上長に「扱ってよいか」を先に聞く</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If unsure, ask your supervisor whether you may handle it, before you do</a:t>
            </a:r>
            <a:endParaRPr lang="en-US" sz="950" dirty="0"/>
          </a:p>
        </p:txBody>
      </p:sp>
      <p:sp>
        <p:nvSpPr>
          <p:cNvPr id="28" name="Text 25"/>
          <p:cNvSpPr/>
          <p:nvPr/>
        </p:nvSpPr>
        <p:spPr>
          <a:xfrm>
            <a:off x="640080" y="5907024"/>
            <a:ext cx="10911535" cy="310896"/>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機密書類の取扱フロー、撮影可否、私物端末の持込可否は現場ごとに異なる。Site SOPを確認する。</a:t>
            </a:r>
            <a:endParaRPr lang="en-US" sz="900" dirty="0"/>
          </a:p>
          <a:p>
            <a:pPr indent="0" marL="0">
              <a:lnSpc>
                <a:spcPct val="88000"/>
              </a:lnSpc>
              <a:buNone/>
            </a:pPr>
            <a:r>
              <a:rPr lang="en-US" sz="750" i="1" dirty="0">
                <a:solidFill>
                  <a:srgbClr val="5F7183"/>
                </a:solidFill>
                <a:latin typeface="Calibri" pitchFamily="34" charset="0"/>
                <a:ea typeface="Calibri" pitchFamily="34" charset="-122"/>
                <a:cs typeface="Calibri" pitchFamily="34" charset="-120"/>
              </a:rPr>
              <a:t>Handling of confidential documents, photography, and personal devices differ by site. Check the Site SOP.</a:t>
            </a:r>
            <a:endParaRPr lang="en-US" sz="900" dirty="0"/>
          </a:p>
        </p:txBody>
      </p:sp>
      <p:sp>
        <p:nvSpPr>
          <p:cNvPr id="29" name="Text 26"/>
          <p:cNvSpPr/>
          <p:nvPr/>
        </p:nvSpPr>
        <p:spPr>
          <a:xfrm>
            <a:off x="640080" y="6272784"/>
            <a:ext cx="9905695" cy="237744"/>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個人情報保護法、不正競争防止法、経済産業省「営業秘密管理指針」</a:t>
            </a:r>
            <a:endParaRPr lang="en-US" sz="750" dirty="0"/>
          </a:p>
        </p:txBody>
      </p:sp>
      <p:sp>
        <p:nvSpPr>
          <p:cNvPr id="30" name="Text 27"/>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31" name="Text 28"/>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93259"/>
                </a:solidFill>
                <a:latin typeface="Yu Gothic" pitchFamily="34" charset="0"/>
                <a:ea typeface="Yu Gothic" pitchFamily="34" charset="-122"/>
                <a:cs typeface="Yu Gothic" pitchFamily="34" charset="-120"/>
              </a:rPr>
              <a:t>警備業法 第15条</a:t>
            </a:r>
            <a:endParaRPr lang="en-US" sz="2700" dirty="0"/>
          </a:p>
          <a:p>
            <a:pPr indent="0" marL="0">
              <a:lnSpc>
                <a:spcPct val="94000"/>
              </a:lnSpc>
              <a:buNone/>
            </a:pPr>
            <a:r>
              <a:rPr lang="en-US" sz="1250" i="1" dirty="0">
                <a:solidFill>
                  <a:srgbClr val="12B198"/>
                </a:solidFill>
                <a:latin typeface="Calibri" pitchFamily="34" charset="0"/>
                <a:ea typeface="Calibri" pitchFamily="34" charset="-122"/>
                <a:cs typeface="Calibri" pitchFamily="34" charset="-120"/>
              </a:rPr>
              <a:t>Security Services Act, Article 15</a:t>
            </a:r>
            <a:endParaRPr lang="en-US" sz="2700" dirty="0"/>
          </a:p>
        </p:txBody>
      </p:sp>
      <p:sp>
        <p:nvSpPr>
          <p:cNvPr id="4" name="Shape 1"/>
          <p:cNvSpPr/>
          <p:nvPr/>
        </p:nvSpPr>
        <p:spPr>
          <a:xfrm>
            <a:off x="640080" y="1627632"/>
            <a:ext cx="10911535" cy="2395728"/>
          </a:xfrm>
          <a:prstGeom prst="roundRect">
            <a:avLst>
              <a:gd name="adj" fmla="val 1908"/>
            </a:avLst>
          </a:prstGeom>
          <a:solidFill>
            <a:srgbClr val="093259"/>
          </a:solidFill>
          <a:ln/>
        </p:spPr>
      </p:sp>
      <p:sp>
        <p:nvSpPr>
          <p:cNvPr id="5" name="Text 2"/>
          <p:cNvSpPr/>
          <p:nvPr/>
        </p:nvSpPr>
        <p:spPr>
          <a:xfrm>
            <a:off x="1097280" y="1938528"/>
            <a:ext cx="9997135" cy="1014984"/>
          </a:xfrm>
          <a:prstGeom prst="rect">
            <a:avLst/>
          </a:prstGeom>
          <a:noFill/>
          <a:ln/>
        </p:spPr>
        <p:txBody>
          <a:bodyPr wrap="square" lIns="0" tIns="0" rIns="0" bIns="0" rtlCol="0" anchor="t"/>
          <a:lstStyle/>
          <a:p>
            <a:pPr indent="0" marL="0">
              <a:lnSpc>
                <a:spcPct val="102000"/>
              </a:lnSpc>
              <a:buNone/>
            </a:pPr>
            <a:r>
              <a:rPr lang="en-US" sz="1450" b="1" dirty="0">
                <a:solidFill>
                  <a:srgbClr val="FFFFFF"/>
                </a:solidFill>
                <a:latin typeface="Yu Gothic" pitchFamily="34" charset="0"/>
                <a:ea typeface="Yu Gothic" pitchFamily="34" charset="-122"/>
                <a:cs typeface="Yu Gothic" pitchFamily="34" charset="-120"/>
              </a:rPr>
              <a:t>警備業者及び警備員は、警備業務を行うに当たっては、この法律により特別に権限を与えられているものでないことに留意するとともに、他人の権利及び自由を侵害し、又は個人若しくは団体の正当な活動に干渉してはならない。</a:t>
            </a:r>
            <a:endParaRPr lang="en-US" sz="1450" dirty="0"/>
          </a:p>
        </p:txBody>
      </p:sp>
      <p:sp>
        <p:nvSpPr>
          <p:cNvPr id="6" name="Text 3"/>
          <p:cNvSpPr/>
          <p:nvPr/>
        </p:nvSpPr>
        <p:spPr>
          <a:xfrm>
            <a:off x="1097280" y="2971800"/>
            <a:ext cx="9997135" cy="795528"/>
          </a:xfrm>
          <a:prstGeom prst="rect">
            <a:avLst/>
          </a:prstGeom>
          <a:noFill/>
          <a:ln/>
        </p:spPr>
        <p:txBody>
          <a:bodyPr wrap="square" lIns="0" tIns="0" rIns="0" bIns="0" rtlCol="0" anchor="t"/>
          <a:lstStyle/>
          <a:p>
            <a:pPr indent="0" marL="0">
              <a:lnSpc>
                <a:spcPct val="100000"/>
              </a:lnSpc>
              <a:buNone/>
            </a:pPr>
            <a:r>
              <a:rPr lang="en-US" sz="1050" i="1" dirty="0">
                <a:solidFill>
                  <a:srgbClr val="9FD8CD"/>
                </a:solidFill>
                <a:latin typeface="Calibri" pitchFamily="34" charset="0"/>
                <a:ea typeface="Calibri" pitchFamily="34" charset="-122"/>
                <a:cs typeface="Calibri" pitchFamily="34" charset="-120"/>
              </a:rPr>
              <a:t>When carrying out security operations, security businesses and guards must remember that this Act gives them no special authority. They must not infringe the rights or freedoms of others, and must not interfere with lawful activities.</a:t>
            </a:r>
            <a:endParaRPr lang="en-US" sz="1050" dirty="0"/>
          </a:p>
        </p:txBody>
      </p:sp>
      <p:sp>
        <p:nvSpPr>
          <p:cNvPr id="7" name="Text 4"/>
          <p:cNvSpPr/>
          <p:nvPr/>
        </p:nvSpPr>
        <p:spPr>
          <a:xfrm>
            <a:off x="1097280" y="3639312"/>
            <a:ext cx="9997135" cy="274320"/>
          </a:xfrm>
          <a:prstGeom prst="rect">
            <a:avLst/>
          </a:prstGeom>
          <a:noFill/>
          <a:ln/>
        </p:spPr>
        <p:txBody>
          <a:bodyPr wrap="square" lIns="0" tIns="0" rIns="0" bIns="0" rtlCol="0" anchor="ctr"/>
          <a:lstStyle/>
          <a:p>
            <a:pPr algn="r" indent="0" marL="0">
              <a:buNone/>
            </a:pPr>
            <a:r>
              <a:rPr lang="en-US" sz="1000" dirty="0">
                <a:solidFill>
                  <a:srgbClr val="12B198"/>
                </a:solidFill>
                <a:latin typeface="Calibri" pitchFamily="34" charset="0"/>
                <a:ea typeface="Calibri" pitchFamily="34" charset="-122"/>
                <a:cs typeface="Calibri" pitchFamily="34" charset="-120"/>
              </a:rPr>
              <a:t>警備業法 第15条 / Article 15</a:t>
            </a:r>
            <a:endParaRPr lang="en-US" sz="1000" dirty="0"/>
          </a:p>
        </p:txBody>
      </p:sp>
      <p:sp>
        <p:nvSpPr>
          <p:cNvPr id="8" name="Shape 5"/>
          <p:cNvSpPr/>
          <p:nvPr/>
        </p:nvSpPr>
        <p:spPr>
          <a:xfrm>
            <a:off x="640080" y="4937760"/>
            <a:ext cx="10911535" cy="1298448"/>
          </a:xfrm>
          <a:prstGeom prst="roundRect">
            <a:avLst>
              <a:gd name="adj" fmla="val 3521"/>
            </a:avLst>
          </a:prstGeom>
          <a:solidFill>
            <a:srgbClr val="E4F4F0"/>
          </a:solidFill>
          <a:ln/>
        </p:spPr>
      </p:sp>
      <p:sp>
        <p:nvSpPr>
          <p:cNvPr id="9" name="Shape 6"/>
          <p:cNvSpPr/>
          <p:nvPr/>
        </p:nvSpPr>
        <p:spPr>
          <a:xfrm>
            <a:off x="914400" y="5404104"/>
            <a:ext cx="365760" cy="365760"/>
          </a:xfrm>
          <a:prstGeom prst="ellipse">
            <a:avLst/>
          </a:prstGeom>
          <a:solidFill>
            <a:srgbClr val="12B198"/>
          </a:solidFill>
          <a:ln/>
        </p:spPr>
      </p:sp>
      <p:sp>
        <p:nvSpPr>
          <p:cNvPr id="10" name="Text 7"/>
          <p:cNvSpPr/>
          <p:nvPr/>
        </p:nvSpPr>
        <p:spPr>
          <a:xfrm>
            <a:off x="914400" y="540410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8"/>
          <p:cNvSpPr/>
          <p:nvPr/>
        </p:nvSpPr>
        <p:spPr>
          <a:xfrm>
            <a:off x="1499616" y="5047488"/>
            <a:ext cx="9722815" cy="1078992"/>
          </a:xfrm>
          <a:prstGeom prst="rect">
            <a:avLst/>
          </a:prstGeom>
          <a:noFill/>
          <a:ln/>
        </p:spPr>
        <p:txBody>
          <a:bodyPr wrap="square" lIns="0" tIns="0" rIns="0" bIns="0" rtlCol="0" anchor="ctr"/>
          <a:lstStyle/>
          <a:p>
            <a:pPr indent="0" marL="0">
              <a:lnSpc>
                <a:spcPct val="95000"/>
              </a:lnSpc>
              <a:buNone/>
            </a:pPr>
            <a:r>
              <a:rPr lang="en-US" sz="1450" b="1" dirty="0">
                <a:solidFill>
                  <a:srgbClr val="093259"/>
                </a:solidFill>
                <a:latin typeface="Yu Gothic" pitchFamily="34" charset="0"/>
                <a:ea typeface="Yu Gothic" pitchFamily="34" charset="-122"/>
                <a:cs typeface="Yu Gothic" pitchFamily="34" charset="-120"/>
              </a:rPr>
              <a:t>警備員の法的な立場は私人です。制服により権限が加わることはありません。</a:t>
            </a:r>
            <a:endParaRPr lang="en-US" sz="1450" dirty="0"/>
          </a:p>
          <a:p>
            <a:pPr indent="0" marL="0">
              <a:lnSpc>
                <a:spcPct val="95000"/>
              </a:lnSpc>
              <a:buNone/>
            </a:pPr>
            <a:r>
              <a:rPr lang="en-US" sz="1000" i="1" dirty="0">
                <a:solidFill>
                  <a:srgbClr val="0D8A76"/>
                </a:solidFill>
                <a:latin typeface="Calibri" pitchFamily="34" charset="0"/>
                <a:ea typeface="Calibri" pitchFamily="34" charset="-122"/>
                <a:cs typeface="Calibri" pitchFamily="34" charset="-120"/>
              </a:rPr>
              <a:t>A security guard is a private citizen in law. The uniform adds no legal authority.</a:t>
            </a:r>
            <a:endParaRPr lang="en-US" sz="1450" dirty="0"/>
          </a:p>
        </p:txBody>
      </p:sp>
      <p:sp>
        <p:nvSpPr>
          <p:cNvPr id="12" name="Text 9"/>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13" name="Text 10"/>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93259"/>
                </a:solidFill>
                <a:latin typeface="Yu Gothic" pitchFamily="34" charset="0"/>
                <a:ea typeface="Yu Gothic" pitchFamily="34" charset="-122"/>
                <a:cs typeface="Yu Gothic" pitchFamily="34" charset="-120"/>
              </a:rPr>
              <a:t>警察官と警備員 ― 権限の違い</a:t>
            </a:r>
            <a:endParaRPr lang="en-US" sz="2700" dirty="0"/>
          </a:p>
          <a:p>
            <a:pPr indent="0" marL="0">
              <a:lnSpc>
                <a:spcPct val="94000"/>
              </a:lnSpc>
              <a:buNone/>
            </a:pPr>
            <a:r>
              <a:rPr lang="en-US" sz="1250" i="1" dirty="0">
                <a:solidFill>
                  <a:srgbClr val="12B198"/>
                </a:solidFill>
                <a:latin typeface="Calibri" pitchFamily="34" charset="0"/>
                <a:ea typeface="Calibri" pitchFamily="34" charset="-122"/>
                <a:cs typeface="Calibri" pitchFamily="34" charset="-120"/>
              </a:rPr>
              <a:t>Police Officers and Security Guards — Different Powers</a:t>
            </a:r>
            <a:endParaRPr lang="en-US" sz="2700" dirty="0"/>
          </a:p>
        </p:txBody>
      </p:sp>
      <p:sp>
        <p:nvSpPr>
          <p:cNvPr id="4" name="Text 1"/>
          <p:cNvSpPr/>
          <p:nvPr/>
        </p:nvSpPr>
        <p:spPr>
          <a:xfrm>
            <a:off x="640080" y="1517904"/>
            <a:ext cx="10911535" cy="530352"/>
          </a:xfrm>
          <a:prstGeom prst="rect">
            <a:avLst/>
          </a:prstGeom>
          <a:noFill/>
          <a:ln/>
        </p:spPr>
        <p:txBody>
          <a:bodyPr wrap="square" lIns="0" tIns="0" rIns="0" bIns="0" rtlCol="0" anchor="t"/>
          <a:lstStyle/>
          <a:p>
            <a:pPr algn="l" indent="0" marL="0">
              <a:lnSpc>
                <a:spcPct val="92000"/>
              </a:lnSpc>
              <a:buNone/>
            </a:pPr>
            <a:r>
              <a:rPr lang="en-US" sz="1300" dirty="0">
                <a:solidFill>
                  <a:srgbClr val="093259"/>
                </a:solidFill>
                <a:latin typeface="Yu Gothic" pitchFamily="34" charset="0"/>
                <a:ea typeface="Yu Gothic" pitchFamily="34" charset="-122"/>
                <a:cs typeface="Yu Gothic" pitchFamily="34" charset="-120"/>
              </a:rPr>
              <a:t>警察官には法律で与えられた権限があります。警備員にはありません。</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Police officers have powers granted by law. Security guards do not.</a:t>
            </a:r>
            <a:endParaRPr lang="en-US" sz="1300" dirty="0"/>
          </a:p>
        </p:txBody>
      </p:sp>
      <p:sp>
        <p:nvSpPr>
          <p:cNvPr id="5" name="Shape 2"/>
          <p:cNvSpPr/>
          <p:nvPr/>
        </p:nvSpPr>
        <p:spPr>
          <a:xfrm>
            <a:off x="640080" y="2231136"/>
            <a:ext cx="5300320" cy="3163824"/>
          </a:xfrm>
          <a:prstGeom prst="roundRect">
            <a:avLst>
              <a:gd name="adj" fmla="val 1445"/>
            </a:avLst>
          </a:prstGeom>
          <a:solidFill>
            <a:srgbClr val="EFF4F8"/>
          </a:solidFill>
          <a:ln/>
        </p:spPr>
      </p:sp>
      <p:sp>
        <p:nvSpPr>
          <p:cNvPr id="6" name="Text 3"/>
          <p:cNvSpPr/>
          <p:nvPr/>
        </p:nvSpPr>
        <p:spPr>
          <a:xfrm>
            <a:off x="914400" y="2450592"/>
            <a:ext cx="4751680" cy="676656"/>
          </a:xfrm>
          <a:prstGeom prst="rect">
            <a:avLst/>
          </a:prstGeom>
          <a:noFill/>
          <a:ln/>
        </p:spPr>
        <p:txBody>
          <a:bodyPr wrap="square" lIns="0" tIns="0" rIns="0" bIns="0" rtlCol="0" anchor="t"/>
          <a:lstStyle/>
          <a:p>
            <a:pPr indent="0" marL="0">
              <a:lnSpc>
                <a:spcPct val="90000"/>
              </a:lnSpc>
              <a:buNone/>
            </a:pPr>
            <a:r>
              <a:rPr lang="en-US" sz="1600" b="1" dirty="0">
                <a:solidFill>
                  <a:srgbClr val="093259"/>
                </a:solidFill>
                <a:latin typeface="Yu Gothic" pitchFamily="34" charset="0"/>
                <a:ea typeface="Yu Gothic" pitchFamily="34" charset="-122"/>
                <a:cs typeface="Yu Gothic" pitchFamily="34" charset="-120"/>
              </a:rPr>
              <a:t>警察官にある権限</a:t>
            </a:r>
            <a:endParaRPr lang="en-US" sz="1600" dirty="0"/>
          </a:p>
          <a:p>
            <a:pPr indent="0" marL="0">
              <a:lnSpc>
                <a:spcPct val="90000"/>
              </a:lnSpc>
              <a:buNone/>
            </a:pPr>
            <a:r>
              <a:rPr lang="en-US" sz="1000" i="1" dirty="0">
                <a:solidFill>
                  <a:srgbClr val="5F7183"/>
                </a:solidFill>
                <a:latin typeface="Calibri" pitchFamily="34" charset="0"/>
                <a:ea typeface="Calibri" pitchFamily="34" charset="-122"/>
                <a:cs typeface="Calibri" pitchFamily="34" charset="-120"/>
              </a:rPr>
              <a:t>Police powers (Police Duties Execution Act)</a:t>
            </a:r>
            <a:endParaRPr lang="en-US" sz="1600" dirty="0"/>
          </a:p>
        </p:txBody>
      </p:sp>
      <p:sp>
        <p:nvSpPr>
          <p:cNvPr id="7" name="Text 4"/>
          <p:cNvSpPr/>
          <p:nvPr/>
        </p:nvSpPr>
        <p:spPr>
          <a:xfrm>
            <a:off x="914400" y="3218688"/>
            <a:ext cx="4751680" cy="1938528"/>
          </a:xfrm>
          <a:prstGeom prst="rect">
            <a:avLst/>
          </a:prstGeom>
          <a:noFill/>
          <a:ln/>
        </p:spPr>
        <p:txBody>
          <a:bodyPr wrap="square" lIns="0" tIns="0" rIns="0" bIns="0" rtlCol="0" anchor="t"/>
          <a:lstStyle/>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・職務質問（第2条）</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Stop and question a person (Art. 2)</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・保護（第3条）、避難等の措置（第4条）</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Protective custody (Art. 3). Order evacuation (Art. 4)</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・犯罪の予防及び制止（第5条）</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Prevent and stop a crime (Art. 5)</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・立入（第6条）、武器の使用（第7条）</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Enter premises (Art. 6). Use weapons (Art. 7)</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・逮捕状による逮捕、取り調べ</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Arrest by warrant. Interrogation</a:t>
            </a:r>
            <a:endParaRPr lang="en-US" sz="1250" dirty="0"/>
          </a:p>
        </p:txBody>
      </p:sp>
      <p:sp>
        <p:nvSpPr>
          <p:cNvPr id="8" name="Shape 5"/>
          <p:cNvSpPr/>
          <p:nvPr/>
        </p:nvSpPr>
        <p:spPr>
          <a:xfrm>
            <a:off x="6251296" y="2231136"/>
            <a:ext cx="5300320" cy="3163824"/>
          </a:xfrm>
          <a:prstGeom prst="roundRect">
            <a:avLst>
              <a:gd name="adj" fmla="val 1445"/>
            </a:avLst>
          </a:prstGeom>
          <a:solidFill>
            <a:srgbClr val="E4F4F0"/>
          </a:solidFill>
          <a:ln/>
        </p:spPr>
      </p:sp>
      <p:sp>
        <p:nvSpPr>
          <p:cNvPr id="9" name="Text 6"/>
          <p:cNvSpPr/>
          <p:nvPr/>
        </p:nvSpPr>
        <p:spPr>
          <a:xfrm>
            <a:off x="6525616" y="2450592"/>
            <a:ext cx="4751680" cy="676656"/>
          </a:xfrm>
          <a:prstGeom prst="rect">
            <a:avLst/>
          </a:prstGeom>
          <a:noFill/>
          <a:ln/>
        </p:spPr>
        <p:txBody>
          <a:bodyPr wrap="square" lIns="0" tIns="0" rIns="0" bIns="0" rtlCol="0" anchor="t"/>
          <a:lstStyle/>
          <a:p>
            <a:pPr indent="0" marL="0">
              <a:lnSpc>
                <a:spcPct val="90000"/>
              </a:lnSpc>
              <a:buNone/>
            </a:pPr>
            <a:r>
              <a:rPr lang="en-US" sz="1600" b="1" dirty="0">
                <a:solidFill>
                  <a:srgbClr val="0D8A76"/>
                </a:solidFill>
                <a:latin typeface="Yu Gothic" pitchFamily="34" charset="0"/>
                <a:ea typeface="Yu Gothic" pitchFamily="34" charset="-122"/>
                <a:cs typeface="Yu Gothic" pitchFamily="34" charset="-120"/>
              </a:rPr>
              <a:t>警備員にある権限</a:t>
            </a:r>
            <a:endParaRPr lang="en-US" sz="1600" dirty="0"/>
          </a:p>
          <a:p>
            <a:pPr indent="0" marL="0">
              <a:lnSpc>
                <a:spcPct val="90000"/>
              </a:lnSpc>
              <a:buNone/>
            </a:pPr>
            <a:r>
              <a:rPr lang="en-US" sz="1000" i="1" dirty="0">
                <a:solidFill>
                  <a:srgbClr val="5F7183"/>
                </a:solidFill>
                <a:latin typeface="Calibri" pitchFamily="34" charset="0"/>
                <a:ea typeface="Calibri" pitchFamily="34" charset="-122"/>
                <a:cs typeface="Calibri" pitchFamily="34" charset="-120"/>
              </a:rPr>
              <a:t>What a security guard has</a:t>
            </a:r>
            <a:endParaRPr lang="en-US" sz="1600" dirty="0"/>
          </a:p>
        </p:txBody>
      </p:sp>
      <p:sp>
        <p:nvSpPr>
          <p:cNvPr id="10" name="Text 7"/>
          <p:cNvSpPr/>
          <p:nvPr/>
        </p:nvSpPr>
        <p:spPr>
          <a:xfrm>
            <a:off x="6525616" y="3218688"/>
            <a:ext cx="4751680" cy="1938528"/>
          </a:xfrm>
          <a:prstGeom prst="rect">
            <a:avLst/>
          </a:prstGeom>
          <a:noFill/>
          <a:ln/>
        </p:spPr>
        <p:txBody>
          <a:bodyPr wrap="square" lIns="0" tIns="0" rIns="0" bIns="0" rtlCol="0" anchor="t"/>
          <a:lstStyle/>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・左の権限は、いずれもありません</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None of the powers on the left</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・現行犯逮捕（刑訴法213条）― 誰でもできる</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Arrest of a flagrant offender — anyone may do this</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・正当防衛（刑法36条）、緊急避難（37条）― 誰でもできる</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Self-defence and necessity — anyone may do this</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・管理権者から委ねられた範囲</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What the site authority has delegated</a:t>
            </a:r>
            <a:endParaRPr lang="en-US" sz="1250" dirty="0"/>
          </a:p>
          <a:p>
            <a:pPr indent="0" marL="0">
              <a:lnSpc>
                <a:spcPct val="94000"/>
              </a:lnSpc>
              <a:spcAft>
                <a:spcPts val="300"/>
              </a:spcAft>
              <a:buNone/>
            </a:pPr>
            <a:r>
              <a:rPr lang="en-US" sz="1250" b="1" dirty="0">
                <a:solidFill>
                  <a:srgbClr val="1B2733"/>
                </a:solidFill>
                <a:latin typeface="Yu Gothic" pitchFamily="34" charset="0"/>
                <a:ea typeface="Yu Gothic" pitchFamily="34" charset="-122"/>
                <a:cs typeface="Yu Gothic" pitchFamily="34" charset="-120"/>
              </a:rPr>
              <a:t>・その範囲は契約と警備指令書で決まります</a:t>
            </a:r>
            <a:endParaRPr lang="en-US" sz="1250" dirty="0"/>
          </a:p>
          <a:p>
            <a:pPr indent="0" marL="0">
              <a:lnSpc>
                <a:spcPct val="94000"/>
              </a:lnSpc>
              <a:spcAft>
                <a:spcPts val="300"/>
              </a:spcAft>
              <a:buNone/>
            </a:pPr>
            <a:r>
              <a:rPr lang="en-US" sz="950" i="1" dirty="0">
                <a:solidFill>
                  <a:srgbClr val="5F7183"/>
                </a:solidFill>
                <a:latin typeface="Calibri" pitchFamily="34" charset="0"/>
                <a:ea typeface="Calibri" pitchFamily="34" charset="-122"/>
                <a:cs typeface="Calibri" pitchFamily="34" charset="-120"/>
              </a:rPr>
              <a:t>    That scope is set by the contract and the post orders</a:t>
            </a:r>
            <a:endParaRPr lang="en-US" sz="1250" dirty="0"/>
          </a:p>
        </p:txBody>
      </p:sp>
      <p:sp>
        <p:nvSpPr>
          <p:cNvPr id="11" name="Text 8"/>
          <p:cNvSpPr/>
          <p:nvPr/>
        </p:nvSpPr>
        <p:spPr>
          <a:xfrm>
            <a:off x="640080" y="5614416"/>
            <a:ext cx="10911535" cy="621792"/>
          </a:xfrm>
          <a:prstGeom prst="rect">
            <a:avLst/>
          </a:prstGeom>
          <a:noFill/>
          <a:ln/>
        </p:spPr>
        <p:txBody>
          <a:bodyPr wrap="square" lIns="0" tIns="0" rIns="0" bIns="0" rtlCol="0" anchor="t"/>
          <a:lstStyle/>
          <a:p>
            <a:pPr algn="l" indent="0" marL="0">
              <a:lnSpc>
                <a:spcPct val="92000"/>
              </a:lnSpc>
              <a:buNone/>
            </a:pPr>
            <a:r>
              <a:rPr lang="en-US" sz="1300" b="1" dirty="0">
                <a:solidFill>
                  <a:srgbClr val="0D8A76"/>
                </a:solidFill>
                <a:latin typeface="Yu Gothic" pitchFamily="34" charset="0"/>
                <a:ea typeface="Yu Gothic" pitchFamily="34" charset="-122"/>
                <a:cs typeface="Yu Gothic" pitchFamily="34" charset="-120"/>
              </a:rPr>
              <a:t>警備業法第16条 ― 警備員の服装は、警察官など公務員の制服と明確に識別できるものでなければなりません。</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Security Services Act Art. 16 — a guard's uniform must be clearly distinguishable from the uniform of a police officer or other public official.</a:t>
            </a:r>
            <a:endParaRPr lang="en-US" sz="1300" dirty="0"/>
          </a:p>
        </p:txBody>
      </p:sp>
      <p:sp>
        <p:nvSpPr>
          <p:cNvPr id="12" name="Text 9"/>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13" name="Text 10"/>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84048"/>
            <a:ext cx="8982151" cy="768096"/>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権限の根拠は2つだけ</a:t>
            </a:r>
            <a:endParaRPr lang="en-US" sz="2300" dirty="0"/>
          </a:p>
          <a:p>
            <a:pPr indent="0" marL="0">
              <a:lnSpc>
                <a:spcPct val="94000"/>
              </a:lnSpc>
              <a:buNone/>
            </a:pPr>
            <a:r>
              <a:rPr lang="en-US" sz="1100" i="1" dirty="0">
                <a:solidFill>
                  <a:srgbClr val="12B198"/>
                </a:solidFill>
                <a:latin typeface="Calibri" pitchFamily="34" charset="0"/>
                <a:ea typeface="Calibri" pitchFamily="34" charset="-122"/>
                <a:cs typeface="Calibri" pitchFamily="34" charset="-120"/>
              </a:rPr>
              <a:t>Your Authority Has Only Two Sources</a:t>
            </a:r>
            <a:endParaRPr lang="en-US" sz="2300" dirty="0"/>
          </a:p>
        </p:txBody>
      </p:sp>
      <p:sp>
        <p:nvSpPr>
          <p:cNvPr id="4" name="Shape 1"/>
          <p:cNvSpPr/>
          <p:nvPr/>
        </p:nvSpPr>
        <p:spPr>
          <a:xfrm>
            <a:off x="9686239" y="438912"/>
            <a:ext cx="932688" cy="310896"/>
          </a:xfrm>
          <a:prstGeom prst="roundRect">
            <a:avLst>
              <a:gd name="adj" fmla="val 14706"/>
            </a:avLst>
          </a:prstGeom>
          <a:solidFill>
            <a:srgbClr val="093259"/>
          </a:solidFill>
          <a:ln/>
        </p:spPr>
      </p:sp>
      <p:sp>
        <p:nvSpPr>
          <p:cNvPr id="5" name="Text 2"/>
          <p:cNvSpPr/>
          <p:nvPr/>
        </p:nvSpPr>
        <p:spPr>
          <a:xfrm>
            <a:off x="9686239" y="438912"/>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B1</a:t>
            </a:r>
            <a:endParaRPr lang="en-US" sz="1100" dirty="0"/>
          </a:p>
        </p:txBody>
      </p:sp>
      <p:sp>
        <p:nvSpPr>
          <p:cNvPr id="6" name="Shape 3"/>
          <p:cNvSpPr/>
          <p:nvPr/>
        </p:nvSpPr>
        <p:spPr>
          <a:xfrm>
            <a:off x="640080" y="1188720"/>
            <a:ext cx="10911535" cy="530352"/>
          </a:xfrm>
          <a:prstGeom prst="roundRect">
            <a:avLst>
              <a:gd name="adj" fmla="val 6897"/>
            </a:avLst>
          </a:prstGeom>
          <a:solidFill>
            <a:srgbClr val="E4F4F0"/>
          </a:solidFill>
          <a:ln/>
        </p:spPr>
      </p:sp>
      <p:sp>
        <p:nvSpPr>
          <p:cNvPr id="7" name="Text 4"/>
          <p:cNvSpPr/>
          <p:nvPr/>
        </p:nvSpPr>
        <p:spPr>
          <a:xfrm>
            <a:off x="877824" y="1234440"/>
            <a:ext cx="10436047" cy="438912"/>
          </a:xfrm>
          <a:prstGeom prst="rect">
            <a:avLst/>
          </a:prstGeom>
          <a:noFill/>
          <a:ln/>
        </p:spPr>
        <p:txBody>
          <a:bodyPr wrap="square" lIns="0" tIns="0" rIns="0" bIns="0" rtlCol="0" anchor="ctr"/>
          <a:lstStyle/>
          <a:p>
            <a:pPr indent="0" marL="0">
              <a:lnSpc>
                <a:spcPct val="90000"/>
              </a:lnSpc>
              <a:buNone/>
            </a:pPr>
            <a:r>
              <a:rPr lang="en-US" sz="950" b="1" dirty="0">
                <a:solidFill>
                  <a:srgbClr val="0D8A76"/>
                </a:solidFill>
                <a:latin typeface="Yu Gothic" pitchFamily="34" charset="0"/>
                <a:ea typeface="Yu Gothic" pitchFamily="34" charset="-122"/>
                <a:cs typeface="Yu Gothic" pitchFamily="34" charset="-120"/>
              </a:rPr>
              <a:t>身につくこと　</a:t>
            </a:r>
            <a:pPr indent="0" marL="0">
              <a:lnSpc>
                <a:spcPct val="90000"/>
              </a:lnSpc>
              <a:buNone/>
            </a:pPr>
            <a:r>
              <a:rPr lang="en-US" sz="800" dirty="0">
                <a:solidFill>
                  <a:srgbClr val="0D8A76"/>
                </a:solidFill>
                <a:latin typeface="Calibri" pitchFamily="34" charset="0"/>
                <a:ea typeface="Calibri" pitchFamily="34" charset="-122"/>
                <a:cs typeface="Calibri" pitchFamily="34" charset="-120"/>
              </a:rPr>
              <a:t>What You'll Learn　</a:t>
            </a:r>
            <a:pPr indent="0" marL="0">
              <a:lnSpc>
                <a:spcPct val="90000"/>
              </a:lnSpc>
              <a:buNone/>
            </a:pPr>
            <a:r>
              <a:rPr lang="en-US" sz="1050" b="1" dirty="0">
                <a:solidFill>
                  <a:srgbClr val="1B2733"/>
                </a:solidFill>
                <a:latin typeface="Yu Gothic" pitchFamily="34" charset="0"/>
                <a:ea typeface="Yu Gothic" pitchFamily="34" charset="-122"/>
                <a:cs typeface="Yu Gothic" pitchFamily="34" charset="-120"/>
              </a:rPr>
              <a:t>自分の行為が、2つの根拠のどちらに当たるかを、その場で判断できる。</a:t>
            </a:r>
            <a:endParaRPr lang="en-US" sz="950" dirty="0"/>
          </a:p>
          <a:p>
            <a:pPr indent="0" marL="0">
              <a:lnSpc>
                <a:spcPct val="90000"/>
              </a:lnSpc>
              <a:buNone/>
            </a:pPr>
            <a:r>
              <a:rPr lang="en-US" sz="850" i="1" dirty="0">
                <a:solidFill>
                  <a:srgbClr val="5F7183"/>
                </a:solidFill>
                <a:latin typeface="Calibri" pitchFamily="34" charset="0"/>
                <a:ea typeface="Calibri" pitchFamily="34" charset="-122"/>
                <a:cs typeface="Calibri" pitchFamily="34" charset="-120"/>
              </a:rPr>
              <a:t>You can decide, on the spot, which of the two sources your action rests on.</a:t>
            </a:r>
            <a:endParaRPr lang="en-US" sz="950" dirty="0"/>
          </a:p>
        </p:txBody>
      </p:sp>
      <p:sp>
        <p:nvSpPr>
          <p:cNvPr id="8" name="Shape 5"/>
          <p:cNvSpPr/>
          <p:nvPr/>
        </p:nvSpPr>
        <p:spPr>
          <a:xfrm>
            <a:off x="640080" y="1810512"/>
            <a:ext cx="5327752" cy="1920240"/>
          </a:xfrm>
          <a:prstGeom prst="roundRect">
            <a:avLst>
              <a:gd name="adj" fmla="val 1905"/>
            </a:avLst>
          </a:prstGeom>
          <a:solidFill>
            <a:srgbClr val="EFF4F8"/>
          </a:solidFill>
          <a:ln/>
        </p:spPr>
      </p:sp>
      <p:sp>
        <p:nvSpPr>
          <p:cNvPr id="9" name="Shape 6"/>
          <p:cNvSpPr/>
          <p:nvPr/>
        </p:nvSpPr>
        <p:spPr>
          <a:xfrm>
            <a:off x="822960" y="1975104"/>
            <a:ext cx="310896" cy="310896"/>
          </a:xfrm>
          <a:prstGeom prst="ellipse">
            <a:avLst/>
          </a:prstGeom>
          <a:solidFill>
            <a:srgbClr val="093259"/>
          </a:solidFill>
          <a:ln/>
        </p:spPr>
      </p:sp>
      <p:sp>
        <p:nvSpPr>
          <p:cNvPr id="10" name="Text 7"/>
          <p:cNvSpPr/>
          <p:nvPr/>
        </p:nvSpPr>
        <p:spPr>
          <a:xfrm>
            <a:off x="822960" y="19751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1207008" y="1938528"/>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誰でもできること</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What Any Person May Do</a:t>
            </a:r>
            <a:endParaRPr lang="en-US" sz="1200" dirty="0"/>
          </a:p>
        </p:txBody>
      </p:sp>
      <p:sp>
        <p:nvSpPr>
          <p:cNvPr id="12" name="Text 9"/>
          <p:cNvSpPr/>
          <p:nvPr/>
        </p:nvSpPr>
        <p:spPr>
          <a:xfrm>
            <a:off x="859536" y="2487168"/>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・現行犯逮捕（刑訴法213条）。要件は明白性と時間的接着性</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Citizen's arrest. It must be obvious, and immediate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・正当防衛（刑法36条）。侵害が終われば権利も終わる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Self-defence. The right ends when the attack ends</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・緊急避難（刑法37条）。生じた害が避けた害を超えないこと</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Necessity. Harm caused must not exceed harm avoided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・いずれも警備員だからできるのではない。要件は誰に対しても同じ</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None of these come from being a guard. The tests are the same for everyone</a:t>
            </a:r>
            <a:endParaRPr lang="en-US" sz="950" dirty="0"/>
          </a:p>
        </p:txBody>
      </p:sp>
      <p:sp>
        <p:nvSpPr>
          <p:cNvPr id="13" name="Shape 10"/>
          <p:cNvSpPr/>
          <p:nvPr/>
        </p:nvSpPr>
        <p:spPr>
          <a:xfrm>
            <a:off x="6223864" y="1810512"/>
            <a:ext cx="5327752" cy="1920240"/>
          </a:xfrm>
          <a:prstGeom prst="roundRect">
            <a:avLst>
              <a:gd name="adj" fmla="val 1905"/>
            </a:avLst>
          </a:prstGeom>
          <a:solidFill>
            <a:srgbClr val="F7FAFC"/>
          </a:solidFill>
          <a:ln/>
        </p:spPr>
      </p:sp>
      <p:sp>
        <p:nvSpPr>
          <p:cNvPr id="14" name="Shape 11"/>
          <p:cNvSpPr/>
          <p:nvPr/>
        </p:nvSpPr>
        <p:spPr>
          <a:xfrm>
            <a:off x="6406744" y="1975104"/>
            <a:ext cx="310896" cy="310896"/>
          </a:xfrm>
          <a:prstGeom prst="ellipse">
            <a:avLst/>
          </a:prstGeom>
          <a:solidFill>
            <a:srgbClr val="093259"/>
          </a:solidFill>
          <a:ln/>
        </p:spPr>
      </p:sp>
      <p:sp>
        <p:nvSpPr>
          <p:cNvPr id="15" name="Text 12"/>
          <p:cNvSpPr/>
          <p:nvPr/>
        </p:nvSpPr>
        <p:spPr>
          <a:xfrm>
            <a:off x="6406744" y="19751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90792" y="1938528"/>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委ねられてできること</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What Is Delegated to You</a:t>
            </a:r>
            <a:endParaRPr lang="en-US" sz="1200" dirty="0"/>
          </a:p>
        </p:txBody>
      </p:sp>
      <p:sp>
        <p:nvSpPr>
          <p:cNvPr id="17" name="Text 14"/>
          <p:cNvSpPr/>
          <p:nvPr/>
        </p:nvSpPr>
        <p:spPr>
          <a:xfrm>
            <a:off x="6443320" y="2487168"/>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・入館の可否の判断。管理権者の基準に従う</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Deciding admission, according to the authority's criteria</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・退去の要請。管理権者の意思に基づくこと</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Requesting a person to leave, based on the authority's intent</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・立入制限、鍵の管理、記録の作成</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Restricting access, key control, and record-keeping</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・範囲は契約と警備指令書で決まる。自分で広げられない</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The scope is set by contract and post orders. You cannot widen it yourself</a:t>
            </a:r>
            <a:endParaRPr lang="en-US" sz="950" dirty="0"/>
          </a:p>
        </p:txBody>
      </p:sp>
      <p:sp>
        <p:nvSpPr>
          <p:cNvPr id="18" name="Shape 15"/>
          <p:cNvSpPr/>
          <p:nvPr/>
        </p:nvSpPr>
        <p:spPr>
          <a:xfrm>
            <a:off x="640080" y="3931920"/>
            <a:ext cx="5327752" cy="1920240"/>
          </a:xfrm>
          <a:prstGeom prst="roundRect">
            <a:avLst>
              <a:gd name="adj" fmla="val 1905"/>
            </a:avLst>
          </a:prstGeom>
          <a:solidFill>
            <a:srgbClr val="EFF4F8"/>
          </a:solidFill>
          <a:ln/>
        </p:spPr>
      </p:sp>
      <p:sp>
        <p:nvSpPr>
          <p:cNvPr id="19" name="Shape 16"/>
          <p:cNvSpPr/>
          <p:nvPr/>
        </p:nvSpPr>
        <p:spPr>
          <a:xfrm>
            <a:off x="822960" y="4096512"/>
            <a:ext cx="310896" cy="310896"/>
          </a:xfrm>
          <a:prstGeom prst="ellipse">
            <a:avLst/>
          </a:prstGeom>
          <a:solidFill>
            <a:srgbClr val="093259"/>
          </a:solidFill>
          <a:ln/>
        </p:spPr>
      </p:sp>
      <p:sp>
        <p:nvSpPr>
          <p:cNvPr id="20" name="Text 17"/>
          <p:cNvSpPr/>
          <p:nvPr/>
        </p:nvSpPr>
        <p:spPr>
          <a:xfrm>
            <a:off x="822960" y="4096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1" name="Text 18"/>
          <p:cNvSpPr/>
          <p:nvPr/>
        </p:nvSpPr>
        <p:spPr>
          <a:xfrm>
            <a:off x="1207008" y="4059936"/>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できないこと</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What You Cannot Do</a:t>
            </a:r>
            <a:endParaRPr lang="en-US" sz="1200" dirty="0"/>
          </a:p>
        </p:txBody>
      </p:sp>
      <p:sp>
        <p:nvSpPr>
          <p:cNvPr id="22" name="Text 19"/>
          <p:cNvSpPr/>
          <p:nvPr/>
        </p:nvSpPr>
        <p:spPr>
          <a:xfrm>
            <a:off x="859536" y="4608576"/>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・所持品検査の強制。同意がなければできない</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Forcing a bag search. Not possible without consent</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・取り調べ。逮捕した相手からの聴取も含む</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Interrogation, including questioning a person you have detained</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・実力による取戻し（自救行為）。原則として認められない</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Recovering property by force. Not permitted as a rule</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・身体の拘束。正当防衛と現行犯逮捕に伴う場合を除く</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Restraining a person, except incidental to self-defence or a lawful arrest</a:t>
            </a:r>
            <a:endParaRPr lang="en-US" sz="950" dirty="0"/>
          </a:p>
        </p:txBody>
      </p:sp>
      <p:sp>
        <p:nvSpPr>
          <p:cNvPr id="23" name="Shape 20"/>
          <p:cNvSpPr/>
          <p:nvPr/>
        </p:nvSpPr>
        <p:spPr>
          <a:xfrm>
            <a:off x="6223864" y="3931920"/>
            <a:ext cx="5327752" cy="1920240"/>
          </a:xfrm>
          <a:prstGeom prst="roundRect">
            <a:avLst>
              <a:gd name="adj" fmla="val 1905"/>
            </a:avLst>
          </a:prstGeom>
          <a:solidFill>
            <a:srgbClr val="F7FAFC"/>
          </a:solidFill>
          <a:ln/>
        </p:spPr>
      </p:sp>
      <p:sp>
        <p:nvSpPr>
          <p:cNvPr id="24" name="Shape 21"/>
          <p:cNvSpPr/>
          <p:nvPr/>
        </p:nvSpPr>
        <p:spPr>
          <a:xfrm>
            <a:off x="6406744" y="4096512"/>
            <a:ext cx="310896" cy="310896"/>
          </a:xfrm>
          <a:prstGeom prst="ellipse">
            <a:avLst/>
          </a:prstGeom>
          <a:solidFill>
            <a:srgbClr val="093259"/>
          </a:solidFill>
          <a:ln/>
        </p:spPr>
      </p:sp>
      <p:sp>
        <p:nvSpPr>
          <p:cNvPr id="25" name="Text 22"/>
          <p:cNvSpPr/>
          <p:nvPr/>
        </p:nvSpPr>
        <p:spPr>
          <a:xfrm>
            <a:off x="6406744" y="40965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p:nvPr/>
        </p:nvSpPr>
        <p:spPr>
          <a:xfrm>
            <a:off x="6790792" y="4059936"/>
            <a:ext cx="4559656" cy="512064"/>
          </a:xfrm>
          <a:prstGeom prst="rect">
            <a:avLst/>
          </a:prstGeom>
          <a:noFill/>
          <a:ln/>
        </p:spPr>
        <p:txBody>
          <a:bodyPr wrap="square" lIns="0" tIns="0" rIns="0" bIns="0" rtlCol="0" anchor="t"/>
          <a:lstStyle/>
          <a:p>
            <a:pPr indent="0" marL="0">
              <a:lnSpc>
                <a:spcPct val="88000"/>
              </a:lnSpc>
              <a:buNone/>
            </a:pPr>
            <a:r>
              <a:rPr lang="en-US" sz="1200" b="1" dirty="0">
                <a:solidFill>
                  <a:srgbClr val="093259"/>
                </a:solidFill>
                <a:latin typeface="Yu Gothic" pitchFamily="34" charset="0"/>
                <a:ea typeface="Yu Gothic" pitchFamily="34" charset="-122"/>
                <a:cs typeface="Yu Gothic" pitchFamily="34" charset="-120"/>
              </a:rPr>
              <a:t>越えた場合</a:t>
            </a:r>
            <a:endParaRPr lang="en-US" sz="1200" dirty="0"/>
          </a:p>
          <a:p>
            <a:pPr indent="0" marL="0">
              <a:lnSpc>
                <a:spcPct val="88000"/>
              </a:lnSpc>
              <a:buNone/>
            </a:pPr>
            <a:r>
              <a:rPr lang="en-US" sz="800" i="1" dirty="0">
                <a:solidFill>
                  <a:srgbClr val="12B198"/>
                </a:solidFill>
                <a:latin typeface="Calibri" pitchFamily="34" charset="0"/>
                <a:ea typeface="Calibri" pitchFamily="34" charset="-122"/>
                <a:cs typeface="Calibri" pitchFamily="34" charset="-120"/>
              </a:rPr>
              <a:t>If You Exceed It</a:t>
            </a:r>
            <a:endParaRPr lang="en-US" sz="1200" dirty="0"/>
          </a:p>
        </p:txBody>
      </p:sp>
      <p:sp>
        <p:nvSpPr>
          <p:cNvPr id="27" name="Text 24"/>
          <p:cNvSpPr/>
          <p:nvPr/>
        </p:nvSpPr>
        <p:spPr>
          <a:xfrm>
            <a:off x="6443320" y="4608576"/>
            <a:ext cx="4888840" cy="1097280"/>
          </a:xfrm>
          <a:prstGeom prst="rect">
            <a:avLst/>
          </a:prstGeom>
          <a:noFill/>
          <a:ln/>
        </p:spPr>
        <p:txBody>
          <a:bodyPr wrap="square" lIns="0" tIns="0" rIns="0" bIns="0" rtlCol="0" anchor="t"/>
          <a:lstStyle/>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・逮捕監禁罪、暴行罪、傷害罪、強要罪</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Unlawful confinement, assault, injury, coercion</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・会社は契約を失い、クライアントは Reputation を失う</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The company can lose the contract, and the client loses reputation</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・本人は刑事責任と、民事の損害賠償を負いうる</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You may face criminal liability and civil damages</a:t>
            </a:r>
            <a:endParaRPr lang="en-US" sz="950" dirty="0"/>
          </a:p>
          <a:p>
            <a:pPr indent="0" marL="0">
              <a:lnSpc>
                <a:spcPct val="90000"/>
              </a:lnSpc>
              <a:spcAft>
                <a:spcPts val="200"/>
              </a:spcAft>
              <a:buNone/>
            </a:pPr>
            <a:r>
              <a:rPr lang="en-US" sz="950" dirty="0">
                <a:solidFill>
                  <a:srgbClr val="1B2733"/>
                </a:solidFill>
                <a:latin typeface="Yu Gothic" pitchFamily="34" charset="0"/>
                <a:ea typeface="Yu Gothic" pitchFamily="34" charset="-122"/>
                <a:cs typeface="Yu Gothic" pitchFamily="34" charset="-120"/>
              </a:rPr>
              <a:t>・「良かれと思った」は抗弁にならない</a:t>
            </a:r>
            <a:endParaRPr lang="en-US" sz="950" dirty="0"/>
          </a:p>
          <a:p>
            <a:pPr indent="0" marL="0">
              <a:lnSpc>
                <a:spcPct val="90000"/>
              </a:lnSpc>
              <a:spcAft>
                <a:spcPts val="200"/>
              </a:spcAft>
              <a:buNone/>
            </a:pPr>
            <a:r>
              <a:rPr lang="en-US" sz="750" i="1" dirty="0">
                <a:solidFill>
                  <a:srgbClr val="5F7183"/>
                </a:solidFill>
                <a:latin typeface="Calibri" pitchFamily="34" charset="0"/>
                <a:ea typeface="Calibri" pitchFamily="34" charset="-122"/>
                <a:cs typeface="Calibri" pitchFamily="34" charset="-120"/>
              </a:rPr>
              <a:t>  "I meant well" is not a defence</a:t>
            </a:r>
            <a:endParaRPr lang="en-US" sz="950" dirty="0"/>
          </a:p>
        </p:txBody>
      </p:sp>
      <p:sp>
        <p:nvSpPr>
          <p:cNvPr id="28" name="Text 25"/>
          <p:cNvSpPr/>
          <p:nvPr/>
        </p:nvSpPr>
        <p:spPr>
          <a:xfrm>
            <a:off x="640080" y="5907024"/>
            <a:ext cx="10911535" cy="310896"/>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委ねられた範囲は契約と警備指令書で決まる。範囲を超える指示が出た場合は上長に確認する。</a:t>
            </a:r>
            <a:endParaRPr lang="en-US" sz="900" dirty="0"/>
          </a:p>
          <a:p>
            <a:pPr indent="0" marL="0">
              <a:lnSpc>
                <a:spcPct val="88000"/>
              </a:lnSpc>
              <a:buNone/>
            </a:pPr>
            <a:r>
              <a:rPr lang="en-US" sz="750" i="1" dirty="0">
                <a:solidFill>
                  <a:srgbClr val="5F7183"/>
                </a:solidFill>
                <a:latin typeface="Calibri" pitchFamily="34" charset="0"/>
                <a:ea typeface="Calibri" pitchFamily="34" charset="-122"/>
                <a:cs typeface="Calibri" pitchFamily="34" charset="-120"/>
              </a:rPr>
              <a:t>The delegated scope is set by contract and post orders. If an instruction exceeds it, check with your supervisor.</a:t>
            </a:r>
            <a:endParaRPr lang="en-US" sz="900" dirty="0"/>
          </a:p>
        </p:txBody>
      </p:sp>
      <p:sp>
        <p:nvSpPr>
          <p:cNvPr id="29" name="Text 26"/>
          <p:cNvSpPr/>
          <p:nvPr/>
        </p:nvSpPr>
        <p:spPr>
          <a:xfrm>
            <a:off x="640080" y="6272784"/>
            <a:ext cx="9905695" cy="237744"/>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警備業法、刑法、刑事訴訟法、警察官職務執行法</a:t>
            </a:r>
            <a:endParaRPr lang="en-US" sz="750" dirty="0"/>
          </a:p>
        </p:txBody>
      </p:sp>
      <p:sp>
        <p:nvSpPr>
          <p:cNvPr id="30" name="Text 27"/>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31" name="Text 28"/>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93259"/>
                </a:solidFill>
                <a:latin typeface="Yu Gothic" pitchFamily="34" charset="0"/>
                <a:ea typeface="Yu Gothic" pitchFamily="34" charset="-122"/>
                <a:cs typeface="Yu Gothic" pitchFamily="34" charset="-120"/>
              </a:rPr>
              <a:t>ミニTTX ― ○か×か、根拠を一言で</a:t>
            </a:r>
            <a:endParaRPr lang="en-US" sz="2700" dirty="0"/>
          </a:p>
          <a:p>
            <a:pPr indent="0" marL="0">
              <a:lnSpc>
                <a:spcPct val="94000"/>
              </a:lnSpc>
              <a:buNone/>
            </a:pPr>
            <a:r>
              <a:rPr lang="en-US" sz="1250" i="1" dirty="0">
                <a:solidFill>
                  <a:srgbClr val="12B198"/>
                </a:solidFill>
                <a:latin typeface="Calibri" pitchFamily="34" charset="0"/>
                <a:ea typeface="Calibri" pitchFamily="34" charset="-122"/>
                <a:cs typeface="Calibri" pitchFamily="34" charset="-120"/>
              </a:rPr>
              <a:t>Mini TTX — Yes or No, with one line of reasoning</a:t>
            </a:r>
            <a:endParaRPr lang="en-US" sz="2700" dirty="0"/>
          </a:p>
        </p:txBody>
      </p:sp>
      <p:sp>
        <p:nvSpPr>
          <p:cNvPr id="4" name="Text 1"/>
          <p:cNvSpPr/>
          <p:nvPr/>
        </p:nvSpPr>
        <p:spPr>
          <a:xfrm>
            <a:off x="640080" y="1499616"/>
            <a:ext cx="10911535" cy="512064"/>
          </a:xfrm>
          <a:prstGeom prst="rect">
            <a:avLst/>
          </a:prstGeom>
          <a:noFill/>
          <a:ln/>
        </p:spPr>
        <p:txBody>
          <a:bodyPr wrap="square" lIns="0" tIns="0" rIns="0" bIns="0" rtlCol="0" anchor="t"/>
          <a:lstStyle/>
          <a:p>
            <a:pPr algn="l" indent="0" marL="0">
              <a:lnSpc>
                <a:spcPct val="92000"/>
              </a:lnSpc>
              <a:buNone/>
            </a:pPr>
            <a:r>
              <a:rPr lang="en-US" sz="1300" dirty="0">
                <a:solidFill>
                  <a:srgbClr val="093259"/>
                </a:solidFill>
                <a:latin typeface="Yu Gothic" pitchFamily="34" charset="0"/>
                <a:ea typeface="Yu Gothic" pitchFamily="34" charset="-122"/>
                <a:cs typeface="Yu Gothic" pitchFamily="34" charset="-120"/>
              </a:rPr>
              <a:t>手元に○×と根拠を書いてください。挙手は求めません。指名します。</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Write your answer and your reason. No hands needed. I will call on you.</a:t>
            </a:r>
            <a:endParaRPr lang="en-US" sz="1300" dirty="0"/>
          </a:p>
        </p:txBody>
      </p:sp>
      <p:sp>
        <p:nvSpPr>
          <p:cNvPr id="5" name="Shape 2"/>
          <p:cNvSpPr/>
          <p:nvPr/>
        </p:nvSpPr>
        <p:spPr>
          <a:xfrm>
            <a:off x="640080" y="2194560"/>
            <a:ext cx="5318608" cy="900684"/>
          </a:xfrm>
          <a:prstGeom prst="roundRect">
            <a:avLst>
              <a:gd name="adj" fmla="val 4061"/>
            </a:avLst>
          </a:prstGeom>
          <a:solidFill>
            <a:srgbClr val="EFF4F8"/>
          </a:solidFill>
          <a:ln/>
        </p:spPr>
      </p:sp>
      <p:sp>
        <p:nvSpPr>
          <p:cNvPr id="6" name="Shape 3"/>
          <p:cNvSpPr/>
          <p:nvPr/>
        </p:nvSpPr>
        <p:spPr>
          <a:xfrm>
            <a:off x="822960" y="2480310"/>
            <a:ext cx="329184" cy="329184"/>
          </a:xfrm>
          <a:prstGeom prst="ellipse">
            <a:avLst/>
          </a:prstGeom>
          <a:solidFill>
            <a:srgbClr val="093259"/>
          </a:solidFill>
          <a:ln/>
        </p:spPr>
      </p:sp>
      <p:sp>
        <p:nvSpPr>
          <p:cNvPr id="7" name="Text 4"/>
          <p:cNvSpPr/>
          <p:nvPr/>
        </p:nvSpPr>
        <p:spPr>
          <a:xfrm>
            <a:off x="822960" y="248031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5"/>
          <p:cNvSpPr/>
          <p:nvPr/>
        </p:nvSpPr>
        <p:spPr>
          <a:xfrm>
            <a:off x="1243584" y="2267712"/>
            <a:ext cx="4477360" cy="754380"/>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制服を着ているので、来訪者のカバンを開けて確認した。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In uniform, you open a visitor's bag to check it.</a:t>
            </a:r>
            <a:endParaRPr lang="en-US" sz="1150" dirty="0"/>
          </a:p>
        </p:txBody>
      </p:sp>
      <p:sp>
        <p:nvSpPr>
          <p:cNvPr id="9" name="Shape 6"/>
          <p:cNvSpPr/>
          <p:nvPr/>
        </p:nvSpPr>
        <p:spPr>
          <a:xfrm>
            <a:off x="6233008" y="2194560"/>
            <a:ext cx="5318608" cy="900684"/>
          </a:xfrm>
          <a:prstGeom prst="roundRect">
            <a:avLst>
              <a:gd name="adj" fmla="val 4061"/>
            </a:avLst>
          </a:prstGeom>
          <a:solidFill>
            <a:srgbClr val="EFF4F8"/>
          </a:solidFill>
          <a:ln/>
        </p:spPr>
      </p:sp>
      <p:sp>
        <p:nvSpPr>
          <p:cNvPr id="10" name="Shape 7"/>
          <p:cNvSpPr/>
          <p:nvPr/>
        </p:nvSpPr>
        <p:spPr>
          <a:xfrm>
            <a:off x="6415888" y="2480310"/>
            <a:ext cx="329184" cy="329184"/>
          </a:xfrm>
          <a:prstGeom prst="ellipse">
            <a:avLst/>
          </a:prstGeom>
          <a:solidFill>
            <a:srgbClr val="093259"/>
          </a:solidFill>
          <a:ln/>
        </p:spPr>
      </p:sp>
      <p:sp>
        <p:nvSpPr>
          <p:cNvPr id="11" name="Text 8"/>
          <p:cNvSpPr/>
          <p:nvPr/>
        </p:nvSpPr>
        <p:spPr>
          <a:xfrm>
            <a:off x="6415888" y="248031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9"/>
          <p:cNvSpPr/>
          <p:nvPr/>
        </p:nvSpPr>
        <p:spPr>
          <a:xfrm>
            <a:off x="6836512" y="2267712"/>
            <a:ext cx="4477360" cy="754380"/>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目の前で商品を隠して出口を通過した者を取り押さえた。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You detain someone who hid goods and walked out.</a:t>
            </a:r>
            <a:endParaRPr lang="en-US" sz="1150" dirty="0"/>
          </a:p>
        </p:txBody>
      </p:sp>
      <p:sp>
        <p:nvSpPr>
          <p:cNvPr id="13" name="Shape 10"/>
          <p:cNvSpPr/>
          <p:nvPr/>
        </p:nvSpPr>
        <p:spPr>
          <a:xfrm>
            <a:off x="640080" y="3241548"/>
            <a:ext cx="5318608" cy="900684"/>
          </a:xfrm>
          <a:prstGeom prst="roundRect">
            <a:avLst>
              <a:gd name="adj" fmla="val 4061"/>
            </a:avLst>
          </a:prstGeom>
          <a:solidFill>
            <a:srgbClr val="EFF4F8"/>
          </a:solidFill>
          <a:ln/>
        </p:spPr>
      </p:sp>
      <p:sp>
        <p:nvSpPr>
          <p:cNvPr id="14" name="Shape 11"/>
          <p:cNvSpPr/>
          <p:nvPr/>
        </p:nvSpPr>
        <p:spPr>
          <a:xfrm>
            <a:off x="822960" y="3527298"/>
            <a:ext cx="329184" cy="329184"/>
          </a:xfrm>
          <a:prstGeom prst="ellipse">
            <a:avLst/>
          </a:prstGeom>
          <a:solidFill>
            <a:srgbClr val="093259"/>
          </a:solidFill>
          <a:ln/>
        </p:spPr>
      </p:sp>
      <p:sp>
        <p:nvSpPr>
          <p:cNvPr id="15" name="Text 12"/>
          <p:cNvSpPr/>
          <p:nvPr/>
        </p:nvSpPr>
        <p:spPr>
          <a:xfrm>
            <a:off x="822960" y="352729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6" name="Text 13"/>
          <p:cNvSpPr/>
          <p:nvPr/>
        </p:nvSpPr>
        <p:spPr>
          <a:xfrm>
            <a:off x="1243584" y="3314700"/>
            <a:ext cx="4477360" cy="754380"/>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逮捕した相手から、事務所で30分間、事情を聞いた。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You question a detained person in the office for 30 minutes.</a:t>
            </a:r>
            <a:endParaRPr lang="en-US" sz="1150" dirty="0"/>
          </a:p>
        </p:txBody>
      </p:sp>
      <p:sp>
        <p:nvSpPr>
          <p:cNvPr id="17" name="Shape 14"/>
          <p:cNvSpPr/>
          <p:nvPr/>
        </p:nvSpPr>
        <p:spPr>
          <a:xfrm>
            <a:off x="6233008" y="3241548"/>
            <a:ext cx="5318608" cy="900684"/>
          </a:xfrm>
          <a:prstGeom prst="roundRect">
            <a:avLst>
              <a:gd name="adj" fmla="val 4061"/>
            </a:avLst>
          </a:prstGeom>
          <a:solidFill>
            <a:srgbClr val="EFF4F8"/>
          </a:solidFill>
          <a:ln/>
        </p:spPr>
      </p:sp>
      <p:sp>
        <p:nvSpPr>
          <p:cNvPr id="18" name="Shape 15"/>
          <p:cNvSpPr/>
          <p:nvPr/>
        </p:nvSpPr>
        <p:spPr>
          <a:xfrm>
            <a:off x="6415888" y="3527298"/>
            <a:ext cx="329184" cy="329184"/>
          </a:xfrm>
          <a:prstGeom prst="ellipse">
            <a:avLst/>
          </a:prstGeom>
          <a:solidFill>
            <a:srgbClr val="093259"/>
          </a:solidFill>
          <a:ln/>
        </p:spPr>
      </p:sp>
      <p:sp>
        <p:nvSpPr>
          <p:cNvPr id="19" name="Text 16"/>
          <p:cNvSpPr/>
          <p:nvPr/>
        </p:nvSpPr>
        <p:spPr>
          <a:xfrm>
            <a:off x="6415888" y="352729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7"/>
          <p:cNvSpPr/>
          <p:nvPr/>
        </p:nvSpPr>
        <p:spPr>
          <a:xfrm>
            <a:off x="6836512" y="3314700"/>
            <a:ext cx="4477360" cy="754380"/>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殴りかかってきた相手の腕を押さえて止めた。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You stop an incoming punch by holding the arm.</a:t>
            </a:r>
            <a:endParaRPr lang="en-US" sz="1150" dirty="0"/>
          </a:p>
        </p:txBody>
      </p:sp>
      <p:sp>
        <p:nvSpPr>
          <p:cNvPr id="21" name="Shape 18"/>
          <p:cNvSpPr/>
          <p:nvPr/>
        </p:nvSpPr>
        <p:spPr>
          <a:xfrm>
            <a:off x="640080" y="4288536"/>
            <a:ext cx="5318608" cy="900684"/>
          </a:xfrm>
          <a:prstGeom prst="roundRect">
            <a:avLst>
              <a:gd name="adj" fmla="val 4061"/>
            </a:avLst>
          </a:prstGeom>
          <a:solidFill>
            <a:srgbClr val="EFF4F8"/>
          </a:solidFill>
          <a:ln/>
        </p:spPr>
      </p:sp>
      <p:sp>
        <p:nvSpPr>
          <p:cNvPr id="22" name="Shape 19"/>
          <p:cNvSpPr/>
          <p:nvPr/>
        </p:nvSpPr>
        <p:spPr>
          <a:xfrm>
            <a:off x="822960" y="4574286"/>
            <a:ext cx="329184" cy="329184"/>
          </a:xfrm>
          <a:prstGeom prst="ellipse">
            <a:avLst/>
          </a:prstGeom>
          <a:solidFill>
            <a:srgbClr val="093259"/>
          </a:solidFill>
          <a:ln/>
        </p:spPr>
      </p:sp>
      <p:sp>
        <p:nvSpPr>
          <p:cNvPr id="23" name="Text 20"/>
          <p:cNvSpPr/>
          <p:nvPr/>
        </p:nvSpPr>
        <p:spPr>
          <a:xfrm>
            <a:off x="822960" y="457428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1"/>
          <p:cNvSpPr/>
          <p:nvPr/>
        </p:nvSpPr>
        <p:spPr>
          <a:xfrm>
            <a:off x="1243584" y="4361688"/>
            <a:ext cx="4477360" cy="754380"/>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相手が倒れた後も、念のため押さえ続けた。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You keep holding the person down after they are down.</a:t>
            </a:r>
            <a:endParaRPr lang="en-US" sz="1150" dirty="0"/>
          </a:p>
        </p:txBody>
      </p:sp>
      <p:sp>
        <p:nvSpPr>
          <p:cNvPr id="25" name="Shape 22"/>
          <p:cNvSpPr/>
          <p:nvPr/>
        </p:nvSpPr>
        <p:spPr>
          <a:xfrm>
            <a:off x="6233008" y="4288536"/>
            <a:ext cx="5318608" cy="900684"/>
          </a:xfrm>
          <a:prstGeom prst="roundRect">
            <a:avLst>
              <a:gd name="adj" fmla="val 4061"/>
            </a:avLst>
          </a:prstGeom>
          <a:solidFill>
            <a:srgbClr val="EFF4F8"/>
          </a:solidFill>
          <a:ln/>
        </p:spPr>
      </p:sp>
      <p:sp>
        <p:nvSpPr>
          <p:cNvPr id="26" name="Shape 23"/>
          <p:cNvSpPr/>
          <p:nvPr/>
        </p:nvSpPr>
        <p:spPr>
          <a:xfrm>
            <a:off x="6415888" y="4574286"/>
            <a:ext cx="329184" cy="329184"/>
          </a:xfrm>
          <a:prstGeom prst="ellipse">
            <a:avLst/>
          </a:prstGeom>
          <a:solidFill>
            <a:srgbClr val="093259"/>
          </a:solidFill>
          <a:ln/>
        </p:spPr>
      </p:sp>
      <p:sp>
        <p:nvSpPr>
          <p:cNvPr id="27" name="Text 24"/>
          <p:cNvSpPr/>
          <p:nvPr/>
        </p:nvSpPr>
        <p:spPr>
          <a:xfrm>
            <a:off x="6415888" y="457428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8" name="Text 25"/>
          <p:cNvSpPr/>
          <p:nvPr/>
        </p:nvSpPr>
        <p:spPr>
          <a:xfrm>
            <a:off x="6836512" y="4361688"/>
            <a:ext cx="4477360" cy="754380"/>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同僚に「今日は◯◯社の役員が来ていた」と話した。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You tell a colleague which company's executives visited today.</a:t>
            </a:r>
            <a:endParaRPr lang="en-US" sz="1150" dirty="0"/>
          </a:p>
        </p:txBody>
      </p:sp>
      <p:sp>
        <p:nvSpPr>
          <p:cNvPr id="29" name="Shape 26"/>
          <p:cNvSpPr/>
          <p:nvPr/>
        </p:nvSpPr>
        <p:spPr>
          <a:xfrm>
            <a:off x="640080" y="5335524"/>
            <a:ext cx="5318608" cy="900684"/>
          </a:xfrm>
          <a:prstGeom prst="roundRect">
            <a:avLst>
              <a:gd name="adj" fmla="val 4061"/>
            </a:avLst>
          </a:prstGeom>
          <a:solidFill>
            <a:srgbClr val="EFF4F8"/>
          </a:solidFill>
          <a:ln/>
        </p:spPr>
      </p:sp>
      <p:sp>
        <p:nvSpPr>
          <p:cNvPr id="30" name="Shape 27"/>
          <p:cNvSpPr/>
          <p:nvPr/>
        </p:nvSpPr>
        <p:spPr>
          <a:xfrm>
            <a:off x="822960" y="5621274"/>
            <a:ext cx="329184" cy="329184"/>
          </a:xfrm>
          <a:prstGeom prst="ellipse">
            <a:avLst/>
          </a:prstGeom>
          <a:solidFill>
            <a:srgbClr val="093259"/>
          </a:solidFill>
          <a:ln/>
        </p:spPr>
      </p:sp>
      <p:sp>
        <p:nvSpPr>
          <p:cNvPr id="31" name="Text 28"/>
          <p:cNvSpPr/>
          <p:nvPr/>
        </p:nvSpPr>
        <p:spPr>
          <a:xfrm>
            <a:off x="822960" y="562127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2" name="Text 29"/>
          <p:cNvSpPr/>
          <p:nvPr/>
        </p:nvSpPr>
        <p:spPr>
          <a:xfrm>
            <a:off x="1243584" y="5408676"/>
            <a:ext cx="4477360" cy="754380"/>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「怪しい」と思ったので、相手の進路に立ちふさがった。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You block a person's path because they look suspicious.</a:t>
            </a:r>
            <a:endParaRPr lang="en-US" sz="1150" dirty="0"/>
          </a:p>
        </p:txBody>
      </p:sp>
      <p:sp>
        <p:nvSpPr>
          <p:cNvPr id="33" name="Shape 30"/>
          <p:cNvSpPr/>
          <p:nvPr/>
        </p:nvSpPr>
        <p:spPr>
          <a:xfrm>
            <a:off x="6233008" y="5335524"/>
            <a:ext cx="5318608" cy="900684"/>
          </a:xfrm>
          <a:prstGeom prst="roundRect">
            <a:avLst>
              <a:gd name="adj" fmla="val 4061"/>
            </a:avLst>
          </a:prstGeom>
          <a:solidFill>
            <a:srgbClr val="EFF4F8"/>
          </a:solidFill>
          <a:ln/>
        </p:spPr>
      </p:sp>
      <p:sp>
        <p:nvSpPr>
          <p:cNvPr id="34" name="Shape 31"/>
          <p:cNvSpPr/>
          <p:nvPr/>
        </p:nvSpPr>
        <p:spPr>
          <a:xfrm>
            <a:off x="6415888" y="5621274"/>
            <a:ext cx="329184" cy="329184"/>
          </a:xfrm>
          <a:prstGeom prst="ellipse">
            <a:avLst/>
          </a:prstGeom>
          <a:solidFill>
            <a:srgbClr val="093259"/>
          </a:solidFill>
          <a:ln/>
        </p:spPr>
      </p:sp>
      <p:sp>
        <p:nvSpPr>
          <p:cNvPr id="35" name="Text 32"/>
          <p:cNvSpPr/>
          <p:nvPr/>
        </p:nvSpPr>
        <p:spPr>
          <a:xfrm>
            <a:off x="6415888" y="562127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6" name="Text 33"/>
          <p:cNvSpPr/>
          <p:nvPr/>
        </p:nvSpPr>
        <p:spPr>
          <a:xfrm>
            <a:off x="6836512" y="5408676"/>
            <a:ext cx="4477360" cy="754380"/>
          </a:xfrm>
          <a:prstGeom prst="rect">
            <a:avLst/>
          </a:prstGeom>
          <a:noFill/>
          <a:ln/>
        </p:spPr>
        <p:txBody>
          <a:bodyPr wrap="square" lIns="0" tIns="0" rIns="0" bIns="0" rtlCol="0" anchor="ctr"/>
          <a:lstStyle/>
          <a:p>
            <a:pPr indent="0" marL="0">
              <a:lnSpc>
                <a:spcPct val="90000"/>
              </a:lnSpc>
              <a:buNone/>
            </a:pPr>
            <a:r>
              <a:rPr lang="en-US" sz="1150" b="1" dirty="0">
                <a:solidFill>
                  <a:srgbClr val="1B2733"/>
                </a:solidFill>
                <a:latin typeface="Yu Gothic" pitchFamily="34" charset="0"/>
                <a:ea typeface="Yu Gothic" pitchFamily="34" charset="-122"/>
                <a:cs typeface="Yu Gothic" pitchFamily="34" charset="-120"/>
              </a:rPr>
              <a:t>落ちていた社外秘の書類を拾い、中身を確認した。</a:t>
            </a:r>
            <a:endParaRPr lang="en-US" sz="1150" dirty="0"/>
          </a:p>
          <a:p>
            <a:pPr indent="0" marL="0">
              <a:lnSpc>
                <a:spcPct val="90000"/>
              </a:lnSpc>
              <a:buNone/>
            </a:pPr>
            <a:r>
              <a:rPr lang="en-US" sz="900" i="1" dirty="0">
                <a:solidFill>
                  <a:srgbClr val="5F7183"/>
                </a:solidFill>
                <a:latin typeface="Calibri" pitchFamily="34" charset="0"/>
                <a:ea typeface="Calibri" pitchFamily="34" charset="-122"/>
                <a:cs typeface="Calibri" pitchFamily="34" charset="-120"/>
              </a:rPr>
              <a:t>You pick up a confidential document and read the contents.</a:t>
            </a:r>
            <a:endParaRPr lang="en-US" sz="1150" dirty="0"/>
          </a:p>
        </p:txBody>
      </p:sp>
      <p:sp>
        <p:nvSpPr>
          <p:cNvPr id="37" name="Text 34"/>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38" name="Text 35"/>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475488"/>
            <a:ext cx="9805111" cy="960120"/>
          </a:xfrm>
          <a:prstGeom prst="rect">
            <a:avLst/>
          </a:prstGeom>
          <a:noFill/>
          <a:ln/>
        </p:spPr>
        <p:txBody>
          <a:bodyPr wrap="square" lIns="0" tIns="0" rIns="0" bIns="0" rtlCol="0" anchor="t"/>
          <a:lstStyle/>
          <a:p>
            <a:pPr indent="0" marL="0">
              <a:lnSpc>
                <a:spcPct val="94000"/>
              </a:lnSpc>
              <a:buNone/>
            </a:pPr>
            <a:r>
              <a:rPr lang="en-US" sz="2700" b="1" dirty="0">
                <a:solidFill>
                  <a:srgbClr val="093259"/>
                </a:solidFill>
                <a:latin typeface="Yu Gothic" pitchFamily="34" charset="0"/>
                <a:ea typeface="Yu Gothic" pitchFamily="34" charset="-122"/>
                <a:cs typeface="Yu Gothic" pitchFamily="34" charset="-120"/>
              </a:rPr>
              <a:t>ミニTTX ― 解答と根拠の示し方</a:t>
            </a:r>
            <a:endParaRPr lang="en-US" sz="2700" dirty="0"/>
          </a:p>
          <a:p>
            <a:pPr indent="0" marL="0">
              <a:lnSpc>
                <a:spcPct val="94000"/>
              </a:lnSpc>
              <a:buNone/>
            </a:pPr>
            <a:r>
              <a:rPr lang="en-US" sz="1250" i="1" dirty="0">
                <a:solidFill>
                  <a:srgbClr val="12B198"/>
                </a:solidFill>
                <a:latin typeface="Calibri" pitchFamily="34" charset="0"/>
                <a:ea typeface="Calibri" pitchFamily="34" charset="-122"/>
                <a:cs typeface="Calibri" pitchFamily="34" charset="-120"/>
              </a:rPr>
              <a:t>Mini TTX — Answers and How to State Your Reasoning</a:t>
            </a:r>
            <a:endParaRPr lang="en-US" sz="2700" dirty="0"/>
          </a:p>
        </p:txBody>
      </p:sp>
      <p:sp>
        <p:nvSpPr>
          <p:cNvPr id="4" name="Text 1"/>
          <p:cNvSpPr/>
          <p:nvPr/>
        </p:nvSpPr>
        <p:spPr>
          <a:xfrm>
            <a:off x="640080" y="1536192"/>
            <a:ext cx="10911535" cy="566928"/>
          </a:xfrm>
          <a:prstGeom prst="rect">
            <a:avLst/>
          </a:prstGeom>
          <a:noFill/>
          <a:ln/>
        </p:spPr>
        <p:txBody>
          <a:bodyPr wrap="square" lIns="0" tIns="0" rIns="0" bIns="0" rtlCol="0" anchor="t"/>
          <a:lstStyle/>
          <a:p>
            <a:pPr algn="l" indent="0" marL="0">
              <a:lnSpc>
                <a:spcPct val="92000"/>
              </a:lnSpc>
              <a:buNone/>
            </a:pPr>
            <a:r>
              <a:rPr lang="en-US" sz="1300" dirty="0">
                <a:solidFill>
                  <a:srgbClr val="093259"/>
                </a:solidFill>
                <a:latin typeface="Yu Gothic" pitchFamily="34" charset="0"/>
                <a:ea typeface="Yu Gothic" pitchFamily="34" charset="-122"/>
                <a:cs typeface="Yu Gothic" pitchFamily="34" charset="-120"/>
              </a:rPr>
              <a:t>解答　1 ×　2 ○　3 ×　4 ○　5 ×　6 ×　7 ×　8 ×</a:t>
            </a:r>
            <a:endParaRPr lang="en-US" sz="1300" dirty="0"/>
          </a:p>
          <a:p>
            <a:pPr algn="l" indent="0" marL="0">
              <a:lnSpc>
                <a:spcPct val="92000"/>
              </a:lnSpc>
              <a:buNone/>
            </a:pPr>
            <a:r>
              <a:rPr lang="en-US" sz="1000" i="1" dirty="0">
                <a:solidFill>
                  <a:srgbClr val="5F7183"/>
                </a:solidFill>
                <a:latin typeface="Calibri" pitchFamily="34" charset="0"/>
                <a:ea typeface="Calibri" pitchFamily="34" charset="-122"/>
                <a:cs typeface="Calibri" pitchFamily="34" charset="-120"/>
              </a:rPr>
              <a:t>Answers:  1 No · 2 Yes · 3 No · 4 Yes · 5 No · 6 No · 7 No · 8 No</a:t>
            </a:r>
            <a:endParaRPr lang="en-US" sz="1300" dirty="0"/>
          </a:p>
        </p:txBody>
      </p:sp>
      <p:sp>
        <p:nvSpPr>
          <p:cNvPr id="5" name="Shape 2"/>
          <p:cNvSpPr/>
          <p:nvPr/>
        </p:nvSpPr>
        <p:spPr>
          <a:xfrm>
            <a:off x="640080" y="2286000"/>
            <a:ext cx="10911535" cy="702259"/>
          </a:xfrm>
          <a:prstGeom prst="roundRect">
            <a:avLst>
              <a:gd name="adj" fmla="val 6510"/>
            </a:avLst>
          </a:prstGeom>
          <a:solidFill>
            <a:srgbClr val="EFF4F8"/>
          </a:solidFill>
          <a:ln/>
        </p:spPr>
      </p:sp>
      <p:sp>
        <p:nvSpPr>
          <p:cNvPr id="6" name="Shape 3"/>
          <p:cNvSpPr/>
          <p:nvPr/>
        </p:nvSpPr>
        <p:spPr>
          <a:xfrm>
            <a:off x="896112" y="2445106"/>
            <a:ext cx="384048" cy="384048"/>
          </a:xfrm>
          <a:prstGeom prst="ellipse">
            <a:avLst/>
          </a:prstGeom>
          <a:solidFill>
            <a:srgbClr val="12B198"/>
          </a:solidFill>
          <a:ln/>
        </p:spPr>
      </p:sp>
      <p:sp>
        <p:nvSpPr>
          <p:cNvPr id="7" name="Text 4"/>
          <p:cNvSpPr/>
          <p:nvPr/>
        </p:nvSpPr>
        <p:spPr>
          <a:xfrm>
            <a:off x="896112" y="24451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499616" y="2395728"/>
            <a:ext cx="9777679" cy="519379"/>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×の多くは、委ねられていないことを行っています。</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Most "No" answers do something that was never delegated to you.</a:t>
            </a:r>
            <a:endParaRPr lang="en-US" sz="1450" dirty="0"/>
          </a:p>
        </p:txBody>
      </p:sp>
      <p:sp>
        <p:nvSpPr>
          <p:cNvPr id="9" name="Shape 6"/>
          <p:cNvSpPr/>
          <p:nvPr/>
        </p:nvSpPr>
        <p:spPr>
          <a:xfrm>
            <a:off x="640080" y="3097987"/>
            <a:ext cx="10911535" cy="702259"/>
          </a:xfrm>
          <a:prstGeom prst="roundRect">
            <a:avLst>
              <a:gd name="adj" fmla="val 6510"/>
            </a:avLst>
          </a:prstGeom>
          <a:solidFill>
            <a:srgbClr val="F7FAFC"/>
          </a:solidFill>
          <a:ln/>
        </p:spPr>
      </p:sp>
      <p:sp>
        <p:nvSpPr>
          <p:cNvPr id="10" name="Shape 7"/>
          <p:cNvSpPr/>
          <p:nvPr/>
        </p:nvSpPr>
        <p:spPr>
          <a:xfrm>
            <a:off x="896112" y="3257093"/>
            <a:ext cx="384048" cy="384048"/>
          </a:xfrm>
          <a:prstGeom prst="ellipse">
            <a:avLst/>
          </a:prstGeom>
          <a:solidFill>
            <a:srgbClr val="12B198"/>
          </a:solidFill>
          <a:ln/>
        </p:spPr>
      </p:sp>
      <p:sp>
        <p:nvSpPr>
          <p:cNvPr id="11" name="Text 8"/>
          <p:cNvSpPr/>
          <p:nvPr/>
        </p:nvSpPr>
        <p:spPr>
          <a:xfrm>
            <a:off x="896112" y="32570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p:nvPr/>
        </p:nvSpPr>
        <p:spPr>
          <a:xfrm>
            <a:off x="1499616" y="3207715"/>
            <a:ext cx="9777679" cy="519379"/>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設問5は終期の問題です。侵害が終われば、正当防衛も終わります。</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Item 5 is about when it ends. When the attack stops, the right to defend stops.</a:t>
            </a:r>
            <a:endParaRPr lang="en-US" sz="1450" dirty="0"/>
          </a:p>
        </p:txBody>
      </p:sp>
      <p:sp>
        <p:nvSpPr>
          <p:cNvPr id="13" name="Shape 10"/>
          <p:cNvSpPr/>
          <p:nvPr/>
        </p:nvSpPr>
        <p:spPr>
          <a:xfrm>
            <a:off x="640080" y="3909974"/>
            <a:ext cx="10911535" cy="702259"/>
          </a:xfrm>
          <a:prstGeom prst="roundRect">
            <a:avLst>
              <a:gd name="adj" fmla="val 6510"/>
            </a:avLst>
          </a:prstGeom>
          <a:solidFill>
            <a:srgbClr val="EFF4F8"/>
          </a:solidFill>
          <a:ln/>
        </p:spPr>
      </p:sp>
      <p:sp>
        <p:nvSpPr>
          <p:cNvPr id="14" name="Shape 11"/>
          <p:cNvSpPr/>
          <p:nvPr/>
        </p:nvSpPr>
        <p:spPr>
          <a:xfrm>
            <a:off x="896112" y="4069080"/>
            <a:ext cx="384048" cy="384048"/>
          </a:xfrm>
          <a:prstGeom prst="ellipse">
            <a:avLst/>
          </a:prstGeom>
          <a:solidFill>
            <a:srgbClr val="12B198"/>
          </a:solidFill>
          <a:ln/>
        </p:spPr>
      </p:sp>
      <p:sp>
        <p:nvSpPr>
          <p:cNvPr id="15" name="Text 12"/>
          <p:cNvSpPr/>
          <p:nvPr/>
        </p:nvSpPr>
        <p:spPr>
          <a:xfrm>
            <a:off x="896112"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p:nvPr/>
        </p:nvSpPr>
        <p:spPr>
          <a:xfrm>
            <a:off x="1499616" y="4019702"/>
            <a:ext cx="9777679" cy="519379"/>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設問6は守秘義務です。相手が同僚でも、業務上知った情報は他言できません。</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Item 6 is confidentiality. Even to a colleague, you may not pass on what you learned on duty.</a:t>
            </a:r>
            <a:endParaRPr lang="en-US" sz="1450" dirty="0"/>
          </a:p>
        </p:txBody>
      </p:sp>
      <p:sp>
        <p:nvSpPr>
          <p:cNvPr id="17" name="Shape 14"/>
          <p:cNvSpPr/>
          <p:nvPr/>
        </p:nvSpPr>
        <p:spPr>
          <a:xfrm>
            <a:off x="640080" y="4721962"/>
            <a:ext cx="10911535" cy="702259"/>
          </a:xfrm>
          <a:prstGeom prst="roundRect">
            <a:avLst>
              <a:gd name="adj" fmla="val 6510"/>
            </a:avLst>
          </a:prstGeom>
          <a:solidFill>
            <a:srgbClr val="F7FAFC"/>
          </a:solidFill>
          <a:ln/>
        </p:spPr>
      </p:sp>
      <p:sp>
        <p:nvSpPr>
          <p:cNvPr id="18" name="Shape 15"/>
          <p:cNvSpPr/>
          <p:nvPr/>
        </p:nvSpPr>
        <p:spPr>
          <a:xfrm>
            <a:off x="896112" y="4881067"/>
            <a:ext cx="384048" cy="384048"/>
          </a:xfrm>
          <a:prstGeom prst="ellipse">
            <a:avLst/>
          </a:prstGeom>
          <a:solidFill>
            <a:srgbClr val="12B198"/>
          </a:solidFill>
          <a:ln/>
        </p:spPr>
      </p:sp>
      <p:sp>
        <p:nvSpPr>
          <p:cNvPr id="19" name="Text 16"/>
          <p:cNvSpPr/>
          <p:nvPr/>
        </p:nvSpPr>
        <p:spPr>
          <a:xfrm>
            <a:off x="896112" y="488106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499616" y="4831690"/>
            <a:ext cx="9777679" cy="519379"/>
          </a:xfrm>
          <a:prstGeom prst="rect">
            <a:avLst/>
          </a:prstGeom>
          <a:noFill/>
          <a:ln/>
        </p:spPr>
        <p:txBody>
          <a:bodyPr wrap="square" lIns="0" tIns="0" rIns="0" bIns="0" rtlCol="0" anchor="ctr"/>
          <a:lstStyle/>
          <a:p>
            <a:pPr indent="0" marL="0">
              <a:lnSpc>
                <a:spcPct val="92000"/>
              </a:lnSpc>
              <a:buNone/>
            </a:pPr>
            <a:r>
              <a:rPr lang="en-US" sz="1450" b="1" dirty="0">
                <a:solidFill>
                  <a:srgbClr val="1B2733"/>
                </a:solidFill>
                <a:latin typeface="Yu Gothic" pitchFamily="34" charset="0"/>
                <a:ea typeface="Yu Gothic" pitchFamily="34" charset="-122"/>
                <a:cs typeface="Yu Gothic" pitchFamily="34" charset="-120"/>
              </a:rPr>
              <a:t>設問8は、拾うことではなく読むことが問題です。分類表示までで判断します。</a:t>
            </a:r>
            <a:endParaRPr lang="en-US" sz="1450" dirty="0"/>
          </a:p>
          <a:p>
            <a:pPr indent="0" marL="0">
              <a:lnSpc>
                <a:spcPct val="92000"/>
              </a:lnSpc>
              <a:buNone/>
            </a:pPr>
            <a:r>
              <a:rPr lang="en-US" sz="1050" i="1" dirty="0">
                <a:solidFill>
                  <a:srgbClr val="5F7183"/>
                </a:solidFill>
                <a:latin typeface="Calibri" pitchFamily="34" charset="0"/>
                <a:ea typeface="Calibri" pitchFamily="34" charset="-122"/>
                <a:cs typeface="Calibri" pitchFamily="34" charset="-120"/>
              </a:rPr>
              <a:t>In item 8 the problem is reading it, not picking it up. Judge from the cover classification.</a:t>
            </a:r>
            <a:endParaRPr lang="en-US" sz="1450" dirty="0"/>
          </a:p>
        </p:txBody>
      </p:sp>
      <p:sp>
        <p:nvSpPr>
          <p:cNvPr id="21" name="Shape 18"/>
          <p:cNvSpPr/>
          <p:nvPr/>
        </p:nvSpPr>
        <p:spPr>
          <a:xfrm>
            <a:off x="640080" y="5533949"/>
            <a:ext cx="10911535" cy="702259"/>
          </a:xfrm>
          <a:prstGeom prst="roundRect">
            <a:avLst>
              <a:gd name="adj" fmla="val 6510"/>
            </a:avLst>
          </a:prstGeom>
          <a:solidFill>
            <a:srgbClr val="EFF4F8"/>
          </a:solidFill>
          <a:ln/>
        </p:spPr>
      </p:sp>
      <p:sp>
        <p:nvSpPr>
          <p:cNvPr id="22" name="Shape 19"/>
          <p:cNvSpPr/>
          <p:nvPr/>
        </p:nvSpPr>
        <p:spPr>
          <a:xfrm>
            <a:off x="896112" y="5693054"/>
            <a:ext cx="384048" cy="384048"/>
          </a:xfrm>
          <a:prstGeom prst="ellipse">
            <a:avLst/>
          </a:prstGeom>
          <a:solidFill>
            <a:srgbClr val="12B198"/>
          </a:solidFill>
          <a:ln/>
        </p:spPr>
      </p:sp>
      <p:sp>
        <p:nvSpPr>
          <p:cNvPr id="23" name="Text 20"/>
          <p:cNvSpPr/>
          <p:nvPr/>
        </p:nvSpPr>
        <p:spPr>
          <a:xfrm>
            <a:off x="896112" y="569305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1"/>
          <p:cNvSpPr/>
          <p:nvPr/>
        </p:nvSpPr>
        <p:spPr>
          <a:xfrm>
            <a:off x="1499616" y="5643677"/>
            <a:ext cx="9777679" cy="519379"/>
          </a:xfrm>
          <a:prstGeom prst="rect">
            <a:avLst/>
          </a:prstGeom>
          <a:noFill/>
          <a:ln/>
        </p:spPr>
        <p:txBody>
          <a:bodyPr wrap="square" lIns="0" tIns="0" rIns="0" bIns="0" rtlCol="0" anchor="ctr"/>
          <a:lstStyle/>
          <a:p>
            <a:pPr indent="0" marL="0">
              <a:lnSpc>
                <a:spcPct val="92000"/>
              </a:lnSpc>
              <a:buNone/>
            </a:pPr>
            <a:r>
              <a:rPr lang="en-US" sz="1300" b="1" dirty="0">
                <a:solidFill>
                  <a:srgbClr val="1B2733"/>
                </a:solidFill>
                <a:latin typeface="Yu Gothic" pitchFamily="34" charset="0"/>
                <a:ea typeface="Yu Gothic" pitchFamily="34" charset="-122"/>
                <a:cs typeface="Yu Gothic" pitchFamily="34" charset="-120"/>
              </a:rPr>
              <a:t>根拠の示し方：「〔私人／補助者〕として、〔目的〕のため、〔手段〕を取った」</a:t>
            </a:r>
            <a:endParaRPr lang="en-US" sz="1300" dirty="0"/>
          </a:p>
          <a:p>
            <a:pPr indent="0" marL="0">
              <a:lnSpc>
                <a:spcPct val="92000"/>
              </a:lnSpc>
              <a:buNone/>
            </a:pPr>
            <a:r>
              <a:rPr lang="en-US" sz="950" i="1" dirty="0">
                <a:solidFill>
                  <a:srgbClr val="5F7183"/>
                </a:solidFill>
                <a:latin typeface="Calibri" pitchFamily="34" charset="0"/>
                <a:ea typeface="Calibri" pitchFamily="34" charset="-122"/>
                <a:cs typeface="Calibri" pitchFamily="34" charset="-120"/>
              </a:rPr>
              <a:t>State it this way: "As a [citizen / delegated agent], I took [action] for [purpose]."</a:t>
            </a:r>
            <a:endParaRPr lang="en-US" sz="1300" dirty="0"/>
          </a:p>
        </p:txBody>
      </p:sp>
      <p:sp>
        <p:nvSpPr>
          <p:cNvPr id="25" name="Text 22"/>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26" name="Text 23"/>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84048"/>
            <a:ext cx="8982151" cy="768096"/>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TTX 1-A　社外秘の書類が落ちている</a:t>
            </a:r>
            <a:endParaRPr lang="en-US" sz="2300" dirty="0"/>
          </a:p>
          <a:p>
            <a:pPr indent="0" marL="0">
              <a:lnSpc>
                <a:spcPct val="94000"/>
              </a:lnSpc>
              <a:buNone/>
            </a:pPr>
            <a:r>
              <a:rPr lang="en-US" sz="1100" i="1" dirty="0">
                <a:solidFill>
                  <a:srgbClr val="12B198"/>
                </a:solidFill>
                <a:latin typeface="Calibri" pitchFamily="34" charset="0"/>
                <a:ea typeface="Calibri" pitchFamily="34" charset="-122"/>
                <a:cs typeface="Calibri" pitchFamily="34" charset="-120"/>
              </a:rPr>
              <a:t>TTX 1-A — A Confidential Document on the Floor</a:t>
            </a:r>
            <a:endParaRPr lang="en-US" sz="2300" dirty="0"/>
          </a:p>
        </p:txBody>
      </p:sp>
      <p:sp>
        <p:nvSpPr>
          <p:cNvPr id="4" name="Shape 1"/>
          <p:cNvSpPr/>
          <p:nvPr/>
        </p:nvSpPr>
        <p:spPr>
          <a:xfrm>
            <a:off x="9686239" y="438912"/>
            <a:ext cx="932688" cy="310896"/>
          </a:xfrm>
          <a:prstGeom prst="roundRect">
            <a:avLst>
              <a:gd name="adj" fmla="val 14706"/>
            </a:avLst>
          </a:prstGeom>
          <a:solidFill>
            <a:srgbClr val="093259"/>
          </a:solidFill>
          <a:ln/>
        </p:spPr>
      </p:sp>
      <p:sp>
        <p:nvSpPr>
          <p:cNvPr id="5" name="Text 2"/>
          <p:cNvSpPr/>
          <p:nvPr/>
        </p:nvSpPr>
        <p:spPr>
          <a:xfrm>
            <a:off x="9686239" y="438912"/>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CASE 1-A</a:t>
            </a:r>
            <a:endParaRPr lang="en-US" sz="1100" dirty="0"/>
          </a:p>
        </p:txBody>
      </p:sp>
      <p:sp>
        <p:nvSpPr>
          <p:cNvPr id="6" name="Shape 3"/>
          <p:cNvSpPr/>
          <p:nvPr/>
        </p:nvSpPr>
        <p:spPr>
          <a:xfrm>
            <a:off x="640080" y="1188720"/>
            <a:ext cx="10911535" cy="1124712"/>
          </a:xfrm>
          <a:prstGeom prst="roundRect">
            <a:avLst>
              <a:gd name="adj" fmla="val 3252"/>
            </a:avLst>
          </a:prstGeom>
          <a:solidFill>
            <a:srgbClr val="093259"/>
          </a:solidFill>
          <a:ln/>
        </p:spPr>
      </p:sp>
      <p:sp>
        <p:nvSpPr>
          <p:cNvPr id="7" name="Text 4"/>
          <p:cNvSpPr/>
          <p:nvPr/>
        </p:nvSpPr>
        <p:spPr>
          <a:xfrm>
            <a:off x="950976" y="1316736"/>
            <a:ext cx="10289743" cy="868680"/>
          </a:xfrm>
          <a:prstGeom prst="rect">
            <a:avLst/>
          </a:prstGeom>
          <a:noFill/>
          <a:ln/>
        </p:spPr>
        <p:txBody>
          <a:bodyPr wrap="square" lIns="0" tIns="0" rIns="0" bIns="0" rtlCol="0" anchor="t"/>
          <a:lstStyle/>
          <a:p>
            <a:pPr indent="0" marL="0">
              <a:lnSpc>
                <a:spcPct val="92000"/>
              </a:lnSpc>
              <a:buNone/>
            </a:pPr>
            <a:r>
              <a:rPr lang="en-US" sz="950" b="1" dirty="0">
                <a:solidFill>
                  <a:srgbClr val="12B198"/>
                </a:solidFill>
                <a:latin typeface="Yu Gothic" pitchFamily="34" charset="0"/>
                <a:ea typeface="Yu Gothic" pitchFamily="34" charset="-122"/>
                <a:cs typeface="Yu Gothic" pitchFamily="34" charset="-120"/>
              </a:rPr>
              <a:t>シナリオ　</a:t>
            </a:r>
            <a:pPr indent="0" marL="0">
              <a:lnSpc>
                <a:spcPct val="92000"/>
              </a:lnSpc>
              <a:buNone/>
            </a:pPr>
            <a:r>
              <a:rPr lang="en-US" sz="800" dirty="0">
                <a:solidFill>
                  <a:srgbClr val="12B198"/>
                </a:solidFill>
                <a:latin typeface="Calibri" pitchFamily="34" charset="0"/>
                <a:ea typeface="Calibri" pitchFamily="34" charset="-122"/>
                <a:cs typeface="Calibri" pitchFamily="34" charset="-120"/>
              </a:rPr>
              <a:t>SCENARIO</a:t>
            </a:r>
            <a:endParaRPr lang="en-US" sz="950" dirty="0"/>
          </a:p>
          <a:p>
            <a:pPr indent="0" marL="0">
              <a:lnSpc>
                <a:spcPct val="92000"/>
              </a:lnSpc>
              <a:buNone/>
            </a:pPr>
            <a:r>
              <a:rPr lang="en-US" sz="1150" b="1" dirty="0">
                <a:solidFill>
                  <a:srgbClr val="FFFFFF"/>
                </a:solidFill>
                <a:latin typeface="Yu Gothic" pitchFamily="34" charset="0"/>
                <a:ea typeface="Yu Gothic" pitchFamily="34" charset="-122"/>
                <a:cs typeface="Yu Gothic" pitchFamily="34" charset="-120"/>
              </a:rPr>
              <a:t>深夜2時、クライアントのオフィスを巡回中。執務エリアの床にA4書類が1枚落ちている。表紙に「【社外秘】◯◯プロジェクト 役員会議資料」。ページをめくれば中身が読める状態。周囲に人はいない。</a:t>
            </a:r>
            <a:endParaRPr lang="en-US" sz="950" dirty="0"/>
          </a:p>
          <a:p>
            <a:pPr indent="0" marL="0">
              <a:lnSpc>
                <a:spcPct val="92000"/>
              </a:lnSpc>
              <a:buNone/>
            </a:pPr>
            <a:r>
              <a:rPr lang="en-US" sz="800" i="1" dirty="0">
                <a:solidFill>
                  <a:srgbClr val="9FD8CD"/>
                </a:solidFill>
                <a:latin typeface="Calibri" pitchFamily="34" charset="0"/>
                <a:ea typeface="Calibri" pitchFamily="34" charset="-122"/>
                <a:cs typeface="Calibri" pitchFamily="34" charset="-120"/>
              </a:rPr>
              <a:t>02:00, patrolling the client's office. A single A4 document lies on the floor of the work area. The cover reads "Confidential — Board Meeting Material." Turning the page would reveal the contents. Nobody is around.</a:t>
            </a:r>
            <a:endParaRPr lang="en-US" sz="950" dirty="0"/>
          </a:p>
        </p:txBody>
      </p:sp>
      <p:sp>
        <p:nvSpPr>
          <p:cNvPr id="8" name="Text 5"/>
          <p:cNvSpPr/>
          <p:nvPr/>
        </p:nvSpPr>
        <p:spPr>
          <a:xfrm>
            <a:off x="640080" y="2459736"/>
            <a:ext cx="10911535" cy="566928"/>
          </a:xfrm>
          <a:prstGeom prst="rect">
            <a:avLst/>
          </a:prstGeom>
          <a:noFill/>
          <a:ln/>
        </p:spPr>
        <p:txBody>
          <a:bodyPr wrap="square" lIns="0" tIns="0" rIns="0" bIns="0" rtlCol="0" anchor="t"/>
          <a:lstStyle/>
          <a:p>
            <a:pPr indent="0" marL="0">
              <a:lnSpc>
                <a:spcPct val="90000"/>
              </a:lnSpc>
              <a:buNone/>
            </a:pPr>
            <a:r>
              <a:rPr lang="en-US" sz="1000" b="1" dirty="0">
                <a:solidFill>
                  <a:srgbClr val="0D8A76"/>
                </a:solidFill>
                <a:latin typeface="Yu Gothic" pitchFamily="34" charset="0"/>
                <a:ea typeface="Yu Gothic" pitchFamily="34" charset="-122"/>
                <a:cs typeface="Yu Gothic" pitchFamily="34" charset="-120"/>
              </a:rPr>
              <a:t>問い　</a:t>
            </a:r>
            <a:pPr indent="0" marL="0">
              <a:lnSpc>
                <a:spcPct val="90000"/>
              </a:lnSpc>
              <a:buNone/>
            </a:pPr>
            <a:r>
              <a:rPr lang="en-US" sz="1250" b="1" dirty="0">
                <a:solidFill>
                  <a:srgbClr val="093259"/>
                </a:solidFill>
                <a:latin typeface="Yu Gothic" pitchFamily="34" charset="0"/>
                <a:ea typeface="Yu Gothic" pitchFamily="34" charset="-122"/>
                <a:cs typeface="Yu Gothic" pitchFamily="34" charset="-120"/>
              </a:rPr>
              <a:t>あなたなら次の60秒、何をどう動きますか。</a:t>
            </a:r>
            <a:endParaRPr lang="en-US" sz="1000" dirty="0"/>
          </a:p>
          <a:p>
            <a:pPr indent="0" marL="0">
              <a:lnSpc>
                <a:spcPct val="90000"/>
              </a:lnSpc>
              <a:buNone/>
            </a:pPr>
            <a:r>
              <a:rPr lang="en-US" sz="850" i="1" dirty="0">
                <a:solidFill>
                  <a:srgbClr val="5F7183"/>
                </a:solidFill>
                <a:latin typeface="Calibri" pitchFamily="34" charset="0"/>
                <a:ea typeface="Calibri" pitchFamily="34" charset="-122"/>
                <a:cs typeface="Calibri" pitchFamily="34" charset="-120"/>
              </a:rPr>
              <a:t>What do you do in the next sixty seconds?</a:t>
            </a:r>
            <a:endParaRPr lang="en-US" sz="1000" dirty="0"/>
          </a:p>
        </p:txBody>
      </p:sp>
      <p:sp>
        <p:nvSpPr>
          <p:cNvPr id="9" name="Shape 6"/>
          <p:cNvSpPr/>
          <p:nvPr/>
        </p:nvSpPr>
        <p:spPr>
          <a:xfrm>
            <a:off x="640080" y="3081528"/>
            <a:ext cx="5327752" cy="1074420"/>
          </a:xfrm>
          <a:prstGeom prst="roundRect">
            <a:avLst>
              <a:gd name="adj" fmla="val 3404"/>
            </a:avLst>
          </a:prstGeom>
          <a:solidFill>
            <a:srgbClr val="EFF4F8"/>
          </a:solidFill>
          <a:ln/>
        </p:spPr>
      </p:sp>
      <p:sp>
        <p:nvSpPr>
          <p:cNvPr id="10" name="Shape 7"/>
          <p:cNvSpPr/>
          <p:nvPr/>
        </p:nvSpPr>
        <p:spPr>
          <a:xfrm>
            <a:off x="804672" y="3472434"/>
            <a:ext cx="292608" cy="292608"/>
          </a:xfrm>
          <a:prstGeom prst="ellipse">
            <a:avLst/>
          </a:prstGeom>
          <a:solidFill>
            <a:srgbClr val="12B198"/>
          </a:solidFill>
          <a:ln/>
        </p:spPr>
      </p:sp>
      <p:sp>
        <p:nvSpPr>
          <p:cNvPr id="11" name="Text 8"/>
          <p:cNvSpPr/>
          <p:nvPr/>
        </p:nvSpPr>
        <p:spPr>
          <a:xfrm>
            <a:off x="804672" y="347243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9"/>
          <p:cNvSpPr/>
          <p:nvPr/>
        </p:nvSpPr>
        <p:spPr>
          <a:xfrm>
            <a:off x="1188720" y="3136392"/>
            <a:ext cx="4596232" cy="964692"/>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これは People / Asset / Reputation のどれに関わる事案か。</a:t>
            </a:r>
            <a:endParaRPr lang="en-US" sz="105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Which pillar does this concern: People, Asset, or Reputation?</a:t>
            </a:r>
            <a:endParaRPr lang="en-US" sz="1050" dirty="0"/>
          </a:p>
        </p:txBody>
      </p:sp>
      <p:sp>
        <p:nvSpPr>
          <p:cNvPr id="13" name="Shape 10"/>
          <p:cNvSpPr/>
          <p:nvPr/>
        </p:nvSpPr>
        <p:spPr>
          <a:xfrm>
            <a:off x="6223864" y="3081528"/>
            <a:ext cx="5327752" cy="1074420"/>
          </a:xfrm>
          <a:prstGeom prst="roundRect">
            <a:avLst>
              <a:gd name="adj" fmla="val 3404"/>
            </a:avLst>
          </a:prstGeom>
          <a:solidFill>
            <a:srgbClr val="EFF4F8"/>
          </a:solidFill>
          <a:ln/>
        </p:spPr>
      </p:sp>
      <p:sp>
        <p:nvSpPr>
          <p:cNvPr id="14" name="Shape 11"/>
          <p:cNvSpPr/>
          <p:nvPr/>
        </p:nvSpPr>
        <p:spPr>
          <a:xfrm>
            <a:off x="6388456" y="3472434"/>
            <a:ext cx="292608" cy="292608"/>
          </a:xfrm>
          <a:prstGeom prst="ellipse">
            <a:avLst/>
          </a:prstGeom>
          <a:solidFill>
            <a:srgbClr val="12B198"/>
          </a:solidFill>
          <a:ln/>
        </p:spPr>
      </p:sp>
      <p:sp>
        <p:nvSpPr>
          <p:cNvPr id="15" name="Text 12"/>
          <p:cNvSpPr/>
          <p:nvPr/>
        </p:nvSpPr>
        <p:spPr>
          <a:xfrm>
            <a:off x="6388456" y="347243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72504" y="3136392"/>
            <a:ext cx="4596232" cy="964692"/>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拾い上げてよいか。中身を読んでよいか。その理由は。</a:t>
            </a:r>
            <a:endParaRPr lang="en-US" sz="105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May you pick it up? May you read it? Why or why not?</a:t>
            </a:r>
            <a:endParaRPr lang="en-US" sz="1050" dirty="0"/>
          </a:p>
        </p:txBody>
      </p:sp>
      <p:sp>
        <p:nvSpPr>
          <p:cNvPr id="17" name="Shape 14"/>
          <p:cNvSpPr/>
          <p:nvPr/>
        </p:nvSpPr>
        <p:spPr>
          <a:xfrm>
            <a:off x="640080" y="4265676"/>
            <a:ext cx="5327752" cy="1074420"/>
          </a:xfrm>
          <a:prstGeom prst="roundRect">
            <a:avLst>
              <a:gd name="adj" fmla="val 3404"/>
            </a:avLst>
          </a:prstGeom>
          <a:solidFill>
            <a:srgbClr val="EFF4F8"/>
          </a:solidFill>
          <a:ln/>
        </p:spPr>
      </p:sp>
      <p:sp>
        <p:nvSpPr>
          <p:cNvPr id="18" name="Shape 15"/>
          <p:cNvSpPr/>
          <p:nvPr/>
        </p:nvSpPr>
        <p:spPr>
          <a:xfrm>
            <a:off x="804672" y="4656582"/>
            <a:ext cx="292608" cy="292608"/>
          </a:xfrm>
          <a:prstGeom prst="ellipse">
            <a:avLst/>
          </a:prstGeom>
          <a:solidFill>
            <a:srgbClr val="12B198"/>
          </a:solidFill>
          <a:ln/>
        </p:spPr>
      </p:sp>
      <p:sp>
        <p:nvSpPr>
          <p:cNvPr id="19" name="Text 16"/>
          <p:cNvSpPr/>
          <p:nvPr/>
        </p:nvSpPr>
        <p:spPr>
          <a:xfrm>
            <a:off x="804672" y="465658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1188720" y="4320540"/>
            <a:ext cx="4596232" cy="964692"/>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誰に、いつ報告するか。深夜であることは影響するか。</a:t>
            </a:r>
            <a:endParaRPr lang="en-US" sz="105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Whom do you report to, and when? Does the hour change your answer?</a:t>
            </a:r>
            <a:endParaRPr lang="en-US" sz="1050" dirty="0"/>
          </a:p>
        </p:txBody>
      </p:sp>
      <p:sp>
        <p:nvSpPr>
          <p:cNvPr id="21" name="Shape 18"/>
          <p:cNvSpPr/>
          <p:nvPr/>
        </p:nvSpPr>
        <p:spPr>
          <a:xfrm>
            <a:off x="6223864" y="4265676"/>
            <a:ext cx="5327752" cy="1074420"/>
          </a:xfrm>
          <a:prstGeom prst="roundRect">
            <a:avLst>
              <a:gd name="adj" fmla="val 3404"/>
            </a:avLst>
          </a:prstGeom>
          <a:solidFill>
            <a:srgbClr val="EFF4F8"/>
          </a:solidFill>
          <a:ln/>
        </p:spPr>
      </p:sp>
      <p:sp>
        <p:nvSpPr>
          <p:cNvPr id="22" name="Shape 19"/>
          <p:cNvSpPr/>
          <p:nvPr/>
        </p:nvSpPr>
        <p:spPr>
          <a:xfrm>
            <a:off x="6388456" y="4656582"/>
            <a:ext cx="292608" cy="292608"/>
          </a:xfrm>
          <a:prstGeom prst="ellipse">
            <a:avLst/>
          </a:prstGeom>
          <a:solidFill>
            <a:srgbClr val="12B198"/>
          </a:solidFill>
          <a:ln/>
        </p:spPr>
      </p:sp>
      <p:sp>
        <p:nvSpPr>
          <p:cNvPr id="23" name="Text 20"/>
          <p:cNvSpPr/>
          <p:nvPr/>
        </p:nvSpPr>
        <p:spPr>
          <a:xfrm>
            <a:off x="6388456" y="465658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1"/>
          <p:cNvSpPr/>
          <p:nvPr/>
        </p:nvSpPr>
        <p:spPr>
          <a:xfrm>
            <a:off x="6772504" y="4320540"/>
            <a:ext cx="4596232" cy="964692"/>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警備日誌とインシデントレポートに、どう書くか。</a:t>
            </a:r>
            <a:endParaRPr lang="en-US" sz="105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How do you write it in the log and the incident report?</a:t>
            </a:r>
            <a:endParaRPr lang="en-US" sz="1050" dirty="0"/>
          </a:p>
        </p:txBody>
      </p:sp>
      <p:sp>
        <p:nvSpPr>
          <p:cNvPr id="25" name="Shape 22"/>
          <p:cNvSpPr/>
          <p:nvPr/>
        </p:nvSpPr>
        <p:spPr>
          <a:xfrm>
            <a:off x="640080" y="5394960"/>
            <a:ext cx="10911535" cy="457200"/>
          </a:xfrm>
          <a:prstGeom prst="roundRect">
            <a:avLst>
              <a:gd name="adj" fmla="val 8000"/>
            </a:avLst>
          </a:prstGeom>
          <a:solidFill>
            <a:srgbClr val="E4F4F0"/>
          </a:solidFill>
          <a:ln/>
        </p:spPr>
      </p:sp>
      <p:sp>
        <p:nvSpPr>
          <p:cNvPr id="26" name="Text 23"/>
          <p:cNvSpPr/>
          <p:nvPr/>
        </p:nvSpPr>
        <p:spPr>
          <a:xfrm>
            <a:off x="877824" y="5431536"/>
            <a:ext cx="10436047" cy="384048"/>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　</a:t>
            </a:r>
            <a:pPr indent="0" marL="0">
              <a:lnSpc>
                <a:spcPct val="86000"/>
              </a:lnSpc>
              <a:buNone/>
            </a:pPr>
            <a:r>
              <a:rPr lang="en-US" sz="1050" b="1" dirty="0">
                <a:solidFill>
                  <a:srgbClr val="1B2733"/>
                </a:solidFill>
                <a:latin typeface="Yu Gothic" pitchFamily="34" charset="0"/>
                <a:ea typeface="Yu Gothic" pitchFamily="34" charset="-122"/>
                <a:cs typeface="Yu Gothic" pitchFamily="34" charset="-120"/>
              </a:rPr>
              <a:t>書類を手にしたところで、清掃員が入室してきた。</a:t>
            </a:r>
            <a:endParaRPr lang="en-US" sz="850" dirty="0"/>
          </a:p>
          <a:p>
            <a:pPr indent="0" marL="0">
              <a:lnSpc>
                <a:spcPct val="86000"/>
              </a:lnSpc>
              <a:buNone/>
            </a:pPr>
            <a:r>
              <a:rPr lang="en-US" sz="750" i="1" dirty="0">
                <a:solidFill>
                  <a:srgbClr val="5F7183"/>
                </a:solidFill>
                <a:latin typeface="Calibri" pitchFamily="34" charset="0"/>
                <a:ea typeface="Calibri" pitchFamily="34" charset="-122"/>
                <a:cs typeface="Calibri" pitchFamily="34" charset="-120"/>
              </a:rPr>
              <a:t>As you pick it up, a cleaner enters the room.</a:t>
            </a:r>
            <a:endParaRPr lang="en-US" sz="850" dirty="0"/>
          </a:p>
        </p:txBody>
      </p:sp>
      <p:sp>
        <p:nvSpPr>
          <p:cNvPr id="27" name="Text 24"/>
          <p:cNvSpPr/>
          <p:nvPr/>
        </p:nvSpPr>
        <p:spPr>
          <a:xfrm>
            <a:off x="640080" y="5907024"/>
            <a:ext cx="10911535" cy="310896"/>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機密書類の取扱フローは現場ごとに異なる。Site SOPを必ず確認する。</a:t>
            </a:r>
            <a:endParaRPr lang="en-US" sz="900" dirty="0"/>
          </a:p>
          <a:p>
            <a:pPr indent="0" marL="0">
              <a:lnSpc>
                <a:spcPct val="88000"/>
              </a:lnSpc>
              <a:buNone/>
            </a:pPr>
            <a:r>
              <a:rPr lang="en-US" sz="750" i="1" dirty="0">
                <a:solidFill>
                  <a:srgbClr val="5F7183"/>
                </a:solidFill>
                <a:latin typeface="Calibri" pitchFamily="34" charset="0"/>
                <a:ea typeface="Calibri" pitchFamily="34" charset="-122"/>
                <a:cs typeface="Calibri" pitchFamily="34" charset="-120"/>
              </a:rPr>
              <a:t>Procedures for handling confidential documents differ by site. Always check the Site SOP.</a:t>
            </a:r>
            <a:endParaRPr lang="en-US" sz="900" dirty="0"/>
          </a:p>
        </p:txBody>
      </p:sp>
      <p:sp>
        <p:nvSpPr>
          <p:cNvPr id="28" name="Text 25"/>
          <p:cNvSpPr/>
          <p:nvPr/>
        </p:nvSpPr>
        <p:spPr>
          <a:xfrm>
            <a:off x="640080" y="6272784"/>
            <a:ext cx="9905695" cy="237744"/>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個人情報保護法、不正競争防止法、経済産業省「営業秘密管理指針」</a:t>
            </a:r>
            <a:endParaRPr lang="en-US" sz="750" dirty="0"/>
          </a:p>
        </p:txBody>
      </p:sp>
      <p:sp>
        <p:nvSpPr>
          <p:cNvPr id="29" name="Text 26"/>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30" name="Text 27"/>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84048"/>
            <a:ext cx="8982151" cy="768096"/>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TTX 1-A 模範解答</a:t>
            </a:r>
            <a:endParaRPr lang="en-US" sz="2300" dirty="0"/>
          </a:p>
          <a:p>
            <a:pPr indent="0" marL="0">
              <a:lnSpc>
                <a:spcPct val="94000"/>
              </a:lnSpc>
              <a:buNone/>
            </a:pPr>
            <a:r>
              <a:rPr lang="en-US" sz="1100" i="1" dirty="0">
                <a:solidFill>
                  <a:srgbClr val="12B198"/>
                </a:solidFill>
                <a:latin typeface="Calibri" pitchFamily="34" charset="0"/>
                <a:ea typeface="Calibri" pitchFamily="34" charset="-122"/>
                <a:cs typeface="Calibri" pitchFamily="34" charset="-120"/>
              </a:rPr>
              <a:t>TTX 1-A — Model Answers</a:t>
            </a:r>
            <a:endParaRPr lang="en-US" sz="2300" dirty="0"/>
          </a:p>
        </p:txBody>
      </p:sp>
      <p:sp>
        <p:nvSpPr>
          <p:cNvPr id="4" name="Shape 1"/>
          <p:cNvSpPr/>
          <p:nvPr/>
        </p:nvSpPr>
        <p:spPr>
          <a:xfrm>
            <a:off x="9686239" y="438912"/>
            <a:ext cx="932688" cy="310896"/>
          </a:xfrm>
          <a:prstGeom prst="roundRect">
            <a:avLst>
              <a:gd name="adj" fmla="val 14706"/>
            </a:avLst>
          </a:prstGeom>
          <a:solidFill>
            <a:srgbClr val="093259"/>
          </a:solidFill>
          <a:ln/>
        </p:spPr>
      </p:sp>
      <p:sp>
        <p:nvSpPr>
          <p:cNvPr id="5" name="Text 2"/>
          <p:cNvSpPr/>
          <p:nvPr/>
        </p:nvSpPr>
        <p:spPr>
          <a:xfrm>
            <a:off x="9686239" y="438912"/>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DEBRIEF</a:t>
            </a:r>
            <a:endParaRPr lang="en-US" sz="1100" dirty="0"/>
          </a:p>
        </p:txBody>
      </p:sp>
      <p:sp>
        <p:nvSpPr>
          <p:cNvPr id="6" name="Shape 3"/>
          <p:cNvSpPr/>
          <p:nvPr/>
        </p:nvSpPr>
        <p:spPr>
          <a:xfrm>
            <a:off x="640080" y="1188720"/>
            <a:ext cx="10911535" cy="683514"/>
          </a:xfrm>
          <a:prstGeom prst="roundRect">
            <a:avLst>
              <a:gd name="adj" fmla="val 5351"/>
            </a:avLst>
          </a:prstGeom>
          <a:solidFill>
            <a:srgbClr val="EFF4F8"/>
          </a:solidFill>
          <a:ln/>
        </p:spPr>
      </p:sp>
      <p:sp>
        <p:nvSpPr>
          <p:cNvPr id="7" name="Shape 4"/>
          <p:cNvSpPr/>
          <p:nvPr/>
        </p:nvSpPr>
        <p:spPr>
          <a:xfrm>
            <a:off x="841248" y="1356741"/>
            <a:ext cx="347472" cy="347472"/>
          </a:xfrm>
          <a:prstGeom prst="ellipse">
            <a:avLst/>
          </a:prstGeom>
          <a:solidFill>
            <a:srgbClr val="12B198"/>
          </a:solidFill>
          <a:ln/>
        </p:spPr>
      </p:sp>
      <p:sp>
        <p:nvSpPr>
          <p:cNvPr id="8" name="Text 5"/>
          <p:cNvSpPr/>
          <p:nvPr/>
        </p:nvSpPr>
        <p:spPr>
          <a:xfrm>
            <a:off x="841248" y="1356741"/>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280160" y="1252728"/>
            <a:ext cx="10033711" cy="555498"/>
          </a:xfrm>
          <a:prstGeom prst="rect">
            <a:avLst/>
          </a:prstGeom>
          <a:noFill/>
          <a:ln/>
        </p:spPr>
        <p:txBody>
          <a:bodyPr wrap="square" lIns="0" tIns="0" rIns="0" bIns="0" rtlCol="0" anchor="ctr"/>
          <a:lstStyle/>
          <a:p>
            <a:pPr indent="0" marL="0">
              <a:lnSpc>
                <a:spcPct val="88000"/>
              </a:lnSpc>
              <a:buNone/>
            </a:pPr>
            <a:r>
              <a:rPr lang="en-US" sz="900" dirty="0">
                <a:solidFill>
                  <a:srgbClr val="5F7183"/>
                </a:solidFill>
                <a:latin typeface="Yu Gothic" pitchFamily="34" charset="0"/>
                <a:ea typeface="Yu Gothic" pitchFamily="34" charset="-122"/>
                <a:cs typeface="Yu Gothic" pitchFamily="34" charset="-120"/>
              </a:rPr>
              <a:t>問1　どの柱に関わるか</a:t>
            </a:r>
            <a:endParaRPr lang="en-US" sz="90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Asset（情報資産）。外部に出れば Reputation にも及ぶ。</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Asset — information. If it leaves the building it becomes Reputation as well.</a:t>
            </a:r>
            <a:endParaRPr lang="en-US" sz="900" dirty="0"/>
          </a:p>
        </p:txBody>
      </p:sp>
      <p:sp>
        <p:nvSpPr>
          <p:cNvPr id="10" name="Shape 7"/>
          <p:cNvSpPr/>
          <p:nvPr/>
        </p:nvSpPr>
        <p:spPr>
          <a:xfrm>
            <a:off x="640080" y="1972818"/>
            <a:ext cx="10911535" cy="683514"/>
          </a:xfrm>
          <a:prstGeom prst="roundRect">
            <a:avLst>
              <a:gd name="adj" fmla="val 5351"/>
            </a:avLst>
          </a:prstGeom>
          <a:solidFill>
            <a:srgbClr val="E4F4F0"/>
          </a:solidFill>
          <a:ln/>
        </p:spPr>
      </p:sp>
      <p:sp>
        <p:nvSpPr>
          <p:cNvPr id="11" name="Shape 8"/>
          <p:cNvSpPr/>
          <p:nvPr/>
        </p:nvSpPr>
        <p:spPr>
          <a:xfrm>
            <a:off x="841248" y="2140839"/>
            <a:ext cx="347472" cy="347472"/>
          </a:xfrm>
          <a:prstGeom prst="ellipse">
            <a:avLst/>
          </a:prstGeom>
          <a:solidFill>
            <a:srgbClr val="12B198"/>
          </a:solidFill>
          <a:ln/>
        </p:spPr>
      </p:sp>
      <p:sp>
        <p:nvSpPr>
          <p:cNvPr id="12" name="Text 9"/>
          <p:cNvSpPr/>
          <p:nvPr/>
        </p:nvSpPr>
        <p:spPr>
          <a:xfrm>
            <a:off x="841248" y="2140839"/>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280160" y="2036826"/>
            <a:ext cx="10033711" cy="555498"/>
          </a:xfrm>
          <a:prstGeom prst="rect">
            <a:avLst/>
          </a:prstGeom>
          <a:noFill/>
          <a:ln/>
        </p:spPr>
        <p:txBody>
          <a:bodyPr wrap="square" lIns="0" tIns="0" rIns="0" bIns="0" rtlCol="0" anchor="ctr"/>
          <a:lstStyle/>
          <a:p>
            <a:pPr indent="0" marL="0">
              <a:lnSpc>
                <a:spcPct val="88000"/>
              </a:lnSpc>
              <a:buNone/>
            </a:pPr>
            <a:r>
              <a:rPr lang="en-US" sz="900" dirty="0">
                <a:solidFill>
                  <a:srgbClr val="5F7183"/>
                </a:solidFill>
                <a:latin typeface="Yu Gothic" pitchFamily="34" charset="0"/>
                <a:ea typeface="Yu Gothic" pitchFamily="34" charset="-122"/>
                <a:cs typeface="Yu Gothic" pitchFamily="34" charset="-120"/>
              </a:rPr>
              <a:t>問2　拾ってよいか。読んでよいか</a:t>
            </a:r>
            <a:endParaRPr lang="en-US" sz="90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拾ってよい。読んではいけない。表紙の分類表示までで判断する。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Pick it up, yes. Do not read it. Judge from the cover classification only.</a:t>
            </a:r>
            <a:endParaRPr lang="en-US" sz="900" dirty="0"/>
          </a:p>
        </p:txBody>
      </p:sp>
      <p:sp>
        <p:nvSpPr>
          <p:cNvPr id="14" name="Shape 11"/>
          <p:cNvSpPr/>
          <p:nvPr/>
        </p:nvSpPr>
        <p:spPr>
          <a:xfrm>
            <a:off x="640080" y="2756916"/>
            <a:ext cx="10911535" cy="683514"/>
          </a:xfrm>
          <a:prstGeom prst="roundRect">
            <a:avLst>
              <a:gd name="adj" fmla="val 5351"/>
            </a:avLst>
          </a:prstGeom>
          <a:solidFill>
            <a:srgbClr val="EFF4F8"/>
          </a:solidFill>
          <a:ln/>
        </p:spPr>
      </p:sp>
      <p:sp>
        <p:nvSpPr>
          <p:cNvPr id="15" name="Shape 12"/>
          <p:cNvSpPr/>
          <p:nvPr/>
        </p:nvSpPr>
        <p:spPr>
          <a:xfrm>
            <a:off x="841248" y="2924937"/>
            <a:ext cx="347472" cy="347472"/>
          </a:xfrm>
          <a:prstGeom prst="ellipse">
            <a:avLst/>
          </a:prstGeom>
          <a:solidFill>
            <a:srgbClr val="12B198"/>
          </a:solidFill>
          <a:ln/>
        </p:spPr>
      </p:sp>
      <p:sp>
        <p:nvSpPr>
          <p:cNvPr id="16" name="Text 13"/>
          <p:cNvSpPr/>
          <p:nvPr/>
        </p:nvSpPr>
        <p:spPr>
          <a:xfrm>
            <a:off x="841248" y="2924937"/>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280160" y="2820924"/>
            <a:ext cx="10033711" cy="555498"/>
          </a:xfrm>
          <a:prstGeom prst="rect">
            <a:avLst/>
          </a:prstGeom>
          <a:noFill/>
          <a:ln/>
        </p:spPr>
        <p:txBody>
          <a:bodyPr wrap="square" lIns="0" tIns="0" rIns="0" bIns="0" rtlCol="0" anchor="ctr"/>
          <a:lstStyle/>
          <a:p>
            <a:pPr indent="0" marL="0">
              <a:lnSpc>
                <a:spcPct val="88000"/>
              </a:lnSpc>
              <a:buNone/>
            </a:pPr>
            <a:r>
              <a:rPr lang="en-US" sz="900" dirty="0">
                <a:solidFill>
                  <a:srgbClr val="5F7183"/>
                </a:solidFill>
                <a:latin typeface="Yu Gothic" pitchFamily="34" charset="0"/>
                <a:ea typeface="Yu Gothic" pitchFamily="34" charset="-122"/>
                <a:cs typeface="Yu Gothic" pitchFamily="34" charset="-120"/>
              </a:rPr>
              <a:t>問3　誰にいつ報告するか</a:t>
            </a:r>
            <a:endParaRPr lang="en-US" sz="90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警備責任者へその場で。深夜でも翌朝に回さない。発見時刻が記録の価値を決める。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The security supervisor, immediately. Do not wait for morning — the time of discovery is what gives the record value.</a:t>
            </a:r>
            <a:endParaRPr lang="en-US" sz="900" dirty="0"/>
          </a:p>
        </p:txBody>
      </p:sp>
      <p:sp>
        <p:nvSpPr>
          <p:cNvPr id="18" name="Shape 15"/>
          <p:cNvSpPr/>
          <p:nvPr/>
        </p:nvSpPr>
        <p:spPr>
          <a:xfrm>
            <a:off x="640080" y="3541014"/>
            <a:ext cx="10911535" cy="683514"/>
          </a:xfrm>
          <a:prstGeom prst="roundRect">
            <a:avLst>
              <a:gd name="adj" fmla="val 5351"/>
            </a:avLst>
          </a:prstGeom>
          <a:solidFill>
            <a:srgbClr val="EFF4F8"/>
          </a:solidFill>
          <a:ln/>
        </p:spPr>
      </p:sp>
      <p:sp>
        <p:nvSpPr>
          <p:cNvPr id="19" name="Shape 16"/>
          <p:cNvSpPr/>
          <p:nvPr/>
        </p:nvSpPr>
        <p:spPr>
          <a:xfrm>
            <a:off x="841248" y="3709035"/>
            <a:ext cx="347472" cy="347472"/>
          </a:xfrm>
          <a:prstGeom prst="ellipse">
            <a:avLst/>
          </a:prstGeom>
          <a:solidFill>
            <a:srgbClr val="12B198"/>
          </a:solidFill>
          <a:ln/>
        </p:spPr>
      </p:sp>
      <p:sp>
        <p:nvSpPr>
          <p:cNvPr id="20" name="Text 17"/>
          <p:cNvSpPr/>
          <p:nvPr/>
        </p:nvSpPr>
        <p:spPr>
          <a:xfrm>
            <a:off x="841248" y="3709035"/>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280160" y="3605022"/>
            <a:ext cx="10033711" cy="555498"/>
          </a:xfrm>
          <a:prstGeom prst="rect">
            <a:avLst/>
          </a:prstGeom>
          <a:noFill/>
          <a:ln/>
        </p:spPr>
        <p:txBody>
          <a:bodyPr wrap="square" lIns="0" tIns="0" rIns="0" bIns="0" rtlCol="0" anchor="ctr"/>
          <a:lstStyle/>
          <a:p>
            <a:pPr indent="0" marL="0">
              <a:lnSpc>
                <a:spcPct val="88000"/>
              </a:lnSpc>
              <a:buNone/>
            </a:pPr>
            <a:r>
              <a:rPr lang="en-US" sz="900" dirty="0">
                <a:solidFill>
                  <a:srgbClr val="5F7183"/>
                </a:solidFill>
                <a:latin typeface="Yu Gothic" pitchFamily="34" charset="0"/>
                <a:ea typeface="Yu Gothic" pitchFamily="34" charset="-122"/>
                <a:cs typeface="Yu Gothic" pitchFamily="34" charset="-120"/>
              </a:rPr>
              <a:t>問4　日誌にどう書くか</a:t>
            </a:r>
            <a:endParaRPr lang="en-US" sz="90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発見時刻、場所、分類表示、引渡し先を書く。中身は書かない。</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Time, place, classification, and who you handed it to. Never the contents.</a:t>
            </a:r>
            <a:endParaRPr lang="en-US" sz="900" dirty="0"/>
          </a:p>
        </p:txBody>
      </p:sp>
      <p:sp>
        <p:nvSpPr>
          <p:cNvPr id="22" name="Shape 19"/>
          <p:cNvSpPr/>
          <p:nvPr/>
        </p:nvSpPr>
        <p:spPr>
          <a:xfrm>
            <a:off x="640080" y="4334256"/>
            <a:ext cx="10911535" cy="420624"/>
          </a:xfrm>
          <a:prstGeom prst="roundRect">
            <a:avLst>
              <a:gd name="adj" fmla="val 8696"/>
            </a:avLst>
          </a:prstGeom>
          <a:solidFill>
            <a:srgbClr val="EEF6FA"/>
          </a:solidFill>
          <a:ln/>
        </p:spPr>
      </p:sp>
      <p:sp>
        <p:nvSpPr>
          <p:cNvPr id="23" name="Text 20"/>
          <p:cNvSpPr/>
          <p:nvPr/>
        </p:nvSpPr>
        <p:spPr>
          <a:xfrm>
            <a:off x="859536" y="4361688"/>
            <a:ext cx="10472623"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追加付与①　</a:t>
            </a:r>
            <a:pPr indent="0" marL="0">
              <a:lnSpc>
                <a:spcPct val="86000"/>
              </a:lnSpc>
              <a:buNone/>
            </a:pPr>
            <a:r>
              <a:rPr lang="en-US" sz="850" dirty="0">
                <a:solidFill>
                  <a:srgbClr val="5F7183"/>
                </a:solidFill>
                <a:latin typeface="Yu Gothic" pitchFamily="34" charset="0"/>
                <a:ea typeface="Yu Gothic" pitchFamily="34" charset="-122"/>
                <a:cs typeface="Yu Gothic" pitchFamily="34" charset="-120"/>
              </a:rPr>
              <a:t>清掃員が入室　→　</a:t>
            </a:r>
            <a:pPr indent="0" marL="0">
              <a:lnSpc>
                <a:spcPct val="86000"/>
              </a:lnSpc>
              <a:buNone/>
            </a:pPr>
            <a:r>
              <a:rPr lang="en-US" sz="1100" b="1" dirty="0">
                <a:solidFill>
                  <a:srgbClr val="1B2733"/>
                </a:solidFill>
                <a:latin typeface="Yu Gothic" pitchFamily="34" charset="0"/>
                <a:ea typeface="Yu Gothic" pitchFamily="34" charset="-122"/>
                <a:cs typeface="Yu Gothic" pitchFamily="34" charset="-120"/>
              </a:rPr>
              <a:t>面前で扱う。単独で処理しない。誰が見ていたかも記録する。</a:t>
            </a:r>
            <a:endParaRPr lang="en-US" sz="850" dirty="0"/>
          </a:p>
          <a:p>
            <a:pPr indent="0" marL="0">
              <a:lnSpc>
                <a:spcPct val="86000"/>
              </a:lnSpc>
              <a:buNone/>
            </a:pPr>
            <a:r>
              <a:rPr lang="en-US" sz="750" i="1" dirty="0">
                <a:solidFill>
                  <a:srgbClr val="5F7183"/>
                </a:solidFill>
                <a:latin typeface="Calibri" pitchFamily="34" charset="0"/>
                <a:ea typeface="Calibri" pitchFamily="34" charset="-122"/>
                <a:cs typeface="Calibri" pitchFamily="34" charset="-120"/>
              </a:rPr>
              <a:t>Handle it in their presence. Do not process it alone. Record who saw it.</a:t>
            </a:r>
            <a:endParaRPr lang="en-US" sz="850" dirty="0"/>
          </a:p>
        </p:txBody>
      </p:sp>
      <p:sp>
        <p:nvSpPr>
          <p:cNvPr id="24" name="Shape 21"/>
          <p:cNvSpPr/>
          <p:nvPr/>
        </p:nvSpPr>
        <p:spPr>
          <a:xfrm>
            <a:off x="640080" y="4828032"/>
            <a:ext cx="10911535" cy="420624"/>
          </a:xfrm>
          <a:prstGeom prst="roundRect">
            <a:avLst>
              <a:gd name="adj" fmla="val 8696"/>
            </a:avLst>
          </a:prstGeom>
          <a:solidFill>
            <a:srgbClr val="EEF6FA"/>
          </a:solidFill>
          <a:ln/>
        </p:spPr>
      </p:sp>
      <p:sp>
        <p:nvSpPr>
          <p:cNvPr id="25" name="Text 22"/>
          <p:cNvSpPr/>
          <p:nvPr/>
        </p:nvSpPr>
        <p:spPr>
          <a:xfrm>
            <a:off x="859536" y="4855464"/>
            <a:ext cx="10472623"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追加付与②　</a:t>
            </a:r>
            <a:pPr indent="0" marL="0">
              <a:lnSpc>
                <a:spcPct val="86000"/>
              </a:lnSpc>
              <a:buNone/>
            </a:pPr>
            <a:r>
              <a:rPr lang="en-US" sz="850" dirty="0">
                <a:solidFill>
                  <a:srgbClr val="5F7183"/>
                </a:solidFill>
                <a:latin typeface="Yu Gothic" pitchFamily="34" charset="0"/>
                <a:ea typeface="Yu Gothic" pitchFamily="34" charset="-122"/>
                <a:cs typeface="Yu Gothic" pitchFamily="34" charset="-120"/>
              </a:rPr>
              <a:t>翌朝「あの資料見なかった？」　→　</a:t>
            </a:r>
            <a:pPr indent="0" marL="0">
              <a:lnSpc>
                <a:spcPct val="86000"/>
              </a:lnSpc>
              <a:buNone/>
            </a:pPr>
            <a:r>
              <a:rPr lang="en-US" sz="1100" b="1" dirty="0">
                <a:solidFill>
                  <a:srgbClr val="1B2733"/>
                </a:solidFill>
                <a:latin typeface="Yu Gothic" pitchFamily="34" charset="0"/>
                <a:ea typeface="Yu Gothic" pitchFamily="34" charset="-122"/>
                <a:cs typeface="Yu Gothic" pitchFamily="34" charset="-120"/>
              </a:rPr>
              <a:t>事実のみ答える。「拾って◯◯へ引き渡しました」。中身には触れない。</a:t>
            </a:r>
            <a:endParaRPr lang="en-US" sz="850" dirty="0"/>
          </a:p>
          <a:p>
            <a:pPr indent="0" marL="0">
              <a:lnSpc>
                <a:spcPct val="86000"/>
              </a:lnSpc>
              <a:buNone/>
            </a:pPr>
            <a:r>
              <a:rPr lang="en-US" sz="750" i="1" dirty="0">
                <a:solidFill>
                  <a:srgbClr val="5F7183"/>
                </a:solidFill>
                <a:latin typeface="Calibri" pitchFamily="34" charset="0"/>
                <a:ea typeface="Calibri" pitchFamily="34" charset="-122"/>
                <a:cs typeface="Calibri" pitchFamily="34" charset="-120"/>
              </a:rPr>
              <a:t>Answer with fact only: you picked it up and handed it over. Say nothing of the contents.</a:t>
            </a:r>
            <a:endParaRPr lang="en-US" sz="850" dirty="0"/>
          </a:p>
        </p:txBody>
      </p:sp>
      <p:sp>
        <p:nvSpPr>
          <p:cNvPr id="26" name="Shape 23"/>
          <p:cNvSpPr/>
          <p:nvPr/>
        </p:nvSpPr>
        <p:spPr>
          <a:xfrm>
            <a:off x="640080" y="5358384"/>
            <a:ext cx="10911535" cy="457200"/>
          </a:xfrm>
          <a:prstGeom prst="roundRect">
            <a:avLst>
              <a:gd name="adj" fmla="val 8000"/>
            </a:avLst>
          </a:prstGeom>
          <a:solidFill>
            <a:srgbClr val="093259"/>
          </a:solidFill>
          <a:ln/>
        </p:spPr>
      </p:sp>
      <p:sp>
        <p:nvSpPr>
          <p:cNvPr id="27" name="Text 24"/>
          <p:cNvSpPr/>
          <p:nvPr/>
        </p:nvSpPr>
        <p:spPr>
          <a:xfrm>
            <a:off x="859536" y="5385816"/>
            <a:ext cx="10472623" cy="402336"/>
          </a:xfrm>
          <a:prstGeom prst="rect">
            <a:avLst/>
          </a:prstGeom>
          <a:noFill/>
          <a:ln/>
        </p:spPr>
        <p:txBody>
          <a:bodyPr wrap="square" lIns="0" tIns="0" rIns="0" bIns="0" rtlCol="0" anchor="ctr"/>
          <a:lstStyle/>
          <a:p>
            <a:pPr indent="0" marL="0">
              <a:lnSpc>
                <a:spcPct val="86000"/>
              </a:lnSpc>
              <a:buNone/>
            </a:pPr>
            <a:r>
              <a:rPr lang="en-US" sz="900" b="1" dirty="0">
                <a:solidFill>
                  <a:srgbClr val="12B198"/>
                </a:solidFill>
                <a:latin typeface="Yu Gothic" pitchFamily="34" charset="0"/>
                <a:ea typeface="Yu Gothic" pitchFamily="34" charset="-122"/>
                <a:cs typeface="Yu Gothic" pitchFamily="34" charset="-120"/>
              </a:rPr>
              <a:t>割れる論点　</a:t>
            </a:r>
            <a:pPr indent="0" marL="0">
              <a:lnSpc>
                <a:spcPct val="86000"/>
              </a:lnSpc>
              <a:buNone/>
            </a:pPr>
            <a:r>
              <a:rPr lang="en-US" sz="1050" b="1" dirty="0">
                <a:solidFill>
                  <a:srgbClr val="FFFFFF"/>
                </a:solidFill>
                <a:latin typeface="Yu Gothic" pitchFamily="34" charset="0"/>
                <a:ea typeface="Yu Gothic" pitchFamily="34" charset="-122"/>
                <a:cs typeface="Yu Gothic" pitchFamily="34" charset="-120"/>
              </a:rPr>
              <a:t>保管するか、その場に置いて報告するか。どちらも成り立つ。根拠を述べさせる。</a:t>
            </a:r>
            <a:endParaRPr lang="en-US" sz="900" dirty="0"/>
          </a:p>
          <a:p>
            <a:pPr indent="0" marL="0">
              <a:lnSpc>
                <a:spcPct val="86000"/>
              </a:lnSpc>
              <a:buNone/>
            </a:pPr>
            <a:r>
              <a:rPr lang="en-US" sz="750" i="1" dirty="0">
                <a:solidFill>
                  <a:srgbClr val="9FD8CD"/>
                </a:solidFill>
                <a:latin typeface="Calibri" pitchFamily="34" charset="0"/>
                <a:ea typeface="Calibri" pitchFamily="34" charset="-122"/>
                <a:cs typeface="Calibri" pitchFamily="34" charset="-120"/>
              </a:rPr>
              <a:t>Secure it, or leave it and report? Both are defensible. Make them state the reasoning.</a:t>
            </a:r>
            <a:endParaRPr lang="en-US" sz="900" dirty="0"/>
          </a:p>
        </p:txBody>
      </p:sp>
      <p:sp>
        <p:nvSpPr>
          <p:cNvPr id="28" name="Text 25"/>
          <p:cNvSpPr/>
          <p:nvPr/>
        </p:nvSpPr>
        <p:spPr>
          <a:xfrm>
            <a:off x="640080" y="5907024"/>
            <a:ext cx="10911535" cy="310896"/>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模範解答は判断の型を示すものです。実際の手順は各現場のSite SOPと警備指令書が優先します。</a:t>
            </a:r>
            <a:endParaRPr lang="en-US" sz="900" dirty="0"/>
          </a:p>
          <a:p>
            <a:pPr indent="0" marL="0">
              <a:lnSpc>
                <a:spcPct val="88000"/>
              </a:lnSpc>
              <a:buNone/>
            </a:pPr>
            <a:r>
              <a:rPr lang="en-US" sz="750" i="1" dirty="0">
                <a:solidFill>
                  <a:srgbClr val="5F7183"/>
                </a:solidFill>
                <a:latin typeface="Calibri" pitchFamily="34" charset="0"/>
                <a:ea typeface="Calibri" pitchFamily="34" charset="-122"/>
                <a:cs typeface="Calibri" pitchFamily="34" charset="-120"/>
              </a:rPr>
              <a:t>These answers show a pattern of reasoning. The Site SOP and post orders always take precedence.</a:t>
            </a:r>
            <a:endParaRPr lang="en-US" sz="900" dirty="0"/>
          </a:p>
        </p:txBody>
      </p:sp>
      <p:sp>
        <p:nvSpPr>
          <p:cNvPr id="29" name="Text 26"/>
          <p:cNvSpPr/>
          <p:nvPr/>
        </p:nvSpPr>
        <p:spPr>
          <a:xfrm>
            <a:off x="640080" y="6272784"/>
            <a:ext cx="9905695" cy="237744"/>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個人情報保護法、不正競争防止法、経済産業省「営業秘密管理指針」</a:t>
            </a:r>
            <a:endParaRPr lang="en-US" sz="750" dirty="0"/>
          </a:p>
        </p:txBody>
      </p:sp>
      <p:sp>
        <p:nvSpPr>
          <p:cNvPr id="30" name="Text 27"/>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31" name="Text 28"/>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84048"/>
            <a:ext cx="8982151" cy="768096"/>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TTX 1-B　役員フロアで撮影している人物</a:t>
            </a:r>
            <a:endParaRPr lang="en-US" sz="2300" dirty="0"/>
          </a:p>
          <a:p>
            <a:pPr indent="0" marL="0">
              <a:lnSpc>
                <a:spcPct val="94000"/>
              </a:lnSpc>
              <a:buNone/>
            </a:pPr>
            <a:r>
              <a:rPr lang="en-US" sz="1100" i="1" dirty="0">
                <a:solidFill>
                  <a:srgbClr val="12B198"/>
                </a:solidFill>
                <a:latin typeface="Calibri" pitchFamily="34" charset="0"/>
                <a:ea typeface="Calibri" pitchFamily="34" charset="-122"/>
                <a:cs typeface="Calibri" pitchFamily="34" charset="-120"/>
              </a:rPr>
              <a:t>TTX 1-B — Someone Photographing on the Executive Floor</a:t>
            </a:r>
            <a:endParaRPr lang="en-US" sz="2300" dirty="0"/>
          </a:p>
        </p:txBody>
      </p:sp>
      <p:sp>
        <p:nvSpPr>
          <p:cNvPr id="4" name="Shape 1"/>
          <p:cNvSpPr/>
          <p:nvPr/>
        </p:nvSpPr>
        <p:spPr>
          <a:xfrm>
            <a:off x="9686239" y="438912"/>
            <a:ext cx="932688" cy="310896"/>
          </a:xfrm>
          <a:prstGeom prst="roundRect">
            <a:avLst>
              <a:gd name="adj" fmla="val 14706"/>
            </a:avLst>
          </a:prstGeom>
          <a:solidFill>
            <a:srgbClr val="093259"/>
          </a:solidFill>
          <a:ln/>
        </p:spPr>
      </p:sp>
      <p:sp>
        <p:nvSpPr>
          <p:cNvPr id="5" name="Text 2"/>
          <p:cNvSpPr/>
          <p:nvPr/>
        </p:nvSpPr>
        <p:spPr>
          <a:xfrm>
            <a:off x="9686239" y="438912"/>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CASE 1-B</a:t>
            </a:r>
            <a:endParaRPr lang="en-US" sz="1100" dirty="0"/>
          </a:p>
        </p:txBody>
      </p:sp>
      <p:sp>
        <p:nvSpPr>
          <p:cNvPr id="6" name="Shape 3"/>
          <p:cNvSpPr/>
          <p:nvPr/>
        </p:nvSpPr>
        <p:spPr>
          <a:xfrm>
            <a:off x="640080" y="1188720"/>
            <a:ext cx="10911535" cy="1124712"/>
          </a:xfrm>
          <a:prstGeom prst="roundRect">
            <a:avLst>
              <a:gd name="adj" fmla="val 3252"/>
            </a:avLst>
          </a:prstGeom>
          <a:solidFill>
            <a:srgbClr val="093259"/>
          </a:solidFill>
          <a:ln/>
        </p:spPr>
      </p:sp>
      <p:sp>
        <p:nvSpPr>
          <p:cNvPr id="7" name="Text 4"/>
          <p:cNvSpPr/>
          <p:nvPr/>
        </p:nvSpPr>
        <p:spPr>
          <a:xfrm>
            <a:off x="950976" y="1316736"/>
            <a:ext cx="10289743" cy="868680"/>
          </a:xfrm>
          <a:prstGeom prst="rect">
            <a:avLst/>
          </a:prstGeom>
          <a:noFill/>
          <a:ln/>
        </p:spPr>
        <p:txBody>
          <a:bodyPr wrap="square" lIns="0" tIns="0" rIns="0" bIns="0" rtlCol="0" anchor="t"/>
          <a:lstStyle/>
          <a:p>
            <a:pPr indent="0" marL="0">
              <a:lnSpc>
                <a:spcPct val="92000"/>
              </a:lnSpc>
              <a:buNone/>
            </a:pPr>
            <a:r>
              <a:rPr lang="en-US" sz="950" b="1" dirty="0">
                <a:solidFill>
                  <a:srgbClr val="12B198"/>
                </a:solidFill>
                <a:latin typeface="Yu Gothic" pitchFamily="34" charset="0"/>
                <a:ea typeface="Yu Gothic" pitchFamily="34" charset="-122"/>
                <a:cs typeface="Yu Gothic" pitchFamily="34" charset="-120"/>
              </a:rPr>
              <a:t>シナリオ　</a:t>
            </a:r>
            <a:pPr indent="0" marL="0">
              <a:lnSpc>
                <a:spcPct val="92000"/>
              </a:lnSpc>
              <a:buNone/>
            </a:pPr>
            <a:r>
              <a:rPr lang="en-US" sz="800" dirty="0">
                <a:solidFill>
                  <a:srgbClr val="12B198"/>
                </a:solidFill>
                <a:latin typeface="Calibri" pitchFamily="34" charset="0"/>
                <a:ea typeface="Calibri" pitchFamily="34" charset="-122"/>
                <a:cs typeface="Calibri" pitchFamily="34" charset="-120"/>
              </a:rPr>
              <a:t>SCENARIO</a:t>
            </a:r>
            <a:endParaRPr lang="en-US" sz="950" dirty="0"/>
          </a:p>
          <a:p>
            <a:pPr indent="0" marL="0">
              <a:lnSpc>
                <a:spcPct val="92000"/>
              </a:lnSpc>
              <a:buNone/>
            </a:pPr>
            <a:r>
              <a:rPr lang="en-US" sz="1150" b="1" dirty="0">
                <a:solidFill>
                  <a:srgbClr val="FFFFFF"/>
                </a:solidFill>
                <a:latin typeface="Yu Gothic" pitchFamily="34" charset="0"/>
                <a:ea typeface="Yu Gothic" pitchFamily="34" charset="-122"/>
                <a:cs typeface="Yu Gothic" pitchFamily="34" charset="-120"/>
              </a:rPr>
              <a:t>平日19時、役員フロアの通路で、社員証を提げた人物がスマートフォンで壁面のホワイトボードを撮影している。ボードには組織図と数字が書かれている。声をかけると「自分の部署の資料だ」と答える。</a:t>
            </a:r>
            <a:endParaRPr lang="en-US" sz="950" dirty="0"/>
          </a:p>
          <a:p>
            <a:pPr indent="0" marL="0">
              <a:lnSpc>
                <a:spcPct val="92000"/>
              </a:lnSpc>
              <a:buNone/>
            </a:pPr>
            <a:r>
              <a:rPr lang="en-US" sz="800" i="1" dirty="0">
                <a:solidFill>
                  <a:srgbClr val="9FD8CD"/>
                </a:solidFill>
                <a:latin typeface="Calibri" pitchFamily="34" charset="0"/>
                <a:ea typeface="Calibri" pitchFamily="34" charset="-122"/>
                <a:cs typeface="Calibri" pitchFamily="34" charset="-120"/>
              </a:rPr>
              <a:t>19:00 on a weekday. On the executive floor, a person wearing an employee badge is photographing a whiteboard with a smartphone. The board shows an org chart and figures. Asked about it, they say "this is my own department's material."</a:t>
            </a:r>
            <a:endParaRPr lang="en-US" sz="950" dirty="0"/>
          </a:p>
        </p:txBody>
      </p:sp>
      <p:sp>
        <p:nvSpPr>
          <p:cNvPr id="8" name="Text 5"/>
          <p:cNvSpPr/>
          <p:nvPr/>
        </p:nvSpPr>
        <p:spPr>
          <a:xfrm>
            <a:off x="640080" y="2459736"/>
            <a:ext cx="10911535" cy="566928"/>
          </a:xfrm>
          <a:prstGeom prst="rect">
            <a:avLst/>
          </a:prstGeom>
          <a:noFill/>
          <a:ln/>
        </p:spPr>
        <p:txBody>
          <a:bodyPr wrap="square" lIns="0" tIns="0" rIns="0" bIns="0" rtlCol="0" anchor="t"/>
          <a:lstStyle/>
          <a:p>
            <a:pPr indent="0" marL="0">
              <a:lnSpc>
                <a:spcPct val="90000"/>
              </a:lnSpc>
              <a:buNone/>
            </a:pPr>
            <a:r>
              <a:rPr lang="en-US" sz="1000" b="1" dirty="0">
                <a:solidFill>
                  <a:srgbClr val="0D8A76"/>
                </a:solidFill>
                <a:latin typeface="Yu Gothic" pitchFamily="34" charset="0"/>
                <a:ea typeface="Yu Gothic" pitchFamily="34" charset="-122"/>
                <a:cs typeface="Yu Gothic" pitchFamily="34" charset="-120"/>
              </a:rPr>
              <a:t>問い　</a:t>
            </a:r>
            <a:pPr indent="0" marL="0">
              <a:lnSpc>
                <a:spcPct val="90000"/>
              </a:lnSpc>
              <a:buNone/>
            </a:pPr>
            <a:r>
              <a:rPr lang="en-US" sz="1250" b="1" dirty="0">
                <a:solidFill>
                  <a:srgbClr val="093259"/>
                </a:solidFill>
                <a:latin typeface="Yu Gothic" pitchFamily="34" charset="0"/>
                <a:ea typeface="Yu Gothic" pitchFamily="34" charset="-122"/>
                <a:cs typeface="Yu Gothic" pitchFamily="34" charset="-120"/>
              </a:rPr>
              <a:t>あなたなら次の60秒、何をどう動きますか。</a:t>
            </a:r>
            <a:endParaRPr lang="en-US" sz="1000" dirty="0"/>
          </a:p>
          <a:p>
            <a:pPr indent="0" marL="0">
              <a:lnSpc>
                <a:spcPct val="90000"/>
              </a:lnSpc>
              <a:buNone/>
            </a:pPr>
            <a:r>
              <a:rPr lang="en-US" sz="850" i="1" dirty="0">
                <a:solidFill>
                  <a:srgbClr val="5F7183"/>
                </a:solidFill>
                <a:latin typeface="Calibri" pitchFamily="34" charset="0"/>
                <a:ea typeface="Calibri" pitchFamily="34" charset="-122"/>
                <a:cs typeface="Calibri" pitchFamily="34" charset="-120"/>
              </a:rPr>
              <a:t>What do you do in the next sixty seconds?</a:t>
            </a:r>
            <a:endParaRPr lang="en-US" sz="1000" dirty="0"/>
          </a:p>
        </p:txBody>
      </p:sp>
      <p:sp>
        <p:nvSpPr>
          <p:cNvPr id="9" name="Shape 6"/>
          <p:cNvSpPr/>
          <p:nvPr/>
        </p:nvSpPr>
        <p:spPr>
          <a:xfrm>
            <a:off x="640080" y="3081528"/>
            <a:ext cx="5327752" cy="1074420"/>
          </a:xfrm>
          <a:prstGeom prst="roundRect">
            <a:avLst>
              <a:gd name="adj" fmla="val 3404"/>
            </a:avLst>
          </a:prstGeom>
          <a:solidFill>
            <a:srgbClr val="EFF4F8"/>
          </a:solidFill>
          <a:ln/>
        </p:spPr>
      </p:sp>
      <p:sp>
        <p:nvSpPr>
          <p:cNvPr id="10" name="Shape 7"/>
          <p:cNvSpPr/>
          <p:nvPr/>
        </p:nvSpPr>
        <p:spPr>
          <a:xfrm>
            <a:off x="804672" y="3472434"/>
            <a:ext cx="292608" cy="292608"/>
          </a:xfrm>
          <a:prstGeom prst="ellipse">
            <a:avLst/>
          </a:prstGeom>
          <a:solidFill>
            <a:srgbClr val="12B198"/>
          </a:solidFill>
          <a:ln/>
        </p:spPr>
      </p:sp>
      <p:sp>
        <p:nvSpPr>
          <p:cNvPr id="11" name="Text 8"/>
          <p:cNvSpPr/>
          <p:nvPr/>
        </p:nvSpPr>
        <p:spPr>
          <a:xfrm>
            <a:off x="804672" y="347243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9"/>
          <p:cNvSpPr/>
          <p:nvPr/>
        </p:nvSpPr>
        <p:spPr>
          <a:xfrm>
            <a:off x="1188720" y="3136392"/>
            <a:ext cx="4596232" cy="964692"/>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社員証があることは、撮影してよい根拠になるか。</a:t>
            </a:r>
            <a:endParaRPr lang="en-US" sz="105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Does the employee badge make the photography permissible?</a:t>
            </a:r>
            <a:endParaRPr lang="en-US" sz="1050" dirty="0"/>
          </a:p>
        </p:txBody>
      </p:sp>
      <p:sp>
        <p:nvSpPr>
          <p:cNvPr id="13" name="Shape 10"/>
          <p:cNvSpPr/>
          <p:nvPr/>
        </p:nvSpPr>
        <p:spPr>
          <a:xfrm>
            <a:off x="6223864" y="3081528"/>
            <a:ext cx="5327752" cy="1074420"/>
          </a:xfrm>
          <a:prstGeom prst="roundRect">
            <a:avLst>
              <a:gd name="adj" fmla="val 3404"/>
            </a:avLst>
          </a:prstGeom>
          <a:solidFill>
            <a:srgbClr val="EFF4F8"/>
          </a:solidFill>
          <a:ln/>
        </p:spPr>
      </p:sp>
      <p:sp>
        <p:nvSpPr>
          <p:cNvPr id="14" name="Shape 11"/>
          <p:cNvSpPr/>
          <p:nvPr/>
        </p:nvSpPr>
        <p:spPr>
          <a:xfrm>
            <a:off x="6388456" y="3472434"/>
            <a:ext cx="292608" cy="292608"/>
          </a:xfrm>
          <a:prstGeom prst="ellipse">
            <a:avLst/>
          </a:prstGeom>
          <a:solidFill>
            <a:srgbClr val="12B198"/>
          </a:solidFill>
          <a:ln/>
        </p:spPr>
      </p:sp>
      <p:sp>
        <p:nvSpPr>
          <p:cNvPr id="15" name="Text 12"/>
          <p:cNvSpPr/>
          <p:nvPr/>
        </p:nvSpPr>
        <p:spPr>
          <a:xfrm>
            <a:off x="6388456" y="347243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3"/>
          <p:cNvSpPr/>
          <p:nvPr/>
        </p:nvSpPr>
        <p:spPr>
          <a:xfrm>
            <a:off x="6772504" y="3136392"/>
            <a:ext cx="4596232" cy="964692"/>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撮影の中止を求められるか。求める根拠は何か。</a:t>
            </a:r>
            <a:endParaRPr lang="en-US" sz="105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May you ask them to stop? On what basis?</a:t>
            </a:r>
            <a:endParaRPr lang="en-US" sz="1050" dirty="0"/>
          </a:p>
        </p:txBody>
      </p:sp>
      <p:sp>
        <p:nvSpPr>
          <p:cNvPr id="17" name="Shape 14"/>
          <p:cNvSpPr/>
          <p:nvPr/>
        </p:nvSpPr>
        <p:spPr>
          <a:xfrm>
            <a:off x="640080" y="4265676"/>
            <a:ext cx="5327752" cy="1074420"/>
          </a:xfrm>
          <a:prstGeom prst="roundRect">
            <a:avLst>
              <a:gd name="adj" fmla="val 3404"/>
            </a:avLst>
          </a:prstGeom>
          <a:solidFill>
            <a:srgbClr val="EFF4F8"/>
          </a:solidFill>
          <a:ln/>
        </p:spPr>
      </p:sp>
      <p:sp>
        <p:nvSpPr>
          <p:cNvPr id="18" name="Shape 15"/>
          <p:cNvSpPr/>
          <p:nvPr/>
        </p:nvSpPr>
        <p:spPr>
          <a:xfrm>
            <a:off x="804672" y="4656582"/>
            <a:ext cx="292608" cy="292608"/>
          </a:xfrm>
          <a:prstGeom prst="ellipse">
            <a:avLst/>
          </a:prstGeom>
          <a:solidFill>
            <a:srgbClr val="12B198"/>
          </a:solidFill>
          <a:ln/>
        </p:spPr>
      </p:sp>
      <p:sp>
        <p:nvSpPr>
          <p:cNvPr id="19" name="Text 16"/>
          <p:cNvSpPr/>
          <p:nvPr/>
        </p:nvSpPr>
        <p:spPr>
          <a:xfrm>
            <a:off x="804672" y="465658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7"/>
          <p:cNvSpPr/>
          <p:nvPr/>
        </p:nvSpPr>
        <p:spPr>
          <a:xfrm>
            <a:off x="1188720" y="4320540"/>
            <a:ext cx="4596232" cy="964692"/>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画像の削除を求めてよいか。応じない場合どうするか。</a:t>
            </a:r>
            <a:endParaRPr lang="en-US" sz="105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May you ask them to delete the images? What if they refuse?</a:t>
            </a:r>
            <a:endParaRPr lang="en-US" sz="1050" dirty="0"/>
          </a:p>
        </p:txBody>
      </p:sp>
      <p:sp>
        <p:nvSpPr>
          <p:cNvPr id="21" name="Shape 18"/>
          <p:cNvSpPr/>
          <p:nvPr/>
        </p:nvSpPr>
        <p:spPr>
          <a:xfrm>
            <a:off x="6223864" y="4265676"/>
            <a:ext cx="5327752" cy="1074420"/>
          </a:xfrm>
          <a:prstGeom prst="roundRect">
            <a:avLst>
              <a:gd name="adj" fmla="val 3404"/>
            </a:avLst>
          </a:prstGeom>
          <a:solidFill>
            <a:srgbClr val="EFF4F8"/>
          </a:solidFill>
          <a:ln/>
        </p:spPr>
      </p:sp>
      <p:sp>
        <p:nvSpPr>
          <p:cNvPr id="22" name="Shape 19"/>
          <p:cNvSpPr/>
          <p:nvPr/>
        </p:nvSpPr>
        <p:spPr>
          <a:xfrm>
            <a:off x="6388456" y="4656582"/>
            <a:ext cx="292608" cy="292608"/>
          </a:xfrm>
          <a:prstGeom prst="ellipse">
            <a:avLst/>
          </a:prstGeom>
          <a:solidFill>
            <a:srgbClr val="12B198"/>
          </a:solidFill>
          <a:ln/>
        </p:spPr>
      </p:sp>
      <p:sp>
        <p:nvSpPr>
          <p:cNvPr id="23" name="Text 20"/>
          <p:cNvSpPr/>
          <p:nvPr/>
        </p:nvSpPr>
        <p:spPr>
          <a:xfrm>
            <a:off x="6388456" y="4656582"/>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1"/>
          <p:cNvSpPr/>
          <p:nvPr/>
        </p:nvSpPr>
        <p:spPr>
          <a:xfrm>
            <a:off x="6772504" y="4320540"/>
            <a:ext cx="4596232" cy="964692"/>
          </a:xfrm>
          <a:prstGeom prst="rect">
            <a:avLst/>
          </a:prstGeom>
          <a:noFill/>
          <a:ln/>
        </p:spPr>
        <p:txBody>
          <a:bodyPr wrap="square" lIns="0" tIns="0" rIns="0" bIns="0" rtlCol="0" anchor="ctr"/>
          <a:lstStyle/>
          <a:p>
            <a:pPr indent="0" marL="0">
              <a:lnSpc>
                <a:spcPct val="88000"/>
              </a:lnSpc>
              <a:buNone/>
            </a:pPr>
            <a:r>
              <a:rPr lang="en-US" sz="1050" b="1" dirty="0">
                <a:solidFill>
                  <a:srgbClr val="1B2733"/>
                </a:solidFill>
                <a:latin typeface="Yu Gothic" pitchFamily="34" charset="0"/>
                <a:ea typeface="Yu Gothic" pitchFamily="34" charset="-122"/>
                <a:cs typeface="Yu Gothic" pitchFamily="34" charset="-120"/>
              </a:rPr>
              <a:t>報告するか。するとすれば誰に、何を事実として書くか。</a:t>
            </a:r>
            <a:endParaRPr lang="en-US" sz="105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Do you report it? To whom, and what do you record as fact?</a:t>
            </a:r>
            <a:endParaRPr lang="en-US" sz="1050" dirty="0"/>
          </a:p>
        </p:txBody>
      </p:sp>
      <p:sp>
        <p:nvSpPr>
          <p:cNvPr id="25" name="Shape 22"/>
          <p:cNvSpPr/>
          <p:nvPr/>
        </p:nvSpPr>
        <p:spPr>
          <a:xfrm>
            <a:off x="640080" y="5394960"/>
            <a:ext cx="10911535" cy="457200"/>
          </a:xfrm>
          <a:prstGeom prst="roundRect">
            <a:avLst>
              <a:gd name="adj" fmla="val 8000"/>
            </a:avLst>
          </a:prstGeom>
          <a:solidFill>
            <a:srgbClr val="E4F4F0"/>
          </a:solidFill>
          <a:ln/>
        </p:spPr>
      </p:sp>
      <p:sp>
        <p:nvSpPr>
          <p:cNvPr id="26" name="Text 23"/>
          <p:cNvSpPr/>
          <p:nvPr/>
        </p:nvSpPr>
        <p:spPr>
          <a:xfrm>
            <a:off x="877824" y="5431536"/>
            <a:ext cx="10436047" cy="384048"/>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　</a:t>
            </a:r>
            <a:pPr indent="0" marL="0">
              <a:lnSpc>
                <a:spcPct val="86000"/>
              </a:lnSpc>
              <a:buNone/>
            </a:pPr>
            <a:r>
              <a:rPr lang="en-US" sz="1050" b="1" dirty="0">
                <a:solidFill>
                  <a:srgbClr val="1B2733"/>
                </a:solidFill>
                <a:latin typeface="Yu Gothic" pitchFamily="34" charset="0"/>
                <a:ea typeface="Yu Gothic" pitchFamily="34" charset="-122"/>
                <a:cs typeface="Yu Gothic" pitchFamily="34" charset="-120"/>
              </a:rPr>
              <a:t>相手が「上司に確認してくれ」と言い、その場を離れようとした。</a:t>
            </a:r>
            <a:endParaRPr lang="en-US" sz="850" dirty="0"/>
          </a:p>
          <a:p>
            <a:pPr indent="0" marL="0">
              <a:lnSpc>
                <a:spcPct val="86000"/>
              </a:lnSpc>
              <a:buNone/>
            </a:pPr>
            <a:r>
              <a:rPr lang="en-US" sz="750" i="1" dirty="0">
                <a:solidFill>
                  <a:srgbClr val="5F7183"/>
                </a:solidFill>
                <a:latin typeface="Calibri" pitchFamily="34" charset="0"/>
                <a:ea typeface="Calibri" pitchFamily="34" charset="-122"/>
                <a:cs typeface="Calibri" pitchFamily="34" charset="-120"/>
              </a:rPr>
              <a:t>They say "check with my manager" and start to walk away.</a:t>
            </a:r>
            <a:endParaRPr lang="en-US" sz="850" dirty="0"/>
          </a:p>
        </p:txBody>
      </p:sp>
      <p:sp>
        <p:nvSpPr>
          <p:cNvPr id="27" name="Text 24"/>
          <p:cNvSpPr/>
          <p:nvPr/>
        </p:nvSpPr>
        <p:spPr>
          <a:xfrm>
            <a:off x="640080" y="5907024"/>
            <a:ext cx="10911535" cy="310896"/>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撮影の可否と、社員による撮影への対応は現場ごとに異なる。Site SOPを確認する。</a:t>
            </a:r>
            <a:endParaRPr lang="en-US" sz="900" dirty="0"/>
          </a:p>
          <a:p>
            <a:pPr indent="0" marL="0">
              <a:lnSpc>
                <a:spcPct val="88000"/>
              </a:lnSpc>
              <a:buNone/>
            </a:pPr>
            <a:r>
              <a:rPr lang="en-US" sz="750" i="1" dirty="0">
                <a:solidFill>
                  <a:srgbClr val="5F7183"/>
                </a:solidFill>
                <a:latin typeface="Calibri" pitchFamily="34" charset="0"/>
                <a:ea typeface="Calibri" pitchFamily="34" charset="-122"/>
                <a:cs typeface="Calibri" pitchFamily="34" charset="-120"/>
              </a:rPr>
              <a:t>Whether photography is allowed, and how to handle it by employees, differ by site. Check the Site SOP.</a:t>
            </a:r>
            <a:endParaRPr lang="en-US" sz="900" dirty="0"/>
          </a:p>
        </p:txBody>
      </p:sp>
      <p:sp>
        <p:nvSpPr>
          <p:cNvPr id="28" name="Text 25"/>
          <p:cNvSpPr/>
          <p:nvPr/>
        </p:nvSpPr>
        <p:spPr>
          <a:xfrm>
            <a:off x="640080" y="6272784"/>
            <a:ext cx="9905695" cy="237744"/>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個人情報保護法、不正競争防止法、経済産業省「営業秘密管理指針」</a:t>
            </a:r>
            <a:endParaRPr lang="en-US" sz="750" dirty="0"/>
          </a:p>
        </p:txBody>
      </p:sp>
      <p:sp>
        <p:nvSpPr>
          <p:cNvPr id="29" name="Text 26"/>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30" name="Text 27"/>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3" name="Text 0"/>
          <p:cNvSpPr/>
          <p:nvPr/>
        </p:nvSpPr>
        <p:spPr>
          <a:xfrm>
            <a:off x="640080" y="384048"/>
            <a:ext cx="8982151" cy="768096"/>
          </a:xfrm>
          <a:prstGeom prst="rect">
            <a:avLst/>
          </a:prstGeom>
          <a:noFill/>
          <a:ln/>
        </p:spPr>
        <p:txBody>
          <a:bodyPr wrap="square" lIns="0" tIns="0" rIns="0" bIns="0" rtlCol="0" anchor="t"/>
          <a:lstStyle/>
          <a:p>
            <a:pPr indent="0" marL="0">
              <a:lnSpc>
                <a:spcPct val="94000"/>
              </a:lnSpc>
              <a:buNone/>
            </a:pPr>
            <a:r>
              <a:rPr lang="en-US" sz="2300" b="1" dirty="0">
                <a:solidFill>
                  <a:srgbClr val="093259"/>
                </a:solidFill>
                <a:latin typeface="Yu Gothic" pitchFamily="34" charset="0"/>
                <a:ea typeface="Yu Gothic" pitchFamily="34" charset="-122"/>
                <a:cs typeface="Yu Gothic" pitchFamily="34" charset="-120"/>
              </a:rPr>
              <a:t>TTX 1-B 模範解答</a:t>
            </a:r>
            <a:endParaRPr lang="en-US" sz="2300" dirty="0"/>
          </a:p>
          <a:p>
            <a:pPr indent="0" marL="0">
              <a:lnSpc>
                <a:spcPct val="94000"/>
              </a:lnSpc>
              <a:buNone/>
            </a:pPr>
            <a:r>
              <a:rPr lang="en-US" sz="1100" i="1" dirty="0">
                <a:solidFill>
                  <a:srgbClr val="12B198"/>
                </a:solidFill>
                <a:latin typeface="Calibri" pitchFamily="34" charset="0"/>
                <a:ea typeface="Calibri" pitchFamily="34" charset="-122"/>
                <a:cs typeface="Calibri" pitchFamily="34" charset="-120"/>
              </a:rPr>
              <a:t>TTX 1-B — Model Answers</a:t>
            </a:r>
            <a:endParaRPr lang="en-US" sz="2300" dirty="0"/>
          </a:p>
        </p:txBody>
      </p:sp>
      <p:sp>
        <p:nvSpPr>
          <p:cNvPr id="4" name="Shape 1"/>
          <p:cNvSpPr/>
          <p:nvPr/>
        </p:nvSpPr>
        <p:spPr>
          <a:xfrm>
            <a:off x="9686239" y="438912"/>
            <a:ext cx="932688" cy="310896"/>
          </a:xfrm>
          <a:prstGeom prst="roundRect">
            <a:avLst>
              <a:gd name="adj" fmla="val 14706"/>
            </a:avLst>
          </a:prstGeom>
          <a:solidFill>
            <a:srgbClr val="093259"/>
          </a:solidFill>
          <a:ln/>
        </p:spPr>
      </p:sp>
      <p:sp>
        <p:nvSpPr>
          <p:cNvPr id="5" name="Text 2"/>
          <p:cNvSpPr/>
          <p:nvPr/>
        </p:nvSpPr>
        <p:spPr>
          <a:xfrm>
            <a:off x="9686239" y="438912"/>
            <a:ext cx="93268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DEBRIEF</a:t>
            </a:r>
            <a:endParaRPr lang="en-US" sz="1100" dirty="0"/>
          </a:p>
        </p:txBody>
      </p:sp>
      <p:sp>
        <p:nvSpPr>
          <p:cNvPr id="6" name="Shape 3"/>
          <p:cNvSpPr/>
          <p:nvPr/>
        </p:nvSpPr>
        <p:spPr>
          <a:xfrm>
            <a:off x="640080" y="1188720"/>
            <a:ext cx="10911535" cy="825246"/>
          </a:xfrm>
          <a:prstGeom prst="roundRect">
            <a:avLst>
              <a:gd name="adj" fmla="val 4432"/>
            </a:avLst>
          </a:prstGeom>
          <a:solidFill>
            <a:srgbClr val="EFF4F8"/>
          </a:solidFill>
          <a:ln/>
        </p:spPr>
      </p:sp>
      <p:sp>
        <p:nvSpPr>
          <p:cNvPr id="7" name="Shape 4"/>
          <p:cNvSpPr/>
          <p:nvPr/>
        </p:nvSpPr>
        <p:spPr>
          <a:xfrm>
            <a:off x="841248" y="1427607"/>
            <a:ext cx="347472" cy="347472"/>
          </a:xfrm>
          <a:prstGeom prst="ellipse">
            <a:avLst/>
          </a:prstGeom>
          <a:solidFill>
            <a:srgbClr val="12B198"/>
          </a:solidFill>
          <a:ln/>
        </p:spPr>
      </p:sp>
      <p:sp>
        <p:nvSpPr>
          <p:cNvPr id="8" name="Text 5"/>
          <p:cNvSpPr/>
          <p:nvPr/>
        </p:nvSpPr>
        <p:spPr>
          <a:xfrm>
            <a:off x="841248" y="1427607"/>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6"/>
          <p:cNvSpPr/>
          <p:nvPr/>
        </p:nvSpPr>
        <p:spPr>
          <a:xfrm>
            <a:off x="1280160" y="1252728"/>
            <a:ext cx="10033711" cy="697230"/>
          </a:xfrm>
          <a:prstGeom prst="rect">
            <a:avLst/>
          </a:prstGeom>
          <a:noFill/>
          <a:ln/>
        </p:spPr>
        <p:txBody>
          <a:bodyPr wrap="square" lIns="0" tIns="0" rIns="0" bIns="0" rtlCol="0" anchor="ctr"/>
          <a:lstStyle/>
          <a:p>
            <a:pPr indent="0" marL="0">
              <a:lnSpc>
                <a:spcPct val="88000"/>
              </a:lnSpc>
              <a:buNone/>
            </a:pPr>
            <a:r>
              <a:rPr lang="en-US" sz="900" dirty="0">
                <a:solidFill>
                  <a:srgbClr val="5F7183"/>
                </a:solidFill>
                <a:latin typeface="Yu Gothic" pitchFamily="34" charset="0"/>
                <a:ea typeface="Yu Gothic" pitchFamily="34" charset="-122"/>
                <a:cs typeface="Yu Gothic" pitchFamily="34" charset="-120"/>
              </a:rPr>
              <a:t>問1　社員証は撮影の根拠になるか</a:t>
            </a:r>
            <a:endParaRPr lang="en-US" sz="90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ならない。社員証は入館の資格を示すだけで、撮影の可否とは別の問題。</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No. A badge shows a right of entry. Whether they may photograph is separate.</a:t>
            </a:r>
            <a:endParaRPr lang="en-US" sz="900" dirty="0"/>
          </a:p>
        </p:txBody>
      </p:sp>
      <p:sp>
        <p:nvSpPr>
          <p:cNvPr id="10" name="Shape 7"/>
          <p:cNvSpPr/>
          <p:nvPr/>
        </p:nvSpPr>
        <p:spPr>
          <a:xfrm>
            <a:off x="640080" y="2114550"/>
            <a:ext cx="10911535" cy="825246"/>
          </a:xfrm>
          <a:prstGeom prst="roundRect">
            <a:avLst>
              <a:gd name="adj" fmla="val 4432"/>
            </a:avLst>
          </a:prstGeom>
          <a:solidFill>
            <a:srgbClr val="EFF4F8"/>
          </a:solidFill>
          <a:ln/>
        </p:spPr>
      </p:sp>
      <p:sp>
        <p:nvSpPr>
          <p:cNvPr id="11" name="Shape 8"/>
          <p:cNvSpPr/>
          <p:nvPr/>
        </p:nvSpPr>
        <p:spPr>
          <a:xfrm>
            <a:off x="841248" y="2353437"/>
            <a:ext cx="347472" cy="347472"/>
          </a:xfrm>
          <a:prstGeom prst="ellipse">
            <a:avLst/>
          </a:prstGeom>
          <a:solidFill>
            <a:srgbClr val="12B198"/>
          </a:solidFill>
          <a:ln/>
        </p:spPr>
      </p:sp>
      <p:sp>
        <p:nvSpPr>
          <p:cNvPr id="12" name="Text 9"/>
          <p:cNvSpPr/>
          <p:nvPr/>
        </p:nvSpPr>
        <p:spPr>
          <a:xfrm>
            <a:off x="841248" y="2353437"/>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0"/>
          <p:cNvSpPr/>
          <p:nvPr/>
        </p:nvSpPr>
        <p:spPr>
          <a:xfrm>
            <a:off x="1280160" y="2178558"/>
            <a:ext cx="10033711" cy="697230"/>
          </a:xfrm>
          <a:prstGeom prst="rect">
            <a:avLst/>
          </a:prstGeom>
          <a:noFill/>
          <a:ln/>
        </p:spPr>
        <p:txBody>
          <a:bodyPr wrap="square" lIns="0" tIns="0" rIns="0" bIns="0" rtlCol="0" anchor="ctr"/>
          <a:lstStyle/>
          <a:p>
            <a:pPr indent="0" marL="0">
              <a:lnSpc>
                <a:spcPct val="88000"/>
              </a:lnSpc>
              <a:buNone/>
            </a:pPr>
            <a:r>
              <a:rPr lang="en-US" sz="900" dirty="0">
                <a:solidFill>
                  <a:srgbClr val="5F7183"/>
                </a:solidFill>
                <a:latin typeface="Yu Gothic" pitchFamily="34" charset="0"/>
                <a:ea typeface="Yu Gothic" pitchFamily="34" charset="-122"/>
                <a:cs typeface="Yu Gothic" pitchFamily="34" charset="-120"/>
              </a:rPr>
              <a:t>問2　中止を求められるか</a:t>
            </a:r>
            <a:endParaRPr lang="en-US" sz="90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求められる。根拠は管理権者から委ねられた撮影禁止の運用。</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Yes. The basis is the no-photography rule delegated by the site authority.</a:t>
            </a:r>
            <a:endParaRPr lang="en-US" sz="900" dirty="0"/>
          </a:p>
        </p:txBody>
      </p:sp>
      <p:sp>
        <p:nvSpPr>
          <p:cNvPr id="14" name="Shape 11"/>
          <p:cNvSpPr/>
          <p:nvPr/>
        </p:nvSpPr>
        <p:spPr>
          <a:xfrm>
            <a:off x="640080" y="3040380"/>
            <a:ext cx="10911535" cy="825246"/>
          </a:xfrm>
          <a:prstGeom prst="roundRect">
            <a:avLst>
              <a:gd name="adj" fmla="val 4432"/>
            </a:avLst>
          </a:prstGeom>
          <a:solidFill>
            <a:srgbClr val="E4F4F0"/>
          </a:solidFill>
          <a:ln/>
        </p:spPr>
      </p:sp>
      <p:sp>
        <p:nvSpPr>
          <p:cNvPr id="15" name="Shape 12"/>
          <p:cNvSpPr/>
          <p:nvPr/>
        </p:nvSpPr>
        <p:spPr>
          <a:xfrm>
            <a:off x="841248" y="3279267"/>
            <a:ext cx="347472" cy="347472"/>
          </a:xfrm>
          <a:prstGeom prst="ellipse">
            <a:avLst/>
          </a:prstGeom>
          <a:solidFill>
            <a:srgbClr val="12B198"/>
          </a:solidFill>
          <a:ln/>
        </p:spPr>
      </p:sp>
      <p:sp>
        <p:nvSpPr>
          <p:cNvPr id="16" name="Text 13"/>
          <p:cNvSpPr/>
          <p:nvPr/>
        </p:nvSpPr>
        <p:spPr>
          <a:xfrm>
            <a:off x="841248" y="3279267"/>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4"/>
          <p:cNvSpPr/>
          <p:nvPr/>
        </p:nvSpPr>
        <p:spPr>
          <a:xfrm>
            <a:off x="1280160" y="3104388"/>
            <a:ext cx="10033711" cy="697230"/>
          </a:xfrm>
          <a:prstGeom prst="rect">
            <a:avLst/>
          </a:prstGeom>
          <a:noFill/>
          <a:ln/>
        </p:spPr>
        <p:txBody>
          <a:bodyPr wrap="square" lIns="0" tIns="0" rIns="0" bIns="0" rtlCol="0" anchor="ctr"/>
          <a:lstStyle/>
          <a:p>
            <a:pPr indent="0" marL="0">
              <a:lnSpc>
                <a:spcPct val="88000"/>
              </a:lnSpc>
              <a:buNone/>
            </a:pPr>
            <a:r>
              <a:rPr lang="en-US" sz="900" dirty="0">
                <a:solidFill>
                  <a:srgbClr val="5F7183"/>
                </a:solidFill>
                <a:latin typeface="Yu Gothic" pitchFamily="34" charset="0"/>
                <a:ea typeface="Yu Gothic" pitchFamily="34" charset="-122"/>
                <a:cs typeface="Yu Gothic" pitchFamily="34" charset="-120"/>
              </a:rPr>
              <a:t>問3　削除を求めてよいか</a:t>
            </a:r>
            <a:endParaRPr lang="en-US" sz="90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求められない。端末の中身は相手の管理下。応じない場合も引き止めない。</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No. The device is theirs. If they refuse, do not detain them.</a:t>
            </a:r>
            <a:endParaRPr lang="en-US" sz="900" dirty="0"/>
          </a:p>
        </p:txBody>
      </p:sp>
      <p:sp>
        <p:nvSpPr>
          <p:cNvPr id="18" name="Shape 15"/>
          <p:cNvSpPr/>
          <p:nvPr/>
        </p:nvSpPr>
        <p:spPr>
          <a:xfrm>
            <a:off x="640080" y="3966210"/>
            <a:ext cx="10911535" cy="825246"/>
          </a:xfrm>
          <a:prstGeom prst="roundRect">
            <a:avLst>
              <a:gd name="adj" fmla="val 4432"/>
            </a:avLst>
          </a:prstGeom>
          <a:solidFill>
            <a:srgbClr val="EFF4F8"/>
          </a:solidFill>
          <a:ln/>
        </p:spPr>
      </p:sp>
      <p:sp>
        <p:nvSpPr>
          <p:cNvPr id="19" name="Shape 16"/>
          <p:cNvSpPr/>
          <p:nvPr/>
        </p:nvSpPr>
        <p:spPr>
          <a:xfrm>
            <a:off x="841248" y="4205097"/>
            <a:ext cx="347472" cy="347472"/>
          </a:xfrm>
          <a:prstGeom prst="ellipse">
            <a:avLst/>
          </a:prstGeom>
          <a:solidFill>
            <a:srgbClr val="12B198"/>
          </a:solidFill>
          <a:ln/>
        </p:spPr>
      </p:sp>
      <p:sp>
        <p:nvSpPr>
          <p:cNvPr id="20" name="Text 17"/>
          <p:cNvSpPr/>
          <p:nvPr/>
        </p:nvSpPr>
        <p:spPr>
          <a:xfrm>
            <a:off x="841248" y="4205097"/>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8"/>
          <p:cNvSpPr/>
          <p:nvPr/>
        </p:nvSpPr>
        <p:spPr>
          <a:xfrm>
            <a:off x="1280160" y="4030218"/>
            <a:ext cx="10033711" cy="697230"/>
          </a:xfrm>
          <a:prstGeom prst="rect">
            <a:avLst/>
          </a:prstGeom>
          <a:noFill/>
          <a:ln/>
        </p:spPr>
        <p:txBody>
          <a:bodyPr wrap="square" lIns="0" tIns="0" rIns="0" bIns="0" rtlCol="0" anchor="ctr"/>
          <a:lstStyle/>
          <a:p>
            <a:pPr indent="0" marL="0">
              <a:lnSpc>
                <a:spcPct val="88000"/>
              </a:lnSpc>
              <a:buNone/>
            </a:pPr>
            <a:r>
              <a:rPr lang="en-US" sz="900" dirty="0">
                <a:solidFill>
                  <a:srgbClr val="5F7183"/>
                </a:solidFill>
                <a:latin typeface="Yu Gothic" pitchFamily="34" charset="0"/>
                <a:ea typeface="Yu Gothic" pitchFamily="34" charset="-122"/>
                <a:cs typeface="Yu Gothic" pitchFamily="34" charset="-120"/>
              </a:rPr>
              <a:t>問4　報告するか。何を書くか</a:t>
            </a:r>
            <a:endParaRPr lang="en-US" sz="900" dirty="0"/>
          </a:p>
          <a:p>
            <a:pPr indent="0" marL="0">
              <a:lnSpc>
                <a:spcPct val="88000"/>
              </a:lnSpc>
              <a:buNone/>
            </a:pPr>
            <a:r>
              <a:rPr lang="en-US" sz="1200" b="1" dirty="0">
                <a:solidFill>
                  <a:srgbClr val="1B2733"/>
                </a:solidFill>
                <a:latin typeface="Yu Gothic" pitchFamily="34" charset="0"/>
                <a:ea typeface="Yu Gothic" pitchFamily="34" charset="-122"/>
                <a:cs typeface="Yu Gothic" pitchFamily="34" charset="-120"/>
              </a:rPr>
              <a:t>報告する。時刻、場所、撮影対象、社員証の氏名、発言をそのまま記録する。</a:t>
            </a:r>
            <a:endParaRPr lang="en-US" sz="900" dirty="0"/>
          </a:p>
          <a:p>
            <a:pPr indent="0" marL="0">
              <a:lnSpc>
                <a:spcPct val="88000"/>
              </a:lnSpc>
              <a:buNone/>
            </a:pPr>
            <a:r>
              <a:rPr lang="en-US" sz="800" i="1" dirty="0">
                <a:solidFill>
                  <a:srgbClr val="5F7183"/>
                </a:solidFill>
                <a:latin typeface="Calibri" pitchFamily="34" charset="0"/>
                <a:ea typeface="Calibri" pitchFamily="34" charset="-122"/>
                <a:cs typeface="Calibri" pitchFamily="34" charset="-120"/>
              </a:rPr>
              <a:t>Yes. Record the time, place, what was photographed, the name on the badge, and their words verbatim.</a:t>
            </a:r>
            <a:endParaRPr lang="en-US" sz="900" dirty="0"/>
          </a:p>
        </p:txBody>
      </p:sp>
      <p:sp>
        <p:nvSpPr>
          <p:cNvPr id="22" name="Shape 19"/>
          <p:cNvSpPr/>
          <p:nvPr/>
        </p:nvSpPr>
        <p:spPr>
          <a:xfrm>
            <a:off x="640080" y="4901184"/>
            <a:ext cx="10911535" cy="420624"/>
          </a:xfrm>
          <a:prstGeom prst="roundRect">
            <a:avLst>
              <a:gd name="adj" fmla="val 8696"/>
            </a:avLst>
          </a:prstGeom>
          <a:solidFill>
            <a:srgbClr val="EEF6FA"/>
          </a:solidFill>
          <a:ln/>
        </p:spPr>
      </p:sp>
      <p:sp>
        <p:nvSpPr>
          <p:cNvPr id="23" name="Text 20"/>
          <p:cNvSpPr/>
          <p:nvPr/>
        </p:nvSpPr>
        <p:spPr>
          <a:xfrm>
            <a:off x="859536" y="4928616"/>
            <a:ext cx="10472623"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追加付与①　</a:t>
            </a:r>
            <a:pPr indent="0" marL="0">
              <a:lnSpc>
                <a:spcPct val="86000"/>
              </a:lnSpc>
              <a:buNone/>
            </a:pPr>
            <a:r>
              <a:rPr lang="en-US" sz="850" dirty="0">
                <a:solidFill>
                  <a:srgbClr val="5F7183"/>
                </a:solidFill>
                <a:latin typeface="Yu Gothic" pitchFamily="34" charset="0"/>
                <a:ea typeface="Yu Gothic" pitchFamily="34" charset="-122"/>
                <a:cs typeface="Yu Gothic" pitchFamily="34" charset="-120"/>
              </a:rPr>
              <a:t>「上司に確認してくれ」と離脱　→　</a:t>
            </a:r>
            <a:pPr indent="0" marL="0">
              <a:lnSpc>
                <a:spcPct val="86000"/>
              </a:lnSpc>
              <a:buNone/>
            </a:pPr>
            <a:r>
              <a:rPr lang="en-US" sz="1100" b="1" dirty="0">
                <a:solidFill>
                  <a:srgbClr val="1B2733"/>
                </a:solidFill>
                <a:latin typeface="Yu Gothic" pitchFamily="34" charset="0"/>
                <a:ea typeface="Yu Gothic" pitchFamily="34" charset="-122"/>
                <a:cs typeface="Yu Gothic" pitchFamily="34" charset="-120"/>
              </a:rPr>
              <a:t>追わない。氏名と所属を確認できていれば足りる。</a:t>
            </a:r>
            <a:endParaRPr lang="en-US" sz="850" dirty="0"/>
          </a:p>
          <a:p>
            <a:pPr indent="0" marL="0">
              <a:lnSpc>
                <a:spcPct val="86000"/>
              </a:lnSpc>
              <a:buNone/>
            </a:pPr>
            <a:r>
              <a:rPr lang="en-US" sz="750" i="1" dirty="0">
                <a:solidFill>
                  <a:srgbClr val="5F7183"/>
                </a:solidFill>
                <a:latin typeface="Calibri" pitchFamily="34" charset="0"/>
                <a:ea typeface="Calibri" pitchFamily="34" charset="-122"/>
                <a:cs typeface="Calibri" pitchFamily="34" charset="-120"/>
              </a:rPr>
              <a:t>Do not follow. Having the name and department is enough.</a:t>
            </a:r>
            <a:endParaRPr lang="en-US" sz="850" dirty="0"/>
          </a:p>
        </p:txBody>
      </p:sp>
      <p:sp>
        <p:nvSpPr>
          <p:cNvPr id="24" name="Shape 21"/>
          <p:cNvSpPr/>
          <p:nvPr/>
        </p:nvSpPr>
        <p:spPr>
          <a:xfrm>
            <a:off x="640080" y="5394960"/>
            <a:ext cx="10911535" cy="420624"/>
          </a:xfrm>
          <a:prstGeom prst="roundRect">
            <a:avLst>
              <a:gd name="adj" fmla="val 8696"/>
            </a:avLst>
          </a:prstGeom>
          <a:solidFill>
            <a:srgbClr val="EEF6FA"/>
          </a:solidFill>
          <a:ln/>
        </p:spPr>
      </p:sp>
      <p:sp>
        <p:nvSpPr>
          <p:cNvPr id="25" name="Text 22"/>
          <p:cNvSpPr/>
          <p:nvPr/>
        </p:nvSpPr>
        <p:spPr>
          <a:xfrm>
            <a:off x="859536" y="5422392"/>
            <a:ext cx="10472623" cy="365760"/>
          </a:xfrm>
          <a:prstGeom prst="rect">
            <a:avLst/>
          </a:prstGeom>
          <a:noFill/>
          <a:ln/>
        </p:spPr>
        <p:txBody>
          <a:bodyPr wrap="square" lIns="0" tIns="0" rIns="0" bIns="0" rtlCol="0" anchor="ctr"/>
          <a:lstStyle/>
          <a:p>
            <a:pPr indent="0" marL="0">
              <a:lnSpc>
                <a:spcPct val="86000"/>
              </a:lnSpc>
              <a:buNone/>
            </a:pPr>
            <a:r>
              <a:rPr lang="en-US" sz="850" b="1" dirty="0">
                <a:solidFill>
                  <a:srgbClr val="0D8A76"/>
                </a:solidFill>
                <a:latin typeface="Yu Gothic" pitchFamily="34" charset="0"/>
                <a:ea typeface="Yu Gothic" pitchFamily="34" charset="-122"/>
                <a:cs typeface="Yu Gothic" pitchFamily="34" charset="-120"/>
              </a:rPr>
              <a:t>追加付与②　</a:t>
            </a:r>
            <a:pPr indent="0" marL="0">
              <a:lnSpc>
                <a:spcPct val="86000"/>
              </a:lnSpc>
              <a:buNone/>
            </a:pPr>
            <a:r>
              <a:rPr lang="en-US" sz="850" dirty="0">
                <a:solidFill>
                  <a:srgbClr val="5F7183"/>
                </a:solidFill>
                <a:latin typeface="Yu Gothic" pitchFamily="34" charset="0"/>
                <a:ea typeface="Yu Gothic" pitchFamily="34" charset="-122"/>
                <a:cs typeface="Yu Gothic" pitchFamily="34" charset="-120"/>
              </a:rPr>
              <a:t>翌日、本当に当該部署の社員と判明　→　</a:t>
            </a:r>
            <a:pPr indent="0" marL="0">
              <a:lnSpc>
                <a:spcPct val="86000"/>
              </a:lnSpc>
              <a:buNone/>
            </a:pPr>
            <a:r>
              <a:rPr lang="en-US" sz="1100" b="1" dirty="0">
                <a:solidFill>
                  <a:srgbClr val="1B2733"/>
                </a:solidFill>
                <a:latin typeface="Yu Gothic" pitchFamily="34" charset="0"/>
                <a:ea typeface="Yu Gothic" pitchFamily="34" charset="-122"/>
                <a:cs typeface="Yu Gothic" pitchFamily="34" charset="-120"/>
              </a:rPr>
              <a:t>対応は誤りではない。確認は手続きであり、疑いではない。</a:t>
            </a:r>
            <a:endParaRPr lang="en-US" sz="850" dirty="0"/>
          </a:p>
          <a:p>
            <a:pPr indent="0" marL="0">
              <a:lnSpc>
                <a:spcPct val="86000"/>
              </a:lnSpc>
              <a:buNone/>
            </a:pPr>
            <a:r>
              <a:rPr lang="en-US" sz="750" i="1" dirty="0">
                <a:solidFill>
                  <a:srgbClr val="5F7183"/>
                </a:solidFill>
                <a:latin typeface="Calibri" pitchFamily="34" charset="0"/>
                <a:ea typeface="Calibri" pitchFamily="34" charset="-122"/>
                <a:cs typeface="Calibri" pitchFamily="34" charset="-120"/>
              </a:rPr>
              <a:t>Your response was not wrong. Verifying is a procedure, not an accusation.</a:t>
            </a:r>
            <a:endParaRPr lang="en-US" sz="850" dirty="0"/>
          </a:p>
        </p:txBody>
      </p:sp>
      <p:sp>
        <p:nvSpPr>
          <p:cNvPr id="26" name="Text 23"/>
          <p:cNvSpPr/>
          <p:nvPr/>
        </p:nvSpPr>
        <p:spPr>
          <a:xfrm>
            <a:off x="640080" y="5907024"/>
            <a:ext cx="10911535" cy="310896"/>
          </a:xfrm>
          <a:prstGeom prst="rect">
            <a:avLst/>
          </a:prstGeom>
          <a:noFill/>
          <a:ln/>
        </p:spPr>
        <p:txBody>
          <a:bodyPr wrap="square" lIns="0" tIns="0" rIns="0" bIns="0" rtlCol="0" anchor="t"/>
          <a:lstStyle/>
          <a:p>
            <a:pPr indent="0" marL="0">
              <a:lnSpc>
                <a:spcPct val="88000"/>
              </a:lnSpc>
              <a:buNone/>
            </a:pPr>
            <a:r>
              <a:rPr lang="en-US" sz="900" b="1" dirty="0">
                <a:solidFill>
                  <a:srgbClr val="0D8A76"/>
                </a:solidFill>
                <a:latin typeface="Yu Gothic" pitchFamily="34" charset="0"/>
                <a:ea typeface="Yu Gothic" pitchFamily="34" charset="-122"/>
                <a:cs typeface="Yu Gothic" pitchFamily="34" charset="-120"/>
              </a:rPr>
              <a:t>Site SOP優先　</a:t>
            </a:r>
            <a:pPr indent="0" marL="0">
              <a:lnSpc>
                <a:spcPct val="88000"/>
              </a:lnSpc>
              <a:buNone/>
            </a:pPr>
            <a:r>
              <a:rPr lang="en-US" sz="900" dirty="0">
                <a:solidFill>
                  <a:srgbClr val="1B2733"/>
                </a:solidFill>
                <a:latin typeface="Yu Gothic" pitchFamily="34" charset="0"/>
                <a:ea typeface="Yu Gothic" pitchFamily="34" charset="-122"/>
                <a:cs typeface="Yu Gothic" pitchFamily="34" charset="-120"/>
              </a:rPr>
              <a:t>模範解答は判断の型を示すものです。実際の手順は各現場のSite SOPと警備指令書が優先します。</a:t>
            </a:r>
            <a:endParaRPr lang="en-US" sz="900" dirty="0"/>
          </a:p>
          <a:p>
            <a:pPr indent="0" marL="0">
              <a:lnSpc>
                <a:spcPct val="88000"/>
              </a:lnSpc>
              <a:buNone/>
            </a:pPr>
            <a:r>
              <a:rPr lang="en-US" sz="750" i="1" dirty="0">
                <a:solidFill>
                  <a:srgbClr val="5F7183"/>
                </a:solidFill>
                <a:latin typeface="Calibri" pitchFamily="34" charset="0"/>
                <a:ea typeface="Calibri" pitchFamily="34" charset="-122"/>
                <a:cs typeface="Calibri" pitchFamily="34" charset="-120"/>
              </a:rPr>
              <a:t>These answers show a pattern of reasoning. The Site SOP and post orders always take precedence.</a:t>
            </a:r>
            <a:endParaRPr lang="en-US" sz="900" dirty="0"/>
          </a:p>
        </p:txBody>
      </p:sp>
      <p:sp>
        <p:nvSpPr>
          <p:cNvPr id="27" name="Text 24"/>
          <p:cNvSpPr/>
          <p:nvPr/>
        </p:nvSpPr>
        <p:spPr>
          <a:xfrm>
            <a:off x="640080" y="6272784"/>
            <a:ext cx="9905695" cy="237744"/>
          </a:xfrm>
          <a:prstGeom prst="rect">
            <a:avLst/>
          </a:prstGeom>
          <a:noFill/>
          <a:ln/>
        </p:spPr>
        <p:txBody>
          <a:bodyPr wrap="square" lIns="0" tIns="0" rIns="0" bIns="0" rtlCol="0" anchor="t"/>
          <a:lstStyle/>
          <a:p>
            <a:pPr indent="0" marL="0">
              <a:buNone/>
            </a:pPr>
            <a:r>
              <a:rPr lang="en-US" sz="750" b="1" dirty="0">
                <a:solidFill>
                  <a:srgbClr val="D6E0E9"/>
                </a:solidFill>
                <a:latin typeface="Yu Gothic" pitchFamily="34" charset="0"/>
                <a:ea typeface="Yu Gothic" pitchFamily="34" charset="-122"/>
                <a:cs typeface="Yu Gothic" pitchFamily="34" charset="-120"/>
              </a:rPr>
              <a:t>ソース　</a:t>
            </a:r>
            <a:pPr indent="0" marL="0">
              <a:buNone/>
            </a:pPr>
            <a:r>
              <a:rPr lang="en-US" sz="750" dirty="0">
                <a:solidFill>
                  <a:srgbClr val="5F7183"/>
                </a:solidFill>
                <a:latin typeface="Yu Gothic" pitchFamily="34" charset="0"/>
                <a:ea typeface="Yu Gothic" pitchFamily="34" charset="-122"/>
                <a:cs typeface="Yu Gothic" pitchFamily="34" charset="-120"/>
              </a:rPr>
              <a:t>警備業法、個人情報保護法、不正競争防止法</a:t>
            </a:r>
            <a:endParaRPr lang="en-US" sz="750" dirty="0"/>
          </a:p>
        </p:txBody>
      </p:sp>
      <p:sp>
        <p:nvSpPr>
          <p:cNvPr id="28" name="Text 25"/>
          <p:cNvSpPr/>
          <p:nvPr/>
        </p:nvSpPr>
        <p:spPr>
          <a:xfrm>
            <a:off x="640080" y="6382512"/>
            <a:ext cx="8778240" cy="292608"/>
          </a:xfrm>
          <a:prstGeom prst="rect">
            <a:avLst/>
          </a:prstGeom>
          <a:noFill/>
          <a:ln/>
        </p:spPr>
        <p:txBody>
          <a:bodyPr wrap="square" lIns="0" tIns="0" rIns="0" bIns="0" rtlCol="0" anchor="ctr"/>
          <a:lstStyle/>
          <a:p>
            <a:pPr indent="0" marL="0">
              <a:buNone/>
            </a:pPr>
            <a:r>
              <a:rPr lang="en-US" sz="900" dirty="0">
                <a:solidFill>
                  <a:srgbClr val="5F7183"/>
                </a:solidFill>
                <a:latin typeface="Yu Gothic" pitchFamily="34" charset="0"/>
                <a:ea typeface="Yu Gothic" pitchFamily="34" charset="-122"/>
                <a:cs typeface="Yu Gothic" pitchFamily="34" charset="-120"/>
              </a:rPr>
              <a:t>第1時限｜基本教育1 警備業務実施の基本原則  </a:t>
            </a:r>
            <a:pPr indent="0" marL="0">
              <a:buNone/>
            </a:pPr>
            <a:r>
              <a:rPr lang="en-US" sz="850" i="1" dirty="0">
                <a:solidFill>
                  <a:srgbClr val="D6E0E9"/>
                </a:solidFill>
                <a:latin typeface="Calibri" pitchFamily="34" charset="0"/>
                <a:ea typeface="Calibri" pitchFamily="34" charset="-122"/>
                <a:cs typeface="Calibri" pitchFamily="34" charset="-120"/>
              </a:rPr>
              <a:t>Period 1 | Basic Training 1 — Fundamental Principles</a:t>
            </a:r>
            <a:endParaRPr lang="en-US" sz="900" dirty="0"/>
          </a:p>
        </p:txBody>
      </p:sp>
      <p:sp>
        <p:nvSpPr>
          <p:cNvPr id="29" name="Text 26"/>
          <p:cNvSpPr/>
          <p:nvPr/>
        </p:nvSpPr>
        <p:spPr>
          <a:xfrm>
            <a:off x="10637215" y="6382512"/>
            <a:ext cx="914400" cy="292608"/>
          </a:xfrm>
          <a:prstGeom prst="rect">
            <a:avLst/>
          </a:prstGeom>
          <a:noFill/>
          <a:ln/>
        </p:spPr>
        <p:txBody>
          <a:bodyPr wrap="square" lIns="0" tIns="0" rIns="0" bIns="0" rtlCol="0" anchor="ctr"/>
          <a:lstStyle/>
          <a:p>
            <a:pPr algn="r" indent="0" marL="0">
              <a:buNone/>
            </a:pPr>
            <a:r>
              <a:rPr lang="en-US" sz="1000" dirty="0">
                <a:solidFill>
                  <a:srgbClr val="5F718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3259"/>
        </a:solidFill>
      </p:bgPr>
    </p:bg>
    <p:spTree>
      <p:nvGrpSpPr>
        <p:cNvPr id="1" name=""/>
        <p:cNvGrpSpPr/>
        <p:nvPr/>
      </p:nvGrpSpPr>
      <p:grpSpPr>
        <a:xfrm>
          <a:off x="0" y="0"/>
          <a:ext cx="0" cy="0"/>
          <a:chOff x="0" y="0"/>
          <a:chExt cx="0" cy="0"/>
        </a:xfrm>
      </p:grpSpPr>
      <p:sp>
        <p:nvSpPr>
          <p:cNvPr id="2" name="Shape 0"/>
          <p:cNvSpPr/>
          <p:nvPr/>
        </p:nvSpPr>
        <p:spPr>
          <a:xfrm>
            <a:off x="10637215" y="219456"/>
            <a:ext cx="1042416" cy="969264"/>
          </a:xfrm>
          <a:prstGeom prst="roundRect">
            <a:avLst>
              <a:gd name="adj" fmla="val 5660"/>
            </a:avLst>
          </a:prstGeom>
          <a:solidFill>
            <a:srgbClr val="FFFFFF"/>
          </a:solidFill>
          <a:ln/>
        </p:spPr>
      </p:sp>
      <p:pic>
        <p:nvPicPr>
          <p:cNvPr id="3" name="Image 0" descr="/home/user/Training-/assets/logo.png">    </p:cNvPr>
          <p:cNvPicPr>
            <a:picLocks noChangeAspect="1"/>
          </p:cNvPicPr>
          <p:nvPr/>
        </p:nvPicPr>
        <p:blipFill>
          <a:blip r:embed="rId1"/>
          <a:stretch>
            <a:fillRect/>
          </a:stretch>
        </p:blipFill>
        <p:spPr>
          <a:xfrm>
            <a:off x="10765231" y="332912"/>
            <a:ext cx="786384" cy="742353"/>
          </a:xfrm>
          <a:prstGeom prst="rect">
            <a:avLst/>
          </a:prstGeom>
        </p:spPr>
      </p:pic>
      <p:sp>
        <p:nvSpPr>
          <p:cNvPr id="4" name="Text 1"/>
          <p:cNvSpPr/>
          <p:nvPr/>
        </p:nvSpPr>
        <p:spPr>
          <a:xfrm>
            <a:off x="640080" y="658368"/>
            <a:ext cx="9692640" cy="1188720"/>
          </a:xfrm>
          <a:prstGeom prst="rect">
            <a:avLst/>
          </a:prstGeom>
          <a:noFill/>
          <a:ln/>
        </p:spPr>
        <p:txBody>
          <a:bodyPr wrap="square" lIns="0" tIns="0" rIns="0" bIns="0" rtlCol="0" anchor="t"/>
          <a:lstStyle/>
          <a:p>
            <a:pPr indent="0" marL="0">
              <a:lnSpc>
                <a:spcPct val="96000"/>
              </a:lnSpc>
              <a:buNone/>
            </a:pPr>
            <a:r>
              <a:rPr lang="en-US" sz="3000" b="1" dirty="0">
                <a:solidFill>
                  <a:srgbClr val="FFFFFF"/>
                </a:solidFill>
                <a:latin typeface="Yu Gothic" pitchFamily="34" charset="0"/>
                <a:ea typeface="Yu Gothic" pitchFamily="34" charset="-122"/>
                <a:cs typeface="Yu Gothic" pitchFamily="34" charset="-120"/>
              </a:rPr>
              <a:t>第1時限 まとめ</a:t>
            </a:r>
            <a:endParaRPr lang="en-US" sz="3000" dirty="0"/>
          </a:p>
          <a:p>
            <a:pPr indent="0" marL="0">
              <a:lnSpc>
                <a:spcPct val="96000"/>
              </a:lnSpc>
              <a:buNone/>
            </a:pPr>
            <a:r>
              <a:rPr lang="en-US" sz="1300" i="1" dirty="0">
                <a:solidFill>
                  <a:srgbClr val="9FD8CD"/>
                </a:solidFill>
                <a:latin typeface="Calibri" pitchFamily="34" charset="0"/>
                <a:ea typeface="Calibri" pitchFamily="34" charset="-122"/>
                <a:cs typeface="Calibri" pitchFamily="34" charset="-120"/>
              </a:rPr>
              <a:t>Period 1 — Summary</a:t>
            </a:r>
            <a:endParaRPr lang="en-US" sz="3000" dirty="0"/>
          </a:p>
        </p:txBody>
      </p:sp>
      <p:sp>
        <p:nvSpPr>
          <p:cNvPr id="5" name="Shape 2"/>
          <p:cNvSpPr/>
          <p:nvPr/>
        </p:nvSpPr>
        <p:spPr>
          <a:xfrm>
            <a:off x="640080" y="2084832"/>
            <a:ext cx="10911535" cy="676656"/>
          </a:xfrm>
          <a:prstGeom prst="roundRect">
            <a:avLst>
              <a:gd name="adj" fmla="val 6757"/>
            </a:avLst>
          </a:prstGeom>
          <a:solidFill>
            <a:srgbClr val="06223D"/>
          </a:solidFill>
          <a:ln/>
        </p:spPr>
      </p:sp>
      <p:sp>
        <p:nvSpPr>
          <p:cNvPr id="6" name="Shape 3"/>
          <p:cNvSpPr/>
          <p:nvPr/>
        </p:nvSpPr>
        <p:spPr>
          <a:xfrm>
            <a:off x="914400" y="2231136"/>
            <a:ext cx="384048" cy="384048"/>
          </a:xfrm>
          <a:prstGeom prst="ellipse">
            <a:avLst/>
          </a:prstGeom>
          <a:solidFill>
            <a:srgbClr val="12B198"/>
          </a:solidFill>
          <a:ln/>
        </p:spPr>
      </p:sp>
      <p:sp>
        <p:nvSpPr>
          <p:cNvPr id="7" name="Text 4"/>
          <p:cNvSpPr/>
          <p:nvPr/>
        </p:nvSpPr>
        <p:spPr>
          <a:xfrm>
            <a:off x="914400" y="22311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5"/>
          <p:cNvSpPr/>
          <p:nvPr/>
        </p:nvSpPr>
        <p:spPr>
          <a:xfrm>
            <a:off x="1517904" y="2176272"/>
            <a:ext cx="9722815" cy="493776"/>
          </a:xfrm>
          <a:prstGeom prst="rect">
            <a:avLst/>
          </a:prstGeom>
          <a:noFill/>
          <a:ln/>
        </p:spPr>
        <p:txBody>
          <a:bodyPr wrap="square" lIns="0" tIns="0" rIns="0" bIns="0" rtlCol="0" anchor="ctr"/>
          <a:lstStyle/>
          <a:p>
            <a:pPr indent="0" marL="0">
              <a:lnSpc>
                <a:spcPct val="92000"/>
              </a:lnSpc>
              <a:buNone/>
            </a:pPr>
            <a:r>
              <a:rPr lang="en-US" sz="1500" b="1" dirty="0">
                <a:solidFill>
                  <a:srgbClr val="FFFFFF"/>
                </a:solidFill>
                <a:latin typeface="Yu Gothic" pitchFamily="34" charset="0"/>
                <a:ea typeface="Yu Gothic" pitchFamily="34" charset="-122"/>
                <a:cs typeface="Yu Gothic" pitchFamily="34" charset="-120"/>
              </a:rPr>
              <a:t>守る対象は People / Asset / Reputation。情報は Asset に含む。</a:t>
            </a:r>
            <a:endParaRPr lang="en-US" sz="1500" dirty="0"/>
          </a:p>
          <a:p>
            <a:pPr indent="0" marL="0">
              <a:lnSpc>
                <a:spcPct val="92000"/>
              </a:lnSpc>
              <a:buNone/>
            </a:pPr>
            <a:r>
              <a:rPr lang="en-US" sz="1050" i="1" dirty="0">
                <a:solidFill>
                  <a:srgbClr val="9FB6CB"/>
                </a:solidFill>
                <a:latin typeface="Calibri" pitchFamily="34" charset="0"/>
                <a:ea typeface="Calibri" pitchFamily="34" charset="-122"/>
                <a:cs typeface="Calibri" pitchFamily="34" charset="-120"/>
              </a:rPr>
              <a:t>People, Asset, Reputation. Information is part of Asset.</a:t>
            </a:r>
            <a:endParaRPr lang="en-US" sz="1500" dirty="0"/>
          </a:p>
        </p:txBody>
      </p:sp>
      <p:sp>
        <p:nvSpPr>
          <p:cNvPr id="9" name="Shape 6"/>
          <p:cNvSpPr/>
          <p:nvPr/>
        </p:nvSpPr>
        <p:spPr>
          <a:xfrm>
            <a:off x="640080" y="2962656"/>
            <a:ext cx="10911535" cy="676656"/>
          </a:xfrm>
          <a:prstGeom prst="roundRect">
            <a:avLst>
              <a:gd name="adj" fmla="val 6757"/>
            </a:avLst>
          </a:prstGeom>
          <a:solidFill>
            <a:srgbClr val="06223D"/>
          </a:solidFill>
          <a:ln/>
        </p:spPr>
      </p:sp>
      <p:sp>
        <p:nvSpPr>
          <p:cNvPr id="10" name="Shape 7"/>
          <p:cNvSpPr/>
          <p:nvPr/>
        </p:nvSpPr>
        <p:spPr>
          <a:xfrm>
            <a:off x="914400" y="3108960"/>
            <a:ext cx="384048" cy="384048"/>
          </a:xfrm>
          <a:prstGeom prst="ellipse">
            <a:avLst/>
          </a:prstGeom>
          <a:solidFill>
            <a:srgbClr val="12B198"/>
          </a:solidFill>
          <a:ln/>
        </p:spPr>
      </p:sp>
      <p:sp>
        <p:nvSpPr>
          <p:cNvPr id="11" name="Text 8"/>
          <p:cNvSpPr/>
          <p:nvPr/>
        </p:nvSpPr>
        <p:spPr>
          <a:xfrm>
            <a:off x="914400" y="310896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p:nvPr/>
        </p:nvSpPr>
        <p:spPr>
          <a:xfrm>
            <a:off x="1517904" y="3054096"/>
            <a:ext cx="9722815" cy="493776"/>
          </a:xfrm>
          <a:prstGeom prst="rect">
            <a:avLst/>
          </a:prstGeom>
          <a:noFill/>
          <a:ln/>
        </p:spPr>
        <p:txBody>
          <a:bodyPr wrap="square" lIns="0" tIns="0" rIns="0" bIns="0" rtlCol="0" anchor="ctr"/>
          <a:lstStyle/>
          <a:p>
            <a:pPr indent="0" marL="0">
              <a:lnSpc>
                <a:spcPct val="92000"/>
              </a:lnSpc>
              <a:buNone/>
            </a:pPr>
            <a:r>
              <a:rPr lang="en-US" sz="1500" b="1" dirty="0">
                <a:solidFill>
                  <a:srgbClr val="FFFFFF"/>
                </a:solidFill>
                <a:latin typeface="Yu Gothic" pitchFamily="34" charset="0"/>
                <a:ea typeface="Yu Gothic" pitchFamily="34" charset="-122"/>
                <a:cs typeface="Yu Gothic" pitchFamily="34" charset="-120"/>
              </a:rPr>
              <a:t>守秘義務は退職後も継続する。営業秘密の侵害は刑事罰の対象になりうる。</a:t>
            </a:r>
            <a:endParaRPr lang="en-US" sz="1500" dirty="0"/>
          </a:p>
          <a:p>
            <a:pPr indent="0" marL="0">
              <a:lnSpc>
                <a:spcPct val="92000"/>
              </a:lnSpc>
              <a:buNone/>
            </a:pPr>
            <a:r>
              <a:rPr lang="en-US" sz="1050" i="1" dirty="0">
                <a:solidFill>
                  <a:srgbClr val="9FB6CB"/>
                </a:solidFill>
                <a:latin typeface="Calibri" pitchFamily="34" charset="0"/>
                <a:ea typeface="Calibri" pitchFamily="34" charset="-122"/>
                <a:cs typeface="Calibri" pitchFamily="34" charset="-120"/>
              </a:rPr>
              <a:t>Confidentiality continues after employment. Trade-secret breaches can carry criminal penalties.</a:t>
            </a:r>
            <a:endParaRPr lang="en-US" sz="1500" dirty="0"/>
          </a:p>
        </p:txBody>
      </p:sp>
      <p:sp>
        <p:nvSpPr>
          <p:cNvPr id="13" name="Shape 10"/>
          <p:cNvSpPr/>
          <p:nvPr/>
        </p:nvSpPr>
        <p:spPr>
          <a:xfrm>
            <a:off x="640080" y="3840480"/>
            <a:ext cx="10911535" cy="676656"/>
          </a:xfrm>
          <a:prstGeom prst="roundRect">
            <a:avLst>
              <a:gd name="adj" fmla="val 6757"/>
            </a:avLst>
          </a:prstGeom>
          <a:solidFill>
            <a:srgbClr val="06223D"/>
          </a:solidFill>
          <a:ln/>
        </p:spPr>
      </p:sp>
      <p:sp>
        <p:nvSpPr>
          <p:cNvPr id="14" name="Shape 11"/>
          <p:cNvSpPr/>
          <p:nvPr/>
        </p:nvSpPr>
        <p:spPr>
          <a:xfrm>
            <a:off x="914400" y="3986784"/>
            <a:ext cx="384048" cy="384048"/>
          </a:xfrm>
          <a:prstGeom prst="ellipse">
            <a:avLst/>
          </a:prstGeom>
          <a:solidFill>
            <a:srgbClr val="12B198"/>
          </a:solidFill>
          <a:ln/>
        </p:spPr>
      </p:sp>
      <p:sp>
        <p:nvSpPr>
          <p:cNvPr id="15" name="Text 12"/>
          <p:cNvSpPr/>
          <p:nvPr/>
        </p:nvSpPr>
        <p:spPr>
          <a:xfrm>
            <a:off x="914400" y="3986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3"/>
          <p:cNvSpPr/>
          <p:nvPr/>
        </p:nvSpPr>
        <p:spPr>
          <a:xfrm>
            <a:off x="1517904" y="3931920"/>
            <a:ext cx="9722815" cy="493776"/>
          </a:xfrm>
          <a:prstGeom prst="rect">
            <a:avLst/>
          </a:prstGeom>
          <a:noFill/>
          <a:ln/>
        </p:spPr>
        <p:txBody>
          <a:bodyPr wrap="square" lIns="0" tIns="0" rIns="0" bIns="0" rtlCol="0" anchor="ctr"/>
          <a:lstStyle/>
          <a:p>
            <a:pPr indent="0" marL="0">
              <a:lnSpc>
                <a:spcPct val="92000"/>
              </a:lnSpc>
              <a:buNone/>
            </a:pPr>
            <a:r>
              <a:rPr lang="en-US" sz="1500" b="1" dirty="0">
                <a:solidFill>
                  <a:srgbClr val="FFFFFF"/>
                </a:solidFill>
                <a:latin typeface="Yu Gothic" pitchFamily="34" charset="0"/>
                <a:ea typeface="Yu Gothic" pitchFamily="34" charset="-122"/>
                <a:cs typeface="Yu Gothic" pitchFamily="34" charset="-120"/>
              </a:rPr>
              <a:t>警備業法15条 ― 特別な権限はない。警察官にある権限は警備員にはない。</a:t>
            </a:r>
            <a:endParaRPr lang="en-US" sz="1500" dirty="0"/>
          </a:p>
          <a:p>
            <a:pPr indent="0" marL="0">
              <a:lnSpc>
                <a:spcPct val="92000"/>
              </a:lnSpc>
              <a:buNone/>
            </a:pPr>
            <a:r>
              <a:rPr lang="en-US" sz="1050" i="1" dirty="0">
                <a:solidFill>
                  <a:srgbClr val="9FB6CB"/>
                </a:solidFill>
                <a:latin typeface="Calibri" pitchFamily="34" charset="0"/>
                <a:ea typeface="Calibri" pitchFamily="34" charset="-122"/>
                <a:cs typeface="Calibri" pitchFamily="34" charset="-120"/>
              </a:rPr>
              <a:t>Article 15 — no special authority. Police powers do not extend to guards.</a:t>
            </a:r>
            <a:endParaRPr lang="en-US" sz="1500" dirty="0"/>
          </a:p>
        </p:txBody>
      </p:sp>
      <p:sp>
        <p:nvSpPr>
          <p:cNvPr id="17" name="Shape 14"/>
          <p:cNvSpPr/>
          <p:nvPr/>
        </p:nvSpPr>
        <p:spPr>
          <a:xfrm>
            <a:off x="640080" y="4718304"/>
            <a:ext cx="10911535" cy="676656"/>
          </a:xfrm>
          <a:prstGeom prst="roundRect">
            <a:avLst>
              <a:gd name="adj" fmla="val 6757"/>
            </a:avLst>
          </a:prstGeom>
          <a:solidFill>
            <a:srgbClr val="06223D"/>
          </a:solidFill>
          <a:ln/>
        </p:spPr>
      </p:sp>
      <p:sp>
        <p:nvSpPr>
          <p:cNvPr id="18" name="Shape 15"/>
          <p:cNvSpPr/>
          <p:nvPr/>
        </p:nvSpPr>
        <p:spPr>
          <a:xfrm>
            <a:off x="914400" y="4864608"/>
            <a:ext cx="384048" cy="384048"/>
          </a:xfrm>
          <a:prstGeom prst="ellipse">
            <a:avLst/>
          </a:prstGeom>
          <a:solidFill>
            <a:srgbClr val="12B198"/>
          </a:solidFill>
          <a:ln/>
        </p:spPr>
      </p:sp>
      <p:sp>
        <p:nvSpPr>
          <p:cNvPr id="19" name="Text 16"/>
          <p:cNvSpPr/>
          <p:nvPr/>
        </p:nvSpPr>
        <p:spPr>
          <a:xfrm>
            <a:off x="914400" y="4864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7"/>
          <p:cNvSpPr/>
          <p:nvPr/>
        </p:nvSpPr>
        <p:spPr>
          <a:xfrm>
            <a:off x="1517904" y="4809744"/>
            <a:ext cx="9722815" cy="493776"/>
          </a:xfrm>
          <a:prstGeom prst="rect">
            <a:avLst/>
          </a:prstGeom>
          <a:noFill/>
          <a:ln/>
        </p:spPr>
        <p:txBody>
          <a:bodyPr wrap="square" lIns="0" tIns="0" rIns="0" bIns="0" rtlCol="0" anchor="ctr"/>
          <a:lstStyle/>
          <a:p>
            <a:pPr indent="0" marL="0">
              <a:lnSpc>
                <a:spcPct val="92000"/>
              </a:lnSpc>
              <a:buNone/>
            </a:pPr>
            <a:r>
              <a:rPr lang="en-US" sz="1500" b="1" dirty="0">
                <a:solidFill>
                  <a:srgbClr val="FFFFFF"/>
                </a:solidFill>
                <a:latin typeface="Yu Gothic" pitchFamily="34" charset="0"/>
                <a:ea typeface="Yu Gothic" pitchFamily="34" charset="-122"/>
                <a:cs typeface="Yu Gothic" pitchFamily="34" charset="-120"/>
              </a:rPr>
              <a:t>権限の根拠は「誰でもできること」と「委ねられたこと」の2つ。</a:t>
            </a:r>
            <a:endParaRPr lang="en-US" sz="1500" dirty="0"/>
          </a:p>
          <a:p>
            <a:pPr indent="0" marL="0">
              <a:lnSpc>
                <a:spcPct val="92000"/>
              </a:lnSpc>
              <a:buNone/>
            </a:pPr>
            <a:r>
              <a:rPr lang="en-US" sz="1050" i="1" dirty="0">
                <a:solidFill>
                  <a:srgbClr val="9FB6CB"/>
                </a:solidFill>
                <a:latin typeface="Calibri" pitchFamily="34" charset="0"/>
                <a:ea typeface="Calibri" pitchFamily="34" charset="-122"/>
                <a:cs typeface="Calibri" pitchFamily="34" charset="-120"/>
              </a:rPr>
              <a:t>Two sources only: what anyone may do, and what was delegated.</a:t>
            </a:r>
            <a:endParaRPr lang="en-US" sz="1500" dirty="0"/>
          </a:p>
        </p:txBody>
      </p:sp>
      <p:sp>
        <p:nvSpPr>
          <p:cNvPr id="21" name="Text 18"/>
          <p:cNvSpPr/>
          <p:nvPr/>
        </p:nvSpPr>
        <p:spPr>
          <a:xfrm>
            <a:off x="640080" y="5596128"/>
            <a:ext cx="10911535" cy="603504"/>
          </a:xfrm>
          <a:prstGeom prst="rect">
            <a:avLst/>
          </a:prstGeom>
          <a:noFill/>
          <a:ln/>
        </p:spPr>
        <p:txBody>
          <a:bodyPr wrap="square" lIns="0" tIns="0" rIns="0" bIns="0" rtlCol="0" anchor="t"/>
          <a:lstStyle/>
          <a:p>
            <a:pPr indent="0" marL="0">
              <a:buNone/>
            </a:pPr>
            <a:r>
              <a:rPr lang="en-US" sz="1200" b="1" dirty="0">
                <a:solidFill>
                  <a:srgbClr val="12B198"/>
                </a:solidFill>
                <a:latin typeface="Yu Gothic" pitchFamily="34" charset="0"/>
                <a:ea typeface="Yu Gothic" pitchFamily="34" charset="-122"/>
                <a:cs typeface="Yu Gothic" pitchFamily="34" charset="-120"/>
              </a:rPr>
              <a:t>第2時限 ― その限界を、条文と罪名で確認します。</a:t>
            </a:r>
            <a:endParaRPr lang="en-US" sz="1200" dirty="0"/>
          </a:p>
          <a:p>
            <a:pPr indent="0" marL="0">
              <a:buNone/>
            </a:pPr>
            <a:r>
              <a:rPr lang="en-US" sz="950" i="1" dirty="0">
                <a:solidFill>
                  <a:srgbClr val="8EA3B7"/>
                </a:solidFill>
                <a:latin typeface="Calibri" pitchFamily="34" charset="0"/>
                <a:ea typeface="Calibri" pitchFamily="34" charset="-122"/>
                <a:cs typeface="Calibri" pitchFamily="34" charset="-120"/>
              </a:rPr>
              <a:t>Period 2 — those limits, in statutes and offence names.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第1時限｜基本教育1 警備業務実施の基本原則</dc:title>
  <dc:subject>PptxGenJS Presentation</dc:subject>
  <dc:creator>警備員指導教育責任者</dc:creator>
  <cp:lastModifiedBy>警備員指導教育責任者</cp:lastModifiedBy>
  <cp:revision>1</cp:revision>
  <dcterms:created xsi:type="dcterms:W3CDTF">2026-08-10T15:34:00Z</dcterms:created>
  <dcterms:modified xsi:type="dcterms:W3CDTF">2026-08-10T15:34:00Z</dcterms:modified>
</cp:coreProperties>
</file>