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警報設備の全体像</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Overview of Security Equipment</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classify the equipment on your site, and explain what each of them reports.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防災設備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Safety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alarm system: panel, detectors, call points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Firefighting: extinguishers, hydrants, sprinklers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・防排煙設備 ― 防火戸、防煙垂れ壁、排煙口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Smoke control: fire doors, smoke barriers, vents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・非常放送、誘導灯、非常用照明</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exit signs, emergency lighting</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防犯設備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Systems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・侵入警報 ― 扉、窓、空間センサー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Intrusion alarm: door, window and space sensors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Access control: readers, electric locks, logs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・防犯カメラ ― 監視、録画、検索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CCTV: monitoring, recording, retrieval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・非常通報装置、インターホン</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Emergency call points and intercoms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通信機器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Communications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・携帯無線機。交話要領は本コマで扱う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Handheld radios. Procedure is covered in this session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・固定電話、非常電話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Fixed lines and emergency phones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Work devices. Keep them clearly separate from personal 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the fallback before communications fail</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共通する原則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Principles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・機器は異常を知らせる。判断は人が行う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Equipment reports a condition. People make the decision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・操作方法を知らない機器は触らない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touch equipment you have not been trained 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・音を止めることは目的ではない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Silencing an alarm is not the objective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are logged. Record your operations too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受信機と発報対応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Fire Panel and Responding to an Activation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order of checks on activation, and when you may declare a fire.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確認の順序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Order of Checks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・地区表示を読む。何階、どの区画か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the zone display: which floor, which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before you move, not after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Verify on site. Do not conclude before you have seen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・連動の作動状況を確認する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which linked systems have operated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発報は火災の確定ではない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An Activation Is Not a Confirmed Fire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activation only means a detector operated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Non-fire causes: steam, dust, cooking, construction, insecticide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the radio: "Third floor east zone, activation, going to verify"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say "fire" before verifying. It locks in a conclusion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現場での確認</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Checking on Site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 the door to check for heat. If it is hot, do not open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・煙の有無、臭気、音を確認する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for smoke, smell and sound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verify alone. If you must, tell someone where you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in several zones make a non-fire cause less likely</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判断が変わる情報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That Changes the Picture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smoke visible" does not rule out a fire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・感知器の位置と、人がいる位置は異なる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detector is not where the people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・第2報が出た場合は、判断を切り替える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a second zone activates, change your assessment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・迷った場合は、火災として動く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in doubt, act as though it is a fire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連動、避難誘導、無線交話要領</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Linked Systems, Evacuation Guidance, and Radio Procedure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guide people knowing the routes change, and use the radio in English and Japanese.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連動</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Linked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doors and smoke control: closures change the usable routes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takes priority. Radio traffic suffers while it runs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Lifts descend to the evacuation floor and stop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Shutters: check nobody is left on the far side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避難誘導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Evacuation Guidance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Assume stairs. Do not let people use the lifts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・大きな声で、短い言葉で。方向を手で示す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Loud voice, short words. Point the direction with your hand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non-Japanese visitors, "this way, please" plus a gesture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Sweep for anyone left behind, according to your assigned area</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英語（主）</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English (primary)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・構成：呼出 → 応答 → 用件 → 復唱 → 終話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Structure: call, answer, message, read-back, close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this is [自分]" → "Go ahead"</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then yourself, then hand 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・Over（送信終わり）／Out（交信終了）／Say again／Stand by</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Over, Out, Say again, Stand by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Roger and Copy mean received. Never say "over and out"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日本語（副）と原則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Japanese (secondary) and Rules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・「◯◯、こちら△△、どうぞ」「以上」「再送願います」「了解」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name yourself, hand over; then out, say again, roger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・数字は一桁ずつ（7＝なな、0＝まる）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numbers one digit at a time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Plain language. No codes. No personal data by radio</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・参考：NATO（Alpha, Bravo…）、和文通話表（朝日のア…）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Reference only: NATO and Japanese phonetic alphabets</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ログとカメラ画像の管理</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Managing Logs and Footage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preservation and disclosure, knowing that logs and footage are evidence.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証拠としての性質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Their Nature as Evidence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・後の調査、懲戒、訴訟で証拠になる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become evidence in later investigation, discipline and litigation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・同時に個人情報でもある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are also personal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overwritten they cannot be recovered. There is a time limit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guard on the spot is usually the first to notice they matter</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保全の依頼</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Requesting Preservation</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becoming aware of an incident, request preservation before overwrite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Specify the target: date and time, zone, camera number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・依頼した事実と時刻を記録する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asked, and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 contact is away, go to the next person in the call-out list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見る・渡すの制限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Limits on Viewing and Handing Over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view outside the purpose. Curiosity is not a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・持ち出さない、撮影しない、投稿しない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remove, photograph or post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does not decide on disclosure. Refer to the supervisor and client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・閲覧した事実そのものを記録する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the fact that a viewing took place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求められたときの言い方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to Say When Asked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able to decide on that. Let me connect you with the right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・相手が社員でも、その場では見せない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show it on the spot, even to an employee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see identification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・断ったこと、その理由、時刻を記録する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declined, why, and when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総合演習</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Integrated Exercise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do first? How do you deploy two people?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通報するか。110番か119番か、両方か。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call? Police, fire, or both?</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must be preserved? With the authority away, who do you ask?</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leave until later, and on what basis?</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 employee on the third floor radios: "no smoke visible." Does that change your decision?</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受信機が、4階西区画で第2報を表示した。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panel shows a second activation, fourth-floor west zone.</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最初の60秒。2名の配置</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地区表示を読む→一報→現場確認。単独行動の回避と受信機の常駐は両立しない。選んだ方を説明する。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Read the zone, report, then verify. Not going alone and manning the panel cannot both hold — justify which you chose.</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通報するか。110か119か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119番。発報は火災の確定ではないが、防火戸閉鎖まで進んでいる。不正解錠は後から110番。</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Call the fire service. The alarm is not proof of fire, but the doors have closed. The unauthorised entry goes to police later.</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保全すべきもの。誰に依頼するか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退職者カードの解錠ログと3階カメラ画像。管理権者不在なら緊急連絡体制の次順位者へ。</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leaver-card unlock log and the third-floor footage. With the authority away, go to the next contact.</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何を後回しにするか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不正解錠の追跡。人命と火災対応が先。捨てた判断と理由を記録に残す。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Pursuing the unauthorised entry. Life and fire come first — and record what you dropped, and why.</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「煙は見えない」と無線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判断を変えない。感知器の位置と人がいる位置は違う。火災を否定する根拠にならない。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change your assessment. The detector is not where the people are, and this does not rule out a fire.</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4階西区画で第2報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2区画同時発報。非火災報の可能性が下がる。全館避難と通報の判断へ切り替える。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Two zones at once makes a false alarm unlikely. Switch to full evacuation and call.</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全部はできない。何を捨てたかを言えるか。捨てる判断ができない班が必ず出る。</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You cannot do everything. Can they say what they dropped? Some groups will not be able to drop anything.</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calls,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消防法、警備業法、個人情報保護法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A Manager Asks You for the Access Log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21時、クライアント企業の部長が防災センター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21:00. A department head from the client company comes to the security office. "One of my staff may have taken equipment. I want to see today's access log and the lift-lobby footage now." They are a client manager who has always been cooperative. Your supervisor is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being a client manager justify disclosure?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a guard have authority to decide on disclosure?</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decline, what do you say? Can you decline without damaging the relationship?</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accept a request to preserve? How does that differ from disclosure?</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"Then do not show me. You look, and tell me what you see."</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相手が「では正式に依頼書を出す。それまで消さないでくれ」と述べた。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"Then I will submit a formal request. Until then, do not delete it."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FF4F8"/>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管理職であることは根拠になるか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ならない。開示の可否は契約とクライアントの規程で決まる。役職では決まらない。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The contract and the client's rules decide, not the person's rank.</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警備員に判断する権限はあるか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ない。取り次ぐところまで。日頃の協力関係は判断を変える理由にならない。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Your role ends at referral. A good working relationship does not change that.</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断り方。関係を壊さずに断れるか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「私には開示の判断ができません。担当へお繋ぎします」。断るのではなく、繋ぐと伝える。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 am not able to decide that. Let me connect you with the right person." You are not refusing — you are routing.</a:t>
            </a:r>
            <a:endParaRPr lang="en-US" sz="900" dirty="0"/>
          </a:p>
        </p:txBody>
      </p:sp>
      <p:sp>
        <p:nvSpPr>
          <p:cNvPr id="18" name="Shape 15"/>
          <p:cNvSpPr/>
          <p:nvPr/>
        </p:nvSpPr>
        <p:spPr>
          <a:xfrm>
            <a:off x="640080" y="3541014"/>
            <a:ext cx="10911535" cy="683514"/>
          </a:xfrm>
          <a:prstGeom prst="roundRect">
            <a:avLst>
              <a:gd name="adj" fmla="val 5351"/>
            </a:avLst>
          </a:prstGeom>
          <a:solidFill>
            <a:srgbClr val="E4F4F0"/>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保全の依頼は受けてよいか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受けてよい。保全＝残す、開示＝渡す。警備員が受けられるのは前者だけ。</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Preserving means keeping; disclosing means handing over. Only the first is yours to accept.</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「あなたが見て教えて」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応じられない。自分が見て伝えるのは開示と同じ結果になる。言い換えを見抜く。</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Decline. Looking and telling produces the same result as showing. Spot the rephrasing.</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「依頼書を出す。消さないで」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これは受けてよい。上書きを防ぐ依頼であり、内容を渡す依頼ではない。時刻とともに記録する。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This you may accept. It prevents overwrite; it does not hand over content. Record it with the time.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インジェクト①に気づけるか。「見せない」から「見て教える」への言い換えが本問の核。</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Can they spot inject 1? The shift from "show me" to "look and tell me" is the heart of this case.</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taken, and the record format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問1〜問5</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Assessment — Questions 1 to 5</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15分。回答は日本語・英語どちらでも構いません。記述は一言で結構です。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15 minutes. Answer in Japanese or English. Short answers are fine.</a:t>
            </a:r>
            <a:endParaRPr lang="en-US" sz="1300" dirty="0"/>
          </a:p>
        </p:txBody>
      </p:sp>
      <p:sp>
        <p:nvSpPr>
          <p:cNvPr id="5" name="Shape 2"/>
          <p:cNvSpPr/>
          <p:nvPr/>
        </p:nvSpPr>
        <p:spPr>
          <a:xfrm>
            <a:off x="640080" y="2194560"/>
            <a:ext cx="10911535"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警備員の法的な立場は何か。また、警察官にあって警備員にない権限を1つ挙げよ。</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What is a guard's legal status? Name one power the police have and you do not.</a:t>
            </a:r>
            <a:endParaRPr lang="en-US" sz="1150" dirty="0"/>
          </a:p>
        </p:txBody>
      </p:sp>
      <p:sp>
        <p:nvSpPr>
          <p:cNvPr id="9" name="Shape 6"/>
          <p:cNvSpPr/>
          <p:nvPr/>
        </p:nvSpPr>
        <p:spPr>
          <a:xfrm>
            <a:off x="640080" y="3032150"/>
            <a:ext cx="10911535" cy="691286"/>
          </a:xfrm>
          <a:prstGeom prst="roundRect">
            <a:avLst>
              <a:gd name="adj" fmla="val 5291"/>
            </a:avLst>
          </a:prstGeom>
          <a:solidFill>
            <a:srgbClr val="EFF4F8"/>
          </a:solidFill>
          <a:ln/>
        </p:spPr>
      </p:sp>
      <p:sp>
        <p:nvSpPr>
          <p:cNvPr id="10" name="Shape 7"/>
          <p:cNvSpPr/>
          <p:nvPr/>
        </p:nvSpPr>
        <p:spPr>
          <a:xfrm>
            <a:off x="822960" y="3213202"/>
            <a:ext cx="329184" cy="329184"/>
          </a:xfrm>
          <a:prstGeom prst="ellipse">
            <a:avLst/>
          </a:prstGeom>
          <a:solidFill>
            <a:srgbClr val="093259"/>
          </a:solidFill>
          <a:ln/>
        </p:spPr>
      </p:sp>
      <p:sp>
        <p:nvSpPr>
          <p:cNvPr id="11" name="Text 8"/>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1243584" y="3105302"/>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De-escalation の目的は何か。一言で述べよ。</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one line: what is the aim of de-escalation?</a:t>
            </a:r>
            <a:endParaRPr lang="en-US" sz="1150" dirty="0"/>
          </a:p>
        </p:txBody>
      </p:sp>
      <p:sp>
        <p:nvSpPr>
          <p:cNvPr id="13" name="Shape 10"/>
          <p:cNvSpPr/>
          <p:nvPr/>
        </p:nvSpPr>
        <p:spPr>
          <a:xfrm>
            <a:off x="640080" y="3869741"/>
            <a:ext cx="10911535" cy="691286"/>
          </a:xfrm>
          <a:prstGeom prst="roundRect">
            <a:avLst>
              <a:gd name="adj" fmla="val 5291"/>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942893"/>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相手が引き下がれる形を残すのは、なぜか。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Why do you leave the other person a way to step back?</a:t>
            </a:r>
            <a:endParaRPr lang="en-US" sz="1150" dirty="0"/>
          </a:p>
        </p:txBody>
      </p:sp>
      <p:sp>
        <p:nvSpPr>
          <p:cNvPr id="17" name="Shape 14"/>
          <p:cNvSpPr/>
          <p:nvPr/>
        </p:nvSpPr>
        <p:spPr>
          <a:xfrm>
            <a:off x="640080" y="4707331"/>
            <a:ext cx="10911535" cy="691286"/>
          </a:xfrm>
          <a:prstGeom prst="roundRect">
            <a:avLst>
              <a:gd name="adj" fmla="val 5291"/>
            </a:avLst>
          </a:prstGeom>
          <a:solidFill>
            <a:srgbClr val="EFF4F8"/>
          </a:solidFill>
          <a:ln/>
        </p:spPr>
      </p:sp>
      <p:sp>
        <p:nvSpPr>
          <p:cNvPr id="18" name="Shape 15"/>
          <p:cNvSpPr/>
          <p:nvPr/>
        </p:nvSpPr>
        <p:spPr>
          <a:xfrm>
            <a:off x="822960" y="4888382"/>
            <a:ext cx="329184" cy="329184"/>
          </a:xfrm>
          <a:prstGeom prst="ellipse">
            <a:avLst/>
          </a:prstGeom>
          <a:solidFill>
            <a:srgbClr val="093259"/>
          </a:solidFill>
          <a:ln/>
        </p:spPr>
      </p:sp>
      <p:sp>
        <p:nvSpPr>
          <p:cNvPr id="19" name="Text 16"/>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1243584" y="4780483"/>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対話をやめて離脱すべき兆候を、2つ挙げよ。</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Name two signs that you should stop talking and disengage.</a:t>
            </a:r>
            <a:endParaRPr lang="en-US" sz="1150" dirty="0"/>
          </a:p>
        </p:txBody>
      </p:sp>
      <p:sp>
        <p:nvSpPr>
          <p:cNvPr id="21" name="Shape 18"/>
          <p:cNvSpPr/>
          <p:nvPr/>
        </p:nvSpPr>
        <p:spPr>
          <a:xfrm>
            <a:off x="640080" y="5544922"/>
            <a:ext cx="10911535" cy="691286"/>
          </a:xfrm>
          <a:prstGeom prst="roundRect">
            <a:avLst>
              <a:gd name="adj" fmla="val 5291"/>
            </a:avLst>
          </a:prstGeom>
          <a:solidFill>
            <a:srgbClr val="EFF4F8"/>
          </a:solidFill>
          <a:ln/>
        </p:spPr>
      </p:sp>
      <p:sp>
        <p:nvSpPr>
          <p:cNvPr id="22" name="Shape 19"/>
          <p:cNvSpPr/>
          <p:nvPr/>
        </p:nvSpPr>
        <p:spPr>
          <a:xfrm>
            <a:off x="822960" y="5725973"/>
            <a:ext cx="329184" cy="329184"/>
          </a:xfrm>
          <a:prstGeom prst="ellipse">
            <a:avLst/>
          </a:prstGeom>
          <a:solidFill>
            <a:srgbClr val="093259"/>
          </a:solidFill>
          <a:ln/>
        </p:spPr>
      </p:sp>
      <p:sp>
        <p:nvSpPr>
          <p:cNvPr id="23" name="Text 20"/>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5618074"/>
            <a:ext cx="10070287"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退去を求める根拠は、誰の意思に基づくか。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request to leave rests on whose intent?</a:t>
            </a:r>
            <a:endParaRPr lang="en-US" sz="115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問6〜問10</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Assessment — Questions 6 to 10</a:t>
            </a:r>
            <a:endParaRPr lang="en-US" sz="2700" dirty="0"/>
          </a:p>
        </p:txBody>
      </p:sp>
      <p:sp>
        <p:nvSpPr>
          <p:cNvPr id="4" name="Shape 1"/>
          <p:cNvSpPr/>
          <p:nvPr/>
        </p:nvSpPr>
        <p:spPr>
          <a:xfrm>
            <a:off x="640080" y="1627632"/>
            <a:ext cx="10911535" cy="804672"/>
          </a:xfrm>
          <a:prstGeom prst="roundRect">
            <a:avLst>
              <a:gd name="adj" fmla="val 4545"/>
            </a:avLst>
          </a:prstGeom>
          <a:solidFill>
            <a:srgbClr val="EFF4F8"/>
          </a:solidFill>
          <a:ln/>
        </p:spPr>
      </p:sp>
      <p:sp>
        <p:nvSpPr>
          <p:cNvPr id="5" name="Shape 2"/>
          <p:cNvSpPr/>
          <p:nvPr/>
        </p:nvSpPr>
        <p:spPr>
          <a:xfrm>
            <a:off x="822960" y="1865376"/>
            <a:ext cx="329184" cy="329184"/>
          </a:xfrm>
          <a:prstGeom prst="ellipse">
            <a:avLst/>
          </a:prstGeom>
          <a:solidFill>
            <a:srgbClr val="093259"/>
          </a:solidFill>
          <a:ln/>
        </p:spPr>
      </p:sp>
      <p:sp>
        <p:nvSpPr>
          <p:cNvPr id="6" name="Text 3"/>
          <p:cNvSpPr/>
          <p:nvPr/>
        </p:nvSpPr>
        <p:spPr>
          <a:xfrm>
            <a:off x="822960" y="18653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 name="Text 4"/>
          <p:cNvSpPr/>
          <p:nvPr/>
        </p:nvSpPr>
        <p:spPr>
          <a:xfrm>
            <a:off x="1243584" y="1700784"/>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次の報告文の問題点を指摘し、書き直せ。「不審者が非常口から入りました」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What is wrong with this report, and how would you rewrite it? "An intruder came in through the emergency exit."</a:t>
            </a:r>
            <a:endParaRPr lang="en-US" sz="1150" dirty="0"/>
          </a:p>
        </p:txBody>
      </p:sp>
      <p:sp>
        <p:nvSpPr>
          <p:cNvPr id="8" name="Shape 5"/>
          <p:cNvSpPr/>
          <p:nvPr/>
        </p:nvSpPr>
        <p:spPr>
          <a:xfrm>
            <a:off x="640080" y="2578608"/>
            <a:ext cx="10911535" cy="804672"/>
          </a:xfrm>
          <a:prstGeom prst="roundRect">
            <a:avLst>
              <a:gd name="adj" fmla="val 4545"/>
            </a:avLst>
          </a:prstGeom>
          <a:solidFill>
            <a:srgbClr val="EFF4F8"/>
          </a:solidFill>
          <a:ln/>
        </p:spPr>
      </p:sp>
      <p:sp>
        <p:nvSpPr>
          <p:cNvPr id="9" name="Shape 6"/>
          <p:cNvSpPr/>
          <p:nvPr/>
        </p:nvSpPr>
        <p:spPr>
          <a:xfrm>
            <a:off x="822960" y="2816352"/>
            <a:ext cx="329184" cy="329184"/>
          </a:xfrm>
          <a:prstGeom prst="ellipse">
            <a:avLst/>
          </a:prstGeom>
          <a:solidFill>
            <a:srgbClr val="093259"/>
          </a:solidFill>
          <a:ln/>
        </p:spPr>
      </p:sp>
      <p:sp>
        <p:nvSpPr>
          <p:cNvPr id="10" name="Text 7"/>
          <p:cNvSpPr/>
          <p:nvPr/>
        </p:nvSpPr>
        <p:spPr>
          <a:xfrm>
            <a:off x="822960" y="28163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 name="Text 8"/>
          <p:cNvSpPr/>
          <p:nvPr/>
        </p:nvSpPr>
        <p:spPr>
          <a:xfrm>
            <a:off x="1243584" y="2651760"/>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119番通報で、最初に伝えることは何か。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What must you say first when you call the fire service?</a:t>
            </a:r>
            <a:endParaRPr lang="en-US" sz="1150" dirty="0"/>
          </a:p>
        </p:txBody>
      </p:sp>
      <p:sp>
        <p:nvSpPr>
          <p:cNvPr id="12" name="Shape 9"/>
          <p:cNvSpPr/>
          <p:nvPr/>
        </p:nvSpPr>
        <p:spPr>
          <a:xfrm>
            <a:off x="640080" y="3529584"/>
            <a:ext cx="10911535" cy="804672"/>
          </a:xfrm>
          <a:prstGeom prst="roundRect">
            <a:avLst>
              <a:gd name="adj" fmla="val 4545"/>
            </a:avLst>
          </a:prstGeom>
          <a:solidFill>
            <a:srgbClr val="EFF4F8"/>
          </a:solidFill>
          <a:ln/>
        </p:spPr>
      </p:sp>
      <p:sp>
        <p:nvSpPr>
          <p:cNvPr id="13" name="Shape 10"/>
          <p:cNvSpPr/>
          <p:nvPr/>
        </p:nvSpPr>
        <p:spPr>
          <a:xfrm>
            <a:off x="822960" y="3767328"/>
            <a:ext cx="329184" cy="329184"/>
          </a:xfrm>
          <a:prstGeom prst="ellipse">
            <a:avLst/>
          </a:prstGeom>
          <a:solidFill>
            <a:srgbClr val="093259"/>
          </a:solidFill>
          <a:ln/>
        </p:spPr>
      </p:sp>
      <p:sp>
        <p:nvSpPr>
          <p:cNvPr id="14" name="Text 11"/>
          <p:cNvSpPr/>
          <p:nvPr/>
        </p:nvSpPr>
        <p:spPr>
          <a:xfrm>
            <a:off x="822960"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5" name="Text 12"/>
          <p:cNvSpPr/>
          <p:nvPr/>
        </p:nvSpPr>
        <p:spPr>
          <a:xfrm>
            <a:off x="1243584" y="3602736"/>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現場を変えてよい理由は何か。それ以外の場合はどうするか。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For what reason may you alter the scene? And otherwise?</a:t>
            </a:r>
            <a:endParaRPr lang="en-US" sz="1150" dirty="0"/>
          </a:p>
        </p:txBody>
      </p:sp>
      <p:sp>
        <p:nvSpPr>
          <p:cNvPr id="16" name="Shape 13"/>
          <p:cNvSpPr/>
          <p:nvPr/>
        </p:nvSpPr>
        <p:spPr>
          <a:xfrm>
            <a:off x="640080" y="4480560"/>
            <a:ext cx="10911535" cy="804672"/>
          </a:xfrm>
          <a:prstGeom prst="roundRect">
            <a:avLst>
              <a:gd name="adj" fmla="val 4545"/>
            </a:avLst>
          </a:prstGeom>
          <a:solidFill>
            <a:srgbClr val="EFF4F8"/>
          </a:solidFill>
          <a:ln/>
        </p:spPr>
      </p:sp>
      <p:sp>
        <p:nvSpPr>
          <p:cNvPr id="17" name="Shape 14"/>
          <p:cNvSpPr/>
          <p:nvPr/>
        </p:nvSpPr>
        <p:spPr>
          <a:xfrm>
            <a:off x="822960" y="4718304"/>
            <a:ext cx="329184" cy="329184"/>
          </a:xfrm>
          <a:prstGeom prst="ellipse">
            <a:avLst/>
          </a:prstGeom>
          <a:solidFill>
            <a:srgbClr val="093259"/>
          </a:solidFill>
          <a:ln/>
        </p:spPr>
      </p:sp>
      <p:sp>
        <p:nvSpPr>
          <p:cNvPr id="18" name="Text 15"/>
          <p:cNvSpPr/>
          <p:nvPr/>
        </p:nvSpPr>
        <p:spPr>
          <a:xfrm>
            <a:off x="822960" y="471830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19" name="Text 16"/>
          <p:cNvSpPr/>
          <p:nvPr/>
        </p:nvSpPr>
        <p:spPr>
          <a:xfrm>
            <a:off x="1243584" y="4553712"/>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受信機が発報した。最初に確認するものは何か。無線で「火事です」と言ってよいか。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panel activates. What do you check first? May you say "fire" on the radio?</a:t>
            </a:r>
            <a:endParaRPr lang="en-US" sz="1150" dirty="0"/>
          </a:p>
        </p:txBody>
      </p:sp>
      <p:sp>
        <p:nvSpPr>
          <p:cNvPr id="20" name="Shape 17"/>
          <p:cNvSpPr/>
          <p:nvPr/>
        </p:nvSpPr>
        <p:spPr>
          <a:xfrm>
            <a:off x="640080" y="5431536"/>
            <a:ext cx="10911535" cy="804672"/>
          </a:xfrm>
          <a:prstGeom prst="roundRect">
            <a:avLst>
              <a:gd name="adj" fmla="val 4545"/>
            </a:avLst>
          </a:prstGeom>
          <a:solidFill>
            <a:srgbClr val="EFF4F8"/>
          </a:solidFill>
          <a:ln/>
        </p:spPr>
      </p:sp>
      <p:sp>
        <p:nvSpPr>
          <p:cNvPr id="21" name="Shape 18"/>
          <p:cNvSpPr/>
          <p:nvPr/>
        </p:nvSpPr>
        <p:spPr>
          <a:xfrm>
            <a:off x="822960" y="5669280"/>
            <a:ext cx="329184" cy="329184"/>
          </a:xfrm>
          <a:prstGeom prst="ellipse">
            <a:avLst/>
          </a:prstGeom>
          <a:solidFill>
            <a:srgbClr val="093259"/>
          </a:solidFill>
          <a:ln/>
        </p:spPr>
      </p:sp>
      <p:sp>
        <p:nvSpPr>
          <p:cNvPr id="22" name="Text 19"/>
          <p:cNvSpPr/>
          <p:nvPr/>
        </p:nvSpPr>
        <p:spPr>
          <a:xfrm>
            <a:off x="822960" y="56692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3" name="Text 20"/>
          <p:cNvSpPr/>
          <p:nvPr/>
        </p:nvSpPr>
        <p:spPr>
          <a:xfrm>
            <a:off x="1243584" y="5504688"/>
            <a:ext cx="10070287" cy="658368"/>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入退室ログの「保全」と「開示」の違いは何か。警備員が受けられるのはどちらか。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What is the difference between preserving and disclosing an access log? Which may a guard accept?</a:t>
            </a:r>
            <a:endParaRPr lang="en-US" sz="1150" dirty="0"/>
          </a:p>
        </p:txBody>
      </p:sp>
      <p:sp>
        <p:nvSpPr>
          <p:cNvPr id="24" name="Text 2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5" name="Text 2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確認テスト　解答と解説　問1〜問5</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Assessment — Answers 1 to 5</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88720"/>
            <a:ext cx="10911535" cy="844906"/>
          </a:xfrm>
          <a:prstGeom prst="roundRect">
            <a:avLst>
              <a:gd name="adj" fmla="val 4329"/>
            </a:avLst>
          </a:prstGeom>
          <a:solidFill>
            <a:srgbClr val="E4F4F0"/>
          </a:solidFill>
          <a:ln/>
        </p:spPr>
      </p:sp>
      <p:sp>
        <p:nvSpPr>
          <p:cNvPr id="7" name="Shape 4"/>
          <p:cNvSpPr/>
          <p:nvPr/>
        </p:nvSpPr>
        <p:spPr>
          <a:xfrm>
            <a:off x="841248" y="1437437"/>
            <a:ext cx="347472" cy="347472"/>
          </a:xfrm>
          <a:prstGeom prst="ellipse">
            <a:avLst/>
          </a:prstGeom>
          <a:solidFill>
            <a:srgbClr val="12B198"/>
          </a:solidFill>
          <a:ln/>
        </p:spPr>
      </p:sp>
      <p:sp>
        <p:nvSpPr>
          <p:cNvPr id="8" name="Text 5"/>
          <p:cNvSpPr/>
          <p:nvPr/>
        </p:nvSpPr>
        <p:spPr>
          <a:xfrm>
            <a:off x="841248" y="1437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法的な立場と、警察にあって警備員にない権限</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私人。制服により権限は加わらない。／ 職務質問、保護、避難等の措置、制止、立入、武器の使用、逮捕状による逮捕のいずれか1つ。</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private citizen; the uniform adds nothing. Any one of: stop and question, protective custody, evacuation orders, stopping a crime, entry, weapons, arrest by warrant.</a:t>
            </a:r>
            <a:endParaRPr lang="en-US" sz="900" dirty="0"/>
          </a:p>
        </p:txBody>
      </p:sp>
      <p:sp>
        <p:nvSpPr>
          <p:cNvPr id="10" name="Shape 7"/>
          <p:cNvSpPr/>
          <p:nvPr/>
        </p:nvSpPr>
        <p:spPr>
          <a:xfrm>
            <a:off x="640080" y="2134210"/>
            <a:ext cx="10911535" cy="844906"/>
          </a:xfrm>
          <a:prstGeom prst="roundRect">
            <a:avLst>
              <a:gd name="adj" fmla="val 4329"/>
            </a:avLst>
          </a:prstGeom>
          <a:solidFill>
            <a:srgbClr val="EFF4F8"/>
          </a:solidFill>
          <a:ln/>
        </p:spPr>
      </p:sp>
      <p:sp>
        <p:nvSpPr>
          <p:cNvPr id="11" name="Shape 8"/>
          <p:cNvSpPr/>
          <p:nvPr/>
        </p:nvSpPr>
        <p:spPr>
          <a:xfrm>
            <a:off x="841248" y="2382926"/>
            <a:ext cx="347472" cy="347472"/>
          </a:xfrm>
          <a:prstGeom prst="ellipse">
            <a:avLst/>
          </a:prstGeom>
          <a:solidFill>
            <a:srgbClr val="12B198"/>
          </a:solidFill>
          <a:ln/>
        </p:spPr>
      </p:sp>
      <p:sp>
        <p:nvSpPr>
          <p:cNvPr id="12" name="Text 9"/>
          <p:cNvSpPr/>
          <p:nvPr/>
        </p:nvSpPr>
        <p:spPr>
          <a:xfrm>
            <a:off x="841248" y="238292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9821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De-escalation の目的</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有形力を使わずに緊張を下げ、その場を安全に終えること。勝つことではない。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To lower tension without force and end the situation safely. Not to win.</a:t>
            </a:r>
            <a:endParaRPr lang="en-US" sz="900" dirty="0"/>
          </a:p>
        </p:txBody>
      </p:sp>
      <p:sp>
        <p:nvSpPr>
          <p:cNvPr id="14" name="Shape 11"/>
          <p:cNvSpPr/>
          <p:nvPr/>
        </p:nvSpPr>
        <p:spPr>
          <a:xfrm>
            <a:off x="640080" y="3079699"/>
            <a:ext cx="10911535" cy="844906"/>
          </a:xfrm>
          <a:prstGeom prst="roundRect">
            <a:avLst>
              <a:gd name="adj" fmla="val 4329"/>
            </a:avLst>
          </a:prstGeom>
          <a:solidFill>
            <a:srgbClr val="EFF4F8"/>
          </a:solidFill>
          <a:ln/>
        </p:spPr>
      </p:sp>
      <p:sp>
        <p:nvSpPr>
          <p:cNvPr id="15" name="Shape 12"/>
          <p:cNvSpPr/>
          <p:nvPr/>
        </p:nvSpPr>
        <p:spPr>
          <a:xfrm>
            <a:off x="841248" y="3328416"/>
            <a:ext cx="347472" cy="347472"/>
          </a:xfrm>
          <a:prstGeom prst="ellipse">
            <a:avLst/>
          </a:prstGeom>
          <a:solidFill>
            <a:srgbClr val="12B198"/>
          </a:solidFill>
          <a:ln/>
        </p:spPr>
      </p:sp>
      <p:sp>
        <p:nvSpPr>
          <p:cNvPr id="16" name="Text 13"/>
          <p:cNvSpPr/>
          <p:nvPr/>
        </p:nvSpPr>
        <p:spPr>
          <a:xfrm>
            <a:off x="841248" y="332841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4370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引き下がれる形を残す理由</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逃げ道がないと、相手は引き下がれず対立を続けるほかなくなるため。</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Without a way out, the person has no option but to keep fighting.</a:t>
            </a:r>
            <a:endParaRPr lang="en-US" sz="900" dirty="0"/>
          </a:p>
        </p:txBody>
      </p:sp>
      <p:sp>
        <p:nvSpPr>
          <p:cNvPr id="18" name="Shape 15"/>
          <p:cNvSpPr/>
          <p:nvPr/>
        </p:nvSpPr>
        <p:spPr>
          <a:xfrm>
            <a:off x="640080" y="4025189"/>
            <a:ext cx="10911535" cy="844906"/>
          </a:xfrm>
          <a:prstGeom prst="roundRect">
            <a:avLst>
              <a:gd name="adj" fmla="val 4329"/>
            </a:avLst>
          </a:prstGeom>
          <a:solidFill>
            <a:srgbClr val="EFF4F8"/>
          </a:solidFill>
          <a:ln/>
        </p:spPr>
      </p:sp>
      <p:sp>
        <p:nvSpPr>
          <p:cNvPr id="19" name="Shape 16"/>
          <p:cNvSpPr/>
          <p:nvPr/>
        </p:nvSpPr>
        <p:spPr>
          <a:xfrm>
            <a:off x="841248" y="4273906"/>
            <a:ext cx="347472" cy="347472"/>
          </a:xfrm>
          <a:prstGeom prst="ellipse">
            <a:avLst/>
          </a:prstGeom>
          <a:solidFill>
            <a:srgbClr val="12B198"/>
          </a:solidFill>
          <a:ln/>
        </p:spPr>
      </p:sp>
      <p:sp>
        <p:nvSpPr>
          <p:cNvPr id="20" name="Text 17"/>
          <p:cNvSpPr/>
          <p:nvPr/>
        </p:nvSpPr>
        <p:spPr>
          <a:xfrm>
            <a:off x="841248" y="427390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8919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離脱すべき兆候（2つ）</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声が大きくなり続ける／同じ言葉を繰り返す／距離を詰めてくる／持ち物を握りしめる／視線を外さない。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Rising volume; repeating the same phrase; closing distance; gripping an object; a fixed stare.</a:t>
            </a:r>
            <a:endParaRPr lang="en-US" sz="900" dirty="0"/>
          </a:p>
        </p:txBody>
      </p:sp>
      <p:sp>
        <p:nvSpPr>
          <p:cNvPr id="22" name="Shape 19"/>
          <p:cNvSpPr/>
          <p:nvPr/>
        </p:nvSpPr>
        <p:spPr>
          <a:xfrm>
            <a:off x="640080" y="4970678"/>
            <a:ext cx="10911535" cy="844906"/>
          </a:xfrm>
          <a:prstGeom prst="roundRect">
            <a:avLst>
              <a:gd name="adj" fmla="val 4329"/>
            </a:avLst>
          </a:prstGeom>
          <a:solidFill>
            <a:srgbClr val="EFF4F8"/>
          </a:solidFill>
          <a:ln/>
        </p:spPr>
      </p:sp>
      <p:sp>
        <p:nvSpPr>
          <p:cNvPr id="23" name="Shape 20"/>
          <p:cNvSpPr/>
          <p:nvPr/>
        </p:nvSpPr>
        <p:spPr>
          <a:xfrm>
            <a:off x="841248" y="5219395"/>
            <a:ext cx="347472" cy="347472"/>
          </a:xfrm>
          <a:prstGeom prst="ellipse">
            <a:avLst/>
          </a:prstGeom>
          <a:solidFill>
            <a:srgbClr val="12B198"/>
          </a:solidFill>
          <a:ln/>
        </p:spPr>
      </p:sp>
      <p:sp>
        <p:nvSpPr>
          <p:cNvPr id="24" name="Text 21"/>
          <p:cNvSpPr/>
          <p:nvPr/>
        </p:nvSpPr>
        <p:spPr>
          <a:xfrm>
            <a:off x="841248" y="52193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2"/>
          <p:cNvSpPr/>
          <p:nvPr/>
        </p:nvSpPr>
        <p:spPr>
          <a:xfrm>
            <a:off x="1280160" y="5034686"/>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問5　退去要請の根拠</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管理権者の意思。警備員が自分の判断で命じるものではない。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site authority's intent. A guard does not order it on their own judgement.</a:t>
            </a:r>
            <a:endParaRPr lang="en-US" sz="90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表現が異なっても要点が含まれていれば正解とします。英語での回答も同じ基準で採点します。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Different wording is fine if the point is there. Answers in English are marked to the same standard.</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確認テスト　解答と解説　問6〜問10</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Assessment — Answers 6 to 10</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88720"/>
            <a:ext cx="10911535" cy="844906"/>
          </a:xfrm>
          <a:prstGeom prst="roundRect">
            <a:avLst>
              <a:gd name="adj" fmla="val 4329"/>
            </a:avLst>
          </a:prstGeom>
          <a:solidFill>
            <a:srgbClr val="E4F4F0"/>
          </a:solidFill>
          <a:ln/>
        </p:spPr>
      </p:sp>
      <p:sp>
        <p:nvSpPr>
          <p:cNvPr id="7" name="Shape 4"/>
          <p:cNvSpPr/>
          <p:nvPr/>
        </p:nvSpPr>
        <p:spPr>
          <a:xfrm>
            <a:off x="841248" y="1437437"/>
            <a:ext cx="347472" cy="347472"/>
          </a:xfrm>
          <a:prstGeom prst="ellipse">
            <a:avLst/>
          </a:prstGeom>
          <a:solidFill>
            <a:srgbClr val="12B198"/>
          </a:solidFill>
          <a:ln/>
        </p:spPr>
      </p:sp>
      <p:sp>
        <p:nvSpPr>
          <p:cNvPr id="8" name="Text 5"/>
          <p:cNvSpPr/>
          <p:nvPr/>
        </p:nvSpPr>
        <p:spPr>
          <a:xfrm>
            <a:off x="841248" y="1437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 name="Text 6"/>
          <p:cNvSpPr/>
          <p:nvPr/>
        </p:nvSpPr>
        <p:spPr>
          <a:xfrm>
            <a:off x="1280160" y="125272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問6　報告文の問題点と書き直し</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見ていないことを断定している（事実と評価の混同）。「20時15分、非常口が15cmほど開いていた。侵入の可能性があると思われる」。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It asserts what you did not see. Rewrite: "At 20:15 the exit stood about 15 cm open. In my judgement there may have been an intrusion."</a:t>
            </a:r>
            <a:endParaRPr lang="en-US" sz="900" dirty="0"/>
          </a:p>
        </p:txBody>
      </p:sp>
      <p:sp>
        <p:nvSpPr>
          <p:cNvPr id="10" name="Shape 7"/>
          <p:cNvSpPr/>
          <p:nvPr/>
        </p:nvSpPr>
        <p:spPr>
          <a:xfrm>
            <a:off x="640080" y="2134210"/>
            <a:ext cx="10911535" cy="844906"/>
          </a:xfrm>
          <a:prstGeom prst="roundRect">
            <a:avLst>
              <a:gd name="adj" fmla="val 4329"/>
            </a:avLst>
          </a:prstGeom>
          <a:solidFill>
            <a:srgbClr val="EFF4F8"/>
          </a:solidFill>
          <a:ln/>
        </p:spPr>
      </p:sp>
      <p:sp>
        <p:nvSpPr>
          <p:cNvPr id="11" name="Shape 8"/>
          <p:cNvSpPr/>
          <p:nvPr/>
        </p:nvSpPr>
        <p:spPr>
          <a:xfrm>
            <a:off x="841248" y="2382926"/>
            <a:ext cx="347472" cy="347472"/>
          </a:xfrm>
          <a:prstGeom prst="ellipse">
            <a:avLst/>
          </a:prstGeom>
          <a:solidFill>
            <a:srgbClr val="12B198"/>
          </a:solidFill>
          <a:ln/>
        </p:spPr>
      </p:sp>
      <p:sp>
        <p:nvSpPr>
          <p:cNvPr id="12" name="Text 9"/>
          <p:cNvSpPr/>
          <p:nvPr/>
        </p:nvSpPr>
        <p:spPr>
          <a:xfrm>
            <a:off x="841248" y="238292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3" name="Text 10"/>
          <p:cNvSpPr/>
          <p:nvPr/>
        </p:nvSpPr>
        <p:spPr>
          <a:xfrm>
            <a:off x="1280160" y="2198218"/>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問7　119番で最初に伝えること</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種別。「火事です」か「救急です」。場所より先に言う。</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type — fire, or ambulance. Before the location.</a:t>
            </a:r>
            <a:endParaRPr lang="en-US" sz="900" dirty="0"/>
          </a:p>
        </p:txBody>
      </p:sp>
      <p:sp>
        <p:nvSpPr>
          <p:cNvPr id="14" name="Shape 11"/>
          <p:cNvSpPr/>
          <p:nvPr/>
        </p:nvSpPr>
        <p:spPr>
          <a:xfrm>
            <a:off x="640080" y="3079699"/>
            <a:ext cx="10911535" cy="844906"/>
          </a:xfrm>
          <a:prstGeom prst="roundRect">
            <a:avLst>
              <a:gd name="adj" fmla="val 4329"/>
            </a:avLst>
          </a:prstGeom>
          <a:solidFill>
            <a:srgbClr val="EFF4F8"/>
          </a:solidFill>
          <a:ln/>
        </p:spPr>
      </p:sp>
      <p:sp>
        <p:nvSpPr>
          <p:cNvPr id="15" name="Shape 12"/>
          <p:cNvSpPr/>
          <p:nvPr/>
        </p:nvSpPr>
        <p:spPr>
          <a:xfrm>
            <a:off x="841248" y="3328416"/>
            <a:ext cx="347472" cy="347472"/>
          </a:xfrm>
          <a:prstGeom prst="ellipse">
            <a:avLst/>
          </a:prstGeom>
          <a:solidFill>
            <a:srgbClr val="12B198"/>
          </a:solidFill>
          <a:ln/>
        </p:spPr>
      </p:sp>
      <p:sp>
        <p:nvSpPr>
          <p:cNvPr id="16" name="Text 13"/>
          <p:cNvSpPr/>
          <p:nvPr/>
        </p:nvSpPr>
        <p:spPr>
          <a:xfrm>
            <a:off x="841248" y="332841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7" name="Text 14"/>
          <p:cNvSpPr/>
          <p:nvPr/>
        </p:nvSpPr>
        <p:spPr>
          <a:xfrm>
            <a:off x="1280160" y="314370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問8　現場を変えてよい理由</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人命（救助・救護）のため。それ以外では動かさない。動かした場合は何を・どこから・どこへ・誰が・何時にを記録。</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To save life. Otherwise change nothing; if you did, record what, from where, to where, by whom and when.</a:t>
            </a:r>
            <a:endParaRPr lang="en-US" sz="900" dirty="0"/>
          </a:p>
        </p:txBody>
      </p:sp>
      <p:sp>
        <p:nvSpPr>
          <p:cNvPr id="18" name="Shape 15"/>
          <p:cNvSpPr/>
          <p:nvPr/>
        </p:nvSpPr>
        <p:spPr>
          <a:xfrm>
            <a:off x="640080" y="4025189"/>
            <a:ext cx="10911535" cy="844906"/>
          </a:xfrm>
          <a:prstGeom prst="roundRect">
            <a:avLst>
              <a:gd name="adj" fmla="val 4329"/>
            </a:avLst>
          </a:prstGeom>
          <a:solidFill>
            <a:srgbClr val="E4F4F0"/>
          </a:solidFill>
          <a:ln/>
        </p:spPr>
      </p:sp>
      <p:sp>
        <p:nvSpPr>
          <p:cNvPr id="19" name="Shape 16"/>
          <p:cNvSpPr/>
          <p:nvPr/>
        </p:nvSpPr>
        <p:spPr>
          <a:xfrm>
            <a:off x="841248" y="4273906"/>
            <a:ext cx="347472" cy="347472"/>
          </a:xfrm>
          <a:prstGeom prst="ellipse">
            <a:avLst/>
          </a:prstGeom>
          <a:solidFill>
            <a:srgbClr val="12B198"/>
          </a:solidFill>
          <a:ln/>
        </p:spPr>
      </p:sp>
      <p:sp>
        <p:nvSpPr>
          <p:cNvPr id="20" name="Text 17"/>
          <p:cNvSpPr/>
          <p:nvPr/>
        </p:nvSpPr>
        <p:spPr>
          <a:xfrm>
            <a:off x="841248" y="427390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21" name="Text 18"/>
          <p:cNvSpPr/>
          <p:nvPr/>
        </p:nvSpPr>
        <p:spPr>
          <a:xfrm>
            <a:off x="1280160" y="4089197"/>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問9　受信機の発報時</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地区表示（どこが鳴っているか）。「火事です」とは言わない。発報は火災の確定ではない。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zone display. Do not say "fire" — an activation is not a confirmed fire.</a:t>
            </a:r>
            <a:endParaRPr lang="en-US" sz="900" dirty="0"/>
          </a:p>
        </p:txBody>
      </p:sp>
      <p:sp>
        <p:nvSpPr>
          <p:cNvPr id="22" name="Shape 19"/>
          <p:cNvSpPr/>
          <p:nvPr/>
        </p:nvSpPr>
        <p:spPr>
          <a:xfrm>
            <a:off x="640080" y="4970678"/>
            <a:ext cx="10911535" cy="844906"/>
          </a:xfrm>
          <a:prstGeom prst="roundRect">
            <a:avLst>
              <a:gd name="adj" fmla="val 4329"/>
            </a:avLst>
          </a:prstGeom>
          <a:solidFill>
            <a:srgbClr val="EFF4F8"/>
          </a:solidFill>
          <a:ln/>
        </p:spPr>
      </p:sp>
      <p:sp>
        <p:nvSpPr>
          <p:cNvPr id="23" name="Shape 20"/>
          <p:cNvSpPr/>
          <p:nvPr/>
        </p:nvSpPr>
        <p:spPr>
          <a:xfrm>
            <a:off x="841248" y="5219395"/>
            <a:ext cx="347472" cy="347472"/>
          </a:xfrm>
          <a:prstGeom prst="ellipse">
            <a:avLst/>
          </a:prstGeom>
          <a:solidFill>
            <a:srgbClr val="12B198"/>
          </a:solidFill>
          <a:ln/>
        </p:spPr>
      </p:sp>
      <p:sp>
        <p:nvSpPr>
          <p:cNvPr id="24" name="Text 21"/>
          <p:cNvSpPr/>
          <p:nvPr/>
        </p:nvSpPr>
        <p:spPr>
          <a:xfrm>
            <a:off x="841248" y="52193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5" name="Text 22"/>
          <p:cNvSpPr/>
          <p:nvPr/>
        </p:nvSpPr>
        <p:spPr>
          <a:xfrm>
            <a:off x="1280160" y="5034686"/>
            <a:ext cx="10033711" cy="71689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問10　保全と開示の違い</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保全＝上書きを防いで残す。開示＝内容を渡す。警備員が受けられるのは保全のみ。</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Preserving keeps it from being overwritten. Disclosing hands over the content. Only preservation is yours to accept.</a:t>
            </a:r>
            <a:endParaRPr lang="en-US" sz="90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問6と問9は重点問題です。落とした受講者には個別に確認してください。</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Questions 6 and 9 are the key items. Follow up individually with anyone who missed them.</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消防法、個人情報保護法、警察庁「警備員教育」</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何が起きるはずだったか。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was supposed to happen?</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実際には何が起きたか。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actually happened?</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なぜ差が生じたか。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Why was there a difference?</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次に何を変えるか。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will we do differently?</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最後に、各自が明日から変える行動を1つ、声に出して述べます。</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To close, each person states aloud one thing they will change from tomorrow.</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2026-08-10T15:41:31Z</dcterms:created>
  <dcterms:modified xsi:type="dcterms:W3CDTF">2026-08-10T15:41:31Z</dcterms:modified>
</cp:coreProperties>
</file>