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D52"/>
        </a:solidFill>
      </p:bgPr>
    </p:bg>
    <p:spTree>
      <p:nvGrpSpPr>
        <p:cNvPr id="1" name=""/>
        <p:cNvGrpSpPr/>
        <p:nvPr/>
      </p:nvGrpSpPr>
      <p:grpSpPr>
        <a:xfrm>
          <a:off x="0" y="0"/>
          <a:ext cx="0" cy="0"/>
          <a:chOff x="0" y="0"/>
          <a:chExt cx="0" cy="0"/>
        </a:xfrm>
      </p:grpSpPr>
      <p:sp>
        <p:nvSpPr>
          <p:cNvPr id="2" name="Shape 0"/>
          <p:cNvSpPr/>
          <p:nvPr/>
        </p:nvSpPr>
        <p:spPr>
          <a:xfrm>
            <a:off x="10637215" y="219456"/>
            <a:ext cx="1042416" cy="969264"/>
          </a:xfrm>
          <a:prstGeom prst="roundRect">
            <a:avLst>
              <a:gd name="adj" fmla="val 5660"/>
            </a:avLst>
          </a:prstGeom>
          <a:solidFill>
            <a:srgbClr val="FFFFFF"/>
          </a:solidFill>
          <a:ln/>
        </p:spPr>
      </p:sp>
      <p:sp>
        <p:nvSpPr>
          <p:cNvPr id="3" name="Text 1"/>
          <p:cNvSpPr/>
          <p:nvPr/>
        </p:nvSpPr>
        <p:spPr>
          <a:xfrm>
            <a:off x="640080" y="1417320"/>
            <a:ext cx="9692640" cy="640080"/>
          </a:xfrm>
          <a:prstGeom prst="rect">
            <a:avLst/>
          </a:prstGeom>
          <a:noFill/>
          <a:ln/>
        </p:spPr>
        <p:txBody>
          <a:bodyPr wrap="square" lIns="0" tIns="0" rIns="0" bIns="0" rtlCol="0" anchor="t"/>
          <a:lstStyle/>
          <a:p>
            <a:pPr indent="0" marL="0">
              <a:buNone/>
            </a:pPr>
            <a:r>
              <a:rPr lang="en-US" sz="1300" b="1" dirty="0">
                <a:solidFill>
                  <a:srgbClr val="17AF98"/>
                </a:solidFill>
                <a:latin typeface="Yu Gothic" pitchFamily="34" charset="0"/>
                <a:ea typeface="Yu Gothic" pitchFamily="34" charset="-122"/>
                <a:cs typeface="Yu Gothic" pitchFamily="34" charset="-120"/>
              </a:rPr>
              <a:t>第10時限　18:00 – 19:00　業務別教育6</a:t>
            </a:r>
            <a:endParaRPr lang="en-US" sz="1300" dirty="0"/>
          </a:p>
          <a:p>
            <a:pPr indent="0" marL="0">
              <a:buNone/>
            </a:pPr>
            <a:r>
              <a:rPr lang="en-US" sz="1050" i="1" dirty="0">
                <a:solidFill>
                  <a:srgbClr val="A9BCCE"/>
                </a:solidFill>
                <a:latin typeface="Calibri" pitchFamily="34" charset="0"/>
                <a:ea typeface="Calibri" pitchFamily="34" charset="-122"/>
                <a:cs typeface="Calibri" pitchFamily="34" charset="-120"/>
              </a:rPr>
              <a:t>Period 10 — Task-Specific Training 6</a:t>
            </a:r>
            <a:endParaRPr lang="en-US" sz="1300" dirty="0"/>
          </a:p>
        </p:txBody>
      </p:sp>
      <p:sp>
        <p:nvSpPr>
          <p:cNvPr id="4" name="Text 2"/>
          <p:cNvSpPr/>
          <p:nvPr/>
        </p:nvSpPr>
        <p:spPr>
          <a:xfrm>
            <a:off x="640080" y="2212848"/>
            <a:ext cx="9966960" cy="1481328"/>
          </a:xfrm>
          <a:prstGeom prst="rect">
            <a:avLst/>
          </a:prstGeom>
          <a:noFill/>
          <a:ln/>
        </p:spPr>
        <p:txBody>
          <a:bodyPr wrap="square" lIns="0" tIns="0" rIns="0" bIns="0" rtlCol="0" anchor="t"/>
          <a:lstStyle/>
          <a:p>
            <a:pPr indent="0" marL="0">
              <a:lnSpc>
                <a:spcPct val="98000"/>
              </a:lnSpc>
              <a:buNone/>
            </a:pPr>
            <a:r>
              <a:rPr lang="en-US" sz="3600" b="1" dirty="0">
                <a:solidFill>
                  <a:srgbClr val="FFFFFF"/>
                </a:solidFill>
                <a:latin typeface="Yu Gothic" pitchFamily="34" charset="0"/>
                <a:ea typeface="Yu Gothic" pitchFamily="34" charset="-122"/>
                <a:cs typeface="Yu Gothic" pitchFamily="34" charset="-120"/>
              </a:rPr>
              <a:t>警報装置その他の機器の使用方法</a:t>
            </a:r>
            <a:endParaRPr lang="en-US" sz="3600" dirty="0"/>
          </a:p>
          <a:p>
            <a:pPr indent="0" marL="0">
              <a:lnSpc>
                <a:spcPct val="98000"/>
              </a:lnSpc>
              <a:buNone/>
            </a:pPr>
            <a:r>
              <a:rPr lang="en-US" sz="3600" b="1" dirty="0">
                <a:solidFill>
                  <a:srgbClr val="FFFFFF"/>
                </a:solidFill>
                <a:latin typeface="Yu Gothic" pitchFamily="34" charset="0"/>
                <a:ea typeface="Yu Gothic" pitchFamily="34" charset="-122"/>
                <a:cs typeface="Yu Gothic" pitchFamily="34" charset="-120"/>
              </a:rPr>
              <a:t>― そして本日の総括</a:t>
            </a:r>
            <a:endParaRPr lang="en-US" sz="3600" dirty="0"/>
          </a:p>
        </p:txBody>
      </p:sp>
      <p:sp>
        <p:nvSpPr>
          <p:cNvPr id="5" name="Text 3"/>
          <p:cNvSpPr/>
          <p:nvPr/>
        </p:nvSpPr>
        <p:spPr>
          <a:xfrm>
            <a:off x="640080" y="3803904"/>
            <a:ext cx="9966960" cy="777240"/>
          </a:xfrm>
          <a:prstGeom prst="rect">
            <a:avLst/>
          </a:prstGeom>
          <a:noFill/>
          <a:ln/>
        </p:spPr>
        <p:txBody>
          <a:bodyPr wrap="square" lIns="0" tIns="0" rIns="0" bIns="0" rtlCol="0" anchor="t"/>
          <a:lstStyle/>
          <a:p>
            <a:pPr indent="0" marL="0">
              <a:buNone/>
            </a:pPr>
            <a:r>
              <a:rPr lang="en-US" sz="1600" i="1" dirty="0">
                <a:solidFill>
                  <a:srgbClr val="9FD8CD"/>
                </a:solidFill>
                <a:latin typeface="Calibri" pitchFamily="34" charset="0"/>
                <a:ea typeface="Calibri" pitchFamily="34" charset="-122"/>
                <a:cs typeface="Calibri" pitchFamily="34" charset="-120"/>
              </a:rPr>
              <a:t>Security Equipment and Systems — and Today's Wrap-Up</a:t>
            </a:r>
            <a:endParaRPr lang="en-US" sz="1600" dirty="0"/>
          </a:p>
        </p:txBody>
      </p:sp>
      <p:sp>
        <p:nvSpPr>
          <p:cNvPr id="6" name="Shape 4"/>
          <p:cNvSpPr/>
          <p:nvPr/>
        </p:nvSpPr>
        <p:spPr>
          <a:xfrm>
            <a:off x="640080" y="4828032"/>
            <a:ext cx="1371600" cy="32004"/>
          </a:xfrm>
          <a:prstGeom prst="rect">
            <a:avLst/>
          </a:prstGeom>
          <a:solidFill>
            <a:srgbClr val="17AF98"/>
          </a:solidFill>
          <a:ln/>
        </p:spPr>
      </p:sp>
      <p:sp>
        <p:nvSpPr>
          <p:cNvPr id="7" name="Text 5"/>
          <p:cNvSpPr/>
          <p:nvPr/>
        </p:nvSpPr>
        <p:spPr>
          <a:xfrm>
            <a:off x="640080" y="5120640"/>
            <a:ext cx="9966960" cy="822960"/>
          </a:xfrm>
          <a:prstGeom prst="rect">
            <a:avLst/>
          </a:prstGeom>
          <a:noFill/>
          <a:ln/>
        </p:spPr>
        <p:txBody>
          <a:bodyPr wrap="square" lIns="0" tIns="0" rIns="0" bIns="0" rtlCol="0" anchor="t"/>
          <a:lstStyle/>
          <a:p>
            <a:pPr indent="0" marL="0">
              <a:buNone/>
            </a:pPr>
            <a:r>
              <a:rPr lang="en-US" sz="1200" dirty="0">
                <a:solidFill>
                  <a:srgbClr val="C9D6E2"/>
                </a:solidFill>
                <a:latin typeface="Yu Gothic" pitchFamily="34" charset="0"/>
                <a:ea typeface="Yu Gothic" pitchFamily="34" charset="-122"/>
                <a:cs typeface="Yu Gothic" pitchFamily="34" charset="-120"/>
              </a:rPr>
              <a:t>2026年8月11日（火）　施設警備 現任教育　コーポレートセキュリティ</a:t>
            </a:r>
            <a:endParaRPr lang="en-US" sz="1200" dirty="0"/>
          </a:p>
          <a:p>
            <a:pPr indent="0" marL="0">
              <a:buNone/>
            </a:pPr>
            <a:r>
              <a:rPr lang="en-US" sz="1000" i="1" dirty="0">
                <a:solidFill>
                  <a:srgbClr val="8EA3B7"/>
                </a:solidFill>
                <a:latin typeface="Calibri" pitchFamily="34" charset="0"/>
                <a:ea typeface="Calibri" pitchFamily="34" charset="-122"/>
                <a:cs typeface="Calibri" pitchFamily="34" charset="-120"/>
              </a:rPr>
              <a:t>11 Aug 2026 — In-Service Training, Facility Security / Corporate Security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9805111" cy="960120"/>
          </a:xfrm>
          <a:prstGeom prst="rect">
            <a:avLst/>
          </a:prstGeom>
          <a:noFill/>
          <a:ln/>
        </p:spPr>
        <p:txBody>
          <a:bodyPr wrap="square" lIns="0" tIns="0" rIns="0" bIns="0" rtlCol="0" anchor="t"/>
          <a:lstStyle/>
          <a:p>
            <a:pPr indent="0" marL="0">
              <a:lnSpc>
                <a:spcPct val="94000"/>
              </a:lnSpc>
              <a:buNone/>
            </a:pPr>
            <a:r>
              <a:rPr lang="en-US" sz="2700" b="1" dirty="0">
                <a:solidFill>
                  <a:srgbClr val="0F2D52"/>
                </a:solidFill>
                <a:latin typeface="Yu Gothic" pitchFamily="34" charset="0"/>
                <a:ea typeface="Yu Gothic" pitchFamily="34" charset="-122"/>
                <a:cs typeface="Yu Gothic" pitchFamily="34" charset="-120"/>
              </a:rPr>
              <a:t>警報装置の全体像</a:t>
            </a:r>
            <a:endParaRPr lang="en-US" sz="2700" dirty="0"/>
          </a:p>
          <a:p>
            <a:pPr indent="0" marL="0">
              <a:lnSpc>
                <a:spcPct val="94000"/>
              </a:lnSpc>
              <a:buNone/>
            </a:pPr>
            <a:r>
              <a:rPr lang="en-US" sz="1250" i="1" dirty="0">
                <a:solidFill>
                  <a:srgbClr val="17AF98"/>
                </a:solidFill>
                <a:latin typeface="Calibri" pitchFamily="34" charset="0"/>
                <a:ea typeface="Calibri" pitchFamily="34" charset="-122"/>
                <a:cs typeface="Calibri" pitchFamily="34" charset="-120"/>
              </a:rPr>
              <a:t>The Equipment Landscape</a:t>
            </a:r>
            <a:endParaRPr lang="en-US" sz="2700" dirty="0"/>
          </a:p>
        </p:txBody>
      </p:sp>
      <p:sp>
        <p:nvSpPr>
          <p:cNvPr id="3" name="Text 1"/>
          <p:cNvSpPr/>
          <p:nvPr/>
        </p:nvSpPr>
        <p:spPr>
          <a:xfrm>
            <a:off x="640080" y="1499616"/>
            <a:ext cx="10911535" cy="512064"/>
          </a:xfrm>
          <a:prstGeom prst="rect">
            <a:avLst/>
          </a:prstGeom>
          <a:noFill/>
          <a:ln/>
        </p:spPr>
        <p:txBody>
          <a:bodyPr wrap="square" lIns="0" tIns="0" rIns="0" bIns="0" rtlCol="0" anchor="t"/>
          <a:lstStyle/>
          <a:p>
            <a:pPr algn="l" indent="0" marL="0">
              <a:lnSpc>
                <a:spcPct val="92000"/>
              </a:lnSpc>
              <a:buNone/>
            </a:pPr>
            <a:r>
              <a:rPr lang="en-US" sz="1300" dirty="0">
                <a:solidFill>
                  <a:srgbClr val="0F2D52"/>
                </a:solidFill>
                <a:latin typeface="Yu Gothic" pitchFamily="34" charset="0"/>
                <a:ea typeface="Yu Gothic" pitchFamily="34" charset="-122"/>
                <a:cs typeface="Yu Gothic" pitchFamily="34" charset="-120"/>
              </a:rPr>
              <a:t>機器は「知らせる」だけです。判断するのは、いつも人。</a:t>
            </a:r>
            <a:endParaRPr lang="en-US" sz="1300" dirty="0"/>
          </a:p>
          <a:p>
            <a:pPr algn="l" indent="0" marL="0">
              <a:lnSpc>
                <a:spcPct val="92000"/>
              </a:lnSpc>
              <a:buNone/>
            </a:pPr>
            <a:r>
              <a:rPr lang="en-US" sz="1000" i="1" dirty="0">
                <a:solidFill>
                  <a:srgbClr val="5F7183"/>
                </a:solidFill>
                <a:latin typeface="Calibri" pitchFamily="34" charset="0"/>
                <a:ea typeface="Calibri" pitchFamily="34" charset="-122"/>
                <a:cs typeface="Calibri" pitchFamily="34" charset="-120"/>
              </a:rPr>
              <a:t>Equipment only tells you. The judgement is always yours.</a:t>
            </a:r>
            <a:endParaRPr lang="en-US" sz="1300" dirty="0"/>
          </a:p>
        </p:txBody>
      </p:sp>
      <p:sp>
        <p:nvSpPr>
          <p:cNvPr id="4" name="Shape 2"/>
          <p:cNvSpPr/>
          <p:nvPr/>
        </p:nvSpPr>
        <p:spPr>
          <a:xfrm>
            <a:off x="640080" y="2670048"/>
            <a:ext cx="5318608" cy="932688"/>
          </a:xfrm>
          <a:prstGeom prst="roundRect">
            <a:avLst>
              <a:gd name="adj" fmla="val 3922"/>
            </a:avLst>
          </a:prstGeom>
          <a:solidFill>
            <a:srgbClr val="EFF4F8"/>
          </a:solidFill>
          <a:ln/>
        </p:spPr>
      </p:sp>
      <p:sp>
        <p:nvSpPr>
          <p:cNvPr id="5" name="Shape 3"/>
          <p:cNvSpPr/>
          <p:nvPr/>
        </p:nvSpPr>
        <p:spPr>
          <a:xfrm>
            <a:off x="822960" y="2971800"/>
            <a:ext cx="329184" cy="329184"/>
          </a:xfrm>
          <a:prstGeom prst="ellipse">
            <a:avLst/>
          </a:prstGeom>
          <a:solidFill>
            <a:srgbClr val="0F2D52"/>
          </a:solidFill>
          <a:ln/>
        </p:spPr>
      </p:sp>
      <p:sp>
        <p:nvSpPr>
          <p:cNvPr id="6" name="Text 4"/>
          <p:cNvSpPr/>
          <p:nvPr/>
        </p:nvSpPr>
        <p:spPr>
          <a:xfrm>
            <a:off x="822960" y="297180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1243584" y="2743200"/>
            <a:ext cx="4477360" cy="786384"/>
          </a:xfrm>
          <a:prstGeom prst="rect">
            <a:avLst/>
          </a:prstGeom>
          <a:noFill/>
          <a:ln/>
        </p:spPr>
        <p:txBody>
          <a:bodyPr wrap="square" lIns="0" tIns="0" rIns="0" bIns="0" rtlCol="0" anchor="ctr"/>
          <a:lstStyle/>
          <a:p>
            <a:pPr indent="0" marL="0">
              <a:lnSpc>
                <a:spcPct val="90000"/>
              </a:lnSpc>
              <a:buNone/>
            </a:pPr>
            <a:r>
              <a:rPr lang="en-US" sz="1150" b="1" dirty="0">
                <a:solidFill>
                  <a:srgbClr val="1B2733"/>
                </a:solidFill>
                <a:latin typeface="Yu Gothic" pitchFamily="34" charset="0"/>
                <a:ea typeface="Yu Gothic" pitchFamily="34" charset="-122"/>
                <a:cs typeface="Yu Gothic" pitchFamily="34" charset="-120"/>
              </a:rPr>
              <a:t>自動火災報知設備 ― 受信機・感知器・発信機</a:t>
            </a:r>
            <a:endParaRPr lang="en-US" sz="1150" dirty="0"/>
          </a:p>
          <a:p>
            <a:pPr indent="0" marL="0">
              <a:lnSpc>
                <a:spcPct val="90000"/>
              </a:lnSpc>
              <a:buNone/>
            </a:pPr>
            <a:r>
              <a:rPr lang="en-US" sz="900" i="1" dirty="0">
                <a:solidFill>
                  <a:srgbClr val="5F7183"/>
                </a:solidFill>
                <a:latin typeface="Calibri" pitchFamily="34" charset="0"/>
                <a:ea typeface="Calibri" pitchFamily="34" charset="-122"/>
                <a:cs typeface="Calibri" pitchFamily="34" charset="-120"/>
              </a:rPr>
              <a:t>Fire alarm system — panel, detectors, call points</a:t>
            </a:r>
            <a:endParaRPr lang="en-US" sz="1150" dirty="0"/>
          </a:p>
        </p:txBody>
      </p:sp>
      <p:sp>
        <p:nvSpPr>
          <p:cNvPr id="8" name="Shape 6"/>
          <p:cNvSpPr/>
          <p:nvPr/>
        </p:nvSpPr>
        <p:spPr>
          <a:xfrm>
            <a:off x="6233008" y="2670048"/>
            <a:ext cx="5318608" cy="932688"/>
          </a:xfrm>
          <a:prstGeom prst="roundRect">
            <a:avLst>
              <a:gd name="adj" fmla="val 3922"/>
            </a:avLst>
          </a:prstGeom>
          <a:solidFill>
            <a:srgbClr val="EFF4F8"/>
          </a:solidFill>
          <a:ln/>
        </p:spPr>
      </p:sp>
      <p:sp>
        <p:nvSpPr>
          <p:cNvPr id="9" name="Shape 7"/>
          <p:cNvSpPr/>
          <p:nvPr/>
        </p:nvSpPr>
        <p:spPr>
          <a:xfrm>
            <a:off x="6415888" y="2971800"/>
            <a:ext cx="329184" cy="329184"/>
          </a:xfrm>
          <a:prstGeom prst="ellipse">
            <a:avLst/>
          </a:prstGeom>
          <a:solidFill>
            <a:srgbClr val="0F2D52"/>
          </a:solidFill>
          <a:ln/>
        </p:spPr>
      </p:sp>
      <p:sp>
        <p:nvSpPr>
          <p:cNvPr id="10" name="Text 8"/>
          <p:cNvSpPr/>
          <p:nvPr/>
        </p:nvSpPr>
        <p:spPr>
          <a:xfrm>
            <a:off x="6415888" y="297180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p:nvPr/>
        </p:nvSpPr>
        <p:spPr>
          <a:xfrm>
            <a:off x="6836512" y="2743200"/>
            <a:ext cx="4477360" cy="786384"/>
          </a:xfrm>
          <a:prstGeom prst="rect">
            <a:avLst/>
          </a:prstGeom>
          <a:noFill/>
          <a:ln/>
        </p:spPr>
        <p:txBody>
          <a:bodyPr wrap="square" lIns="0" tIns="0" rIns="0" bIns="0" rtlCol="0" anchor="ctr"/>
          <a:lstStyle/>
          <a:p>
            <a:pPr indent="0" marL="0">
              <a:lnSpc>
                <a:spcPct val="90000"/>
              </a:lnSpc>
              <a:buNone/>
            </a:pPr>
            <a:r>
              <a:rPr lang="en-US" sz="1150" b="1" dirty="0">
                <a:solidFill>
                  <a:srgbClr val="1B2733"/>
                </a:solidFill>
                <a:latin typeface="Yu Gothic" pitchFamily="34" charset="0"/>
                <a:ea typeface="Yu Gothic" pitchFamily="34" charset="-122"/>
                <a:cs typeface="Yu Gothic" pitchFamily="34" charset="-120"/>
              </a:rPr>
              <a:t>侵入警報 ― 扉・窓・空間センサー</a:t>
            </a:r>
            <a:endParaRPr lang="en-US" sz="1150" dirty="0"/>
          </a:p>
          <a:p>
            <a:pPr indent="0" marL="0">
              <a:lnSpc>
                <a:spcPct val="90000"/>
              </a:lnSpc>
              <a:buNone/>
            </a:pPr>
            <a:r>
              <a:rPr lang="en-US" sz="900" i="1" dirty="0">
                <a:solidFill>
                  <a:srgbClr val="5F7183"/>
                </a:solidFill>
                <a:latin typeface="Calibri" pitchFamily="34" charset="0"/>
                <a:ea typeface="Calibri" pitchFamily="34" charset="-122"/>
                <a:cs typeface="Calibri" pitchFamily="34" charset="-120"/>
              </a:rPr>
              <a:t>Intrusion alarm — door, window and space sensors</a:t>
            </a:r>
            <a:endParaRPr lang="en-US" sz="1150" dirty="0"/>
          </a:p>
        </p:txBody>
      </p:sp>
      <p:sp>
        <p:nvSpPr>
          <p:cNvPr id="12" name="Shape 10"/>
          <p:cNvSpPr/>
          <p:nvPr/>
        </p:nvSpPr>
        <p:spPr>
          <a:xfrm>
            <a:off x="640080" y="3749040"/>
            <a:ext cx="5318608" cy="932688"/>
          </a:xfrm>
          <a:prstGeom prst="roundRect">
            <a:avLst>
              <a:gd name="adj" fmla="val 3922"/>
            </a:avLst>
          </a:prstGeom>
          <a:solidFill>
            <a:srgbClr val="EFF4F8"/>
          </a:solidFill>
          <a:ln/>
        </p:spPr>
      </p:sp>
      <p:sp>
        <p:nvSpPr>
          <p:cNvPr id="13" name="Shape 11"/>
          <p:cNvSpPr/>
          <p:nvPr/>
        </p:nvSpPr>
        <p:spPr>
          <a:xfrm>
            <a:off x="822960" y="4050792"/>
            <a:ext cx="329184" cy="329184"/>
          </a:xfrm>
          <a:prstGeom prst="ellipse">
            <a:avLst/>
          </a:prstGeom>
          <a:solidFill>
            <a:srgbClr val="0F2D52"/>
          </a:solidFill>
          <a:ln/>
        </p:spPr>
      </p:sp>
      <p:sp>
        <p:nvSpPr>
          <p:cNvPr id="14" name="Text 12"/>
          <p:cNvSpPr/>
          <p:nvPr/>
        </p:nvSpPr>
        <p:spPr>
          <a:xfrm>
            <a:off x="822960" y="40507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3"/>
          <p:cNvSpPr/>
          <p:nvPr/>
        </p:nvSpPr>
        <p:spPr>
          <a:xfrm>
            <a:off x="1243584" y="3822192"/>
            <a:ext cx="4477360" cy="786384"/>
          </a:xfrm>
          <a:prstGeom prst="rect">
            <a:avLst/>
          </a:prstGeom>
          <a:noFill/>
          <a:ln/>
        </p:spPr>
        <p:txBody>
          <a:bodyPr wrap="square" lIns="0" tIns="0" rIns="0" bIns="0" rtlCol="0" anchor="ctr"/>
          <a:lstStyle/>
          <a:p>
            <a:pPr indent="0" marL="0">
              <a:lnSpc>
                <a:spcPct val="90000"/>
              </a:lnSpc>
              <a:buNone/>
            </a:pPr>
            <a:r>
              <a:rPr lang="en-US" sz="1150" b="1" dirty="0">
                <a:solidFill>
                  <a:srgbClr val="1B2733"/>
                </a:solidFill>
                <a:latin typeface="Yu Gothic" pitchFamily="34" charset="0"/>
                <a:ea typeface="Yu Gothic" pitchFamily="34" charset="-122"/>
                <a:cs typeface="Yu Gothic" pitchFamily="34" charset="-120"/>
              </a:rPr>
              <a:t>入退室管理 ― カードリーダー・電気錠・ログ</a:t>
            </a:r>
            <a:endParaRPr lang="en-US" sz="1150" dirty="0"/>
          </a:p>
          <a:p>
            <a:pPr indent="0" marL="0">
              <a:lnSpc>
                <a:spcPct val="90000"/>
              </a:lnSpc>
              <a:buNone/>
            </a:pPr>
            <a:r>
              <a:rPr lang="en-US" sz="900" i="1" dirty="0">
                <a:solidFill>
                  <a:srgbClr val="5F7183"/>
                </a:solidFill>
                <a:latin typeface="Calibri" pitchFamily="34" charset="0"/>
                <a:ea typeface="Calibri" pitchFamily="34" charset="-122"/>
                <a:cs typeface="Calibri" pitchFamily="34" charset="-120"/>
              </a:rPr>
              <a:t>Access control — readers, electric locks, logs</a:t>
            </a:r>
            <a:endParaRPr lang="en-US" sz="1150" dirty="0"/>
          </a:p>
        </p:txBody>
      </p:sp>
      <p:sp>
        <p:nvSpPr>
          <p:cNvPr id="16" name="Shape 14"/>
          <p:cNvSpPr/>
          <p:nvPr/>
        </p:nvSpPr>
        <p:spPr>
          <a:xfrm>
            <a:off x="6233008" y="3749040"/>
            <a:ext cx="5318608" cy="932688"/>
          </a:xfrm>
          <a:prstGeom prst="roundRect">
            <a:avLst>
              <a:gd name="adj" fmla="val 3922"/>
            </a:avLst>
          </a:prstGeom>
          <a:solidFill>
            <a:srgbClr val="EFF4F8"/>
          </a:solidFill>
          <a:ln/>
        </p:spPr>
      </p:sp>
      <p:sp>
        <p:nvSpPr>
          <p:cNvPr id="17" name="Shape 15"/>
          <p:cNvSpPr/>
          <p:nvPr/>
        </p:nvSpPr>
        <p:spPr>
          <a:xfrm>
            <a:off x="6415888" y="4050792"/>
            <a:ext cx="329184" cy="329184"/>
          </a:xfrm>
          <a:prstGeom prst="ellipse">
            <a:avLst/>
          </a:prstGeom>
          <a:solidFill>
            <a:srgbClr val="0F2D52"/>
          </a:solidFill>
          <a:ln/>
        </p:spPr>
      </p:sp>
      <p:sp>
        <p:nvSpPr>
          <p:cNvPr id="18" name="Text 16"/>
          <p:cNvSpPr/>
          <p:nvPr/>
        </p:nvSpPr>
        <p:spPr>
          <a:xfrm>
            <a:off x="6415888" y="40507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9" name="Text 17"/>
          <p:cNvSpPr/>
          <p:nvPr/>
        </p:nvSpPr>
        <p:spPr>
          <a:xfrm>
            <a:off x="6836512" y="3822192"/>
            <a:ext cx="4477360" cy="786384"/>
          </a:xfrm>
          <a:prstGeom prst="rect">
            <a:avLst/>
          </a:prstGeom>
          <a:noFill/>
          <a:ln/>
        </p:spPr>
        <p:txBody>
          <a:bodyPr wrap="square" lIns="0" tIns="0" rIns="0" bIns="0" rtlCol="0" anchor="ctr"/>
          <a:lstStyle/>
          <a:p>
            <a:pPr indent="0" marL="0">
              <a:lnSpc>
                <a:spcPct val="90000"/>
              </a:lnSpc>
              <a:buNone/>
            </a:pPr>
            <a:r>
              <a:rPr lang="en-US" sz="1150" b="1" dirty="0">
                <a:solidFill>
                  <a:srgbClr val="1B2733"/>
                </a:solidFill>
                <a:latin typeface="Yu Gothic" pitchFamily="34" charset="0"/>
                <a:ea typeface="Yu Gothic" pitchFamily="34" charset="-122"/>
                <a:cs typeface="Yu Gothic" pitchFamily="34" charset="-120"/>
              </a:rPr>
              <a:t>防犯カメラ ― 監視・録画・検索</a:t>
            </a:r>
            <a:endParaRPr lang="en-US" sz="1150" dirty="0"/>
          </a:p>
          <a:p>
            <a:pPr indent="0" marL="0">
              <a:lnSpc>
                <a:spcPct val="90000"/>
              </a:lnSpc>
              <a:buNone/>
            </a:pPr>
            <a:r>
              <a:rPr lang="en-US" sz="900" i="1" dirty="0">
                <a:solidFill>
                  <a:srgbClr val="5F7183"/>
                </a:solidFill>
                <a:latin typeface="Calibri" pitchFamily="34" charset="0"/>
                <a:ea typeface="Calibri" pitchFamily="34" charset="-122"/>
                <a:cs typeface="Calibri" pitchFamily="34" charset="-120"/>
              </a:rPr>
              <a:t>CCTV — monitoring, recording, retrieval</a:t>
            </a:r>
            <a:endParaRPr lang="en-US" sz="1150" dirty="0"/>
          </a:p>
        </p:txBody>
      </p:sp>
      <p:sp>
        <p:nvSpPr>
          <p:cNvPr id="20" name="Shape 18"/>
          <p:cNvSpPr/>
          <p:nvPr/>
        </p:nvSpPr>
        <p:spPr>
          <a:xfrm>
            <a:off x="640080" y="4828032"/>
            <a:ext cx="5318608" cy="932688"/>
          </a:xfrm>
          <a:prstGeom prst="roundRect">
            <a:avLst>
              <a:gd name="adj" fmla="val 3922"/>
            </a:avLst>
          </a:prstGeom>
          <a:solidFill>
            <a:srgbClr val="EFF4F8"/>
          </a:solidFill>
          <a:ln/>
        </p:spPr>
      </p:sp>
      <p:sp>
        <p:nvSpPr>
          <p:cNvPr id="21" name="Shape 19"/>
          <p:cNvSpPr/>
          <p:nvPr/>
        </p:nvSpPr>
        <p:spPr>
          <a:xfrm>
            <a:off x="822960" y="5129784"/>
            <a:ext cx="329184" cy="329184"/>
          </a:xfrm>
          <a:prstGeom prst="ellipse">
            <a:avLst/>
          </a:prstGeom>
          <a:solidFill>
            <a:srgbClr val="0F2D52"/>
          </a:solidFill>
          <a:ln/>
        </p:spPr>
      </p:sp>
      <p:sp>
        <p:nvSpPr>
          <p:cNvPr id="22" name="Text 20"/>
          <p:cNvSpPr/>
          <p:nvPr/>
        </p:nvSpPr>
        <p:spPr>
          <a:xfrm>
            <a:off x="822960" y="512978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3" name="Text 21"/>
          <p:cNvSpPr/>
          <p:nvPr/>
        </p:nvSpPr>
        <p:spPr>
          <a:xfrm>
            <a:off x="1243584" y="4901184"/>
            <a:ext cx="4477360" cy="786384"/>
          </a:xfrm>
          <a:prstGeom prst="rect">
            <a:avLst/>
          </a:prstGeom>
          <a:noFill/>
          <a:ln/>
        </p:spPr>
        <p:txBody>
          <a:bodyPr wrap="square" lIns="0" tIns="0" rIns="0" bIns="0" rtlCol="0" anchor="ctr"/>
          <a:lstStyle/>
          <a:p>
            <a:pPr indent="0" marL="0">
              <a:lnSpc>
                <a:spcPct val="90000"/>
              </a:lnSpc>
              <a:buNone/>
            </a:pPr>
            <a:r>
              <a:rPr lang="en-US" sz="1150" b="1" dirty="0">
                <a:solidFill>
                  <a:srgbClr val="1B2733"/>
                </a:solidFill>
                <a:latin typeface="Yu Gothic" pitchFamily="34" charset="0"/>
                <a:ea typeface="Yu Gothic" pitchFamily="34" charset="-122"/>
                <a:cs typeface="Yu Gothic" pitchFamily="34" charset="-120"/>
              </a:rPr>
              <a:t>非常通報・無線 ― 非常電話・携帯無線機</a:t>
            </a:r>
            <a:endParaRPr lang="en-US" sz="1150" dirty="0"/>
          </a:p>
          <a:p>
            <a:pPr indent="0" marL="0">
              <a:lnSpc>
                <a:spcPct val="90000"/>
              </a:lnSpc>
              <a:buNone/>
            </a:pPr>
            <a:r>
              <a:rPr lang="en-US" sz="900" i="1" dirty="0">
                <a:solidFill>
                  <a:srgbClr val="5F7183"/>
                </a:solidFill>
                <a:latin typeface="Calibri" pitchFamily="34" charset="0"/>
                <a:ea typeface="Calibri" pitchFamily="34" charset="-122"/>
                <a:cs typeface="Calibri" pitchFamily="34" charset="-120"/>
              </a:rPr>
              <a:t>Emergency call and radio — emergency phones, handhelds</a:t>
            </a:r>
            <a:endParaRPr lang="en-US" sz="1150" dirty="0"/>
          </a:p>
        </p:txBody>
      </p:sp>
      <p:sp>
        <p:nvSpPr>
          <p:cNvPr id="24" name="Shape 22"/>
          <p:cNvSpPr/>
          <p:nvPr/>
        </p:nvSpPr>
        <p:spPr>
          <a:xfrm>
            <a:off x="6233008" y="4828032"/>
            <a:ext cx="5318608" cy="932688"/>
          </a:xfrm>
          <a:prstGeom prst="roundRect">
            <a:avLst>
              <a:gd name="adj" fmla="val 3922"/>
            </a:avLst>
          </a:prstGeom>
          <a:solidFill>
            <a:srgbClr val="EFF4F8"/>
          </a:solidFill>
          <a:ln/>
        </p:spPr>
      </p:sp>
      <p:sp>
        <p:nvSpPr>
          <p:cNvPr id="25" name="Shape 23"/>
          <p:cNvSpPr/>
          <p:nvPr/>
        </p:nvSpPr>
        <p:spPr>
          <a:xfrm>
            <a:off x="6415888" y="5129784"/>
            <a:ext cx="329184" cy="329184"/>
          </a:xfrm>
          <a:prstGeom prst="ellipse">
            <a:avLst/>
          </a:prstGeom>
          <a:solidFill>
            <a:srgbClr val="0F2D52"/>
          </a:solidFill>
          <a:ln/>
        </p:spPr>
      </p:sp>
      <p:sp>
        <p:nvSpPr>
          <p:cNvPr id="26" name="Text 24"/>
          <p:cNvSpPr/>
          <p:nvPr/>
        </p:nvSpPr>
        <p:spPr>
          <a:xfrm>
            <a:off x="6415888" y="512978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7" name="Text 25"/>
          <p:cNvSpPr/>
          <p:nvPr/>
        </p:nvSpPr>
        <p:spPr>
          <a:xfrm>
            <a:off x="6836512" y="4901184"/>
            <a:ext cx="4477360" cy="786384"/>
          </a:xfrm>
          <a:prstGeom prst="rect">
            <a:avLst/>
          </a:prstGeom>
          <a:noFill/>
          <a:ln/>
        </p:spPr>
        <p:txBody>
          <a:bodyPr wrap="square" lIns="0" tIns="0" rIns="0" bIns="0" rtlCol="0" anchor="ctr"/>
          <a:lstStyle/>
          <a:p>
            <a:pPr indent="0" marL="0">
              <a:lnSpc>
                <a:spcPct val="90000"/>
              </a:lnSpc>
              <a:buNone/>
            </a:pPr>
            <a:r>
              <a:rPr lang="en-US" sz="1150" b="1" dirty="0">
                <a:solidFill>
                  <a:srgbClr val="1B2733"/>
                </a:solidFill>
                <a:latin typeface="Yu Gothic" pitchFamily="34" charset="0"/>
                <a:ea typeface="Yu Gothic" pitchFamily="34" charset="-122"/>
                <a:cs typeface="Yu Gothic" pitchFamily="34" charset="-120"/>
              </a:rPr>
              <a:t>消火・防排煙 ― 消火器・屋内消火栓・防火戸</a:t>
            </a:r>
            <a:endParaRPr lang="en-US" sz="1150" dirty="0"/>
          </a:p>
          <a:p>
            <a:pPr indent="0" marL="0">
              <a:lnSpc>
                <a:spcPct val="90000"/>
              </a:lnSpc>
              <a:buNone/>
            </a:pPr>
            <a:r>
              <a:rPr lang="en-US" sz="900" i="1" dirty="0">
                <a:solidFill>
                  <a:srgbClr val="5F7183"/>
                </a:solidFill>
                <a:latin typeface="Calibri" pitchFamily="34" charset="0"/>
                <a:ea typeface="Calibri" pitchFamily="34" charset="-122"/>
                <a:cs typeface="Calibri" pitchFamily="34" charset="-120"/>
              </a:rPr>
              <a:t>Fire response — extinguishers, hydrants, fire doors</a:t>
            </a:r>
            <a:endParaRPr lang="en-US" sz="1150" dirty="0"/>
          </a:p>
        </p:txBody>
      </p:sp>
      <p:sp>
        <p:nvSpPr>
          <p:cNvPr id="28" name="Text 26"/>
          <p:cNvSpPr/>
          <p:nvPr/>
        </p:nvSpPr>
        <p:spPr>
          <a:xfrm>
            <a:off x="640080" y="6382512"/>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第10時限｜業務別教育6 警報装置その他当該警備業務を実施するために使用する機器の使用方法  </a:t>
            </a:r>
            <a:pPr indent="0" marL="0">
              <a:buNone/>
            </a:pPr>
            <a:r>
              <a:rPr lang="en-US" sz="850" i="1" dirty="0">
                <a:solidFill>
                  <a:srgbClr val="D6E0E9"/>
                </a:solidFill>
                <a:latin typeface="Calibri" pitchFamily="34" charset="0"/>
                <a:ea typeface="Calibri" pitchFamily="34" charset="-122"/>
                <a:cs typeface="Calibri" pitchFamily="34" charset="-120"/>
              </a:rPr>
              <a:t>Period 10 | Task-Specific Training 6 — Security Equipment</a:t>
            </a:r>
            <a:endParaRPr lang="en-US" sz="900" dirty="0"/>
          </a:p>
        </p:txBody>
      </p:sp>
      <p:sp>
        <p:nvSpPr>
          <p:cNvPr id="29" name="Text 27"/>
          <p:cNvSpPr/>
          <p:nvPr/>
        </p:nvSpPr>
        <p:spPr>
          <a:xfrm>
            <a:off x="10637215" y="6382512"/>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9805111" cy="960120"/>
          </a:xfrm>
          <a:prstGeom prst="rect">
            <a:avLst/>
          </a:prstGeom>
          <a:noFill/>
          <a:ln/>
        </p:spPr>
        <p:txBody>
          <a:bodyPr wrap="square" lIns="0" tIns="0" rIns="0" bIns="0" rtlCol="0" anchor="t"/>
          <a:lstStyle/>
          <a:p>
            <a:pPr indent="0" marL="0">
              <a:lnSpc>
                <a:spcPct val="94000"/>
              </a:lnSpc>
              <a:buNone/>
            </a:pPr>
            <a:r>
              <a:rPr lang="en-US" sz="2700" b="1" dirty="0">
                <a:solidFill>
                  <a:srgbClr val="0F2D52"/>
                </a:solidFill>
                <a:latin typeface="Yu Gothic" pitchFamily="34" charset="0"/>
                <a:ea typeface="Yu Gothic" pitchFamily="34" charset="-122"/>
                <a:cs typeface="Yu Gothic" pitchFamily="34" charset="-120"/>
              </a:rPr>
              <a:t>受信機 ― まず見るのは「どこが鳴っているか」</a:t>
            </a:r>
            <a:endParaRPr lang="en-US" sz="2700" dirty="0"/>
          </a:p>
          <a:p>
            <a:pPr indent="0" marL="0">
              <a:lnSpc>
                <a:spcPct val="94000"/>
              </a:lnSpc>
              <a:buNone/>
            </a:pPr>
            <a:r>
              <a:rPr lang="en-US" sz="1250" i="1" dirty="0">
                <a:solidFill>
                  <a:srgbClr val="17AF98"/>
                </a:solidFill>
                <a:latin typeface="Calibri" pitchFamily="34" charset="0"/>
                <a:ea typeface="Calibri" pitchFamily="34" charset="-122"/>
                <a:cs typeface="Calibri" pitchFamily="34" charset="-120"/>
              </a:rPr>
              <a:t>The Fire Panel — first look at where, not at the noise</a:t>
            </a:r>
            <a:endParaRPr lang="en-US" sz="2700" dirty="0"/>
          </a:p>
        </p:txBody>
      </p:sp>
      <p:sp>
        <p:nvSpPr>
          <p:cNvPr id="3" name="Text 1"/>
          <p:cNvSpPr/>
          <p:nvPr/>
        </p:nvSpPr>
        <p:spPr>
          <a:xfrm>
            <a:off x="640080" y="1536192"/>
            <a:ext cx="10911535" cy="566928"/>
          </a:xfrm>
          <a:prstGeom prst="rect">
            <a:avLst/>
          </a:prstGeom>
          <a:noFill/>
          <a:ln/>
        </p:spPr>
        <p:txBody>
          <a:bodyPr wrap="square" lIns="0" tIns="0" rIns="0" bIns="0" rtlCol="0" anchor="t"/>
          <a:lstStyle/>
          <a:p>
            <a:pPr algn="l" indent="0" marL="0">
              <a:lnSpc>
                <a:spcPct val="92000"/>
              </a:lnSpc>
              <a:buNone/>
            </a:pPr>
            <a:r>
              <a:rPr lang="en-US" sz="1300" dirty="0">
                <a:solidFill>
                  <a:srgbClr val="0F2D52"/>
                </a:solidFill>
                <a:latin typeface="Yu Gothic" pitchFamily="34" charset="0"/>
                <a:ea typeface="Yu Gothic" pitchFamily="34" charset="-122"/>
                <a:cs typeface="Yu Gothic" pitchFamily="34" charset="-120"/>
              </a:rPr>
              <a:t>音を止めることは目的ではありません。地区表示を読むことが最初の仕事です。</a:t>
            </a:r>
            <a:endParaRPr lang="en-US" sz="1300" dirty="0"/>
          </a:p>
          <a:p>
            <a:pPr algn="l" indent="0" marL="0">
              <a:lnSpc>
                <a:spcPct val="92000"/>
              </a:lnSpc>
              <a:buNone/>
            </a:pPr>
            <a:r>
              <a:rPr lang="en-US" sz="1000" i="1" dirty="0">
                <a:solidFill>
                  <a:srgbClr val="5F7183"/>
                </a:solidFill>
                <a:latin typeface="Calibri" pitchFamily="34" charset="0"/>
                <a:ea typeface="Calibri" pitchFamily="34" charset="-122"/>
                <a:cs typeface="Calibri" pitchFamily="34" charset="-120"/>
              </a:rPr>
              <a:t>Silencing the panel is not the goal. Reading the zone display is the first job.</a:t>
            </a:r>
            <a:endParaRPr lang="en-US" sz="1300" dirty="0"/>
          </a:p>
        </p:txBody>
      </p:sp>
      <p:sp>
        <p:nvSpPr>
          <p:cNvPr id="4" name="Shape 2"/>
          <p:cNvSpPr/>
          <p:nvPr/>
        </p:nvSpPr>
        <p:spPr>
          <a:xfrm>
            <a:off x="640080" y="2286000"/>
            <a:ext cx="10911535" cy="850392"/>
          </a:xfrm>
          <a:prstGeom prst="roundRect">
            <a:avLst>
              <a:gd name="adj" fmla="val 5376"/>
            </a:avLst>
          </a:prstGeom>
          <a:solidFill>
            <a:srgbClr val="EFF4F8"/>
          </a:solidFill>
          <a:ln/>
        </p:spPr>
      </p:sp>
      <p:sp>
        <p:nvSpPr>
          <p:cNvPr id="5" name="Shape 3"/>
          <p:cNvSpPr/>
          <p:nvPr/>
        </p:nvSpPr>
        <p:spPr>
          <a:xfrm>
            <a:off x="896112" y="2519172"/>
            <a:ext cx="384048" cy="384048"/>
          </a:xfrm>
          <a:prstGeom prst="ellipse">
            <a:avLst/>
          </a:prstGeom>
          <a:solidFill>
            <a:srgbClr val="17AF98"/>
          </a:solidFill>
          <a:ln/>
        </p:spPr>
      </p:sp>
      <p:sp>
        <p:nvSpPr>
          <p:cNvPr id="6" name="Text 4"/>
          <p:cNvSpPr/>
          <p:nvPr/>
        </p:nvSpPr>
        <p:spPr>
          <a:xfrm>
            <a:off x="896112" y="25191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99616" y="2395728"/>
            <a:ext cx="9777679" cy="667512"/>
          </a:xfrm>
          <a:prstGeom prst="rect">
            <a:avLst/>
          </a:prstGeom>
          <a:noFill/>
          <a:ln/>
        </p:spPr>
        <p:txBody>
          <a:bodyPr wrap="square" lIns="0" tIns="0" rIns="0" bIns="0" rtlCol="0" anchor="ctr"/>
          <a:lstStyle/>
          <a:p>
            <a:pPr indent="0" marL="0">
              <a:lnSpc>
                <a:spcPct val="92000"/>
              </a:lnSpc>
              <a:buNone/>
            </a:pPr>
            <a:r>
              <a:rPr lang="en-US" sz="1450" b="1" dirty="0">
                <a:solidFill>
                  <a:srgbClr val="1B2733"/>
                </a:solidFill>
                <a:latin typeface="Yu Gothic" pitchFamily="34" charset="0"/>
                <a:ea typeface="Yu Gothic" pitchFamily="34" charset="-122"/>
                <a:cs typeface="Yu Gothic" pitchFamily="34" charset="-120"/>
              </a:rPr>
              <a:t>地区表示を読む ― 何階、どの区画か。</a:t>
            </a:r>
            <a:endParaRPr lang="en-US" sz="1450" dirty="0"/>
          </a:p>
          <a:p>
            <a:pPr indent="0" marL="0">
              <a:lnSpc>
                <a:spcPct val="92000"/>
              </a:lnSpc>
              <a:buNone/>
            </a:pPr>
            <a:r>
              <a:rPr lang="en-US" sz="1050" i="1" dirty="0">
                <a:solidFill>
                  <a:srgbClr val="5F7183"/>
                </a:solidFill>
                <a:latin typeface="Calibri" pitchFamily="34" charset="0"/>
                <a:ea typeface="Calibri" pitchFamily="34" charset="-122"/>
                <a:cs typeface="Calibri" pitchFamily="34" charset="-120"/>
              </a:rPr>
              <a:t>Read the zone display — which floor, which zone.</a:t>
            </a:r>
            <a:endParaRPr lang="en-US" sz="1450" dirty="0"/>
          </a:p>
        </p:txBody>
      </p:sp>
      <p:sp>
        <p:nvSpPr>
          <p:cNvPr id="8" name="Shape 6"/>
          <p:cNvSpPr/>
          <p:nvPr/>
        </p:nvSpPr>
        <p:spPr>
          <a:xfrm>
            <a:off x="640080" y="3319272"/>
            <a:ext cx="10911535" cy="850392"/>
          </a:xfrm>
          <a:prstGeom prst="roundRect">
            <a:avLst>
              <a:gd name="adj" fmla="val 5376"/>
            </a:avLst>
          </a:prstGeom>
          <a:solidFill>
            <a:srgbClr val="F7FAFC"/>
          </a:solidFill>
          <a:ln/>
        </p:spPr>
      </p:sp>
      <p:sp>
        <p:nvSpPr>
          <p:cNvPr id="9" name="Shape 7"/>
          <p:cNvSpPr/>
          <p:nvPr/>
        </p:nvSpPr>
        <p:spPr>
          <a:xfrm>
            <a:off x="896112" y="3552444"/>
            <a:ext cx="384048" cy="384048"/>
          </a:xfrm>
          <a:prstGeom prst="ellipse">
            <a:avLst/>
          </a:prstGeom>
          <a:solidFill>
            <a:srgbClr val="17AF98"/>
          </a:solidFill>
          <a:ln/>
        </p:spPr>
      </p:sp>
      <p:sp>
        <p:nvSpPr>
          <p:cNvPr id="10" name="Text 8"/>
          <p:cNvSpPr/>
          <p:nvPr/>
        </p:nvSpPr>
        <p:spPr>
          <a:xfrm>
            <a:off x="896112" y="35524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499616" y="3429000"/>
            <a:ext cx="9777679" cy="667512"/>
          </a:xfrm>
          <a:prstGeom prst="rect">
            <a:avLst/>
          </a:prstGeom>
          <a:noFill/>
          <a:ln/>
        </p:spPr>
        <p:txBody>
          <a:bodyPr wrap="square" lIns="0" tIns="0" rIns="0" bIns="0" rtlCol="0" anchor="ctr"/>
          <a:lstStyle/>
          <a:p>
            <a:pPr indent="0" marL="0">
              <a:lnSpc>
                <a:spcPct val="92000"/>
              </a:lnSpc>
              <a:buNone/>
            </a:pPr>
            <a:r>
              <a:rPr lang="en-US" sz="1450" b="1" dirty="0">
                <a:solidFill>
                  <a:srgbClr val="1B2733"/>
                </a:solidFill>
                <a:latin typeface="Yu Gothic" pitchFamily="34" charset="0"/>
                <a:ea typeface="Yu Gothic" pitchFamily="34" charset="-122"/>
                <a:cs typeface="Yu Gothic" pitchFamily="34" charset="-120"/>
              </a:rPr>
              <a:t>現場を確認する ― 目視するまで断定しない。</a:t>
            </a:r>
            <a:endParaRPr lang="en-US" sz="1450" dirty="0"/>
          </a:p>
          <a:p>
            <a:pPr indent="0" marL="0">
              <a:lnSpc>
                <a:spcPct val="92000"/>
              </a:lnSpc>
              <a:buNone/>
            </a:pPr>
            <a:r>
              <a:rPr lang="en-US" sz="1050" i="1" dirty="0">
                <a:solidFill>
                  <a:srgbClr val="5F7183"/>
                </a:solidFill>
                <a:latin typeface="Calibri" pitchFamily="34" charset="0"/>
                <a:ea typeface="Calibri" pitchFamily="34" charset="-122"/>
                <a:cs typeface="Calibri" pitchFamily="34" charset="-120"/>
              </a:rPr>
              <a:t>Verify on site — never conclude before you have seen it.</a:t>
            </a:r>
            <a:endParaRPr lang="en-US" sz="1450" dirty="0"/>
          </a:p>
        </p:txBody>
      </p:sp>
      <p:sp>
        <p:nvSpPr>
          <p:cNvPr id="12" name="Shape 10"/>
          <p:cNvSpPr/>
          <p:nvPr/>
        </p:nvSpPr>
        <p:spPr>
          <a:xfrm>
            <a:off x="640080" y="4352544"/>
            <a:ext cx="10911535" cy="850392"/>
          </a:xfrm>
          <a:prstGeom prst="roundRect">
            <a:avLst>
              <a:gd name="adj" fmla="val 5376"/>
            </a:avLst>
          </a:prstGeom>
          <a:solidFill>
            <a:srgbClr val="EFF4F8"/>
          </a:solidFill>
          <a:ln/>
        </p:spPr>
      </p:sp>
      <p:sp>
        <p:nvSpPr>
          <p:cNvPr id="13" name="Shape 11"/>
          <p:cNvSpPr/>
          <p:nvPr/>
        </p:nvSpPr>
        <p:spPr>
          <a:xfrm>
            <a:off x="896112" y="4585716"/>
            <a:ext cx="384048" cy="384048"/>
          </a:xfrm>
          <a:prstGeom prst="ellipse">
            <a:avLst/>
          </a:prstGeom>
          <a:solidFill>
            <a:srgbClr val="17AF98"/>
          </a:solidFill>
          <a:ln/>
        </p:spPr>
      </p:sp>
      <p:sp>
        <p:nvSpPr>
          <p:cNvPr id="14" name="Text 12"/>
          <p:cNvSpPr/>
          <p:nvPr/>
        </p:nvSpPr>
        <p:spPr>
          <a:xfrm>
            <a:off x="896112" y="45857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499616" y="4462272"/>
            <a:ext cx="9777679" cy="667512"/>
          </a:xfrm>
          <a:prstGeom prst="rect">
            <a:avLst/>
          </a:prstGeom>
          <a:noFill/>
          <a:ln/>
        </p:spPr>
        <p:txBody>
          <a:bodyPr wrap="square" lIns="0" tIns="0" rIns="0" bIns="0" rtlCol="0" anchor="ctr"/>
          <a:lstStyle/>
          <a:p>
            <a:pPr indent="0" marL="0">
              <a:lnSpc>
                <a:spcPct val="92000"/>
              </a:lnSpc>
              <a:buNone/>
            </a:pPr>
            <a:r>
              <a:rPr lang="en-US" sz="1450" b="1" dirty="0">
                <a:solidFill>
                  <a:srgbClr val="1B2733"/>
                </a:solidFill>
                <a:latin typeface="Yu Gothic" pitchFamily="34" charset="0"/>
                <a:ea typeface="Yu Gothic" pitchFamily="34" charset="-122"/>
                <a:cs typeface="Yu Gothic" pitchFamily="34" charset="-120"/>
              </a:rPr>
              <a:t>連動状況を確認する ― 何が既に作動したか。</a:t>
            </a:r>
            <a:endParaRPr lang="en-US" sz="1450" dirty="0"/>
          </a:p>
          <a:p>
            <a:pPr indent="0" marL="0">
              <a:lnSpc>
                <a:spcPct val="92000"/>
              </a:lnSpc>
              <a:buNone/>
            </a:pPr>
            <a:r>
              <a:rPr lang="en-US" sz="1050" i="1" dirty="0">
                <a:solidFill>
                  <a:srgbClr val="5F7183"/>
                </a:solidFill>
                <a:latin typeface="Calibri" pitchFamily="34" charset="0"/>
                <a:ea typeface="Calibri" pitchFamily="34" charset="-122"/>
                <a:cs typeface="Calibri" pitchFamily="34" charset="-120"/>
              </a:rPr>
              <a:t>Check what has already actuated — which linked systems have operated.</a:t>
            </a:r>
            <a:endParaRPr lang="en-US" sz="1450" dirty="0"/>
          </a:p>
        </p:txBody>
      </p:sp>
      <p:sp>
        <p:nvSpPr>
          <p:cNvPr id="16" name="Shape 14"/>
          <p:cNvSpPr/>
          <p:nvPr/>
        </p:nvSpPr>
        <p:spPr>
          <a:xfrm>
            <a:off x="640080" y="5385816"/>
            <a:ext cx="10911535" cy="850392"/>
          </a:xfrm>
          <a:prstGeom prst="roundRect">
            <a:avLst>
              <a:gd name="adj" fmla="val 5376"/>
            </a:avLst>
          </a:prstGeom>
          <a:solidFill>
            <a:srgbClr val="F7FAFC"/>
          </a:solidFill>
          <a:ln/>
        </p:spPr>
      </p:sp>
      <p:sp>
        <p:nvSpPr>
          <p:cNvPr id="17" name="Shape 15"/>
          <p:cNvSpPr/>
          <p:nvPr/>
        </p:nvSpPr>
        <p:spPr>
          <a:xfrm>
            <a:off x="896112" y="5618988"/>
            <a:ext cx="384048" cy="384048"/>
          </a:xfrm>
          <a:prstGeom prst="ellipse">
            <a:avLst/>
          </a:prstGeom>
          <a:solidFill>
            <a:srgbClr val="17AF98"/>
          </a:solidFill>
          <a:ln/>
        </p:spPr>
      </p:sp>
      <p:sp>
        <p:nvSpPr>
          <p:cNvPr id="18" name="Text 16"/>
          <p:cNvSpPr/>
          <p:nvPr/>
        </p:nvSpPr>
        <p:spPr>
          <a:xfrm>
            <a:off x="896112" y="56189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1499616" y="5495544"/>
            <a:ext cx="9777679" cy="667512"/>
          </a:xfrm>
          <a:prstGeom prst="rect">
            <a:avLst/>
          </a:prstGeom>
          <a:noFill/>
          <a:ln/>
        </p:spPr>
        <p:txBody>
          <a:bodyPr wrap="square" lIns="0" tIns="0" rIns="0" bIns="0" rtlCol="0" anchor="ctr"/>
          <a:lstStyle/>
          <a:p>
            <a:pPr indent="0" marL="0">
              <a:lnSpc>
                <a:spcPct val="92000"/>
              </a:lnSpc>
              <a:buNone/>
            </a:pPr>
            <a:r>
              <a:rPr lang="en-US" sz="1450" b="1" dirty="0">
                <a:solidFill>
                  <a:srgbClr val="1B2733"/>
                </a:solidFill>
                <a:latin typeface="Yu Gothic" pitchFamily="34" charset="0"/>
                <a:ea typeface="Yu Gothic" pitchFamily="34" charset="-122"/>
                <a:cs typeface="Yu Gothic" pitchFamily="34" charset="-120"/>
              </a:rPr>
              <a:t>報告する ― 事実（地区表示）と評価（推測）を分けて。</a:t>
            </a:r>
            <a:endParaRPr lang="en-US" sz="1450" dirty="0"/>
          </a:p>
          <a:p>
            <a:pPr indent="0" marL="0">
              <a:lnSpc>
                <a:spcPct val="92000"/>
              </a:lnSpc>
              <a:buNone/>
            </a:pPr>
            <a:r>
              <a:rPr lang="en-US" sz="1050" i="1" dirty="0">
                <a:solidFill>
                  <a:srgbClr val="5F7183"/>
                </a:solidFill>
                <a:latin typeface="Calibri" pitchFamily="34" charset="0"/>
                <a:ea typeface="Calibri" pitchFamily="34" charset="-122"/>
                <a:cs typeface="Calibri" pitchFamily="34" charset="-120"/>
              </a:rPr>
              <a:t>Report — keeping the fact (the zone) separate from your assessment.</a:t>
            </a:r>
            <a:endParaRPr lang="en-US" sz="1450" dirty="0"/>
          </a:p>
        </p:txBody>
      </p:sp>
      <p:sp>
        <p:nvSpPr>
          <p:cNvPr id="20" name="Text 18"/>
          <p:cNvSpPr/>
          <p:nvPr/>
        </p:nvSpPr>
        <p:spPr>
          <a:xfrm>
            <a:off x="640080" y="6382512"/>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第10時限｜業務別教育6 警報装置その他当該警備業務を実施するために使用する機器の使用方法  </a:t>
            </a:r>
            <a:pPr indent="0" marL="0">
              <a:buNone/>
            </a:pPr>
            <a:r>
              <a:rPr lang="en-US" sz="850" i="1" dirty="0">
                <a:solidFill>
                  <a:srgbClr val="D6E0E9"/>
                </a:solidFill>
                <a:latin typeface="Calibri" pitchFamily="34" charset="0"/>
                <a:ea typeface="Calibri" pitchFamily="34" charset="-122"/>
                <a:cs typeface="Calibri" pitchFamily="34" charset="-120"/>
              </a:rPr>
              <a:t>Period 10 | Task-Specific Training 6 — Security Equipment</a:t>
            </a:r>
            <a:endParaRPr lang="en-US" sz="900" dirty="0"/>
          </a:p>
        </p:txBody>
      </p:sp>
      <p:sp>
        <p:nvSpPr>
          <p:cNvPr id="21" name="Text 19"/>
          <p:cNvSpPr/>
          <p:nvPr/>
        </p:nvSpPr>
        <p:spPr>
          <a:xfrm>
            <a:off x="10637215" y="6382512"/>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9805111" cy="960120"/>
          </a:xfrm>
          <a:prstGeom prst="rect">
            <a:avLst/>
          </a:prstGeom>
          <a:noFill/>
          <a:ln/>
        </p:spPr>
        <p:txBody>
          <a:bodyPr wrap="square" lIns="0" tIns="0" rIns="0" bIns="0" rtlCol="0" anchor="t"/>
          <a:lstStyle/>
          <a:p>
            <a:pPr indent="0" marL="0">
              <a:lnSpc>
                <a:spcPct val="94000"/>
              </a:lnSpc>
              <a:buNone/>
            </a:pPr>
            <a:r>
              <a:rPr lang="en-US" sz="2700" b="1" dirty="0">
                <a:solidFill>
                  <a:srgbClr val="0F2D52"/>
                </a:solidFill>
                <a:latin typeface="Yu Gothic" pitchFamily="34" charset="0"/>
                <a:ea typeface="Yu Gothic" pitchFamily="34" charset="-122"/>
                <a:cs typeface="Yu Gothic" pitchFamily="34" charset="-120"/>
              </a:rPr>
              <a:t>発報 ＝ 火災ではない</a:t>
            </a:r>
            <a:endParaRPr lang="en-US" sz="2700" dirty="0"/>
          </a:p>
          <a:p>
            <a:pPr indent="0" marL="0">
              <a:lnSpc>
                <a:spcPct val="94000"/>
              </a:lnSpc>
              <a:buNone/>
            </a:pPr>
            <a:r>
              <a:rPr lang="en-US" sz="1250" i="1" dirty="0">
                <a:solidFill>
                  <a:srgbClr val="17AF98"/>
                </a:solidFill>
                <a:latin typeface="Calibri" pitchFamily="34" charset="0"/>
                <a:ea typeface="Calibri" pitchFamily="34" charset="-122"/>
                <a:cs typeface="Calibri" pitchFamily="34" charset="-120"/>
              </a:rPr>
              <a:t>An Alarm Is Not a Fire</a:t>
            </a:r>
            <a:endParaRPr lang="en-US" sz="2700" dirty="0"/>
          </a:p>
        </p:txBody>
      </p:sp>
      <p:sp>
        <p:nvSpPr>
          <p:cNvPr id="3" name="Shape 1"/>
          <p:cNvSpPr/>
          <p:nvPr/>
        </p:nvSpPr>
        <p:spPr>
          <a:xfrm>
            <a:off x="640080" y="1627632"/>
            <a:ext cx="10911535" cy="2395728"/>
          </a:xfrm>
          <a:prstGeom prst="roundRect">
            <a:avLst>
              <a:gd name="adj" fmla="val 1908"/>
            </a:avLst>
          </a:prstGeom>
          <a:solidFill>
            <a:srgbClr val="0F2D52"/>
          </a:solidFill>
          <a:ln/>
        </p:spPr>
      </p:sp>
      <p:sp>
        <p:nvSpPr>
          <p:cNvPr id="4" name="Text 2"/>
          <p:cNvSpPr/>
          <p:nvPr/>
        </p:nvSpPr>
        <p:spPr>
          <a:xfrm>
            <a:off x="1097280" y="1938528"/>
            <a:ext cx="9997135" cy="1014984"/>
          </a:xfrm>
          <a:prstGeom prst="rect">
            <a:avLst/>
          </a:prstGeom>
          <a:noFill/>
          <a:ln/>
        </p:spPr>
        <p:txBody>
          <a:bodyPr wrap="square" lIns="0" tIns="0" rIns="0" bIns="0" rtlCol="0" anchor="t"/>
          <a:lstStyle/>
          <a:p>
            <a:pPr indent="0" marL="0">
              <a:lnSpc>
                <a:spcPct val="102000"/>
              </a:lnSpc>
              <a:buNone/>
            </a:pPr>
            <a:r>
              <a:rPr lang="en-US" sz="1800" b="1" dirty="0">
                <a:solidFill>
                  <a:srgbClr val="FFFFFF"/>
                </a:solidFill>
                <a:latin typeface="Yu Gothic" pitchFamily="34" charset="0"/>
                <a:ea typeface="Yu Gothic" pitchFamily="34" charset="-122"/>
                <a:cs typeface="Yu Gothic" pitchFamily="34" charset="-120"/>
              </a:rPr>
              <a:t>発報は「感知器が作動した」という事実にすぎません。</a:t>
            </a:r>
            <a:endParaRPr lang="en-US" sz="1800" dirty="0"/>
          </a:p>
          <a:p>
            <a:pPr indent="0" marL="0">
              <a:lnSpc>
                <a:spcPct val="102000"/>
              </a:lnSpc>
              <a:buNone/>
            </a:pPr>
            <a:r>
              <a:rPr lang="en-US" sz="1800" b="1" dirty="0">
                <a:solidFill>
                  <a:srgbClr val="FFFFFF"/>
                </a:solidFill>
                <a:latin typeface="Yu Gothic" pitchFamily="34" charset="0"/>
                <a:ea typeface="Yu Gothic" pitchFamily="34" charset="-122"/>
                <a:cs typeface="Yu Gothic" pitchFamily="34" charset="-120"/>
              </a:rPr>
              <a:t>現場を見るまで、火災と断定しないでください。</a:t>
            </a:r>
            <a:endParaRPr lang="en-US" sz="1800" dirty="0"/>
          </a:p>
        </p:txBody>
      </p:sp>
      <p:sp>
        <p:nvSpPr>
          <p:cNvPr id="5" name="Text 3"/>
          <p:cNvSpPr/>
          <p:nvPr/>
        </p:nvSpPr>
        <p:spPr>
          <a:xfrm>
            <a:off x="1097280" y="2971800"/>
            <a:ext cx="9997135" cy="795528"/>
          </a:xfrm>
          <a:prstGeom prst="rect">
            <a:avLst/>
          </a:prstGeom>
          <a:noFill/>
          <a:ln/>
        </p:spPr>
        <p:txBody>
          <a:bodyPr wrap="square" lIns="0" tIns="0" rIns="0" bIns="0" rtlCol="0" anchor="t"/>
          <a:lstStyle/>
          <a:p>
            <a:pPr indent="0" marL="0">
              <a:lnSpc>
                <a:spcPct val="100000"/>
              </a:lnSpc>
              <a:buNone/>
            </a:pPr>
            <a:r>
              <a:rPr lang="en-US" sz="1200" i="1" dirty="0">
                <a:solidFill>
                  <a:srgbClr val="9FD8CD"/>
                </a:solidFill>
                <a:latin typeface="Calibri" pitchFamily="34" charset="0"/>
                <a:ea typeface="Calibri" pitchFamily="34" charset="-122"/>
                <a:cs typeface="Calibri" pitchFamily="34" charset="-120"/>
              </a:rPr>
              <a:t>An activation is only the fact that a detector operated.</a:t>
            </a:r>
            <a:endParaRPr lang="en-US" sz="1200" dirty="0"/>
          </a:p>
          <a:p>
            <a:pPr indent="0" marL="0">
              <a:lnSpc>
                <a:spcPct val="100000"/>
              </a:lnSpc>
              <a:buNone/>
            </a:pPr>
            <a:r>
              <a:rPr lang="en-US" sz="1200" i="1" dirty="0">
                <a:solidFill>
                  <a:srgbClr val="9FD8CD"/>
                </a:solidFill>
                <a:latin typeface="Calibri" pitchFamily="34" charset="0"/>
                <a:ea typeface="Calibri" pitchFamily="34" charset="-122"/>
                <a:cs typeface="Calibri" pitchFamily="34" charset="-120"/>
              </a:rPr>
              <a:t>Until you have seen the scene, do not declare a fire.</a:t>
            </a:r>
            <a:endParaRPr lang="en-US" sz="1200" dirty="0"/>
          </a:p>
        </p:txBody>
      </p:sp>
      <p:sp>
        <p:nvSpPr>
          <p:cNvPr id="6" name="Shape 4"/>
          <p:cNvSpPr/>
          <p:nvPr/>
        </p:nvSpPr>
        <p:spPr>
          <a:xfrm>
            <a:off x="640080" y="4937760"/>
            <a:ext cx="10911535" cy="1298448"/>
          </a:xfrm>
          <a:prstGeom prst="roundRect">
            <a:avLst>
              <a:gd name="adj" fmla="val 3521"/>
            </a:avLst>
          </a:prstGeom>
          <a:solidFill>
            <a:srgbClr val="E4F4F0"/>
          </a:solidFill>
          <a:ln/>
        </p:spPr>
      </p:sp>
      <p:sp>
        <p:nvSpPr>
          <p:cNvPr id="7" name="Shape 5"/>
          <p:cNvSpPr/>
          <p:nvPr/>
        </p:nvSpPr>
        <p:spPr>
          <a:xfrm>
            <a:off x="914400" y="5404104"/>
            <a:ext cx="365760" cy="365760"/>
          </a:xfrm>
          <a:prstGeom prst="ellipse">
            <a:avLst/>
          </a:prstGeom>
          <a:solidFill>
            <a:srgbClr val="17AF98"/>
          </a:solidFill>
          <a:ln/>
        </p:spPr>
      </p:sp>
      <p:sp>
        <p:nvSpPr>
          <p:cNvPr id="8" name="Text 6"/>
          <p:cNvSpPr/>
          <p:nvPr/>
        </p:nvSpPr>
        <p:spPr>
          <a:xfrm>
            <a:off x="914400" y="540410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9" name="Text 7"/>
          <p:cNvSpPr/>
          <p:nvPr/>
        </p:nvSpPr>
        <p:spPr>
          <a:xfrm>
            <a:off x="1499616" y="5047488"/>
            <a:ext cx="9722815" cy="1078992"/>
          </a:xfrm>
          <a:prstGeom prst="rect">
            <a:avLst/>
          </a:prstGeom>
          <a:noFill/>
          <a:ln/>
        </p:spPr>
        <p:txBody>
          <a:bodyPr wrap="square" lIns="0" tIns="0" rIns="0" bIns="0" rtlCol="0" anchor="ctr"/>
          <a:lstStyle/>
          <a:p>
            <a:pPr indent="0" marL="0">
              <a:lnSpc>
                <a:spcPct val="95000"/>
              </a:lnSpc>
              <a:buNone/>
            </a:pPr>
            <a:r>
              <a:rPr lang="en-US" sz="1450" b="1" dirty="0">
                <a:solidFill>
                  <a:srgbClr val="0F2D52"/>
                </a:solidFill>
                <a:latin typeface="Yu Gothic" pitchFamily="34" charset="0"/>
                <a:ea typeface="Yu Gothic" pitchFamily="34" charset="-122"/>
                <a:cs typeface="Yu Gothic" pitchFamily="34" charset="-120"/>
              </a:rPr>
              <a:t>無線での言い方 ―「3階東区画、発報。現場確認に向かいます」。「火事です」とは言わない。蒸気・埃・調理・工事による非火災報は日常的に起きます。</a:t>
            </a:r>
            <a:endParaRPr lang="en-US" sz="1450" dirty="0"/>
          </a:p>
          <a:p>
            <a:pPr indent="0" marL="0">
              <a:lnSpc>
                <a:spcPct val="95000"/>
              </a:lnSpc>
              <a:buNone/>
            </a:pPr>
            <a:r>
              <a:rPr lang="en-US" sz="1000" i="1" dirty="0">
                <a:solidFill>
                  <a:srgbClr val="0E8C79"/>
                </a:solidFill>
                <a:latin typeface="Calibri" pitchFamily="34" charset="0"/>
                <a:ea typeface="Calibri" pitchFamily="34" charset="-122"/>
                <a:cs typeface="Calibri" pitchFamily="34" charset="-120"/>
              </a:rPr>
              <a:t>On the radio: "Third floor east zone, alarm activation, proceeding to verify." Do not say "fire." Steam, dust, cooking and construction cause non-fire activations routinely.</a:t>
            </a:r>
            <a:endParaRPr lang="en-US" sz="1450" dirty="0"/>
          </a:p>
        </p:txBody>
      </p:sp>
      <p:sp>
        <p:nvSpPr>
          <p:cNvPr id="10" name="Text 8"/>
          <p:cNvSpPr/>
          <p:nvPr/>
        </p:nvSpPr>
        <p:spPr>
          <a:xfrm>
            <a:off x="640080" y="6382512"/>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第10時限｜業務別教育6 警報装置その他当該警備業務を実施するために使用する機器の使用方法  </a:t>
            </a:r>
            <a:pPr indent="0" marL="0">
              <a:buNone/>
            </a:pPr>
            <a:r>
              <a:rPr lang="en-US" sz="850" i="1" dirty="0">
                <a:solidFill>
                  <a:srgbClr val="D6E0E9"/>
                </a:solidFill>
                <a:latin typeface="Calibri" pitchFamily="34" charset="0"/>
                <a:ea typeface="Calibri" pitchFamily="34" charset="-122"/>
                <a:cs typeface="Calibri" pitchFamily="34" charset="-120"/>
              </a:rPr>
              <a:t>Period 10 | Task-Specific Training 6 — Security Equipment</a:t>
            </a:r>
            <a:endParaRPr lang="en-US" sz="900" dirty="0"/>
          </a:p>
        </p:txBody>
      </p:sp>
      <p:sp>
        <p:nvSpPr>
          <p:cNvPr id="11" name="Text 9"/>
          <p:cNvSpPr/>
          <p:nvPr/>
        </p:nvSpPr>
        <p:spPr>
          <a:xfrm>
            <a:off x="10637215" y="6382512"/>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9805111" cy="960120"/>
          </a:xfrm>
          <a:prstGeom prst="rect">
            <a:avLst/>
          </a:prstGeom>
          <a:noFill/>
          <a:ln/>
        </p:spPr>
        <p:txBody>
          <a:bodyPr wrap="square" lIns="0" tIns="0" rIns="0" bIns="0" rtlCol="0" anchor="t"/>
          <a:lstStyle/>
          <a:p>
            <a:pPr indent="0" marL="0">
              <a:lnSpc>
                <a:spcPct val="94000"/>
              </a:lnSpc>
              <a:buNone/>
            </a:pPr>
            <a:r>
              <a:rPr lang="en-US" sz="2700" b="1" dirty="0">
                <a:solidFill>
                  <a:srgbClr val="0F2D52"/>
                </a:solidFill>
                <a:latin typeface="Yu Gothic" pitchFamily="34" charset="0"/>
                <a:ea typeface="Yu Gothic" pitchFamily="34" charset="-122"/>
                <a:cs typeface="Yu Gothic" pitchFamily="34" charset="-120"/>
              </a:rPr>
              <a:t>連動 ― 人の動線が変わる</a:t>
            </a:r>
            <a:endParaRPr lang="en-US" sz="2700" dirty="0"/>
          </a:p>
          <a:p>
            <a:pPr indent="0" marL="0">
              <a:lnSpc>
                <a:spcPct val="94000"/>
              </a:lnSpc>
              <a:buNone/>
            </a:pPr>
            <a:r>
              <a:rPr lang="en-US" sz="1250" i="1" dirty="0">
                <a:solidFill>
                  <a:srgbClr val="17AF98"/>
                </a:solidFill>
                <a:latin typeface="Calibri" pitchFamily="34" charset="0"/>
                <a:ea typeface="Calibri" pitchFamily="34" charset="-122"/>
                <a:cs typeface="Calibri" pitchFamily="34" charset="-120"/>
              </a:rPr>
              <a:t>Linked Systems — the building changes shape</a:t>
            </a:r>
            <a:endParaRPr lang="en-US" sz="2700" dirty="0"/>
          </a:p>
        </p:txBody>
      </p:sp>
      <p:sp>
        <p:nvSpPr>
          <p:cNvPr id="3" name="Text 1"/>
          <p:cNvSpPr/>
          <p:nvPr/>
        </p:nvSpPr>
        <p:spPr>
          <a:xfrm>
            <a:off x="640080" y="1536192"/>
            <a:ext cx="10911535" cy="566928"/>
          </a:xfrm>
          <a:prstGeom prst="rect">
            <a:avLst/>
          </a:prstGeom>
          <a:noFill/>
          <a:ln/>
        </p:spPr>
        <p:txBody>
          <a:bodyPr wrap="square" lIns="0" tIns="0" rIns="0" bIns="0" rtlCol="0" anchor="t"/>
          <a:lstStyle/>
          <a:p>
            <a:pPr algn="l" indent="0" marL="0">
              <a:lnSpc>
                <a:spcPct val="92000"/>
              </a:lnSpc>
              <a:buNone/>
            </a:pPr>
            <a:r>
              <a:rPr lang="en-US" sz="1300" dirty="0">
                <a:solidFill>
                  <a:srgbClr val="0F2D52"/>
                </a:solidFill>
                <a:latin typeface="Yu Gothic" pitchFamily="34" charset="0"/>
                <a:ea typeface="Yu Gothic" pitchFamily="34" charset="-122"/>
                <a:cs typeface="Yu Gothic" pitchFamily="34" charset="-120"/>
              </a:rPr>
              <a:t>連動が作動すると、昨日まで通れた場所が通れなくなります。</a:t>
            </a:r>
            <a:endParaRPr lang="en-US" sz="1300" dirty="0"/>
          </a:p>
          <a:p>
            <a:pPr algn="l" indent="0" marL="0">
              <a:lnSpc>
                <a:spcPct val="92000"/>
              </a:lnSpc>
              <a:buNone/>
            </a:pPr>
            <a:r>
              <a:rPr lang="en-US" sz="1000" i="1" dirty="0">
                <a:solidFill>
                  <a:srgbClr val="5F7183"/>
                </a:solidFill>
                <a:latin typeface="Calibri" pitchFamily="34" charset="0"/>
                <a:ea typeface="Calibri" pitchFamily="34" charset="-122"/>
                <a:cs typeface="Calibri" pitchFamily="34" charset="-120"/>
              </a:rPr>
              <a:t>When linked systems operate, routes that worked yesterday stop working.</a:t>
            </a:r>
            <a:endParaRPr lang="en-US" sz="1300" dirty="0"/>
          </a:p>
        </p:txBody>
      </p:sp>
      <p:sp>
        <p:nvSpPr>
          <p:cNvPr id="4" name="Shape 2"/>
          <p:cNvSpPr/>
          <p:nvPr/>
        </p:nvSpPr>
        <p:spPr>
          <a:xfrm>
            <a:off x="640080" y="2286000"/>
            <a:ext cx="10911535" cy="850392"/>
          </a:xfrm>
          <a:prstGeom prst="roundRect">
            <a:avLst>
              <a:gd name="adj" fmla="val 5376"/>
            </a:avLst>
          </a:prstGeom>
          <a:solidFill>
            <a:srgbClr val="EFF4F8"/>
          </a:solidFill>
          <a:ln/>
        </p:spPr>
      </p:sp>
      <p:sp>
        <p:nvSpPr>
          <p:cNvPr id="5" name="Shape 3"/>
          <p:cNvSpPr/>
          <p:nvPr/>
        </p:nvSpPr>
        <p:spPr>
          <a:xfrm>
            <a:off x="896112" y="2519172"/>
            <a:ext cx="384048" cy="384048"/>
          </a:xfrm>
          <a:prstGeom prst="ellipse">
            <a:avLst/>
          </a:prstGeom>
          <a:solidFill>
            <a:srgbClr val="17AF98"/>
          </a:solidFill>
          <a:ln/>
        </p:spPr>
      </p:sp>
      <p:sp>
        <p:nvSpPr>
          <p:cNvPr id="6" name="Text 4"/>
          <p:cNvSpPr/>
          <p:nvPr/>
        </p:nvSpPr>
        <p:spPr>
          <a:xfrm>
            <a:off x="896112" y="25191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99616" y="2395728"/>
            <a:ext cx="9777679" cy="667512"/>
          </a:xfrm>
          <a:prstGeom prst="rect">
            <a:avLst/>
          </a:prstGeom>
          <a:noFill/>
          <a:ln/>
        </p:spPr>
        <p:txBody>
          <a:bodyPr wrap="square" lIns="0" tIns="0" rIns="0" bIns="0" rtlCol="0" anchor="ctr"/>
          <a:lstStyle/>
          <a:p>
            <a:pPr indent="0" marL="0">
              <a:lnSpc>
                <a:spcPct val="92000"/>
              </a:lnSpc>
              <a:buNone/>
            </a:pPr>
            <a:r>
              <a:rPr lang="en-US" sz="1450" b="1" dirty="0">
                <a:solidFill>
                  <a:srgbClr val="1B2733"/>
                </a:solidFill>
                <a:latin typeface="Yu Gothic" pitchFamily="34" charset="0"/>
                <a:ea typeface="Yu Gothic" pitchFamily="34" charset="-122"/>
                <a:cs typeface="Yu Gothic" pitchFamily="34" charset="-120"/>
              </a:rPr>
              <a:t>防火戸・防排煙 ― 閉鎖すると経路が変わる。押して開くか確認。</a:t>
            </a:r>
            <a:endParaRPr lang="en-US" sz="1450" dirty="0"/>
          </a:p>
          <a:p>
            <a:pPr indent="0" marL="0">
              <a:lnSpc>
                <a:spcPct val="92000"/>
              </a:lnSpc>
              <a:buNone/>
            </a:pPr>
            <a:r>
              <a:rPr lang="en-US" sz="1050" i="1" dirty="0">
                <a:solidFill>
                  <a:srgbClr val="5F7183"/>
                </a:solidFill>
                <a:latin typeface="Calibri" pitchFamily="34" charset="0"/>
                <a:ea typeface="Calibri" pitchFamily="34" charset="-122"/>
                <a:cs typeface="Calibri" pitchFamily="34" charset="-120"/>
              </a:rPr>
              <a:t>Fire doors and smoke control — closures reroute movement. Know which ones still open.</a:t>
            </a:r>
            <a:endParaRPr lang="en-US" sz="1450" dirty="0"/>
          </a:p>
        </p:txBody>
      </p:sp>
      <p:sp>
        <p:nvSpPr>
          <p:cNvPr id="8" name="Shape 6"/>
          <p:cNvSpPr/>
          <p:nvPr/>
        </p:nvSpPr>
        <p:spPr>
          <a:xfrm>
            <a:off x="640080" y="3319272"/>
            <a:ext cx="10911535" cy="850392"/>
          </a:xfrm>
          <a:prstGeom prst="roundRect">
            <a:avLst>
              <a:gd name="adj" fmla="val 5376"/>
            </a:avLst>
          </a:prstGeom>
          <a:solidFill>
            <a:srgbClr val="F7FAFC"/>
          </a:solidFill>
          <a:ln/>
        </p:spPr>
      </p:sp>
      <p:sp>
        <p:nvSpPr>
          <p:cNvPr id="9" name="Shape 7"/>
          <p:cNvSpPr/>
          <p:nvPr/>
        </p:nvSpPr>
        <p:spPr>
          <a:xfrm>
            <a:off x="896112" y="3552444"/>
            <a:ext cx="384048" cy="384048"/>
          </a:xfrm>
          <a:prstGeom prst="ellipse">
            <a:avLst/>
          </a:prstGeom>
          <a:solidFill>
            <a:srgbClr val="17AF98"/>
          </a:solidFill>
          <a:ln/>
        </p:spPr>
      </p:sp>
      <p:sp>
        <p:nvSpPr>
          <p:cNvPr id="10" name="Text 8"/>
          <p:cNvSpPr/>
          <p:nvPr/>
        </p:nvSpPr>
        <p:spPr>
          <a:xfrm>
            <a:off x="896112" y="35524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499616" y="3429000"/>
            <a:ext cx="9777679" cy="667512"/>
          </a:xfrm>
          <a:prstGeom prst="rect">
            <a:avLst/>
          </a:prstGeom>
          <a:noFill/>
          <a:ln/>
        </p:spPr>
        <p:txBody>
          <a:bodyPr wrap="square" lIns="0" tIns="0" rIns="0" bIns="0" rtlCol="0" anchor="ctr"/>
          <a:lstStyle/>
          <a:p>
            <a:pPr indent="0" marL="0">
              <a:lnSpc>
                <a:spcPct val="92000"/>
              </a:lnSpc>
              <a:buNone/>
            </a:pPr>
            <a:r>
              <a:rPr lang="en-US" sz="1450" b="1" dirty="0">
                <a:solidFill>
                  <a:srgbClr val="1B2733"/>
                </a:solidFill>
                <a:latin typeface="Yu Gothic" pitchFamily="34" charset="0"/>
                <a:ea typeface="Yu Gothic" pitchFamily="34" charset="-122"/>
                <a:cs typeface="Yu Gothic" pitchFamily="34" charset="-120"/>
              </a:rPr>
              <a:t>非常放送 ― 自分の声より優先される。放送中は無線が通りにくい。</a:t>
            </a:r>
            <a:endParaRPr lang="en-US" sz="1450" dirty="0"/>
          </a:p>
          <a:p>
            <a:pPr indent="0" marL="0">
              <a:lnSpc>
                <a:spcPct val="92000"/>
              </a:lnSpc>
              <a:buNone/>
            </a:pPr>
            <a:r>
              <a:rPr lang="en-US" sz="1050" i="1" dirty="0">
                <a:solidFill>
                  <a:srgbClr val="5F7183"/>
                </a:solidFill>
                <a:latin typeface="Calibri" pitchFamily="34" charset="0"/>
                <a:ea typeface="Calibri" pitchFamily="34" charset="-122"/>
                <a:cs typeface="Calibri" pitchFamily="34" charset="-120"/>
              </a:rPr>
              <a:t>Public address — it overrides you, and radio traffic suffers while it runs.</a:t>
            </a:r>
            <a:endParaRPr lang="en-US" sz="1450" dirty="0"/>
          </a:p>
        </p:txBody>
      </p:sp>
      <p:sp>
        <p:nvSpPr>
          <p:cNvPr id="12" name="Shape 10"/>
          <p:cNvSpPr/>
          <p:nvPr/>
        </p:nvSpPr>
        <p:spPr>
          <a:xfrm>
            <a:off x="640080" y="4352544"/>
            <a:ext cx="10911535" cy="850392"/>
          </a:xfrm>
          <a:prstGeom prst="roundRect">
            <a:avLst>
              <a:gd name="adj" fmla="val 5376"/>
            </a:avLst>
          </a:prstGeom>
          <a:solidFill>
            <a:srgbClr val="EFF4F8"/>
          </a:solidFill>
          <a:ln/>
        </p:spPr>
      </p:sp>
      <p:sp>
        <p:nvSpPr>
          <p:cNvPr id="13" name="Shape 11"/>
          <p:cNvSpPr/>
          <p:nvPr/>
        </p:nvSpPr>
        <p:spPr>
          <a:xfrm>
            <a:off x="896112" y="4585716"/>
            <a:ext cx="384048" cy="384048"/>
          </a:xfrm>
          <a:prstGeom prst="ellipse">
            <a:avLst/>
          </a:prstGeom>
          <a:solidFill>
            <a:srgbClr val="17AF98"/>
          </a:solidFill>
          <a:ln/>
        </p:spPr>
      </p:sp>
      <p:sp>
        <p:nvSpPr>
          <p:cNvPr id="14" name="Text 12"/>
          <p:cNvSpPr/>
          <p:nvPr/>
        </p:nvSpPr>
        <p:spPr>
          <a:xfrm>
            <a:off x="896112" y="45857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499616" y="4462272"/>
            <a:ext cx="9777679" cy="667512"/>
          </a:xfrm>
          <a:prstGeom prst="rect">
            <a:avLst/>
          </a:prstGeom>
          <a:noFill/>
          <a:ln/>
        </p:spPr>
        <p:txBody>
          <a:bodyPr wrap="square" lIns="0" tIns="0" rIns="0" bIns="0" rtlCol="0" anchor="ctr"/>
          <a:lstStyle/>
          <a:p>
            <a:pPr indent="0" marL="0">
              <a:lnSpc>
                <a:spcPct val="92000"/>
              </a:lnSpc>
              <a:buNone/>
            </a:pPr>
            <a:r>
              <a:rPr lang="en-US" sz="1450" b="1" dirty="0">
                <a:solidFill>
                  <a:srgbClr val="1B2733"/>
                </a:solidFill>
                <a:latin typeface="Yu Gothic" pitchFamily="34" charset="0"/>
                <a:ea typeface="Yu Gothic" pitchFamily="34" charset="-122"/>
                <a:cs typeface="Yu Gothic" pitchFamily="34" charset="-120"/>
              </a:rPr>
              <a:t>エレベーター管制 ― 避難階へ降りて停止。階段誘導が前提になる。</a:t>
            </a:r>
            <a:endParaRPr lang="en-US" sz="1450" dirty="0"/>
          </a:p>
          <a:p>
            <a:pPr indent="0" marL="0">
              <a:lnSpc>
                <a:spcPct val="92000"/>
              </a:lnSpc>
              <a:buNone/>
            </a:pPr>
            <a:r>
              <a:rPr lang="en-US" sz="1050" i="1" dirty="0">
                <a:solidFill>
                  <a:srgbClr val="5F7183"/>
                </a:solidFill>
                <a:latin typeface="Calibri" pitchFamily="34" charset="0"/>
                <a:ea typeface="Calibri" pitchFamily="34" charset="-122"/>
                <a:cs typeface="Calibri" pitchFamily="34" charset="-120"/>
              </a:rPr>
              <a:t>Lift homing — cars descend and park. Stair-based guidance becomes the assumption.</a:t>
            </a:r>
            <a:endParaRPr lang="en-US" sz="1450" dirty="0"/>
          </a:p>
        </p:txBody>
      </p:sp>
      <p:sp>
        <p:nvSpPr>
          <p:cNvPr id="16" name="Shape 14"/>
          <p:cNvSpPr/>
          <p:nvPr/>
        </p:nvSpPr>
        <p:spPr>
          <a:xfrm>
            <a:off x="640080" y="5385816"/>
            <a:ext cx="10911535" cy="850392"/>
          </a:xfrm>
          <a:prstGeom prst="roundRect">
            <a:avLst>
              <a:gd name="adj" fmla="val 5376"/>
            </a:avLst>
          </a:prstGeom>
          <a:solidFill>
            <a:srgbClr val="F7FAFC"/>
          </a:solidFill>
          <a:ln/>
        </p:spPr>
      </p:sp>
      <p:sp>
        <p:nvSpPr>
          <p:cNvPr id="17" name="Shape 15"/>
          <p:cNvSpPr/>
          <p:nvPr/>
        </p:nvSpPr>
        <p:spPr>
          <a:xfrm>
            <a:off x="896112" y="5618988"/>
            <a:ext cx="384048" cy="384048"/>
          </a:xfrm>
          <a:prstGeom prst="ellipse">
            <a:avLst/>
          </a:prstGeom>
          <a:solidFill>
            <a:srgbClr val="17AF98"/>
          </a:solidFill>
          <a:ln/>
        </p:spPr>
      </p:sp>
      <p:sp>
        <p:nvSpPr>
          <p:cNvPr id="18" name="Text 16"/>
          <p:cNvSpPr/>
          <p:nvPr/>
        </p:nvSpPr>
        <p:spPr>
          <a:xfrm>
            <a:off x="896112" y="56189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1499616" y="5495544"/>
            <a:ext cx="9777679" cy="667512"/>
          </a:xfrm>
          <a:prstGeom prst="rect">
            <a:avLst/>
          </a:prstGeom>
          <a:noFill/>
          <a:ln/>
        </p:spPr>
        <p:txBody>
          <a:bodyPr wrap="square" lIns="0" tIns="0" rIns="0" bIns="0" rtlCol="0" anchor="ctr"/>
          <a:lstStyle/>
          <a:p>
            <a:pPr indent="0" marL="0">
              <a:lnSpc>
                <a:spcPct val="92000"/>
              </a:lnSpc>
              <a:buNone/>
            </a:pPr>
            <a:r>
              <a:rPr lang="en-US" sz="1450" b="1" dirty="0">
                <a:solidFill>
                  <a:srgbClr val="1B2733"/>
                </a:solidFill>
                <a:latin typeface="Yu Gothic" pitchFamily="34" charset="0"/>
                <a:ea typeface="Yu Gothic" pitchFamily="34" charset="-122"/>
                <a:cs typeface="Yu Gothic" pitchFamily="34" charset="-120"/>
              </a:rPr>
              <a:t>シャッター ― 降りた先に人が取り残されていないか確認する。</a:t>
            </a:r>
            <a:endParaRPr lang="en-US" sz="1450" dirty="0"/>
          </a:p>
          <a:p>
            <a:pPr indent="0" marL="0">
              <a:lnSpc>
                <a:spcPct val="92000"/>
              </a:lnSpc>
              <a:buNone/>
            </a:pPr>
            <a:r>
              <a:rPr lang="en-US" sz="1050" i="1" dirty="0">
                <a:solidFill>
                  <a:srgbClr val="5F7183"/>
                </a:solidFill>
                <a:latin typeface="Calibri" pitchFamily="34" charset="0"/>
                <a:ea typeface="Calibri" pitchFamily="34" charset="-122"/>
                <a:cs typeface="Calibri" pitchFamily="34" charset="-120"/>
              </a:rPr>
              <a:t>Shutters — check nobody has been left on the far side.</a:t>
            </a:r>
            <a:endParaRPr lang="en-US" sz="1450" dirty="0"/>
          </a:p>
        </p:txBody>
      </p:sp>
      <p:sp>
        <p:nvSpPr>
          <p:cNvPr id="20" name="Text 18"/>
          <p:cNvSpPr/>
          <p:nvPr/>
        </p:nvSpPr>
        <p:spPr>
          <a:xfrm>
            <a:off x="640080" y="6382512"/>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第10時限｜業務別教育6 警報装置その他当該警備業務を実施するために使用する機器の使用方法  </a:t>
            </a:r>
            <a:pPr indent="0" marL="0">
              <a:buNone/>
            </a:pPr>
            <a:r>
              <a:rPr lang="en-US" sz="850" i="1" dirty="0">
                <a:solidFill>
                  <a:srgbClr val="D6E0E9"/>
                </a:solidFill>
                <a:latin typeface="Calibri" pitchFamily="34" charset="0"/>
                <a:ea typeface="Calibri" pitchFamily="34" charset="-122"/>
                <a:cs typeface="Calibri" pitchFamily="34" charset="-120"/>
              </a:rPr>
              <a:t>Period 10 | Task-Specific Training 6 — Security Equipment</a:t>
            </a:r>
            <a:endParaRPr lang="en-US" sz="900" dirty="0"/>
          </a:p>
        </p:txBody>
      </p:sp>
      <p:sp>
        <p:nvSpPr>
          <p:cNvPr id="21" name="Text 19"/>
          <p:cNvSpPr/>
          <p:nvPr/>
        </p:nvSpPr>
        <p:spPr>
          <a:xfrm>
            <a:off x="10637215" y="6382512"/>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9805111" cy="960120"/>
          </a:xfrm>
          <a:prstGeom prst="rect">
            <a:avLst/>
          </a:prstGeom>
          <a:noFill/>
          <a:ln/>
        </p:spPr>
        <p:txBody>
          <a:bodyPr wrap="square" lIns="0" tIns="0" rIns="0" bIns="0" rtlCol="0" anchor="t"/>
          <a:lstStyle/>
          <a:p>
            <a:pPr indent="0" marL="0">
              <a:lnSpc>
                <a:spcPct val="94000"/>
              </a:lnSpc>
              <a:buNone/>
            </a:pPr>
            <a:r>
              <a:rPr lang="en-US" sz="2700" b="1" dirty="0">
                <a:solidFill>
                  <a:srgbClr val="0F2D52"/>
                </a:solidFill>
                <a:latin typeface="Yu Gothic" pitchFamily="34" charset="0"/>
                <a:ea typeface="Yu Gothic" pitchFamily="34" charset="-122"/>
                <a:cs typeface="Yu Gothic" pitchFamily="34" charset="-120"/>
              </a:rPr>
              <a:t>無線交話要領</a:t>
            </a:r>
            <a:endParaRPr lang="en-US" sz="2700" dirty="0"/>
          </a:p>
          <a:p>
            <a:pPr indent="0" marL="0">
              <a:lnSpc>
                <a:spcPct val="94000"/>
              </a:lnSpc>
              <a:buNone/>
            </a:pPr>
            <a:r>
              <a:rPr lang="en-US" sz="1250" i="1" dirty="0">
                <a:solidFill>
                  <a:srgbClr val="17AF98"/>
                </a:solidFill>
                <a:latin typeface="Calibri" pitchFamily="34" charset="0"/>
                <a:ea typeface="Calibri" pitchFamily="34" charset="-122"/>
                <a:cs typeface="Calibri" pitchFamily="34" charset="-120"/>
              </a:rPr>
              <a:t>Radio Procedure</a:t>
            </a:r>
            <a:endParaRPr lang="en-US" sz="2700" dirty="0"/>
          </a:p>
        </p:txBody>
      </p:sp>
      <p:sp>
        <p:nvSpPr>
          <p:cNvPr id="3" name="Text 1"/>
          <p:cNvSpPr/>
          <p:nvPr/>
        </p:nvSpPr>
        <p:spPr>
          <a:xfrm>
            <a:off x="640080" y="1517904"/>
            <a:ext cx="10911535" cy="530352"/>
          </a:xfrm>
          <a:prstGeom prst="rect">
            <a:avLst/>
          </a:prstGeom>
          <a:noFill/>
          <a:ln/>
        </p:spPr>
        <p:txBody>
          <a:bodyPr wrap="square" lIns="0" tIns="0" rIns="0" bIns="0" rtlCol="0" anchor="t"/>
          <a:lstStyle/>
          <a:p>
            <a:pPr algn="l" indent="0" marL="0">
              <a:lnSpc>
                <a:spcPct val="92000"/>
              </a:lnSpc>
              <a:buNone/>
            </a:pPr>
            <a:r>
              <a:rPr lang="en-US" sz="1300" dirty="0">
                <a:solidFill>
                  <a:srgbClr val="0F2D52"/>
                </a:solidFill>
                <a:latin typeface="Yu Gothic" pitchFamily="34" charset="0"/>
                <a:ea typeface="Yu Gothic" pitchFamily="34" charset="-122"/>
                <a:cs typeface="Yu Gothic" pitchFamily="34" charset="-120"/>
              </a:rPr>
              <a:t>構成は共通：呼出 → 応答 → 用件 → 復唱 → 終話</a:t>
            </a:r>
            <a:endParaRPr lang="en-US" sz="1300" dirty="0"/>
          </a:p>
          <a:p>
            <a:pPr algn="l" indent="0" marL="0">
              <a:lnSpc>
                <a:spcPct val="92000"/>
              </a:lnSpc>
              <a:buNone/>
            </a:pPr>
            <a:r>
              <a:rPr lang="en-US" sz="1000" i="1" dirty="0">
                <a:solidFill>
                  <a:srgbClr val="5F7183"/>
                </a:solidFill>
                <a:latin typeface="Calibri" pitchFamily="34" charset="0"/>
                <a:ea typeface="Calibri" pitchFamily="34" charset="-122"/>
                <a:cs typeface="Calibri" pitchFamily="34" charset="-120"/>
              </a:rPr>
              <a:t>The same structure in both languages: call, answer, message, read-back, close.</a:t>
            </a:r>
            <a:endParaRPr lang="en-US" sz="1300" dirty="0"/>
          </a:p>
        </p:txBody>
      </p:sp>
      <p:sp>
        <p:nvSpPr>
          <p:cNvPr id="4" name="Shape 2"/>
          <p:cNvSpPr/>
          <p:nvPr/>
        </p:nvSpPr>
        <p:spPr>
          <a:xfrm>
            <a:off x="640080" y="2231136"/>
            <a:ext cx="5300320" cy="3163824"/>
          </a:xfrm>
          <a:prstGeom prst="roundRect">
            <a:avLst>
              <a:gd name="adj" fmla="val 1445"/>
            </a:avLst>
          </a:prstGeom>
          <a:solidFill>
            <a:srgbClr val="EFF4F8"/>
          </a:solidFill>
          <a:ln/>
        </p:spPr>
      </p:sp>
      <p:sp>
        <p:nvSpPr>
          <p:cNvPr id="5" name="Text 3"/>
          <p:cNvSpPr/>
          <p:nvPr/>
        </p:nvSpPr>
        <p:spPr>
          <a:xfrm>
            <a:off x="914400" y="2450592"/>
            <a:ext cx="4751680" cy="676656"/>
          </a:xfrm>
          <a:prstGeom prst="rect">
            <a:avLst/>
          </a:prstGeom>
          <a:noFill/>
          <a:ln/>
        </p:spPr>
        <p:txBody>
          <a:bodyPr wrap="square" lIns="0" tIns="0" rIns="0" bIns="0" rtlCol="0" anchor="t"/>
          <a:lstStyle/>
          <a:p>
            <a:pPr indent="0" marL="0">
              <a:lnSpc>
                <a:spcPct val="90000"/>
              </a:lnSpc>
              <a:buNone/>
            </a:pPr>
            <a:r>
              <a:rPr lang="en-US" sz="1600" b="1" dirty="0">
                <a:solidFill>
                  <a:srgbClr val="0F2D52"/>
                </a:solidFill>
                <a:latin typeface="Yu Gothic" pitchFamily="34" charset="0"/>
                <a:ea typeface="Yu Gothic" pitchFamily="34" charset="-122"/>
                <a:cs typeface="Yu Gothic" pitchFamily="34" charset="-120"/>
              </a:rPr>
              <a:t>英語（主）</a:t>
            </a:r>
            <a:endParaRPr lang="en-US" sz="1600" dirty="0"/>
          </a:p>
          <a:p>
            <a:pPr indent="0" marL="0">
              <a:lnSpc>
                <a:spcPct val="90000"/>
              </a:lnSpc>
              <a:buNone/>
            </a:pPr>
            <a:r>
              <a:rPr lang="en-US" sz="1000" i="1" dirty="0">
                <a:solidFill>
                  <a:srgbClr val="5F7183"/>
                </a:solidFill>
                <a:latin typeface="Calibri" pitchFamily="34" charset="0"/>
                <a:ea typeface="Calibri" pitchFamily="34" charset="-122"/>
                <a:cs typeface="Calibri" pitchFamily="34" charset="-120"/>
              </a:rPr>
              <a:t>English — primary</a:t>
            </a:r>
            <a:endParaRPr lang="en-US" sz="1600" dirty="0"/>
          </a:p>
        </p:txBody>
      </p:sp>
      <p:sp>
        <p:nvSpPr>
          <p:cNvPr id="6" name="Text 4"/>
          <p:cNvSpPr/>
          <p:nvPr/>
        </p:nvSpPr>
        <p:spPr>
          <a:xfrm>
            <a:off x="914400" y="3218688"/>
            <a:ext cx="4751680" cy="1938528"/>
          </a:xfrm>
          <a:prstGeom prst="rect">
            <a:avLst/>
          </a:prstGeom>
          <a:noFill/>
          <a:ln/>
        </p:spPr>
        <p:txBody>
          <a:bodyPr wrap="square" lIns="0" tIns="0" rIns="0" bIns="0" rtlCol="0" anchor="t"/>
          <a:lstStyle/>
          <a:p>
            <a:pPr indent="0" marL="0">
              <a:lnSpc>
                <a:spcPct val="94000"/>
              </a:lnSpc>
              <a:spcAft>
                <a:spcPts val="300"/>
              </a:spcAft>
              <a:buNone/>
            </a:pPr>
            <a:r>
              <a:rPr lang="en-US" sz="1250" b="1" dirty="0">
                <a:solidFill>
                  <a:srgbClr val="1B2733"/>
                </a:solidFill>
                <a:latin typeface="Yu Gothic" pitchFamily="34" charset="0"/>
                <a:ea typeface="Yu Gothic" pitchFamily="34" charset="-122"/>
                <a:cs typeface="Yu Gothic" pitchFamily="34" charset="-120"/>
              </a:rPr>
              <a:t>・"[相手], this is [自分]" → "Go ahead"</a:t>
            </a:r>
            <a:endParaRPr lang="en-US" sz="1250" dirty="0"/>
          </a:p>
          <a:p>
            <a:pPr indent="0" marL="0">
              <a:lnSpc>
                <a:spcPct val="94000"/>
              </a:lnSpc>
              <a:spcAft>
                <a:spcPts val="300"/>
              </a:spcAft>
              <a:buNone/>
            </a:pPr>
            <a:r>
              <a:rPr lang="en-US" sz="950" i="1" dirty="0">
                <a:solidFill>
                  <a:srgbClr val="5F7183"/>
                </a:solidFill>
                <a:latin typeface="Calibri" pitchFamily="34" charset="0"/>
                <a:ea typeface="Calibri" pitchFamily="34" charset="-122"/>
                <a:cs typeface="Calibri" pitchFamily="34" charset="-120"/>
              </a:rPr>
              <a:t>　 Open by naming them, then yourself</a:t>
            </a:r>
            <a:endParaRPr lang="en-US" sz="1250" dirty="0"/>
          </a:p>
          <a:p>
            <a:pPr indent="0" marL="0">
              <a:lnSpc>
                <a:spcPct val="94000"/>
              </a:lnSpc>
              <a:spcAft>
                <a:spcPts val="300"/>
              </a:spcAft>
              <a:buNone/>
            </a:pPr>
            <a:r>
              <a:rPr lang="en-US" sz="1250" b="1" dirty="0">
                <a:solidFill>
                  <a:srgbClr val="1B2733"/>
                </a:solidFill>
                <a:latin typeface="Yu Gothic" pitchFamily="34" charset="0"/>
                <a:ea typeface="Yu Gothic" pitchFamily="34" charset="-122"/>
                <a:cs typeface="Yu Gothic" pitchFamily="34" charset="-120"/>
              </a:rPr>
              <a:t>・Over ― 送信終わり、応答を求む</a:t>
            </a:r>
            <a:endParaRPr lang="en-US" sz="1250" dirty="0"/>
          </a:p>
          <a:p>
            <a:pPr indent="0" marL="0">
              <a:lnSpc>
                <a:spcPct val="94000"/>
              </a:lnSpc>
              <a:spcAft>
                <a:spcPts val="300"/>
              </a:spcAft>
              <a:buNone/>
            </a:pPr>
            <a:r>
              <a:rPr lang="en-US" sz="950" i="1" dirty="0">
                <a:solidFill>
                  <a:srgbClr val="5F7183"/>
                </a:solidFill>
                <a:latin typeface="Calibri" pitchFamily="34" charset="0"/>
                <a:ea typeface="Calibri" pitchFamily="34" charset="-122"/>
                <a:cs typeface="Calibri" pitchFamily="34" charset="-120"/>
              </a:rPr>
              <a:t>　 Over — I have finished, reply expected</a:t>
            </a:r>
            <a:endParaRPr lang="en-US" sz="1250" dirty="0"/>
          </a:p>
          <a:p>
            <a:pPr indent="0" marL="0">
              <a:lnSpc>
                <a:spcPct val="94000"/>
              </a:lnSpc>
              <a:spcAft>
                <a:spcPts val="300"/>
              </a:spcAft>
              <a:buNone/>
            </a:pPr>
            <a:r>
              <a:rPr lang="en-US" sz="1250" b="1" dirty="0">
                <a:solidFill>
                  <a:srgbClr val="1B2733"/>
                </a:solidFill>
                <a:latin typeface="Yu Gothic" pitchFamily="34" charset="0"/>
                <a:ea typeface="Yu Gothic" pitchFamily="34" charset="-122"/>
                <a:cs typeface="Yu Gothic" pitchFamily="34" charset="-120"/>
              </a:rPr>
              <a:t>・Out ― 交信終了（Over and out は使わない）</a:t>
            </a:r>
            <a:endParaRPr lang="en-US" sz="1250" dirty="0"/>
          </a:p>
          <a:p>
            <a:pPr indent="0" marL="0">
              <a:lnSpc>
                <a:spcPct val="94000"/>
              </a:lnSpc>
              <a:spcAft>
                <a:spcPts val="300"/>
              </a:spcAft>
              <a:buNone/>
            </a:pPr>
            <a:r>
              <a:rPr lang="en-US" sz="950" i="1" dirty="0">
                <a:solidFill>
                  <a:srgbClr val="5F7183"/>
                </a:solidFill>
                <a:latin typeface="Calibri" pitchFamily="34" charset="0"/>
                <a:ea typeface="Calibri" pitchFamily="34" charset="-122"/>
                <a:cs typeface="Calibri" pitchFamily="34" charset="-120"/>
              </a:rPr>
              <a:t>　 Out — exchange complete. Never "over and out"</a:t>
            </a:r>
            <a:endParaRPr lang="en-US" sz="1250" dirty="0"/>
          </a:p>
          <a:p>
            <a:pPr indent="0" marL="0">
              <a:lnSpc>
                <a:spcPct val="94000"/>
              </a:lnSpc>
              <a:spcAft>
                <a:spcPts val="300"/>
              </a:spcAft>
              <a:buNone/>
            </a:pPr>
            <a:r>
              <a:rPr lang="en-US" sz="1250" b="1" dirty="0">
                <a:solidFill>
                  <a:srgbClr val="1B2733"/>
                </a:solidFill>
                <a:latin typeface="Yu Gothic" pitchFamily="34" charset="0"/>
                <a:ea typeface="Yu Gothic" pitchFamily="34" charset="-122"/>
                <a:cs typeface="Yu Gothic" pitchFamily="34" charset="-120"/>
              </a:rPr>
              <a:t>・Say again ― 再送を求める（Repeat は使わない）</a:t>
            </a:r>
            <a:endParaRPr lang="en-US" sz="1250" dirty="0"/>
          </a:p>
          <a:p>
            <a:pPr indent="0" marL="0">
              <a:lnSpc>
                <a:spcPct val="94000"/>
              </a:lnSpc>
              <a:spcAft>
                <a:spcPts val="300"/>
              </a:spcAft>
              <a:buNone/>
            </a:pPr>
            <a:r>
              <a:rPr lang="en-US" sz="950" i="1" dirty="0">
                <a:solidFill>
                  <a:srgbClr val="5F7183"/>
                </a:solidFill>
                <a:latin typeface="Calibri" pitchFamily="34" charset="0"/>
                <a:ea typeface="Calibri" pitchFamily="34" charset="-122"/>
                <a:cs typeface="Calibri" pitchFamily="34" charset="-120"/>
              </a:rPr>
              <a:t>　 Say again — never "repeat"</a:t>
            </a:r>
            <a:endParaRPr lang="en-US" sz="1250" dirty="0"/>
          </a:p>
          <a:p>
            <a:pPr indent="0" marL="0">
              <a:lnSpc>
                <a:spcPct val="94000"/>
              </a:lnSpc>
              <a:spcAft>
                <a:spcPts val="300"/>
              </a:spcAft>
              <a:buNone/>
            </a:pPr>
            <a:r>
              <a:rPr lang="en-US" sz="1250" b="1" dirty="0">
                <a:solidFill>
                  <a:srgbClr val="1B2733"/>
                </a:solidFill>
                <a:latin typeface="Yu Gothic" pitchFamily="34" charset="0"/>
                <a:ea typeface="Yu Gothic" pitchFamily="34" charset="-122"/>
                <a:cs typeface="Yu Gothic" pitchFamily="34" charset="-120"/>
              </a:rPr>
              <a:t>・Roger / Copy ― 受信了解　Stand by ― 待て</a:t>
            </a:r>
            <a:endParaRPr lang="en-US" sz="1250" dirty="0"/>
          </a:p>
          <a:p>
            <a:pPr indent="0" marL="0">
              <a:lnSpc>
                <a:spcPct val="94000"/>
              </a:lnSpc>
              <a:spcAft>
                <a:spcPts val="300"/>
              </a:spcAft>
              <a:buNone/>
            </a:pPr>
            <a:r>
              <a:rPr lang="en-US" sz="950" i="1" dirty="0">
                <a:solidFill>
                  <a:srgbClr val="5F7183"/>
                </a:solidFill>
                <a:latin typeface="Calibri" pitchFamily="34" charset="0"/>
                <a:ea typeface="Calibri" pitchFamily="34" charset="-122"/>
                <a:cs typeface="Calibri" pitchFamily="34" charset="-120"/>
              </a:rPr>
              <a:t>　 Roger, Copy — received. Stand by — wait</a:t>
            </a:r>
            <a:endParaRPr lang="en-US" sz="1250" dirty="0"/>
          </a:p>
        </p:txBody>
      </p:sp>
      <p:sp>
        <p:nvSpPr>
          <p:cNvPr id="7" name="Shape 5"/>
          <p:cNvSpPr/>
          <p:nvPr/>
        </p:nvSpPr>
        <p:spPr>
          <a:xfrm>
            <a:off x="6251296" y="2231136"/>
            <a:ext cx="5300320" cy="3163824"/>
          </a:xfrm>
          <a:prstGeom prst="roundRect">
            <a:avLst>
              <a:gd name="adj" fmla="val 1445"/>
            </a:avLst>
          </a:prstGeom>
          <a:solidFill>
            <a:srgbClr val="E4F4F0"/>
          </a:solidFill>
          <a:ln/>
        </p:spPr>
      </p:sp>
      <p:sp>
        <p:nvSpPr>
          <p:cNvPr id="8" name="Text 6"/>
          <p:cNvSpPr/>
          <p:nvPr/>
        </p:nvSpPr>
        <p:spPr>
          <a:xfrm>
            <a:off x="6525616" y="2450592"/>
            <a:ext cx="4751680" cy="676656"/>
          </a:xfrm>
          <a:prstGeom prst="rect">
            <a:avLst/>
          </a:prstGeom>
          <a:noFill/>
          <a:ln/>
        </p:spPr>
        <p:txBody>
          <a:bodyPr wrap="square" lIns="0" tIns="0" rIns="0" bIns="0" rtlCol="0" anchor="t"/>
          <a:lstStyle/>
          <a:p>
            <a:pPr indent="0" marL="0">
              <a:lnSpc>
                <a:spcPct val="90000"/>
              </a:lnSpc>
              <a:buNone/>
            </a:pPr>
            <a:r>
              <a:rPr lang="en-US" sz="1600" b="1" dirty="0">
                <a:solidFill>
                  <a:srgbClr val="0E8C79"/>
                </a:solidFill>
                <a:latin typeface="Yu Gothic" pitchFamily="34" charset="0"/>
                <a:ea typeface="Yu Gothic" pitchFamily="34" charset="-122"/>
                <a:cs typeface="Yu Gothic" pitchFamily="34" charset="-120"/>
              </a:rPr>
              <a:t>日本語（副）</a:t>
            </a:r>
            <a:endParaRPr lang="en-US" sz="1600" dirty="0"/>
          </a:p>
          <a:p>
            <a:pPr indent="0" marL="0">
              <a:lnSpc>
                <a:spcPct val="90000"/>
              </a:lnSpc>
              <a:buNone/>
            </a:pPr>
            <a:r>
              <a:rPr lang="en-US" sz="1000" i="1" dirty="0">
                <a:solidFill>
                  <a:srgbClr val="5F7183"/>
                </a:solidFill>
                <a:latin typeface="Calibri" pitchFamily="34" charset="0"/>
                <a:ea typeface="Calibri" pitchFamily="34" charset="-122"/>
                <a:cs typeface="Calibri" pitchFamily="34" charset="-120"/>
              </a:rPr>
              <a:t>Japanese — secondary</a:t>
            </a:r>
            <a:endParaRPr lang="en-US" sz="1600" dirty="0"/>
          </a:p>
        </p:txBody>
      </p:sp>
      <p:sp>
        <p:nvSpPr>
          <p:cNvPr id="9" name="Text 7"/>
          <p:cNvSpPr/>
          <p:nvPr/>
        </p:nvSpPr>
        <p:spPr>
          <a:xfrm>
            <a:off x="6525616" y="3218688"/>
            <a:ext cx="4751680" cy="1938528"/>
          </a:xfrm>
          <a:prstGeom prst="rect">
            <a:avLst/>
          </a:prstGeom>
          <a:noFill/>
          <a:ln/>
        </p:spPr>
        <p:txBody>
          <a:bodyPr wrap="square" lIns="0" tIns="0" rIns="0" bIns="0" rtlCol="0" anchor="t"/>
          <a:lstStyle/>
          <a:p>
            <a:pPr indent="0" marL="0">
              <a:lnSpc>
                <a:spcPct val="94000"/>
              </a:lnSpc>
              <a:spcAft>
                <a:spcPts val="300"/>
              </a:spcAft>
              <a:buNone/>
            </a:pPr>
            <a:r>
              <a:rPr lang="en-US" sz="1250" b="1" dirty="0">
                <a:solidFill>
                  <a:srgbClr val="1B2733"/>
                </a:solidFill>
                <a:latin typeface="Yu Gothic" pitchFamily="34" charset="0"/>
                <a:ea typeface="Yu Gothic" pitchFamily="34" charset="-122"/>
                <a:cs typeface="Yu Gothic" pitchFamily="34" charset="-120"/>
              </a:rPr>
              <a:t>・「◯◯、こちら△△、どうぞ」</a:t>
            </a:r>
            <a:endParaRPr lang="en-US" sz="1250" dirty="0"/>
          </a:p>
          <a:p>
            <a:pPr indent="0" marL="0">
              <a:lnSpc>
                <a:spcPct val="94000"/>
              </a:lnSpc>
              <a:spcAft>
                <a:spcPts val="300"/>
              </a:spcAft>
              <a:buNone/>
            </a:pPr>
            <a:r>
              <a:rPr lang="en-US" sz="950" i="1" dirty="0">
                <a:solidFill>
                  <a:srgbClr val="5F7183"/>
                </a:solidFill>
                <a:latin typeface="Calibri" pitchFamily="34" charset="0"/>
                <a:ea typeface="Calibri" pitchFamily="34" charset="-122"/>
                <a:cs typeface="Calibri" pitchFamily="34" charset="-120"/>
              </a:rPr>
              <a:t>　 Name them, name yourself, then hand over</a:t>
            </a:r>
            <a:endParaRPr lang="en-US" sz="1250" dirty="0"/>
          </a:p>
          <a:p>
            <a:pPr indent="0" marL="0">
              <a:lnSpc>
                <a:spcPct val="94000"/>
              </a:lnSpc>
              <a:spcAft>
                <a:spcPts val="300"/>
              </a:spcAft>
              <a:buNone/>
            </a:pPr>
            <a:r>
              <a:rPr lang="en-US" sz="1250" b="1" dirty="0">
                <a:solidFill>
                  <a:srgbClr val="1B2733"/>
                </a:solidFill>
                <a:latin typeface="Yu Gothic" pitchFamily="34" charset="0"/>
                <a:ea typeface="Yu Gothic" pitchFamily="34" charset="-122"/>
                <a:cs typeface="Yu Gothic" pitchFamily="34" charset="-120"/>
              </a:rPr>
              <a:t>・「どうぞ」― 送信終わり</a:t>
            </a:r>
            <a:endParaRPr lang="en-US" sz="1250" dirty="0"/>
          </a:p>
          <a:p>
            <a:pPr indent="0" marL="0">
              <a:lnSpc>
                <a:spcPct val="94000"/>
              </a:lnSpc>
              <a:spcAft>
                <a:spcPts val="300"/>
              </a:spcAft>
              <a:buNone/>
            </a:pPr>
            <a:r>
              <a:rPr lang="en-US" sz="950" i="1" dirty="0">
                <a:solidFill>
                  <a:srgbClr val="5F7183"/>
                </a:solidFill>
                <a:latin typeface="Calibri" pitchFamily="34" charset="0"/>
                <a:ea typeface="Calibri" pitchFamily="34" charset="-122"/>
                <a:cs typeface="Calibri" pitchFamily="34" charset="-120"/>
              </a:rPr>
              <a:t>　 Dōzo — over to you</a:t>
            </a:r>
            <a:endParaRPr lang="en-US" sz="1250" dirty="0"/>
          </a:p>
          <a:p>
            <a:pPr indent="0" marL="0">
              <a:lnSpc>
                <a:spcPct val="94000"/>
              </a:lnSpc>
              <a:spcAft>
                <a:spcPts val="300"/>
              </a:spcAft>
              <a:buNone/>
            </a:pPr>
            <a:r>
              <a:rPr lang="en-US" sz="1250" b="1" dirty="0">
                <a:solidFill>
                  <a:srgbClr val="1B2733"/>
                </a:solidFill>
                <a:latin typeface="Yu Gothic" pitchFamily="34" charset="0"/>
                <a:ea typeface="Yu Gothic" pitchFamily="34" charset="-122"/>
                <a:cs typeface="Yu Gothic" pitchFamily="34" charset="-120"/>
              </a:rPr>
              <a:t>・「以上」― 交信終了</a:t>
            </a:r>
            <a:endParaRPr lang="en-US" sz="1250" dirty="0"/>
          </a:p>
          <a:p>
            <a:pPr indent="0" marL="0">
              <a:lnSpc>
                <a:spcPct val="94000"/>
              </a:lnSpc>
              <a:spcAft>
                <a:spcPts val="300"/>
              </a:spcAft>
              <a:buNone/>
            </a:pPr>
            <a:r>
              <a:rPr lang="en-US" sz="950" i="1" dirty="0">
                <a:solidFill>
                  <a:srgbClr val="5F7183"/>
                </a:solidFill>
                <a:latin typeface="Calibri" pitchFamily="34" charset="0"/>
                <a:ea typeface="Calibri" pitchFamily="34" charset="-122"/>
                <a:cs typeface="Calibri" pitchFamily="34" charset="-120"/>
              </a:rPr>
              <a:t>　 Ijō — out</a:t>
            </a:r>
            <a:endParaRPr lang="en-US" sz="1250" dirty="0"/>
          </a:p>
          <a:p>
            <a:pPr indent="0" marL="0">
              <a:lnSpc>
                <a:spcPct val="94000"/>
              </a:lnSpc>
              <a:spcAft>
                <a:spcPts val="300"/>
              </a:spcAft>
              <a:buNone/>
            </a:pPr>
            <a:r>
              <a:rPr lang="en-US" sz="1250" b="1" dirty="0">
                <a:solidFill>
                  <a:srgbClr val="1B2733"/>
                </a:solidFill>
                <a:latin typeface="Yu Gothic" pitchFamily="34" charset="0"/>
                <a:ea typeface="Yu Gothic" pitchFamily="34" charset="-122"/>
                <a:cs typeface="Yu Gothic" pitchFamily="34" charset="-120"/>
              </a:rPr>
              <a:t>・「再送願います」「待て」「了解」</a:t>
            </a:r>
            <a:endParaRPr lang="en-US" sz="1250" dirty="0"/>
          </a:p>
          <a:p>
            <a:pPr indent="0" marL="0">
              <a:lnSpc>
                <a:spcPct val="94000"/>
              </a:lnSpc>
              <a:spcAft>
                <a:spcPts val="300"/>
              </a:spcAft>
              <a:buNone/>
            </a:pPr>
            <a:r>
              <a:rPr lang="en-US" sz="950" i="1" dirty="0">
                <a:solidFill>
                  <a:srgbClr val="5F7183"/>
                </a:solidFill>
                <a:latin typeface="Calibri" pitchFamily="34" charset="0"/>
                <a:ea typeface="Calibri" pitchFamily="34" charset="-122"/>
                <a:cs typeface="Calibri" pitchFamily="34" charset="-120"/>
              </a:rPr>
              <a:t>　 Say again / stand by / roger</a:t>
            </a:r>
            <a:endParaRPr lang="en-US" sz="1250" dirty="0"/>
          </a:p>
          <a:p>
            <a:pPr indent="0" marL="0">
              <a:lnSpc>
                <a:spcPct val="94000"/>
              </a:lnSpc>
              <a:spcAft>
                <a:spcPts val="300"/>
              </a:spcAft>
              <a:buNone/>
            </a:pPr>
            <a:r>
              <a:rPr lang="en-US" sz="1250" b="1" dirty="0">
                <a:solidFill>
                  <a:srgbClr val="1B2733"/>
                </a:solidFill>
                <a:latin typeface="Yu Gothic" pitchFamily="34" charset="0"/>
                <a:ea typeface="Yu Gothic" pitchFamily="34" charset="-122"/>
                <a:cs typeface="Yu Gothic" pitchFamily="34" charset="-120"/>
              </a:rPr>
              <a:t>・数字は一桁ずつ（7＝なな、0＝まる）</a:t>
            </a:r>
            <a:endParaRPr lang="en-US" sz="1250" dirty="0"/>
          </a:p>
          <a:p>
            <a:pPr indent="0" marL="0">
              <a:lnSpc>
                <a:spcPct val="94000"/>
              </a:lnSpc>
              <a:spcAft>
                <a:spcPts val="300"/>
              </a:spcAft>
              <a:buNone/>
            </a:pPr>
            <a:r>
              <a:rPr lang="en-US" sz="950" i="1" dirty="0">
                <a:solidFill>
                  <a:srgbClr val="5F7183"/>
                </a:solidFill>
                <a:latin typeface="Calibri" pitchFamily="34" charset="0"/>
                <a:ea typeface="Calibri" pitchFamily="34" charset="-122"/>
                <a:cs typeface="Calibri" pitchFamily="34" charset="-120"/>
              </a:rPr>
              <a:t>　 Numbers digit by digit</a:t>
            </a:r>
            <a:endParaRPr lang="en-US" sz="1250" dirty="0"/>
          </a:p>
        </p:txBody>
      </p:sp>
      <p:sp>
        <p:nvSpPr>
          <p:cNvPr id="10" name="Text 8"/>
          <p:cNvSpPr/>
          <p:nvPr/>
        </p:nvSpPr>
        <p:spPr>
          <a:xfrm>
            <a:off x="640080" y="5614416"/>
            <a:ext cx="10911535" cy="621792"/>
          </a:xfrm>
          <a:prstGeom prst="rect">
            <a:avLst/>
          </a:prstGeom>
          <a:noFill/>
          <a:ln/>
        </p:spPr>
        <p:txBody>
          <a:bodyPr wrap="square" lIns="0" tIns="0" rIns="0" bIns="0" rtlCol="0" anchor="t"/>
          <a:lstStyle/>
          <a:p>
            <a:pPr algn="l" indent="0" marL="0">
              <a:lnSpc>
                <a:spcPct val="92000"/>
              </a:lnSpc>
              <a:buNone/>
            </a:pPr>
            <a:r>
              <a:rPr lang="en-US" sz="1300" b="1" dirty="0">
                <a:solidFill>
                  <a:srgbClr val="0E8C79"/>
                </a:solidFill>
                <a:latin typeface="Yu Gothic" pitchFamily="34" charset="0"/>
                <a:ea typeface="Yu Gothic" pitchFamily="34" charset="-122"/>
                <a:cs typeface="Yu Gothic" pitchFamily="34" charset="-120"/>
              </a:rPr>
              <a:t>原則：平文で話す。符丁（ten-codes）を使わない。個人名・個人情報を無線に乗せない。　＜参考＞NATO: Alpha, Bravo, Charlie… ／ 和文通話表: 朝日のア、いろはのイ…</a:t>
            </a:r>
            <a:endParaRPr lang="en-US" sz="1300" dirty="0"/>
          </a:p>
          <a:p>
            <a:pPr algn="l" indent="0" marL="0">
              <a:lnSpc>
                <a:spcPct val="92000"/>
              </a:lnSpc>
              <a:buNone/>
            </a:pPr>
            <a:r>
              <a:rPr lang="en-US" sz="1000" i="1" dirty="0">
                <a:solidFill>
                  <a:srgbClr val="5F7183"/>
                </a:solidFill>
                <a:latin typeface="Calibri" pitchFamily="34" charset="0"/>
                <a:ea typeface="Calibri" pitchFamily="34" charset="-122"/>
                <a:cs typeface="Calibri" pitchFamily="34" charset="-120"/>
              </a:rPr>
              <a:t>Rules: plain language, no ten-codes, no personal data over the air. (Reference only: NATO and Japanese phonetic alphabets.)</a:t>
            </a:r>
            <a:endParaRPr lang="en-US" sz="1300" dirty="0"/>
          </a:p>
        </p:txBody>
      </p:sp>
      <p:sp>
        <p:nvSpPr>
          <p:cNvPr id="11" name="Text 9"/>
          <p:cNvSpPr/>
          <p:nvPr/>
        </p:nvSpPr>
        <p:spPr>
          <a:xfrm>
            <a:off x="640080" y="6382512"/>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第10時限｜業務別教育6 警報装置その他当該警備業務を実施するために使用する機器の使用方法  </a:t>
            </a:r>
            <a:pPr indent="0" marL="0">
              <a:buNone/>
            </a:pPr>
            <a:r>
              <a:rPr lang="en-US" sz="850" i="1" dirty="0">
                <a:solidFill>
                  <a:srgbClr val="D6E0E9"/>
                </a:solidFill>
                <a:latin typeface="Calibri" pitchFamily="34" charset="0"/>
                <a:ea typeface="Calibri" pitchFamily="34" charset="-122"/>
                <a:cs typeface="Calibri" pitchFamily="34" charset="-120"/>
              </a:rPr>
              <a:t>Period 10 | Task-Specific Training 6 — Security Equipment</a:t>
            </a:r>
            <a:endParaRPr lang="en-US" sz="900" dirty="0"/>
          </a:p>
        </p:txBody>
      </p:sp>
      <p:sp>
        <p:nvSpPr>
          <p:cNvPr id="12" name="Text 10"/>
          <p:cNvSpPr/>
          <p:nvPr/>
        </p:nvSpPr>
        <p:spPr>
          <a:xfrm>
            <a:off x="10637215" y="6382512"/>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9805111" cy="960120"/>
          </a:xfrm>
          <a:prstGeom prst="rect">
            <a:avLst/>
          </a:prstGeom>
          <a:noFill/>
          <a:ln/>
        </p:spPr>
        <p:txBody>
          <a:bodyPr wrap="square" lIns="0" tIns="0" rIns="0" bIns="0" rtlCol="0" anchor="t"/>
          <a:lstStyle/>
          <a:p>
            <a:pPr indent="0" marL="0">
              <a:lnSpc>
                <a:spcPct val="94000"/>
              </a:lnSpc>
              <a:buNone/>
            </a:pPr>
            <a:r>
              <a:rPr lang="en-US" sz="2700" b="1" dirty="0">
                <a:solidFill>
                  <a:srgbClr val="0F2D52"/>
                </a:solidFill>
                <a:latin typeface="Yu Gothic" pitchFamily="34" charset="0"/>
                <a:ea typeface="Yu Gothic" pitchFamily="34" charset="-122"/>
                <a:cs typeface="Yu Gothic" pitchFamily="34" charset="-120"/>
              </a:rPr>
              <a:t>ログとカメラ画像は「証拠」</a:t>
            </a:r>
            <a:endParaRPr lang="en-US" sz="2700" dirty="0"/>
          </a:p>
          <a:p>
            <a:pPr indent="0" marL="0">
              <a:lnSpc>
                <a:spcPct val="94000"/>
              </a:lnSpc>
              <a:buNone/>
            </a:pPr>
            <a:r>
              <a:rPr lang="en-US" sz="1250" i="1" dirty="0">
                <a:solidFill>
                  <a:srgbClr val="17AF98"/>
                </a:solidFill>
                <a:latin typeface="Calibri" pitchFamily="34" charset="0"/>
                <a:ea typeface="Calibri" pitchFamily="34" charset="-122"/>
                <a:cs typeface="Calibri" pitchFamily="34" charset="-120"/>
              </a:rPr>
              <a:t>Logs and Footage Are Evidence</a:t>
            </a:r>
            <a:endParaRPr lang="en-US" sz="2700" dirty="0"/>
          </a:p>
        </p:txBody>
      </p:sp>
      <p:sp>
        <p:nvSpPr>
          <p:cNvPr id="3" name="Shape 1"/>
          <p:cNvSpPr/>
          <p:nvPr/>
        </p:nvSpPr>
        <p:spPr>
          <a:xfrm>
            <a:off x="640080" y="1627632"/>
            <a:ext cx="10911535" cy="2395728"/>
          </a:xfrm>
          <a:prstGeom prst="roundRect">
            <a:avLst>
              <a:gd name="adj" fmla="val 1908"/>
            </a:avLst>
          </a:prstGeom>
          <a:solidFill>
            <a:srgbClr val="0F2D52"/>
          </a:solidFill>
          <a:ln/>
        </p:spPr>
      </p:sp>
      <p:sp>
        <p:nvSpPr>
          <p:cNvPr id="4" name="Text 2"/>
          <p:cNvSpPr/>
          <p:nvPr/>
        </p:nvSpPr>
        <p:spPr>
          <a:xfrm>
            <a:off x="1097280" y="1938528"/>
            <a:ext cx="9997135" cy="1014984"/>
          </a:xfrm>
          <a:prstGeom prst="rect">
            <a:avLst/>
          </a:prstGeom>
          <a:noFill/>
          <a:ln/>
        </p:spPr>
        <p:txBody>
          <a:bodyPr wrap="square" lIns="0" tIns="0" rIns="0" bIns="0" rtlCol="0" anchor="t"/>
          <a:lstStyle/>
          <a:p>
            <a:pPr indent="0" marL="0">
              <a:lnSpc>
                <a:spcPct val="102000"/>
              </a:lnSpc>
              <a:buNone/>
            </a:pPr>
            <a:r>
              <a:rPr lang="en-US" sz="1600" b="1" dirty="0">
                <a:solidFill>
                  <a:srgbClr val="FFFFFF"/>
                </a:solidFill>
                <a:latin typeface="Yu Gothic" pitchFamily="34" charset="0"/>
                <a:ea typeface="Yu Gothic" pitchFamily="34" charset="-122"/>
                <a:cs typeface="Yu Gothic" pitchFamily="34" charset="-120"/>
              </a:rPr>
              <a:t>入退室ログとカメラ画像は、後の調査・懲戒・訴訟で証拠になります。</a:t>
            </a:r>
            <a:endParaRPr lang="en-US" sz="1600" dirty="0"/>
          </a:p>
          <a:p>
            <a:pPr indent="0" marL="0">
              <a:lnSpc>
                <a:spcPct val="102000"/>
              </a:lnSpc>
              <a:buNone/>
            </a:pPr>
            <a:r>
              <a:rPr lang="en-US" sz="1600" b="1" dirty="0">
                <a:solidFill>
                  <a:srgbClr val="FFFFFF"/>
                </a:solidFill>
                <a:latin typeface="Yu Gothic" pitchFamily="34" charset="0"/>
                <a:ea typeface="Yu Gothic" pitchFamily="34" charset="-122"/>
                <a:cs typeface="Yu Gothic" pitchFamily="34" charset="-120"/>
              </a:rPr>
              <a:t>同時に、それは個人情報でもあります。</a:t>
            </a:r>
            <a:endParaRPr lang="en-US" sz="1600" dirty="0"/>
          </a:p>
        </p:txBody>
      </p:sp>
      <p:sp>
        <p:nvSpPr>
          <p:cNvPr id="5" name="Text 3"/>
          <p:cNvSpPr/>
          <p:nvPr/>
        </p:nvSpPr>
        <p:spPr>
          <a:xfrm>
            <a:off x="1097280" y="2971800"/>
            <a:ext cx="9997135" cy="795528"/>
          </a:xfrm>
          <a:prstGeom prst="rect">
            <a:avLst/>
          </a:prstGeom>
          <a:noFill/>
          <a:ln/>
        </p:spPr>
        <p:txBody>
          <a:bodyPr wrap="square" lIns="0" tIns="0" rIns="0" bIns="0" rtlCol="0" anchor="t"/>
          <a:lstStyle/>
          <a:p>
            <a:pPr indent="0" marL="0">
              <a:lnSpc>
                <a:spcPct val="100000"/>
              </a:lnSpc>
              <a:buNone/>
            </a:pPr>
            <a:r>
              <a:rPr lang="en-US" sz="1100" i="1" dirty="0">
                <a:solidFill>
                  <a:srgbClr val="9FD8CD"/>
                </a:solidFill>
                <a:latin typeface="Calibri" pitchFamily="34" charset="0"/>
                <a:ea typeface="Calibri" pitchFamily="34" charset="-122"/>
                <a:cs typeface="Calibri" pitchFamily="34" charset="-120"/>
              </a:rPr>
              <a:t>Access logs and camera footage become evidence in later investigations, disciplinary action and litigation.</a:t>
            </a:r>
            <a:endParaRPr lang="en-US" sz="1100" dirty="0"/>
          </a:p>
          <a:p>
            <a:pPr indent="0" marL="0">
              <a:lnSpc>
                <a:spcPct val="100000"/>
              </a:lnSpc>
              <a:buNone/>
            </a:pPr>
            <a:r>
              <a:rPr lang="en-US" sz="1100" i="1" dirty="0">
                <a:solidFill>
                  <a:srgbClr val="9FD8CD"/>
                </a:solidFill>
                <a:latin typeface="Calibri" pitchFamily="34" charset="0"/>
                <a:ea typeface="Calibri" pitchFamily="34" charset="-122"/>
                <a:cs typeface="Calibri" pitchFamily="34" charset="-120"/>
              </a:rPr>
              <a:t>They are also personal data.</a:t>
            </a:r>
            <a:endParaRPr lang="en-US" sz="1100" dirty="0"/>
          </a:p>
        </p:txBody>
      </p:sp>
      <p:sp>
        <p:nvSpPr>
          <p:cNvPr id="6" name="Shape 4"/>
          <p:cNvSpPr/>
          <p:nvPr/>
        </p:nvSpPr>
        <p:spPr>
          <a:xfrm>
            <a:off x="640080" y="4937760"/>
            <a:ext cx="10911535" cy="1298448"/>
          </a:xfrm>
          <a:prstGeom prst="roundRect">
            <a:avLst>
              <a:gd name="adj" fmla="val 3521"/>
            </a:avLst>
          </a:prstGeom>
          <a:solidFill>
            <a:srgbClr val="E4F4F0"/>
          </a:solidFill>
          <a:ln/>
        </p:spPr>
      </p:sp>
      <p:sp>
        <p:nvSpPr>
          <p:cNvPr id="7" name="Shape 5"/>
          <p:cNvSpPr/>
          <p:nvPr/>
        </p:nvSpPr>
        <p:spPr>
          <a:xfrm>
            <a:off x="914400" y="5404104"/>
            <a:ext cx="365760" cy="365760"/>
          </a:xfrm>
          <a:prstGeom prst="ellipse">
            <a:avLst/>
          </a:prstGeom>
          <a:solidFill>
            <a:srgbClr val="17AF98"/>
          </a:solidFill>
          <a:ln/>
        </p:spPr>
      </p:sp>
      <p:sp>
        <p:nvSpPr>
          <p:cNvPr id="8" name="Text 6"/>
          <p:cNvSpPr/>
          <p:nvPr/>
        </p:nvSpPr>
        <p:spPr>
          <a:xfrm>
            <a:off x="914400" y="540410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9" name="Text 7"/>
          <p:cNvSpPr/>
          <p:nvPr/>
        </p:nvSpPr>
        <p:spPr>
          <a:xfrm>
            <a:off x="1499616" y="5047488"/>
            <a:ext cx="9722815" cy="1078992"/>
          </a:xfrm>
          <a:prstGeom prst="rect">
            <a:avLst/>
          </a:prstGeom>
          <a:noFill/>
          <a:ln/>
        </p:spPr>
        <p:txBody>
          <a:bodyPr wrap="square" lIns="0" tIns="0" rIns="0" bIns="0" rtlCol="0" anchor="ctr"/>
          <a:lstStyle/>
          <a:p>
            <a:pPr indent="0" marL="0">
              <a:lnSpc>
                <a:spcPct val="95000"/>
              </a:lnSpc>
              <a:buNone/>
            </a:pPr>
            <a:r>
              <a:rPr lang="en-US" sz="1450" b="1" dirty="0">
                <a:solidFill>
                  <a:srgbClr val="0F2D52"/>
                </a:solidFill>
                <a:latin typeface="Yu Gothic" pitchFamily="34" charset="0"/>
                <a:ea typeface="Yu Gothic" pitchFamily="34" charset="-122"/>
                <a:cs typeface="Yu Gothic" pitchFamily="34" charset="-120"/>
              </a:rPr>
              <a:t>目的外に見ない／持ち出さない／撮影しない／上書きされる前に「保全」を依頼する。保全依頼は、あなたが最初に気づく立場にあります。</a:t>
            </a:r>
            <a:endParaRPr lang="en-US" sz="1450" dirty="0"/>
          </a:p>
          <a:p>
            <a:pPr indent="0" marL="0">
              <a:lnSpc>
                <a:spcPct val="95000"/>
              </a:lnSpc>
              <a:buNone/>
            </a:pPr>
            <a:r>
              <a:rPr lang="en-US" sz="1000" i="1" dirty="0">
                <a:solidFill>
                  <a:srgbClr val="0E8C79"/>
                </a:solidFill>
                <a:latin typeface="Calibri" pitchFamily="34" charset="0"/>
                <a:ea typeface="Calibri" pitchFamily="34" charset="-122"/>
                <a:cs typeface="Calibri" pitchFamily="34" charset="-120"/>
              </a:rPr>
              <a:t>Do not view outside purpose, remove, or photograph it — and request preservation before it is overwritten. You are usually the first person in a position to notice.</a:t>
            </a:r>
            <a:endParaRPr lang="en-US" sz="1450" dirty="0"/>
          </a:p>
        </p:txBody>
      </p:sp>
      <p:sp>
        <p:nvSpPr>
          <p:cNvPr id="10" name="Text 8"/>
          <p:cNvSpPr/>
          <p:nvPr/>
        </p:nvSpPr>
        <p:spPr>
          <a:xfrm>
            <a:off x="640080" y="6382512"/>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第10時限｜業務別教育6 警報装置その他当該警備業務を実施するために使用する機器の使用方法  </a:t>
            </a:r>
            <a:pPr indent="0" marL="0">
              <a:buNone/>
            </a:pPr>
            <a:r>
              <a:rPr lang="en-US" sz="850" i="1" dirty="0">
                <a:solidFill>
                  <a:srgbClr val="D6E0E9"/>
                </a:solidFill>
                <a:latin typeface="Calibri" pitchFamily="34" charset="0"/>
                <a:ea typeface="Calibri" pitchFamily="34" charset="-122"/>
                <a:cs typeface="Calibri" pitchFamily="34" charset="-120"/>
              </a:rPr>
              <a:t>Period 10 | Task-Specific Training 6 — Security Equipment</a:t>
            </a:r>
            <a:endParaRPr lang="en-US" sz="900" dirty="0"/>
          </a:p>
        </p:txBody>
      </p:sp>
      <p:sp>
        <p:nvSpPr>
          <p:cNvPr id="11" name="Text 9"/>
          <p:cNvSpPr/>
          <p:nvPr/>
        </p:nvSpPr>
        <p:spPr>
          <a:xfrm>
            <a:off x="10637215" y="6382512"/>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9805111" cy="960120"/>
          </a:xfrm>
          <a:prstGeom prst="rect">
            <a:avLst/>
          </a:prstGeom>
          <a:noFill/>
          <a:ln/>
        </p:spPr>
        <p:txBody>
          <a:bodyPr wrap="square" lIns="0" tIns="0" rIns="0" bIns="0" rtlCol="0" anchor="t"/>
          <a:lstStyle/>
          <a:p>
            <a:pPr indent="0" marL="0">
              <a:lnSpc>
                <a:spcPct val="94000"/>
              </a:lnSpc>
              <a:buNone/>
            </a:pPr>
            <a:r>
              <a:rPr lang="en-US" sz="2700" b="1" dirty="0">
                <a:solidFill>
                  <a:srgbClr val="0F2D52"/>
                </a:solidFill>
                <a:latin typeface="Yu Gothic" pitchFamily="34" charset="0"/>
                <a:ea typeface="Yu Gothic" pitchFamily="34" charset="-122"/>
                <a:cs typeface="Yu Gothic" pitchFamily="34" charset="-120"/>
              </a:rPr>
              <a:t>TTX⑤ 総合演習</a:t>
            </a:r>
            <a:endParaRPr lang="en-US" sz="2700" dirty="0"/>
          </a:p>
          <a:p>
            <a:pPr indent="0" marL="0">
              <a:lnSpc>
                <a:spcPct val="94000"/>
              </a:lnSpc>
              <a:buNone/>
            </a:pPr>
            <a:r>
              <a:rPr lang="en-US" sz="1250" i="1" dirty="0">
                <a:solidFill>
                  <a:srgbClr val="17AF98"/>
                </a:solidFill>
                <a:latin typeface="Calibri" pitchFamily="34" charset="0"/>
                <a:ea typeface="Calibri" pitchFamily="34" charset="-122"/>
                <a:cs typeface="Calibri" pitchFamily="34" charset="-120"/>
              </a:rPr>
              <a:t>TTX ⑤ — Integrated Exercise</a:t>
            </a:r>
            <a:endParaRPr lang="en-US" sz="2700" dirty="0"/>
          </a:p>
        </p:txBody>
      </p:sp>
      <p:sp>
        <p:nvSpPr>
          <p:cNvPr id="3" name="Shape 1"/>
          <p:cNvSpPr/>
          <p:nvPr/>
        </p:nvSpPr>
        <p:spPr>
          <a:xfrm>
            <a:off x="640080" y="1627632"/>
            <a:ext cx="10911535" cy="1719072"/>
          </a:xfrm>
          <a:prstGeom prst="roundRect">
            <a:avLst>
              <a:gd name="adj" fmla="val 2660"/>
            </a:avLst>
          </a:prstGeom>
          <a:solidFill>
            <a:srgbClr val="0F2D52"/>
          </a:solidFill>
          <a:ln/>
        </p:spPr>
      </p:sp>
      <p:sp>
        <p:nvSpPr>
          <p:cNvPr id="4" name="Text 2"/>
          <p:cNvSpPr/>
          <p:nvPr/>
        </p:nvSpPr>
        <p:spPr>
          <a:xfrm>
            <a:off x="1024128" y="1810512"/>
            <a:ext cx="10143439" cy="1353312"/>
          </a:xfrm>
          <a:prstGeom prst="rect">
            <a:avLst/>
          </a:prstGeom>
          <a:noFill/>
          <a:ln/>
        </p:spPr>
        <p:txBody>
          <a:bodyPr wrap="square" lIns="0" tIns="0" rIns="0" bIns="0" rtlCol="0" anchor="t"/>
          <a:lstStyle/>
          <a:p>
            <a:pPr indent="0" marL="0">
              <a:lnSpc>
                <a:spcPct val="96000"/>
              </a:lnSpc>
              <a:buNone/>
            </a:pPr>
            <a:r>
              <a:rPr lang="en-US" sz="1050" b="1" dirty="0">
                <a:solidFill>
                  <a:srgbClr val="17AF98"/>
                </a:solidFill>
                <a:latin typeface="Yu Gothic" pitchFamily="34" charset="0"/>
                <a:ea typeface="Yu Gothic" pitchFamily="34" charset="-122"/>
                <a:cs typeface="Yu Gothic" pitchFamily="34" charset="-120"/>
              </a:rPr>
              <a:t>状況付与  </a:t>
            </a:r>
            <a:pPr indent="0" marL="0">
              <a:lnSpc>
                <a:spcPct val="96000"/>
              </a:lnSpc>
              <a:buNone/>
            </a:pPr>
            <a:r>
              <a:rPr lang="en-US" sz="900" dirty="0">
                <a:solidFill>
                  <a:srgbClr val="17AF98"/>
                </a:solidFill>
                <a:latin typeface="Calibri" pitchFamily="34" charset="0"/>
                <a:ea typeface="Calibri" pitchFamily="34" charset="-122"/>
                <a:cs typeface="Calibri" pitchFamily="34" charset="-120"/>
              </a:rPr>
              <a:t>SITUATION</a:t>
            </a:r>
            <a:endParaRPr lang="en-US" sz="1050" dirty="0"/>
          </a:p>
          <a:p>
            <a:pPr indent="0" marL="0">
              <a:lnSpc>
                <a:spcPct val="96000"/>
              </a:lnSpc>
              <a:buNone/>
            </a:pPr>
            <a:r>
              <a:rPr lang="en-US" sz="1350" b="1" dirty="0">
                <a:solidFill>
                  <a:srgbClr val="FFFFFF"/>
                </a:solidFill>
                <a:latin typeface="Yu Gothic" pitchFamily="34" charset="0"/>
                <a:ea typeface="Yu Gothic" pitchFamily="34" charset="-122"/>
                <a:cs typeface="Yu Gothic" pitchFamily="34" charset="-120"/>
              </a:rPr>
              <a:t>18時40分、受信機が3階東区画で発報。ほぼ同時刻、入退室ログに「退職者に返却済みのはずのカード」による3階の解錠記録。防火戸が閉鎖した。</a:t>
            </a:r>
            <a:endParaRPr lang="en-US" sz="1050" dirty="0"/>
          </a:p>
          <a:p>
            <a:pPr indent="0" marL="0">
              <a:lnSpc>
                <a:spcPct val="96000"/>
              </a:lnSpc>
              <a:buNone/>
            </a:pPr>
            <a:r>
              <a:rPr lang="en-US" sz="950" i="1" dirty="0">
                <a:solidFill>
                  <a:srgbClr val="9FD8CD"/>
                </a:solidFill>
                <a:latin typeface="Calibri" pitchFamily="34" charset="0"/>
                <a:ea typeface="Calibri" pitchFamily="34" charset="-122"/>
                <a:cs typeface="Calibri" pitchFamily="34" charset="-120"/>
              </a:rPr>
              <a:t>18:40. The fire panel shows an activation in the third-floor east zone. At almost the same moment, the access log records a third-floor unlock by a card that should have been returned by a leaver. Fire doors have closed.</a:t>
            </a:r>
            <a:endParaRPr lang="en-US" sz="1050" dirty="0"/>
          </a:p>
        </p:txBody>
      </p:sp>
      <p:sp>
        <p:nvSpPr>
          <p:cNvPr id="5" name="Shape 3"/>
          <p:cNvSpPr/>
          <p:nvPr/>
        </p:nvSpPr>
        <p:spPr>
          <a:xfrm>
            <a:off x="640080" y="3584448"/>
            <a:ext cx="10911535" cy="370332"/>
          </a:xfrm>
          <a:prstGeom prst="roundRect">
            <a:avLst>
              <a:gd name="adj" fmla="val 9877"/>
            </a:avLst>
          </a:prstGeom>
          <a:solidFill>
            <a:srgbClr val="EFF4F8"/>
          </a:solidFill>
          <a:ln/>
        </p:spPr>
      </p:sp>
      <p:sp>
        <p:nvSpPr>
          <p:cNvPr id="6" name="Shape 4"/>
          <p:cNvSpPr/>
          <p:nvPr/>
        </p:nvSpPr>
        <p:spPr>
          <a:xfrm>
            <a:off x="859536" y="3605022"/>
            <a:ext cx="329184" cy="329184"/>
          </a:xfrm>
          <a:prstGeom prst="ellipse">
            <a:avLst/>
          </a:prstGeom>
          <a:solidFill>
            <a:srgbClr val="17AF98"/>
          </a:solidFill>
          <a:ln/>
        </p:spPr>
      </p:sp>
      <p:sp>
        <p:nvSpPr>
          <p:cNvPr id="7" name="Text 5"/>
          <p:cNvSpPr/>
          <p:nvPr/>
        </p:nvSpPr>
        <p:spPr>
          <a:xfrm>
            <a:off x="859536" y="360502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1335024" y="3639312"/>
            <a:ext cx="9960559" cy="260604"/>
          </a:xfrm>
          <a:prstGeom prst="rect">
            <a:avLst/>
          </a:prstGeom>
          <a:noFill/>
          <a:ln/>
        </p:spPr>
        <p:txBody>
          <a:bodyPr wrap="square" lIns="0" tIns="0" rIns="0" bIns="0" rtlCol="0" anchor="ctr"/>
          <a:lstStyle/>
          <a:p>
            <a:pPr indent="0" marL="0">
              <a:lnSpc>
                <a:spcPct val="90000"/>
              </a:lnSpc>
              <a:buNone/>
            </a:pPr>
            <a:r>
              <a:rPr lang="en-US" sz="1300" b="1" dirty="0">
                <a:solidFill>
                  <a:srgbClr val="1B2733"/>
                </a:solidFill>
                <a:latin typeface="Yu Gothic" pitchFamily="34" charset="0"/>
                <a:ea typeface="Yu Gothic" pitchFamily="34" charset="-122"/>
                <a:cs typeface="Yu Gothic" pitchFamily="34" charset="-120"/>
              </a:rPr>
              <a:t>最初の60秒 ― 何を、どの順序で行うか。</a:t>
            </a:r>
            <a:endParaRPr lang="en-US" sz="1300" dirty="0"/>
          </a:p>
          <a:p>
            <a:pPr indent="0" marL="0">
              <a:lnSpc>
                <a:spcPct val="90000"/>
              </a:lnSpc>
              <a:buNone/>
            </a:pPr>
            <a:r>
              <a:rPr lang="en-US" sz="950" i="1" dirty="0">
                <a:solidFill>
                  <a:srgbClr val="5F7183"/>
                </a:solidFill>
                <a:latin typeface="Calibri" pitchFamily="34" charset="0"/>
                <a:ea typeface="Calibri" pitchFamily="34" charset="-122"/>
                <a:cs typeface="Calibri" pitchFamily="34" charset="-120"/>
              </a:rPr>
              <a:t>The first sixty seconds — what, and in what order?</a:t>
            </a:r>
            <a:endParaRPr lang="en-US" sz="1300" dirty="0"/>
          </a:p>
        </p:txBody>
      </p:sp>
      <p:sp>
        <p:nvSpPr>
          <p:cNvPr id="9" name="Shape 7"/>
          <p:cNvSpPr/>
          <p:nvPr/>
        </p:nvSpPr>
        <p:spPr>
          <a:xfrm>
            <a:off x="640080" y="4046220"/>
            <a:ext cx="10911535" cy="370332"/>
          </a:xfrm>
          <a:prstGeom prst="roundRect">
            <a:avLst>
              <a:gd name="adj" fmla="val 9877"/>
            </a:avLst>
          </a:prstGeom>
          <a:solidFill>
            <a:srgbClr val="EFF4F8"/>
          </a:solidFill>
          <a:ln/>
        </p:spPr>
      </p:sp>
      <p:sp>
        <p:nvSpPr>
          <p:cNvPr id="10" name="Shape 8"/>
          <p:cNvSpPr/>
          <p:nvPr/>
        </p:nvSpPr>
        <p:spPr>
          <a:xfrm>
            <a:off x="859536" y="4066794"/>
            <a:ext cx="329184" cy="329184"/>
          </a:xfrm>
          <a:prstGeom prst="ellipse">
            <a:avLst/>
          </a:prstGeom>
          <a:solidFill>
            <a:srgbClr val="17AF98"/>
          </a:solidFill>
          <a:ln/>
        </p:spPr>
      </p:sp>
      <p:sp>
        <p:nvSpPr>
          <p:cNvPr id="11" name="Text 9"/>
          <p:cNvSpPr/>
          <p:nvPr/>
        </p:nvSpPr>
        <p:spPr>
          <a:xfrm>
            <a:off x="859536" y="406679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1335024" y="4101084"/>
            <a:ext cx="9960559" cy="260604"/>
          </a:xfrm>
          <a:prstGeom prst="rect">
            <a:avLst/>
          </a:prstGeom>
          <a:noFill/>
          <a:ln/>
        </p:spPr>
        <p:txBody>
          <a:bodyPr wrap="square" lIns="0" tIns="0" rIns="0" bIns="0" rtlCol="0" anchor="ctr"/>
          <a:lstStyle/>
          <a:p>
            <a:pPr indent="0" marL="0">
              <a:lnSpc>
                <a:spcPct val="90000"/>
              </a:lnSpc>
              <a:buNone/>
            </a:pPr>
            <a:r>
              <a:rPr lang="en-US" sz="1300" b="1" dirty="0">
                <a:solidFill>
                  <a:srgbClr val="1B2733"/>
                </a:solidFill>
                <a:latin typeface="Yu Gothic" pitchFamily="34" charset="0"/>
                <a:ea typeface="Yu Gothic" pitchFamily="34" charset="-122"/>
                <a:cs typeface="Yu Gothic" pitchFamily="34" charset="-120"/>
              </a:rPr>
              <a:t>通報するか。110番か119番か、両方か。</a:t>
            </a:r>
            <a:endParaRPr lang="en-US" sz="1300" dirty="0"/>
          </a:p>
          <a:p>
            <a:pPr indent="0" marL="0">
              <a:lnSpc>
                <a:spcPct val="90000"/>
              </a:lnSpc>
              <a:buNone/>
            </a:pPr>
            <a:r>
              <a:rPr lang="en-US" sz="950" i="1" dirty="0">
                <a:solidFill>
                  <a:srgbClr val="5F7183"/>
                </a:solidFill>
                <a:latin typeface="Calibri" pitchFamily="34" charset="0"/>
                <a:ea typeface="Calibri" pitchFamily="34" charset="-122"/>
                <a:cs typeface="Calibri" pitchFamily="34" charset="-120"/>
              </a:rPr>
              <a:t>Do you call? Police, fire, or both?</a:t>
            </a:r>
            <a:endParaRPr lang="en-US" sz="1300" dirty="0"/>
          </a:p>
        </p:txBody>
      </p:sp>
      <p:sp>
        <p:nvSpPr>
          <p:cNvPr id="13" name="Shape 11"/>
          <p:cNvSpPr/>
          <p:nvPr/>
        </p:nvSpPr>
        <p:spPr>
          <a:xfrm>
            <a:off x="640080" y="4507992"/>
            <a:ext cx="10911535" cy="370332"/>
          </a:xfrm>
          <a:prstGeom prst="roundRect">
            <a:avLst>
              <a:gd name="adj" fmla="val 9877"/>
            </a:avLst>
          </a:prstGeom>
          <a:solidFill>
            <a:srgbClr val="EFF4F8"/>
          </a:solidFill>
          <a:ln/>
        </p:spPr>
      </p:sp>
      <p:sp>
        <p:nvSpPr>
          <p:cNvPr id="14" name="Shape 12"/>
          <p:cNvSpPr/>
          <p:nvPr/>
        </p:nvSpPr>
        <p:spPr>
          <a:xfrm>
            <a:off x="859536" y="4528566"/>
            <a:ext cx="329184" cy="329184"/>
          </a:xfrm>
          <a:prstGeom prst="ellipse">
            <a:avLst/>
          </a:prstGeom>
          <a:solidFill>
            <a:srgbClr val="17AF98"/>
          </a:solidFill>
          <a:ln/>
        </p:spPr>
      </p:sp>
      <p:sp>
        <p:nvSpPr>
          <p:cNvPr id="15" name="Text 13"/>
          <p:cNvSpPr/>
          <p:nvPr/>
        </p:nvSpPr>
        <p:spPr>
          <a:xfrm>
            <a:off x="859536" y="452856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1335024" y="4562856"/>
            <a:ext cx="9960559" cy="260604"/>
          </a:xfrm>
          <a:prstGeom prst="rect">
            <a:avLst/>
          </a:prstGeom>
          <a:noFill/>
          <a:ln/>
        </p:spPr>
        <p:txBody>
          <a:bodyPr wrap="square" lIns="0" tIns="0" rIns="0" bIns="0" rtlCol="0" anchor="ctr"/>
          <a:lstStyle/>
          <a:p>
            <a:pPr indent="0" marL="0">
              <a:lnSpc>
                <a:spcPct val="90000"/>
              </a:lnSpc>
              <a:buNone/>
            </a:pPr>
            <a:r>
              <a:rPr lang="en-US" sz="1300" b="1" dirty="0">
                <a:solidFill>
                  <a:srgbClr val="1B2733"/>
                </a:solidFill>
                <a:latin typeface="Yu Gothic" pitchFamily="34" charset="0"/>
                <a:ea typeface="Yu Gothic" pitchFamily="34" charset="-122"/>
                <a:cs typeface="Yu Gothic" pitchFamily="34" charset="-120"/>
              </a:rPr>
              <a:t>保全すべきログ・画像は何か。誰に依頼するか。</a:t>
            </a:r>
            <a:endParaRPr lang="en-US" sz="1300" dirty="0"/>
          </a:p>
          <a:p>
            <a:pPr indent="0" marL="0">
              <a:lnSpc>
                <a:spcPct val="90000"/>
              </a:lnSpc>
              <a:buNone/>
            </a:pPr>
            <a:r>
              <a:rPr lang="en-US" sz="950" i="1" dirty="0">
                <a:solidFill>
                  <a:srgbClr val="5F7183"/>
                </a:solidFill>
                <a:latin typeface="Calibri" pitchFamily="34" charset="0"/>
                <a:ea typeface="Calibri" pitchFamily="34" charset="-122"/>
                <a:cs typeface="Calibri" pitchFamily="34" charset="-120"/>
              </a:rPr>
              <a:t>Which logs and footage must be preserved, and who do you ask?</a:t>
            </a:r>
            <a:endParaRPr lang="en-US" sz="1300" dirty="0"/>
          </a:p>
        </p:txBody>
      </p:sp>
      <p:sp>
        <p:nvSpPr>
          <p:cNvPr id="17" name="Shape 15"/>
          <p:cNvSpPr/>
          <p:nvPr/>
        </p:nvSpPr>
        <p:spPr>
          <a:xfrm>
            <a:off x="640080" y="4969764"/>
            <a:ext cx="10911535" cy="370332"/>
          </a:xfrm>
          <a:prstGeom prst="roundRect">
            <a:avLst>
              <a:gd name="adj" fmla="val 9877"/>
            </a:avLst>
          </a:prstGeom>
          <a:solidFill>
            <a:srgbClr val="EFF4F8"/>
          </a:solidFill>
          <a:ln/>
        </p:spPr>
      </p:sp>
      <p:sp>
        <p:nvSpPr>
          <p:cNvPr id="18" name="Shape 16"/>
          <p:cNvSpPr/>
          <p:nvPr/>
        </p:nvSpPr>
        <p:spPr>
          <a:xfrm>
            <a:off x="859536" y="4990338"/>
            <a:ext cx="329184" cy="329184"/>
          </a:xfrm>
          <a:prstGeom prst="ellipse">
            <a:avLst/>
          </a:prstGeom>
          <a:solidFill>
            <a:srgbClr val="17AF98"/>
          </a:solidFill>
          <a:ln/>
        </p:spPr>
      </p:sp>
      <p:sp>
        <p:nvSpPr>
          <p:cNvPr id="19" name="Text 17"/>
          <p:cNvSpPr/>
          <p:nvPr/>
        </p:nvSpPr>
        <p:spPr>
          <a:xfrm>
            <a:off x="859536" y="499033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Text 18"/>
          <p:cNvSpPr/>
          <p:nvPr/>
        </p:nvSpPr>
        <p:spPr>
          <a:xfrm>
            <a:off x="1335024" y="5024628"/>
            <a:ext cx="9960559" cy="260604"/>
          </a:xfrm>
          <a:prstGeom prst="rect">
            <a:avLst/>
          </a:prstGeom>
          <a:noFill/>
          <a:ln/>
        </p:spPr>
        <p:txBody>
          <a:bodyPr wrap="square" lIns="0" tIns="0" rIns="0" bIns="0" rtlCol="0" anchor="ctr"/>
          <a:lstStyle/>
          <a:p>
            <a:pPr indent="0" marL="0">
              <a:lnSpc>
                <a:spcPct val="90000"/>
              </a:lnSpc>
              <a:buNone/>
            </a:pPr>
            <a:r>
              <a:rPr lang="en-US" sz="1300" b="1" dirty="0">
                <a:solidFill>
                  <a:srgbClr val="1B2733"/>
                </a:solidFill>
                <a:latin typeface="Yu Gothic" pitchFamily="34" charset="0"/>
                <a:ea typeface="Yu Gothic" pitchFamily="34" charset="-122"/>
                <a:cs typeface="Yu Gothic" pitchFamily="34" charset="-120"/>
              </a:rPr>
              <a:t>社内には誰に何を上げるか。現場保存の範囲はどこまでか。</a:t>
            </a:r>
            <a:endParaRPr lang="en-US" sz="1300" dirty="0"/>
          </a:p>
          <a:p>
            <a:pPr indent="0" marL="0">
              <a:lnSpc>
                <a:spcPct val="90000"/>
              </a:lnSpc>
              <a:buNone/>
            </a:pPr>
            <a:r>
              <a:rPr lang="en-US" sz="950" i="1" dirty="0">
                <a:solidFill>
                  <a:srgbClr val="5F7183"/>
                </a:solidFill>
                <a:latin typeface="Calibri" pitchFamily="34" charset="0"/>
                <a:ea typeface="Calibri" pitchFamily="34" charset="-122"/>
                <a:cs typeface="Calibri" pitchFamily="34" charset="-120"/>
              </a:rPr>
              <a:t>Who do you escalate to internally — and how far does the cordon go?</a:t>
            </a:r>
            <a:endParaRPr lang="en-US" sz="1300" dirty="0"/>
          </a:p>
        </p:txBody>
      </p:sp>
      <p:sp>
        <p:nvSpPr>
          <p:cNvPr id="21" name="Shape 19"/>
          <p:cNvSpPr/>
          <p:nvPr/>
        </p:nvSpPr>
        <p:spPr>
          <a:xfrm>
            <a:off x="640080" y="5486400"/>
            <a:ext cx="10911535" cy="749808"/>
          </a:xfrm>
          <a:prstGeom prst="roundRect">
            <a:avLst>
              <a:gd name="adj" fmla="val 4878"/>
            </a:avLst>
          </a:prstGeom>
          <a:solidFill>
            <a:srgbClr val="E4F4F0"/>
          </a:solidFill>
          <a:ln/>
        </p:spPr>
      </p:sp>
      <p:sp>
        <p:nvSpPr>
          <p:cNvPr id="22" name="Text 20"/>
          <p:cNvSpPr/>
          <p:nvPr/>
        </p:nvSpPr>
        <p:spPr>
          <a:xfrm>
            <a:off x="914400" y="5559552"/>
            <a:ext cx="10362895" cy="603504"/>
          </a:xfrm>
          <a:prstGeom prst="rect">
            <a:avLst/>
          </a:prstGeom>
          <a:noFill/>
          <a:ln/>
        </p:spPr>
        <p:txBody>
          <a:bodyPr wrap="square" lIns="0" tIns="0" rIns="0" bIns="0" rtlCol="0" anchor="ctr"/>
          <a:lstStyle/>
          <a:p>
            <a:pPr indent="0" marL="0">
              <a:lnSpc>
                <a:spcPct val="90000"/>
              </a:lnSpc>
              <a:buNone/>
            </a:pPr>
            <a:r>
              <a:rPr lang="en-US" sz="1000" b="1" dirty="0">
                <a:solidFill>
                  <a:srgbClr val="0E8C79"/>
                </a:solidFill>
                <a:latin typeface="Yu Gothic" pitchFamily="34" charset="0"/>
                <a:ea typeface="Yu Gothic" pitchFamily="34" charset="-122"/>
                <a:cs typeface="Yu Gothic" pitchFamily="34" charset="-120"/>
              </a:rPr>
              <a:t>追加付与  </a:t>
            </a:r>
            <a:pPr indent="0" marL="0">
              <a:lnSpc>
                <a:spcPct val="90000"/>
              </a:lnSpc>
              <a:buNone/>
            </a:pPr>
            <a:r>
              <a:rPr lang="en-US" sz="850" dirty="0">
                <a:solidFill>
                  <a:srgbClr val="0E8C79"/>
                </a:solidFill>
                <a:latin typeface="Calibri" pitchFamily="34" charset="0"/>
                <a:ea typeface="Calibri" pitchFamily="34" charset="-122"/>
                <a:cs typeface="Calibri" pitchFamily="34" charset="-120"/>
              </a:rPr>
              <a:t>INJECT   </a:t>
            </a:r>
            <a:pPr indent="0" marL="0">
              <a:lnSpc>
                <a:spcPct val="90000"/>
              </a:lnSpc>
              <a:buNone/>
            </a:pPr>
            <a:r>
              <a:rPr lang="en-US" sz="1250" b="1" dirty="0">
                <a:solidFill>
                  <a:srgbClr val="1B2733"/>
                </a:solidFill>
                <a:latin typeface="Yu Gothic" pitchFamily="34" charset="0"/>
                <a:ea typeface="Yu Gothic" pitchFamily="34" charset="-122"/>
                <a:cs typeface="Yu Gothic" pitchFamily="34" charset="-120"/>
              </a:rPr>
              <a:t>3階の従業員から「煙は見えない」と無線が入った。判断を変えるか。</a:t>
            </a:r>
            <a:endParaRPr lang="en-US" sz="1000" dirty="0"/>
          </a:p>
          <a:p>
            <a:pPr indent="0" marL="0">
              <a:lnSpc>
                <a:spcPct val="90000"/>
              </a:lnSpc>
              <a:buNone/>
            </a:pPr>
            <a:r>
              <a:rPr lang="en-US" sz="900" i="1" dirty="0">
                <a:solidFill>
                  <a:srgbClr val="5F7183"/>
                </a:solidFill>
                <a:latin typeface="Calibri" pitchFamily="34" charset="0"/>
                <a:ea typeface="Calibri" pitchFamily="34" charset="-122"/>
                <a:cs typeface="Calibri" pitchFamily="34" charset="-120"/>
              </a:rPr>
              <a:t>An employee on the third floor radios: "no smoke visible." Does that change your decision?</a:t>
            </a:r>
            <a:endParaRPr lang="en-US" sz="1000" dirty="0"/>
          </a:p>
        </p:txBody>
      </p:sp>
      <p:sp>
        <p:nvSpPr>
          <p:cNvPr id="23" name="Text 21"/>
          <p:cNvSpPr/>
          <p:nvPr/>
        </p:nvSpPr>
        <p:spPr>
          <a:xfrm>
            <a:off x="640080" y="6382512"/>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第10時限｜業務別教育6 警報装置その他当該警備業務を実施するために使用する機器の使用方法  </a:t>
            </a:r>
            <a:pPr indent="0" marL="0">
              <a:buNone/>
            </a:pPr>
            <a:r>
              <a:rPr lang="en-US" sz="850" i="1" dirty="0">
                <a:solidFill>
                  <a:srgbClr val="D6E0E9"/>
                </a:solidFill>
                <a:latin typeface="Calibri" pitchFamily="34" charset="0"/>
                <a:ea typeface="Calibri" pitchFamily="34" charset="-122"/>
                <a:cs typeface="Calibri" pitchFamily="34" charset="-120"/>
              </a:rPr>
              <a:t>Period 10 | Task-Specific Training 6 — Security Equipment</a:t>
            </a:r>
            <a:endParaRPr lang="en-US" sz="900" dirty="0"/>
          </a:p>
        </p:txBody>
      </p:sp>
      <p:sp>
        <p:nvSpPr>
          <p:cNvPr id="24" name="Text 22"/>
          <p:cNvSpPr/>
          <p:nvPr/>
        </p:nvSpPr>
        <p:spPr>
          <a:xfrm>
            <a:off x="10637215" y="6382512"/>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9805111" cy="960120"/>
          </a:xfrm>
          <a:prstGeom prst="rect">
            <a:avLst/>
          </a:prstGeom>
          <a:noFill/>
          <a:ln/>
        </p:spPr>
        <p:txBody>
          <a:bodyPr wrap="square" lIns="0" tIns="0" rIns="0" bIns="0" rtlCol="0" anchor="t"/>
          <a:lstStyle/>
          <a:p>
            <a:pPr indent="0" marL="0">
              <a:lnSpc>
                <a:spcPct val="94000"/>
              </a:lnSpc>
              <a:buNone/>
            </a:pPr>
            <a:r>
              <a:rPr lang="en-US" sz="2700" b="1" dirty="0">
                <a:solidFill>
                  <a:srgbClr val="0F2D52"/>
                </a:solidFill>
                <a:latin typeface="Yu Gothic" pitchFamily="34" charset="0"/>
                <a:ea typeface="Yu Gothic" pitchFamily="34" charset="-122"/>
                <a:cs typeface="Yu Gothic" pitchFamily="34" charset="-120"/>
              </a:rPr>
              <a:t>TTX⑤ 講評 ― 本日の要素はどこに出たか</a:t>
            </a:r>
            <a:endParaRPr lang="en-US" sz="2700" dirty="0"/>
          </a:p>
          <a:p>
            <a:pPr indent="0" marL="0">
              <a:lnSpc>
                <a:spcPct val="94000"/>
              </a:lnSpc>
              <a:buNone/>
            </a:pPr>
            <a:r>
              <a:rPr lang="en-US" sz="1250" i="1" dirty="0">
                <a:solidFill>
                  <a:srgbClr val="17AF98"/>
                </a:solidFill>
                <a:latin typeface="Calibri" pitchFamily="34" charset="0"/>
                <a:ea typeface="Calibri" pitchFamily="34" charset="-122"/>
                <a:cs typeface="Calibri" pitchFamily="34" charset="-120"/>
              </a:rPr>
              <a:t>TTX ⑤ Debrief — where today's elements appeared</a:t>
            </a:r>
            <a:endParaRPr lang="en-US" sz="2700" dirty="0"/>
          </a:p>
        </p:txBody>
      </p:sp>
      <p:sp>
        <p:nvSpPr>
          <p:cNvPr id="3" name="Shape 1"/>
          <p:cNvSpPr/>
          <p:nvPr/>
        </p:nvSpPr>
        <p:spPr>
          <a:xfrm>
            <a:off x="640080" y="1627632"/>
            <a:ext cx="10911535" cy="833933"/>
          </a:xfrm>
          <a:prstGeom prst="roundRect">
            <a:avLst>
              <a:gd name="adj" fmla="val 5482"/>
            </a:avLst>
          </a:prstGeom>
          <a:solidFill>
            <a:srgbClr val="EFF4F8"/>
          </a:solidFill>
          <a:ln/>
        </p:spPr>
      </p:sp>
      <p:sp>
        <p:nvSpPr>
          <p:cNvPr id="4" name="Shape 2"/>
          <p:cNvSpPr/>
          <p:nvPr/>
        </p:nvSpPr>
        <p:spPr>
          <a:xfrm>
            <a:off x="896112" y="1852574"/>
            <a:ext cx="384048" cy="384048"/>
          </a:xfrm>
          <a:prstGeom prst="ellipse">
            <a:avLst/>
          </a:prstGeom>
          <a:solidFill>
            <a:srgbClr val="17AF98"/>
          </a:solidFill>
          <a:ln/>
        </p:spPr>
      </p:sp>
      <p:sp>
        <p:nvSpPr>
          <p:cNvPr id="5" name="Text 3"/>
          <p:cNvSpPr/>
          <p:nvPr/>
        </p:nvSpPr>
        <p:spPr>
          <a:xfrm>
            <a:off x="896112" y="185257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499616" y="1737360"/>
            <a:ext cx="9777679" cy="651053"/>
          </a:xfrm>
          <a:prstGeom prst="rect">
            <a:avLst/>
          </a:prstGeom>
          <a:noFill/>
          <a:ln/>
        </p:spPr>
        <p:txBody>
          <a:bodyPr wrap="square" lIns="0" tIns="0" rIns="0" bIns="0" rtlCol="0" anchor="ctr"/>
          <a:lstStyle/>
          <a:p>
            <a:pPr indent="0" marL="0">
              <a:lnSpc>
                <a:spcPct val="92000"/>
              </a:lnSpc>
              <a:buNone/>
            </a:pPr>
            <a:r>
              <a:rPr lang="en-US" sz="1450" b="1" dirty="0">
                <a:solidFill>
                  <a:srgbClr val="1B2733"/>
                </a:solidFill>
                <a:latin typeface="Yu Gothic" pitchFamily="34" charset="0"/>
                <a:ea typeface="Yu Gothic" pitchFamily="34" charset="-122"/>
                <a:cs typeface="Yu Gothic" pitchFamily="34" charset="-120"/>
              </a:rPr>
              <a:t>第1限 ― People / Asset / Reputation のどれを優先したか。</a:t>
            </a:r>
            <a:endParaRPr lang="en-US" sz="1450" dirty="0"/>
          </a:p>
          <a:p>
            <a:pPr indent="0" marL="0">
              <a:lnSpc>
                <a:spcPct val="92000"/>
              </a:lnSpc>
              <a:buNone/>
            </a:pPr>
            <a:r>
              <a:rPr lang="en-US" sz="1050" i="1" dirty="0">
                <a:solidFill>
                  <a:srgbClr val="5F7183"/>
                </a:solidFill>
                <a:latin typeface="Calibri" pitchFamily="34" charset="0"/>
                <a:ea typeface="Calibri" pitchFamily="34" charset="-122"/>
                <a:cs typeface="Calibri" pitchFamily="34" charset="-120"/>
              </a:rPr>
              <a:t>Period 1 — which of People, Asset or Reputation did you put first?</a:t>
            </a:r>
            <a:endParaRPr lang="en-US" sz="1450" dirty="0"/>
          </a:p>
        </p:txBody>
      </p:sp>
      <p:sp>
        <p:nvSpPr>
          <p:cNvPr id="7" name="Shape 5"/>
          <p:cNvSpPr/>
          <p:nvPr/>
        </p:nvSpPr>
        <p:spPr>
          <a:xfrm>
            <a:off x="640080" y="2571293"/>
            <a:ext cx="10911535" cy="833933"/>
          </a:xfrm>
          <a:prstGeom prst="roundRect">
            <a:avLst>
              <a:gd name="adj" fmla="val 5482"/>
            </a:avLst>
          </a:prstGeom>
          <a:solidFill>
            <a:srgbClr val="F7FAFC"/>
          </a:solidFill>
          <a:ln/>
        </p:spPr>
      </p:sp>
      <p:sp>
        <p:nvSpPr>
          <p:cNvPr id="8" name="Shape 6"/>
          <p:cNvSpPr/>
          <p:nvPr/>
        </p:nvSpPr>
        <p:spPr>
          <a:xfrm>
            <a:off x="896112" y="2796235"/>
            <a:ext cx="384048" cy="384048"/>
          </a:xfrm>
          <a:prstGeom prst="ellipse">
            <a:avLst/>
          </a:prstGeom>
          <a:solidFill>
            <a:srgbClr val="17AF98"/>
          </a:solidFill>
          <a:ln/>
        </p:spPr>
      </p:sp>
      <p:sp>
        <p:nvSpPr>
          <p:cNvPr id="9" name="Text 7"/>
          <p:cNvSpPr/>
          <p:nvPr/>
        </p:nvSpPr>
        <p:spPr>
          <a:xfrm>
            <a:off x="896112" y="279623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499616" y="2681021"/>
            <a:ext cx="9777679" cy="651053"/>
          </a:xfrm>
          <a:prstGeom prst="rect">
            <a:avLst/>
          </a:prstGeom>
          <a:noFill/>
          <a:ln/>
        </p:spPr>
        <p:txBody>
          <a:bodyPr wrap="square" lIns="0" tIns="0" rIns="0" bIns="0" rtlCol="0" anchor="ctr"/>
          <a:lstStyle/>
          <a:p>
            <a:pPr indent="0" marL="0">
              <a:lnSpc>
                <a:spcPct val="92000"/>
              </a:lnSpc>
              <a:buNone/>
            </a:pPr>
            <a:r>
              <a:rPr lang="en-US" sz="1450" b="1" dirty="0">
                <a:solidFill>
                  <a:srgbClr val="1B2733"/>
                </a:solidFill>
                <a:latin typeface="Yu Gothic" pitchFamily="34" charset="0"/>
                <a:ea typeface="Yu Gothic" pitchFamily="34" charset="-122"/>
                <a:cs typeface="Yu Gothic" pitchFamily="34" charset="-120"/>
              </a:rPr>
              <a:t>第2限 ― カードの持ち主を追う権限が、あなたにあったか。</a:t>
            </a:r>
            <a:endParaRPr lang="en-US" sz="1450" dirty="0"/>
          </a:p>
          <a:p>
            <a:pPr indent="0" marL="0">
              <a:lnSpc>
                <a:spcPct val="92000"/>
              </a:lnSpc>
              <a:buNone/>
            </a:pPr>
            <a:r>
              <a:rPr lang="en-US" sz="1050" i="1" dirty="0">
                <a:solidFill>
                  <a:srgbClr val="5F7183"/>
                </a:solidFill>
                <a:latin typeface="Calibri" pitchFamily="34" charset="0"/>
                <a:ea typeface="Calibri" pitchFamily="34" charset="-122"/>
                <a:cs typeface="Calibri" pitchFamily="34" charset="-120"/>
              </a:rPr>
              <a:t>Period 2 — did you actually have the authority to pursue the cardholder?</a:t>
            </a:r>
            <a:endParaRPr lang="en-US" sz="1450" dirty="0"/>
          </a:p>
        </p:txBody>
      </p:sp>
      <p:sp>
        <p:nvSpPr>
          <p:cNvPr id="11" name="Shape 9"/>
          <p:cNvSpPr/>
          <p:nvPr/>
        </p:nvSpPr>
        <p:spPr>
          <a:xfrm>
            <a:off x="640080" y="3514954"/>
            <a:ext cx="10911535" cy="833933"/>
          </a:xfrm>
          <a:prstGeom prst="roundRect">
            <a:avLst>
              <a:gd name="adj" fmla="val 5482"/>
            </a:avLst>
          </a:prstGeom>
          <a:solidFill>
            <a:srgbClr val="EFF4F8"/>
          </a:solidFill>
          <a:ln/>
        </p:spPr>
      </p:sp>
      <p:sp>
        <p:nvSpPr>
          <p:cNvPr id="12" name="Shape 10"/>
          <p:cNvSpPr/>
          <p:nvPr/>
        </p:nvSpPr>
        <p:spPr>
          <a:xfrm>
            <a:off x="896112" y="3739896"/>
            <a:ext cx="384048" cy="384048"/>
          </a:xfrm>
          <a:prstGeom prst="ellipse">
            <a:avLst/>
          </a:prstGeom>
          <a:solidFill>
            <a:srgbClr val="17AF98"/>
          </a:solidFill>
          <a:ln/>
        </p:spPr>
      </p:sp>
      <p:sp>
        <p:nvSpPr>
          <p:cNvPr id="13" name="Text 11"/>
          <p:cNvSpPr/>
          <p:nvPr/>
        </p:nvSpPr>
        <p:spPr>
          <a:xfrm>
            <a:off x="896112" y="37398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499616" y="3624682"/>
            <a:ext cx="9777679" cy="651053"/>
          </a:xfrm>
          <a:prstGeom prst="rect">
            <a:avLst/>
          </a:prstGeom>
          <a:noFill/>
          <a:ln/>
        </p:spPr>
        <p:txBody>
          <a:bodyPr wrap="square" lIns="0" tIns="0" rIns="0" bIns="0" rtlCol="0" anchor="ctr"/>
          <a:lstStyle/>
          <a:p>
            <a:pPr indent="0" marL="0">
              <a:lnSpc>
                <a:spcPct val="92000"/>
              </a:lnSpc>
              <a:buNone/>
            </a:pPr>
            <a:r>
              <a:rPr lang="en-US" sz="1450" b="1" dirty="0">
                <a:solidFill>
                  <a:srgbClr val="1B2733"/>
                </a:solidFill>
                <a:latin typeface="Yu Gothic" pitchFamily="34" charset="0"/>
                <a:ea typeface="Yu Gothic" pitchFamily="34" charset="-122"/>
                <a:cs typeface="Yu Gothic" pitchFamily="34" charset="-120"/>
              </a:rPr>
              <a:t>第4限 ― 巡回の視点。3階のどこを、何のために見に行ったか。</a:t>
            </a:r>
            <a:endParaRPr lang="en-US" sz="1450" dirty="0"/>
          </a:p>
          <a:p>
            <a:pPr indent="0" marL="0">
              <a:lnSpc>
                <a:spcPct val="92000"/>
              </a:lnSpc>
              <a:buNone/>
            </a:pPr>
            <a:r>
              <a:rPr lang="en-US" sz="1050" i="1" dirty="0">
                <a:solidFill>
                  <a:srgbClr val="5F7183"/>
                </a:solidFill>
                <a:latin typeface="Calibri" pitchFamily="34" charset="0"/>
                <a:ea typeface="Calibri" pitchFamily="34" charset="-122"/>
                <a:cs typeface="Calibri" pitchFamily="34" charset="-120"/>
              </a:rPr>
              <a:t>Period 4 — the patrol lens: what on the third floor, and to what end?</a:t>
            </a:r>
            <a:endParaRPr lang="en-US" sz="1450" dirty="0"/>
          </a:p>
        </p:txBody>
      </p:sp>
      <p:sp>
        <p:nvSpPr>
          <p:cNvPr id="15" name="Shape 13"/>
          <p:cNvSpPr/>
          <p:nvPr/>
        </p:nvSpPr>
        <p:spPr>
          <a:xfrm>
            <a:off x="640080" y="4458614"/>
            <a:ext cx="10911535" cy="833933"/>
          </a:xfrm>
          <a:prstGeom prst="roundRect">
            <a:avLst>
              <a:gd name="adj" fmla="val 5482"/>
            </a:avLst>
          </a:prstGeom>
          <a:solidFill>
            <a:srgbClr val="F7FAFC"/>
          </a:solidFill>
          <a:ln/>
        </p:spPr>
      </p:sp>
      <p:sp>
        <p:nvSpPr>
          <p:cNvPr id="16" name="Shape 14"/>
          <p:cNvSpPr/>
          <p:nvPr/>
        </p:nvSpPr>
        <p:spPr>
          <a:xfrm>
            <a:off x="896112" y="4683557"/>
            <a:ext cx="384048" cy="384048"/>
          </a:xfrm>
          <a:prstGeom prst="ellipse">
            <a:avLst/>
          </a:prstGeom>
          <a:solidFill>
            <a:srgbClr val="17AF98"/>
          </a:solidFill>
          <a:ln/>
        </p:spPr>
      </p:sp>
      <p:sp>
        <p:nvSpPr>
          <p:cNvPr id="17" name="Text 15"/>
          <p:cNvSpPr/>
          <p:nvPr/>
        </p:nvSpPr>
        <p:spPr>
          <a:xfrm>
            <a:off x="896112" y="46835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499616" y="4568342"/>
            <a:ext cx="9777679" cy="651053"/>
          </a:xfrm>
          <a:prstGeom prst="rect">
            <a:avLst/>
          </a:prstGeom>
          <a:noFill/>
          <a:ln/>
        </p:spPr>
        <p:txBody>
          <a:bodyPr wrap="square" lIns="0" tIns="0" rIns="0" bIns="0" rtlCol="0" anchor="ctr"/>
          <a:lstStyle/>
          <a:p>
            <a:pPr indent="0" marL="0">
              <a:lnSpc>
                <a:spcPct val="92000"/>
              </a:lnSpc>
              <a:buNone/>
            </a:pPr>
            <a:r>
              <a:rPr lang="en-US" sz="1450" b="1" dirty="0">
                <a:solidFill>
                  <a:srgbClr val="1B2733"/>
                </a:solidFill>
                <a:latin typeface="Yu Gothic" pitchFamily="34" charset="0"/>
                <a:ea typeface="Yu Gothic" pitchFamily="34" charset="-122"/>
                <a:cs typeface="Yu Gothic" pitchFamily="34" charset="-120"/>
              </a:rPr>
              <a:t>第5限 ― 現場で人に会ったとき、最初の一言は何だったか。</a:t>
            </a:r>
            <a:endParaRPr lang="en-US" sz="1450" dirty="0"/>
          </a:p>
          <a:p>
            <a:pPr indent="0" marL="0">
              <a:lnSpc>
                <a:spcPct val="92000"/>
              </a:lnSpc>
              <a:buNone/>
            </a:pPr>
            <a:r>
              <a:rPr lang="en-US" sz="1050" i="1" dirty="0">
                <a:solidFill>
                  <a:srgbClr val="5F7183"/>
                </a:solidFill>
                <a:latin typeface="Calibri" pitchFamily="34" charset="0"/>
                <a:ea typeface="Calibri" pitchFamily="34" charset="-122"/>
                <a:cs typeface="Calibri" pitchFamily="34" charset="-120"/>
              </a:rPr>
              <a:t>Period 5 — meeting a person there, what were your first words?</a:t>
            </a:r>
            <a:endParaRPr lang="en-US" sz="1450" dirty="0"/>
          </a:p>
        </p:txBody>
      </p:sp>
      <p:sp>
        <p:nvSpPr>
          <p:cNvPr id="19" name="Shape 17"/>
          <p:cNvSpPr/>
          <p:nvPr/>
        </p:nvSpPr>
        <p:spPr>
          <a:xfrm>
            <a:off x="640080" y="5402275"/>
            <a:ext cx="10911535" cy="833933"/>
          </a:xfrm>
          <a:prstGeom prst="roundRect">
            <a:avLst>
              <a:gd name="adj" fmla="val 5482"/>
            </a:avLst>
          </a:prstGeom>
          <a:solidFill>
            <a:srgbClr val="EFF4F8"/>
          </a:solidFill>
          <a:ln/>
        </p:spPr>
      </p:sp>
      <p:sp>
        <p:nvSpPr>
          <p:cNvPr id="20" name="Shape 18"/>
          <p:cNvSpPr/>
          <p:nvPr/>
        </p:nvSpPr>
        <p:spPr>
          <a:xfrm>
            <a:off x="896112" y="5627218"/>
            <a:ext cx="384048" cy="384048"/>
          </a:xfrm>
          <a:prstGeom prst="ellipse">
            <a:avLst/>
          </a:prstGeom>
          <a:solidFill>
            <a:srgbClr val="17AF98"/>
          </a:solidFill>
          <a:ln/>
        </p:spPr>
      </p:sp>
      <p:sp>
        <p:nvSpPr>
          <p:cNvPr id="21" name="Text 19"/>
          <p:cNvSpPr/>
          <p:nvPr/>
        </p:nvSpPr>
        <p:spPr>
          <a:xfrm>
            <a:off x="896112" y="562721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p:nvPr/>
        </p:nvSpPr>
        <p:spPr>
          <a:xfrm>
            <a:off x="1499616" y="5512003"/>
            <a:ext cx="9777679" cy="651053"/>
          </a:xfrm>
          <a:prstGeom prst="rect">
            <a:avLst/>
          </a:prstGeom>
          <a:noFill/>
          <a:ln/>
        </p:spPr>
        <p:txBody>
          <a:bodyPr wrap="square" lIns="0" tIns="0" rIns="0" bIns="0" rtlCol="0" anchor="ctr"/>
          <a:lstStyle/>
          <a:p>
            <a:pPr indent="0" marL="0">
              <a:lnSpc>
                <a:spcPct val="92000"/>
              </a:lnSpc>
              <a:buNone/>
            </a:pPr>
            <a:r>
              <a:rPr lang="en-US" sz="1300" b="1" dirty="0">
                <a:solidFill>
                  <a:srgbClr val="1B2733"/>
                </a:solidFill>
                <a:latin typeface="Yu Gothic" pitchFamily="34" charset="0"/>
                <a:ea typeface="Yu Gothic" pitchFamily="34" charset="-122"/>
                <a:cs typeface="Yu Gothic" pitchFamily="34" charset="-120"/>
              </a:rPr>
              <a:t>第9限 ― 事実と評価を分けて報告できたか。保全を依頼したか。</a:t>
            </a:r>
            <a:endParaRPr lang="en-US" sz="1300" dirty="0"/>
          </a:p>
          <a:p>
            <a:pPr indent="0" marL="0">
              <a:lnSpc>
                <a:spcPct val="92000"/>
              </a:lnSpc>
              <a:buNone/>
            </a:pPr>
            <a:r>
              <a:rPr lang="en-US" sz="950" i="1" dirty="0">
                <a:solidFill>
                  <a:srgbClr val="5F7183"/>
                </a:solidFill>
                <a:latin typeface="Calibri" pitchFamily="34" charset="0"/>
                <a:ea typeface="Calibri" pitchFamily="34" charset="-122"/>
                <a:cs typeface="Calibri" pitchFamily="34" charset="-120"/>
              </a:rPr>
              <a:t>Period 9 — fact and assessment kept apart? Preservation requested?</a:t>
            </a:r>
            <a:endParaRPr lang="en-US" sz="1300" dirty="0"/>
          </a:p>
        </p:txBody>
      </p:sp>
      <p:sp>
        <p:nvSpPr>
          <p:cNvPr id="23" name="Text 21"/>
          <p:cNvSpPr/>
          <p:nvPr/>
        </p:nvSpPr>
        <p:spPr>
          <a:xfrm>
            <a:off x="640080" y="6382512"/>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第10時限｜業務別教育6 警報装置その他当該警備業務を実施するために使用する機器の使用方法  </a:t>
            </a:r>
            <a:pPr indent="0" marL="0">
              <a:buNone/>
            </a:pPr>
            <a:r>
              <a:rPr lang="en-US" sz="850" i="1" dirty="0">
                <a:solidFill>
                  <a:srgbClr val="D6E0E9"/>
                </a:solidFill>
                <a:latin typeface="Calibri" pitchFamily="34" charset="0"/>
                <a:ea typeface="Calibri" pitchFamily="34" charset="-122"/>
                <a:cs typeface="Calibri" pitchFamily="34" charset="-120"/>
              </a:rPr>
              <a:t>Period 10 | Task-Specific Training 6 — Security Equipment</a:t>
            </a:r>
            <a:endParaRPr lang="en-US" sz="900" dirty="0"/>
          </a:p>
        </p:txBody>
      </p:sp>
      <p:sp>
        <p:nvSpPr>
          <p:cNvPr id="24" name="Text 22"/>
          <p:cNvSpPr/>
          <p:nvPr/>
        </p:nvSpPr>
        <p:spPr>
          <a:xfrm>
            <a:off x="10637215" y="6382512"/>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9805111" cy="960120"/>
          </a:xfrm>
          <a:prstGeom prst="rect">
            <a:avLst/>
          </a:prstGeom>
          <a:noFill/>
          <a:ln/>
        </p:spPr>
        <p:txBody>
          <a:bodyPr wrap="square" lIns="0" tIns="0" rIns="0" bIns="0" rtlCol="0" anchor="t"/>
          <a:lstStyle/>
          <a:p>
            <a:pPr indent="0" marL="0">
              <a:lnSpc>
                <a:spcPct val="94000"/>
              </a:lnSpc>
              <a:buNone/>
            </a:pPr>
            <a:r>
              <a:rPr lang="en-US" sz="2700" b="1" dirty="0">
                <a:solidFill>
                  <a:srgbClr val="0F2D52"/>
                </a:solidFill>
                <a:latin typeface="Yu Gothic" pitchFamily="34" charset="0"/>
                <a:ea typeface="Yu Gothic" pitchFamily="34" charset="-122"/>
                <a:cs typeface="Yu Gothic" pitchFamily="34" charset="-120"/>
              </a:rPr>
              <a:t>AAR ― 振り返り（After Action Review）</a:t>
            </a:r>
            <a:endParaRPr lang="en-US" sz="2700" dirty="0"/>
          </a:p>
          <a:p>
            <a:pPr indent="0" marL="0">
              <a:lnSpc>
                <a:spcPct val="94000"/>
              </a:lnSpc>
              <a:buNone/>
            </a:pPr>
            <a:r>
              <a:rPr lang="en-US" sz="1250" i="1" dirty="0">
                <a:solidFill>
                  <a:srgbClr val="17AF98"/>
                </a:solidFill>
                <a:latin typeface="Calibri" pitchFamily="34" charset="0"/>
                <a:ea typeface="Calibri" pitchFamily="34" charset="-122"/>
                <a:cs typeface="Calibri" pitchFamily="34" charset="-120"/>
              </a:rPr>
              <a:t>AAR — After Action Review</a:t>
            </a:r>
            <a:endParaRPr lang="en-US" sz="2700" dirty="0"/>
          </a:p>
        </p:txBody>
      </p:sp>
      <p:sp>
        <p:nvSpPr>
          <p:cNvPr id="3" name="Text 1"/>
          <p:cNvSpPr/>
          <p:nvPr/>
        </p:nvSpPr>
        <p:spPr>
          <a:xfrm>
            <a:off x="640080" y="1536192"/>
            <a:ext cx="10911535" cy="566928"/>
          </a:xfrm>
          <a:prstGeom prst="rect">
            <a:avLst/>
          </a:prstGeom>
          <a:noFill/>
          <a:ln/>
        </p:spPr>
        <p:txBody>
          <a:bodyPr wrap="square" lIns="0" tIns="0" rIns="0" bIns="0" rtlCol="0" anchor="t"/>
          <a:lstStyle/>
          <a:p>
            <a:pPr algn="l" indent="0" marL="0">
              <a:lnSpc>
                <a:spcPct val="92000"/>
              </a:lnSpc>
              <a:buNone/>
            </a:pPr>
            <a:r>
              <a:rPr lang="en-US" sz="1300" dirty="0">
                <a:solidFill>
                  <a:srgbClr val="0F2D52"/>
                </a:solidFill>
                <a:latin typeface="Yu Gothic" pitchFamily="34" charset="0"/>
                <a:ea typeface="Yu Gothic" pitchFamily="34" charset="-122"/>
                <a:cs typeface="Yu Gothic" pitchFamily="34" charset="-120"/>
              </a:rPr>
              <a:t>AAR は事案・訓練の直後に行う短い振り返りです。原則は一つ ― 犯人探しをしない。</a:t>
            </a:r>
            <a:endParaRPr lang="en-US" sz="1300" dirty="0"/>
          </a:p>
          <a:p>
            <a:pPr algn="l" indent="0" marL="0">
              <a:lnSpc>
                <a:spcPct val="92000"/>
              </a:lnSpc>
              <a:buNone/>
            </a:pPr>
            <a:r>
              <a:rPr lang="en-US" sz="1000" i="1" dirty="0">
                <a:solidFill>
                  <a:srgbClr val="5F7183"/>
                </a:solidFill>
                <a:latin typeface="Calibri" pitchFamily="34" charset="0"/>
                <a:ea typeface="Calibri" pitchFamily="34" charset="-122"/>
                <a:cs typeface="Calibri" pitchFamily="34" charset="-120"/>
              </a:rPr>
              <a:t>An AAR is a short review held immediately after an incident or exercise. One rule governs it: no blame.</a:t>
            </a:r>
            <a:endParaRPr lang="en-US" sz="1300" dirty="0"/>
          </a:p>
        </p:txBody>
      </p:sp>
      <p:sp>
        <p:nvSpPr>
          <p:cNvPr id="4" name="Shape 2"/>
          <p:cNvSpPr/>
          <p:nvPr/>
        </p:nvSpPr>
        <p:spPr>
          <a:xfrm>
            <a:off x="640080" y="2286000"/>
            <a:ext cx="10911535" cy="702259"/>
          </a:xfrm>
          <a:prstGeom prst="roundRect">
            <a:avLst>
              <a:gd name="adj" fmla="val 6510"/>
            </a:avLst>
          </a:prstGeom>
          <a:solidFill>
            <a:srgbClr val="EFF4F8"/>
          </a:solidFill>
          <a:ln/>
        </p:spPr>
      </p:sp>
      <p:sp>
        <p:nvSpPr>
          <p:cNvPr id="5" name="Shape 3"/>
          <p:cNvSpPr/>
          <p:nvPr/>
        </p:nvSpPr>
        <p:spPr>
          <a:xfrm>
            <a:off x="896112" y="2445106"/>
            <a:ext cx="384048" cy="384048"/>
          </a:xfrm>
          <a:prstGeom prst="ellipse">
            <a:avLst/>
          </a:prstGeom>
          <a:solidFill>
            <a:srgbClr val="17AF98"/>
          </a:solidFill>
          <a:ln/>
        </p:spPr>
      </p:sp>
      <p:sp>
        <p:nvSpPr>
          <p:cNvPr id="6" name="Text 4"/>
          <p:cNvSpPr/>
          <p:nvPr/>
        </p:nvSpPr>
        <p:spPr>
          <a:xfrm>
            <a:off x="896112" y="24451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99616" y="2395728"/>
            <a:ext cx="9777679" cy="519379"/>
          </a:xfrm>
          <a:prstGeom prst="rect">
            <a:avLst/>
          </a:prstGeom>
          <a:noFill/>
          <a:ln/>
        </p:spPr>
        <p:txBody>
          <a:bodyPr wrap="square" lIns="0" tIns="0" rIns="0" bIns="0" rtlCol="0" anchor="ctr"/>
          <a:lstStyle/>
          <a:p>
            <a:pPr indent="0" marL="0">
              <a:lnSpc>
                <a:spcPct val="92000"/>
              </a:lnSpc>
              <a:buNone/>
            </a:pPr>
            <a:r>
              <a:rPr lang="en-US" sz="1450" b="1" dirty="0">
                <a:solidFill>
                  <a:srgbClr val="1B2733"/>
                </a:solidFill>
                <a:latin typeface="Yu Gothic" pitchFamily="34" charset="0"/>
                <a:ea typeface="Yu Gothic" pitchFamily="34" charset="-122"/>
                <a:cs typeface="Yu Gothic" pitchFamily="34" charset="-120"/>
              </a:rPr>
              <a:t>何が起きるはずだったか。</a:t>
            </a:r>
            <a:endParaRPr lang="en-US" sz="1450" dirty="0"/>
          </a:p>
          <a:p>
            <a:pPr indent="0" marL="0">
              <a:lnSpc>
                <a:spcPct val="92000"/>
              </a:lnSpc>
              <a:buNone/>
            </a:pPr>
            <a:r>
              <a:rPr lang="en-US" sz="1050" i="1" dirty="0">
                <a:solidFill>
                  <a:srgbClr val="5F7183"/>
                </a:solidFill>
                <a:latin typeface="Calibri" pitchFamily="34" charset="0"/>
                <a:ea typeface="Calibri" pitchFamily="34" charset="-122"/>
                <a:cs typeface="Calibri" pitchFamily="34" charset="-120"/>
              </a:rPr>
              <a:t>What was supposed to happen?</a:t>
            </a:r>
            <a:endParaRPr lang="en-US" sz="1450" dirty="0"/>
          </a:p>
        </p:txBody>
      </p:sp>
      <p:sp>
        <p:nvSpPr>
          <p:cNvPr id="8" name="Shape 6"/>
          <p:cNvSpPr/>
          <p:nvPr/>
        </p:nvSpPr>
        <p:spPr>
          <a:xfrm>
            <a:off x="640080" y="3097987"/>
            <a:ext cx="10911535" cy="702259"/>
          </a:xfrm>
          <a:prstGeom prst="roundRect">
            <a:avLst>
              <a:gd name="adj" fmla="val 6510"/>
            </a:avLst>
          </a:prstGeom>
          <a:solidFill>
            <a:srgbClr val="F7FAFC"/>
          </a:solidFill>
          <a:ln/>
        </p:spPr>
      </p:sp>
      <p:sp>
        <p:nvSpPr>
          <p:cNvPr id="9" name="Shape 7"/>
          <p:cNvSpPr/>
          <p:nvPr/>
        </p:nvSpPr>
        <p:spPr>
          <a:xfrm>
            <a:off x="896112" y="3257093"/>
            <a:ext cx="384048" cy="384048"/>
          </a:xfrm>
          <a:prstGeom prst="ellipse">
            <a:avLst/>
          </a:prstGeom>
          <a:solidFill>
            <a:srgbClr val="17AF98"/>
          </a:solidFill>
          <a:ln/>
        </p:spPr>
      </p:sp>
      <p:sp>
        <p:nvSpPr>
          <p:cNvPr id="10" name="Text 8"/>
          <p:cNvSpPr/>
          <p:nvPr/>
        </p:nvSpPr>
        <p:spPr>
          <a:xfrm>
            <a:off x="896112" y="32570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499616" y="3207715"/>
            <a:ext cx="9777679" cy="519379"/>
          </a:xfrm>
          <a:prstGeom prst="rect">
            <a:avLst/>
          </a:prstGeom>
          <a:noFill/>
          <a:ln/>
        </p:spPr>
        <p:txBody>
          <a:bodyPr wrap="square" lIns="0" tIns="0" rIns="0" bIns="0" rtlCol="0" anchor="ctr"/>
          <a:lstStyle/>
          <a:p>
            <a:pPr indent="0" marL="0">
              <a:lnSpc>
                <a:spcPct val="92000"/>
              </a:lnSpc>
              <a:buNone/>
            </a:pPr>
            <a:r>
              <a:rPr lang="en-US" sz="1450" b="1" dirty="0">
                <a:solidFill>
                  <a:srgbClr val="1B2733"/>
                </a:solidFill>
                <a:latin typeface="Yu Gothic" pitchFamily="34" charset="0"/>
                <a:ea typeface="Yu Gothic" pitchFamily="34" charset="-122"/>
                <a:cs typeface="Yu Gothic" pitchFamily="34" charset="-120"/>
              </a:rPr>
              <a:t>実際には何が起きたか。</a:t>
            </a:r>
            <a:endParaRPr lang="en-US" sz="1450" dirty="0"/>
          </a:p>
          <a:p>
            <a:pPr indent="0" marL="0">
              <a:lnSpc>
                <a:spcPct val="92000"/>
              </a:lnSpc>
              <a:buNone/>
            </a:pPr>
            <a:r>
              <a:rPr lang="en-US" sz="1050" i="1" dirty="0">
                <a:solidFill>
                  <a:srgbClr val="5F7183"/>
                </a:solidFill>
                <a:latin typeface="Calibri" pitchFamily="34" charset="0"/>
                <a:ea typeface="Calibri" pitchFamily="34" charset="-122"/>
                <a:cs typeface="Calibri" pitchFamily="34" charset="-120"/>
              </a:rPr>
              <a:t>What actually happened?</a:t>
            </a:r>
            <a:endParaRPr lang="en-US" sz="1450" dirty="0"/>
          </a:p>
        </p:txBody>
      </p:sp>
      <p:sp>
        <p:nvSpPr>
          <p:cNvPr id="12" name="Shape 10"/>
          <p:cNvSpPr/>
          <p:nvPr/>
        </p:nvSpPr>
        <p:spPr>
          <a:xfrm>
            <a:off x="640080" y="3909974"/>
            <a:ext cx="10911535" cy="702259"/>
          </a:xfrm>
          <a:prstGeom prst="roundRect">
            <a:avLst>
              <a:gd name="adj" fmla="val 6510"/>
            </a:avLst>
          </a:prstGeom>
          <a:solidFill>
            <a:srgbClr val="EFF4F8"/>
          </a:solidFill>
          <a:ln/>
        </p:spPr>
      </p:sp>
      <p:sp>
        <p:nvSpPr>
          <p:cNvPr id="13" name="Shape 11"/>
          <p:cNvSpPr/>
          <p:nvPr/>
        </p:nvSpPr>
        <p:spPr>
          <a:xfrm>
            <a:off x="896112" y="4069080"/>
            <a:ext cx="384048" cy="384048"/>
          </a:xfrm>
          <a:prstGeom prst="ellipse">
            <a:avLst/>
          </a:prstGeom>
          <a:solidFill>
            <a:srgbClr val="17AF98"/>
          </a:solidFill>
          <a:ln/>
        </p:spPr>
      </p:sp>
      <p:sp>
        <p:nvSpPr>
          <p:cNvPr id="14" name="Text 12"/>
          <p:cNvSpPr/>
          <p:nvPr/>
        </p:nvSpPr>
        <p:spPr>
          <a:xfrm>
            <a:off x="896112" y="4069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499616" y="4019702"/>
            <a:ext cx="9777679" cy="519379"/>
          </a:xfrm>
          <a:prstGeom prst="rect">
            <a:avLst/>
          </a:prstGeom>
          <a:noFill/>
          <a:ln/>
        </p:spPr>
        <p:txBody>
          <a:bodyPr wrap="square" lIns="0" tIns="0" rIns="0" bIns="0" rtlCol="0" anchor="ctr"/>
          <a:lstStyle/>
          <a:p>
            <a:pPr indent="0" marL="0">
              <a:lnSpc>
                <a:spcPct val="92000"/>
              </a:lnSpc>
              <a:buNone/>
            </a:pPr>
            <a:r>
              <a:rPr lang="en-US" sz="1450" b="1" dirty="0">
                <a:solidFill>
                  <a:srgbClr val="1B2733"/>
                </a:solidFill>
                <a:latin typeface="Yu Gothic" pitchFamily="34" charset="0"/>
                <a:ea typeface="Yu Gothic" pitchFamily="34" charset="-122"/>
                <a:cs typeface="Yu Gothic" pitchFamily="34" charset="-120"/>
              </a:rPr>
              <a:t>なぜ差が生まれたか。</a:t>
            </a:r>
            <a:endParaRPr lang="en-US" sz="1450" dirty="0"/>
          </a:p>
          <a:p>
            <a:pPr indent="0" marL="0">
              <a:lnSpc>
                <a:spcPct val="92000"/>
              </a:lnSpc>
              <a:buNone/>
            </a:pPr>
            <a:r>
              <a:rPr lang="en-US" sz="1050" i="1" dirty="0">
                <a:solidFill>
                  <a:srgbClr val="5F7183"/>
                </a:solidFill>
                <a:latin typeface="Calibri" pitchFamily="34" charset="0"/>
                <a:ea typeface="Calibri" pitchFamily="34" charset="-122"/>
                <a:cs typeface="Calibri" pitchFamily="34" charset="-120"/>
              </a:rPr>
              <a:t>Why was there a difference?</a:t>
            </a:r>
            <a:endParaRPr lang="en-US" sz="1450" dirty="0"/>
          </a:p>
        </p:txBody>
      </p:sp>
      <p:sp>
        <p:nvSpPr>
          <p:cNvPr id="16" name="Shape 14"/>
          <p:cNvSpPr/>
          <p:nvPr/>
        </p:nvSpPr>
        <p:spPr>
          <a:xfrm>
            <a:off x="640080" y="4721962"/>
            <a:ext cx="10911535" cy="702259"/>
          </a:xfrm>
          <a:prstGeom prst="roundRect">
            <a:avLst>
              <a:gd name="adj" fmla="val 6510"/>
            </a:avLst>
          </a:prstGeom>
          <a:solidFill>
            <a:srgbClr val="F7FAFC"/>
          </a:solidFill>
          <a:ln/>
        </p:spPr>
      </p:sp>
      <p:sp>
        <p:nvSpPr>
          <p:cNvPr id="17" name="Shape 15"/>
          <p:cNvSpPr/>
          <p:nvPr/>
        </p:nvSpPr>
        <p:spPr>
          <a:xfrm>
            <a:off x="896112" y="4881067"/>
            <a:ext cx="384048" cy="384048"/>
          </a:xfrm>
          <a:prstGeom prst="ellipse">
            <a:avLst/>
          </a:prstGeom>
          <a:solidFill>
            <a:srgbClr val="17AF98"/>
          </a:solidFill>
          <a:ln/>
        </p:spPr>
      </p:sp>
      <p:sp>
        <p:nvSpPr>
          <p:cNvPr id="18" name="Text 16"/>
          <p:cNvSpPr/>
          <p:nvPr/>
        </p:nvSpPr>
        <p:spPr>
          <a:xfrm>
            <a:off x="896112" y="488106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1499616" y="4831690"/>
            <a:ext cx="9777679" cy="519379"/>
          </a:xfrm>
          <a:prstGeom prst="rect">
            <a:avLst/>
          </a:prstGeom>
          <a:noFill/>
          <a:ln/>
        </p:spPr>
        <p:txBody>
          <a:bodyPr wrap="square" lIns="0" tIns="0" rIns="0" bIns="0" rtlCol="0" anchor="ctr"/>
          <a:lstStyle/>
          <a:p>
            <a:pPr indent="0" marL="0">
              <a:lnSpc>
                <a:spcPct val="92000"/>
              </a:lnSpc>
              <a:buNone/>
            </a:pPr>
            <a:r>
              <a:rPr lang="en-US" sz="1450" b="1" dirty="0">
                <a:solidFill>
                  <a:srgbClr val="1B2733"/>
                </a:solidFill>
                <a:latin typeface="Yu Gothic" pitchFamily="34" charset="0"/>
                <a:ea typeface="Yu Gothic" pitchFamily="34" charset="-122"/>
                <a:cs typeface="Yu Gothic" pitchFamily="34" charset="-120"/>
              </a:rPr>
              <a:t>次に何を変えるか。</a:t>
            </a:r>
            <a:endParaRPr lang="en-US" sz="1450" dirty="0"/>
          </a:p>
          <a:p>
            <a:pPr indent="0" marL="0">
              <a:lnSpc>
                <a:spcPct val="92000"/>
              </a:lnSpc>
              <a:buNone/>
            </a:pPr>
            <a:r>
              <a:rPr lang="en-US" sz="1050" i="1" dirty="0">
                <a:solidFill>
                  <a:srgbClr val="5F7183"/>
                </a:solidFill>
                <a:latin typeface="Calibri" pitchFamily="34" charset="0"/>
                <a:ea typeface="Calibri" pitchFamily="34" charset="-122"/>
                <a:cs typeface="Calibri" pitchFamily="34" charset="-120"/>
              </a:rPr>
              <a:t>What will we do differently next time?</a:t>
            </a:r>
            <a:endParaRPr lang="en-US" sz="1450" dirty="0"/>
          </a:p>
        </p:txBody>
      </p:sp>
      <p:sp>
        <p:nvSpPr>
          <p:cNvPr id="20" name="Shape 18"/>
          <p:cNvSpPr/>
          <p:nvPr/>
        </p:nvSpPr>
        <p:spPr>
          <a:xfrm>
            <a:off x="640080" y="5533949"/>
            <a:ext cx="10911535" cy="702259"/>
          </a:xfrm>
          <a:prstGeom prst="roundRect">
            <a:avLst>
              <a:gd name="adj" fmla="val 6510"/>
            </a:avLst>
          </a:prstGeom>
          <a:solidFill>
            <a:srgbClr val="EFF4F8"/>
          </a:solidFill>
          <a:ln/>
        </p:spPr>
      </p:sp>
      <p:sp>
        <p:nvSpPr>
          <p:cNvPr id="21" name="Shape 19"/>
          <p:cNvSpPr/>
          <p:nvPr/>
        </p:nvSpPr>
        <p:spPr>
          <a:xfrm>
            <a:off x="896112" y="5693054"/>
            <a:ext cx="384048" cy="384048"/>
          </a:xfrm>
          <a:prstGeom prst="ellipse">
            <a:avLst/>
          </a:prstGeom>
          <a:solidFill>
            <a:srgbClr val="17AF98"/>
          </a:solidFill>
          <a:ln/>
        </p:spPr>
      </p:sp>
      <p:sp>
        <p:nvSpPr>
          <p:cNvPr id="22" name="Text 20"/>
          <p:cNvSpPr/>
          <p:nvPr/>
        </p:nvSpPr>
        <p:spPr>
          <a:xfrm>
            <a:off x="896112" y="569305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1"/>
          <p:cNvSpPr/>
          <p:nvPr/>
        </p:nvSpPr>
        <p:spPr>
          <a:xfrm>
            <a:off x="1499616" y="5643677"/>
            <a:ext cx="9777679" cy="519379"/>
          </a:xfrm>
          <a:prstGeom prst="rect">
            <a:avLst/>
          </a:prstGeom>
          <a:noFill/>
          <a:ln/>
        </p:spPr>
        <p:txBody>
          <a:bodyPr wrap="square" lIns="0" tIns="0" rIns="0" bIns="0" rtlCol="0" anchor="ctr"/>
          <a:lstStyle/>
          <a:p>
            <a:pPr indent="0" marL="0">
              <a:lnSpc>
                <a:spcPct val="92000"/>
              </a:lnSpc>
              <a:buNone/>
            </a:pPr>
            <a:r>
              <a:rPr lang="en-US" sz="1300" b="1" dirty="0">
                <a:solidFill>
                  <a:srgbClr val="1B2733"/>
                </a:solidFill>
                <a:latin typeface="Yu Gothic" pitchFamily="34" charset="0"/>
                <a:ea typeface="Yu Gothic" pitchFamily="34" charset="-122"/>
                <a:cs typeface="Yu Gothic" pitchFamily="34" charset="-120"/>
              </a:rPr>
              <a:t>最後に、各自が「明日から変える行動」を1つ、声に出して宣言します。</a:t>
            </a:r>
            <a:endParaRPr lang="en-US" sz="1300" dirty="0"/>
          </a:p>
          <a:p>
            <a:pPr indent="0" marL="0">
              <a:lnSpc>
                <a:spcPct val="92000"/>
              </a:lnSpc>
              <a:buNone/>
            </a:pPr>
            <a:r>
              <a:rPr lang="en-US" sz="950" i="1" dirty="0">
                <a:solidFill>
                  <a:srgbClr val="5F7183"/>
                </a:solidFill>
                <a:latin typeface="Calibri" pitchFamily="34" charset="0"/>
                <a:ea typeface="Calibri" pitchFamily="34" charset="-122"/>
                <a:cs typeface="Calibri" pitchFamily="34" charset="-120"/>
              </a:rPr>
              <a:t>To close: each of you states aloud one thing you will change from tomorrow.</a:t>
            </a:r>
            <a:endParaRPr lang="en-US" sz="1300" dirty="0"/>
          </a:p>
        </p:txBody>
      </p:sp>
      <p:sp>
        <p:nvSpPr>
          <p:cNvPr id="24" name="Text 22"/>
          <p:cNvSpPr/>
          <p:nvPr/>
        </p:nvSpPr>
        <p:spPr>
          <a:xfrm>
            <a:off x="640080" y="6382512"/>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第10時限｜業務別教育6 警報装置その他当該警備業務を実施するために使用する機器の使用方法  </a:t>
            </a:r>
            <a:pPr indent="0" marL="0">
              <a:buNone/>
            </a:pPr>
            <a:r>
              <a:rPr lang="en-US" sz="850" i="1" dirty="0">
                <a:solidFill>
                  <a:srgbClr val="D6E0E9"/>
                </a:solidFill>
                <a:latin typeface="Calibri" pitchFamily="34" charset="0"/>
                <a:ea typeface="Calibri" pitchFamily="34" charset="-122"/>
                <a:cs typeface="Calibri" pitchFamily="34" charset="-120"/>
              </a:rPr>
              <a:t>Period 10 | Task-Specific Training 6 — Security Equipment</a:t>
            </a:r>
            <a:endParaRPr lang="en-US" sz="900" dirty="0"/>
          </a:p>
        </p:txBody>
      </p:sp>
      <p:sp>
        <p:nvSpPr>
          <p:cNvPr id="25" name="Text 23"/>
          <p:cNvSpPr/>
          <p:nvPr/>
        </p:nvSpPr>
        <p:spPr>
          <a:xfrm>
            <a:off x="10637215" y="6382512"/>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D52"/>
        </a:solidFill>
      </p:bgPr>
    </p:bg>
    <p:spTree>
      <p:nvGrpSpPr>
        <p:cNvPr id="1" name=""/>
        <p:cNvGrpSpPr/>
        <p:nvPr/>
      </p:nvGrpSpPr>
      <p:grpSpPr>
        <a:xfrm>
          <a:off x="0" y="0"/>
          <a:ext cx="0" cy="0"/>
          <a:chOff x="0" y="0"/>
          <a:chExt cx="0" cy="0"/>
        </a:xfrm>
      </p:grpSpPr>
      <p:sp>
        <p:nvSpPr>
          <p:cNvPr id="2" name="Shape 0"/>
          <p:cNvSpPr/>
          <p:nvPr/>
        </p:nvSpPr>
        <p:spPr>
          <a:xfrm>
            <a:off x="10637215" y="219456"/>
            <a:ext cx="1042416" cy="969264"/>
          </a:xfrm>
          <a:prstGeom prst="roundRect">
            <a:avLst>
              <a:gd name="adj" fmla="val 5660"/>
            </a:avLst>
          </a:prstGeom>
          <a:solidFill>
            <a:srgbClr val="FFFFFF"/>
          </a:solidFill>
          <a:ln/>
        </p:spPr>
      </p:sp>
      <p:sp>
        <p:nvSpPr>
          <p:cNvPr id="3" name="Text 1"/>
          <p:cNvSpPr/>
          <p:nvPr/>
        </p:nvSpPr>
        <p:spPr>
          <a:xfrm>
            <a:off x="640080" y="658368"/>
            <a:ext cx="9692640" cy="1188720"/>
          </a:xfrm>
          <a:prstGeom prst="rect">
            <a:avLst/>
          </a:prstGeom>
          <a:noFill/>
          <a:ln/>
        </p:spPr>
        <p:txBody>
          <a:bodyPr wrap="square" lIns="0" tIns="0" rIns="0" bIns="0" rtlCol="0" anchor="t"/>
          <a:lstStyle/>
          <a:p>
            <a:pPr indent="0" marL="0">
              <a:lnSpc>
                <a:spcPct val="96000"/>
              </a:lnSpc>
              <a:buNone/>
            </a:pPr>
            <a:r>
              <a:rPr lang="en-US" sz="3000" b="1" dirty="0">
                <a:solidFill>
                  <a:srgbClr val="FFFFFF"/>
                </a:solidFill>
                <a:latin typeface="Yu Gothic" pitchFamily="34" charset="0"/>
                <a:ea typeface="Yu Gothic" pitchFamily="34" charset="-122"/>
                <a:cs typeface="Yu Gothic" pitchFamily="34" charset="-120"/>
              </a:rPr>
              <a:t>確認テストと修了</a:t>
            </a:r>
            <a:endParaRPr lang="en-US" sz="3000" dirty="0"/>
          </a:p>
          <a:p>
            <a:pPr indent="0" marL="0">
              <a:lnSpc>
                <a:spcPct val="96000"/>
              </a:lnSpc>
              <a:buNone/>
            </a:pPr>
            <a:r>
              <a:rPr lang="en-US" sz="1300" i="1" dirty="0">
                <a:solidFill>
                  <a:srgbClr val="9FD8CD"/>
                </a:solidFill>
                <a:latin typeface="Calibri" pitchFamily="34" charset="0"/>
                <a:ea typeface="Calibri" pitchFamily="34" charset="-122"/>
                <a:cs typeface="Calibri" pitchFamily="34" charset="-120"/>
              </a:rPr>
              <a:t>Assessment and Close</a:t>
            </a:r>
            <a:endParaRPr lang="en-US" sz="3000" dirty="0"/>
          </a:p>
        </p:txBody>
      </p:sp>
      <p:sp>
        <p:nvSpPr>
          <p:cNvPr id="4" name="Shape 2"/>
          <p:cNvSpPr/>
          <p:nvPr/>
        </p:nvSpPr>
        <p:spPr>
          <a:xfrm>
            <a:off x="640080" y="2084832"/>
            <a:ext cx="10911535" cy="676656"/>
          </a:xfrm>
          <a:prstGeom prst="roundRect">
            <a:avLst>
              <a:gd name="adj" fmla="val 6757"/>
            </a:avLst>
          </a:prstGeom>
          <a:solidFill>
            <a:srgbClr val="0A2039"/>
          </a:solidFill>
          <a:ln/>
        </p:spPr>
      </p:sp>
      <p:sp>
        <p:nvSpPr>
          <p:cNvPr id="5" name="Shape 3"/>
          <p:cNvSpPr/>
          <p:nvPr/>
        </p:nvSpPr>
        <p:spPr>
          <a:xfrm>
            <a:off x="914400" y="2231136"/>
            <a:ext cx="384048" cy="384048"/>
          </a:xfrm>
          <a:prstGeom prst="ellipse">
            <a:avLst/>
          </a:prstGeom>
          <a:solidFill>
            <a:srgbClr val="17AF98"/>
          </a:solidFill>
          <a:ln/>
        </p:spPr>
      </p:sp>
      <p:sp>
        <p:nvSpPr>
          <p:cNvPr id="6" name="Text 4"/>
          <p:cNvSpPr/>
          <p:nvPr/>
        </p:nvSpPr>
        <p:spPr>
          <a:xfrm>
            <a:off x="914400" y="22311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517904" y="2176272"/>
            <a:ext cx="9722815" cy="493776"/>
          </a:xfrm>
          <a:prstGeom prst="rect">
            <a:avLst/>
          </a:prstGeom>
          <a:noFill/>
          <a:ln/>
        </p:spPr>
        <p:txBody>
          <a:bodyPr wrap="square" lIns="0" tIns="0" rIns="0" bIns="0" rtlCol="0" anchor="ctr"/>
          <a:lstStyle/>
          <a:p>
            <a:pPr indent="0" marL="0">
              <a:lnSpc>
                <a:spcPct val="92000"/>
              </a:lnSpc>
              <a:buNone/>
            </a:pPr>
            <a:r>
              <a:rPr lang="en-US" sz="1500" b="1" dirty="0">
                <a:solidFill>
                  <a:srgbClr val="FFFFFF"/>
                </a:solidFill>
                <a:latin typeface="Yu Gothic" pitchFamily="34" charset="0"/>
                <a:ea typeface="Yu Gothic" pitchFamily="34" charset="-122"/>
                <a:cs typeface="Yu Gothic" pitchFamily="34" charset="-120"/>
              </a:rPr>
              <a:t>確認テスト10問（15分）― 解答と解説はその場で行います。</a:t>
            </a:r>
            <a:endParaRPr lang="en-US" sz="1500" dirty="0"/>
          </a:p>
          <a:p>
            <a:pPr indent="0" marL="0">
              <a:lnSpc>
                <a:spcPct val="92000"/>
              </a:lnSpc>
              <a:buNone/>
            </a:pPr>
            <a:r>
              <a:rPr lang="en-US" sz="1050" i="1" dirty="0">
                <a:solidFill>
                  <a:srgbClr val="9FB6CB"/>
                </a:solidFill>
                <a:latin typeface="Calibri" pitchFamily="34" charset="0"/>
                <a:ea typeface="Calibri" pitchFamily="34" charset="-122"/>
                <a:cs typeface="Calibri" pitchFamily="34" charset="-120"/>
              </a:rPr>
              <a:t>Ten questions, fifteen minutes — answers and explanation follow immediately.</a:t>
            </a:r>
            <a:endParaRPr lang="en-US" sz="1500" dirty="0"/>
          </a:p>
        </p:txBody>
      </p:sp>
      <p:sp>
        <p:nvSpPr>
          <p:cNvPr id="8" name="Shape 6"/>
          <p:cNvSpPr/>
          <p:nvPr/>
        </p:nvSpPr>
        <p:spPr>
          <a:xfrm>
            <a:off x="640080" y="2962656"/>
            <a:ext cx="10911535" cy="676656"/>
          </a:xfrm>
          <a:prstGeom prst="roundRect">
            <a:avLst>
              <a:gd name="adj" fmla="val 6757"/>
            </a:avLst>
          </a:prstGeom>
          <a:solidFill>
            <a:srgbClr val="0A2039"/>
          </a:solidFill>
          <a:ln/>
        </p:spPr>
      </p:sp>
      <p:sp>
        <p:nvSpPr>
          <p:cNvPr id="9" name="Shape 7"/>
          <p:cNvSpPr/>
          <p:nvPr/>
        </p:nvSpPr>
        <p:spPr>
          <a:xfrm>
            <a:off x="914400" y="3108960"/>
            <a:ext cx="384048" cy="384048"/>
          </a:xfrm>
          <a:prstGeom prst="ellipse">
            <a:avLst/>
          </a:prstGeom>
          <a:solidFill>
            <a:srgbClr val="17AF98"/>
          </a:solidFill>
          <a:ln/>
        </p:spPr>
      </p:sp>
      <p:sp>
        <p:nvSpPr>
          <p:cNvPr id="10" name="Text 8"/>
          <p:cNvSpPr/>
          <p:nvPr/>
        </p:nvSpPr>
        <p:spPr>
          <a:xfrm>
            <a:off x="914400" y="31089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517904" y="3054096"/>
            <a:ext cx="9722815" cy="493776"/>
          </a:xfrm>
          <a:prstGeom prst="rect">
            <a:avLst/>
          </a:prstGeom>
          <a:noFill/>
          <a:ln/>
        </p:spPr>
        <p:txBody>
          <a:bodyPr wrap="square" lIns="0" tIns="0" rIns="0" bIns="0" rtlCol="0" anchor="ctr"/>
          <a:lstStyle/>
          <a:p>
            <a:pPr indent="0" marL="0">
              <a:lnSpc>
                <a:spcPct val="92000"/>
              </a:lnSpc>
              <a:buNone/>
            </a:pPr>
            <a:r>
              <a:rPr lang="en-US" sz="1500" b="1" dirty="0">
                <a:solidFill>
                  <a:srgbClr val="FFFFFF"/>
                </a:solidFill>
                <a:latin typeface="Yu Gothic" pitchFamily="34" charset="0"/>
                <a:ea typeface="Yu Gothic" pitchFamily="34" charset="-122"/>
                <a:cs typeface="Yu Gothic" pitchFamily="34" charset="-120"/>
              </a:rPr>
              <a:t>何を守っているのか ― People / Asset / Reputation。</a:t>
            </a:r>
            <a:endParaRPr lang="en-US" sz="1500" dirty="0"/>
          </a:p>
          <a:p>
            <a:pPr indent="0" marL="0">
              <a:lnSpc>
                <a:spcPct val="92000"/>
              </a:lnSpc>
              <a:buNone/>
            </a:pPr>
            <a:r>
              <a:rPr lang="en-US" sz="1050" i="1" dirty="0">
                <a:solidFill>
                  <a:srgbClr val="9FB6CB"/>
                </a:solidFill>
                <a:latin typeface="Calibri" pitchFamily="34" charset="0"/>
                <a:ea typeface="Calibri" pitchFamily="34" charset="-122"/>
                <a:cs typeface="Calibri" pitchFamily="34" charset="-120"/>
              </a:rPr>
              <a:t>What am I protecting — People, Assets, or Reputation?</a:t>
            </a:r>
            <a:endParaRPr lang="en-US" sz="1500" dirty="0"/>
          </a:p>
        </p:txBody>
      </p:sp>
      <p:sp>
        <p:nvSpPr>
          <p:cNvPr id="12" name="Shape 10"/>
          <p:cNvSpPr/>
          <p:nvPr/>
        </p:nvSpPr>
        <p:spPr>
          <a:xfrm>
            <a:off x="640080" y="3840480"/>
            <a:ext cx="10911535" cy="676656"/>
          </a:xfrm>
          <a:prstGeom prst="roundRect">
            <a:avLst>
              <a:gd name="adj" fmla="val 6757"/>
            </a:avLst>
          </a:prstGeom>
          <a:solidFill>
            <a:srgbClr val="0A2039"/>
          </a:solidFill>
          <a:ln/>
        </p:spPr>
      </p:sp>
      <p:sp>
        <p:nvSpPr>
          <p:cNvPr id="13" name="Shape 11"/>
          <p:cNvSpPr/>
          <p:nvPr/>
        </p:nvSpPr>
        <p:spPr>
          <a:xfrm>
            <a:off x="914400" y="3986784"/>
            <a:ext cx="384048" cy="384048"/>
          </a:xfrm>
          <a:prstGeom prst="ellipse">
            <a:avLst/>
          </a:prstGeom>
          <a:solidFill>
            <a:srgbClr val="17AF98"/>
          </a:solidFill>
          <a:ln/>
        </p:spPr>
      </p:sp>
      <p:sp>
        <p:nvSpPr>
          <p:cNvPr id="14" name="Text 12"/>
          <p:cNvSpPr/>
          <p:nvPr/>
        </p:nvSpPr>
        <p:spPr>
          <a:xfrm>
            <a:off x="914400" y="39867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517904" y="3931920"/>
            <a:ext cx="9722815" cy="493776"/>
          </a:xfrm>
          <a:prstGeom prst="rect">
            <a:avLst/>
          </a:prstGeom>
          <a:noFill/>
          <a:ln/>
        </p:spPr>
        <p:txBody>
          <a:bodyPr wrap="square" lIns="0" tIns="0" rIns="0" bIns="0" rtlCol="0" anchor="ctr"/>
          <a:lstStyle/>
          <a:p>
            <a:pPr indent="0" marL="0">
              <a:lnSpc>
                <a:spcPct val="92000"/>
              </a:lnSpc>
              <a:buNone/>
            </a:pPr>
            <a:r>
              <a:rPr lang="en-US" sz="1500" b="1" dirty="0">
                <a:solidFill>
                  <a:srgbClr val="FFFFFF"/>
                </a:solidFill>
                <a:latin typeface="Yu Gothic" pitchFamily="34" charset="0"/>
                <a:ea typeface="Yu Gothic" pitchFamily="34" charset="-122"/>
                <a:cs typeface="Yu Gothic" pitchFamily="34" charset="-120"/>
              </a:rPr>
              <a:t>どの立場で動くのか ― 私人か、補助者か。</a:t>
            </a:r>
            <a:endParaRPr lang="en-US" sz="1500" dirty="0"/>
          </a:p>
          <a:p>
            <a:pPr indent="0" marL="0">
              <a:lnSpc>
                <a:spcPct val="92000"/>
              </a:lnSpc>
              <a:buNone/>
            </a:pPr>
            <a:r>
              <a:rPr lang="en-US" sz="1050" i="1" dirty="0">
                <a:solidFill>
                  <a:srgbClr val="9FB6CB"/>
                </a:solidFill>
                <a:latin typeface="Calibri" pitchFamily="34" charset="0"/>
                <a:ea typeface="Calibri" pitchFamily="34" charset="-122"/>
                <a:cs typeface="Calibri" pitchFamily="34" charset="-120"/>
              </a:rPr>
              <a:t>In what capacity am I acting — citizen, or delegated agent?</a:t>
            </a:r>
            <a:endParaRPr lang="en-US" sz="1500" dirty="0"/>
          </a:p>
        </p:txBody>
      </p:sp>
      <p:sp>
        <p:nvSpPr>
          <p:cNvPr id="16" name="Shape 14"/>
          <p:cNvSpPr/>
          <p:nvPr/>
        </p:nvSpPr>
        <p:spPr>
          <a:xfrm>
            <a:off x="640080" y="4718304"/>
            <a:ext cx="10911535" cy="676656"/>
          </a:xfrm>
          <a:prstGeom prst="roundRect">
            <a:avLst>
              <a:gd name="adj" fmla="val 6757"/>
            </a:avLst>
          </a:prstGeom>
          <a:solidFill>
            <a:srgbClr val="0A2039"/>
          </a:solidFill>
          <a:ln/>
        </p:spPr>
      </p:sp>
      <p:sp>
        <p:nvSpPr>
          <p:cNvPr id="17" name="Shape 15"/>
          <p:cNvSpPr/>
          <p:nvPr/>
        </p:nvSpPr>
        <p:spPr>
          <a:xfrm>
            <a:off x="914400" y="4864608"/>
            <a:ext cx="384048" cy="384048"/>
          </a:xfrm>
          <a:prstGeom prst="ellipse">
            <a:avLst/>
          </a:prstGeom>
          <a:solidFill>
            <a:srgbClr val="17AF98"/>
          </a:solidFill>
          <a:ln/>
        </p:spPr>
      </p:sp>
      <p:sp>
        <p:nvSpPr>
          <p:cNvPr id="18" name="Text 16"/>
          <p:cNvSpPr/>
          <p:nvPr/>
        </p:nvSpPr>
        <p:spPr>
          <a:xfrm>
            <a:off x="914400" y="4864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1517904" y="4809744"/>
            <a:ext cx="9722815" cy="493776"/>
          </a:xfrm>
          <a:prstGeom prst="rect">
            <a:avLst/>
          </a:prstGeom>
          <a:noFill/>
          <a:ln/>
        </p:spPr>
        <p:txBody>
          <a:bodyPr wrap="square" lIns="0" tIns="0" rIns="0" bIns="0" rtlCol="0" anchor="ctr"/>
          <a:lstStyle/>
          <a:p>
            <a:pPr indent="0" marL="0">
              <a:lnSpc>
                <a:spcPct val="92000"/>
              </a:lnSpc>
              <a:buNone/>
            </a:pPr>
            <a:r>
              <a:rPr lang="en-US" sz="1500" b="1" dirty="0">
                <a:solidFill>
                  <a:srgbClr val="FFFFFF"/>
                </a:solidFill>
                <a:latin typeface="Yu Gothic" pitchFamily="34" charset="0"/>
                <a:ea typeface="Yu Gothic" pitchFamily="34" charset="-122"/>
                <a:cs typeface="Yu Gothic" pitchFamily="34" charset="-120"/>
              </a:rPr>
              <a:t>その手段は最小限か ― 越えたら、それは何になるか。</a:t>
            </a:r>
            <a:endParaRPr lang="en-US" sz="1500" dirty="0"/>
          </a:p>
          <a:p>
            <a:pPr indent="0" marL="0">
              <a:lnSpc>
                <a:spcPct val="92000"/>
              </a:lnSpc>
              <a:buNone/>
            </a:pPr>
            <a:r>
              <a:rPr lang="en-US" sz="1050" i="1" dirty="0">
                <a:solidFill>
                  <a:srgbClr val="9FB6CB"/>
                </a:solidFill>
                <a:latin typeface="Calibri" pitchFamily="34" charset="0"/>
                <a:ea typeface="Calibri" pitchFamily="34" charset="-122"/>
                <a:cs typeface="Calibri" pitchFamily="34" charset="-120"/>
              </a:rPr>
              <a:t>Is this the minimum necessary — and if I exceed it, what does it become?</a:t>
            </a:r>
            <a:endParaRPr lang="en-US" sz="1500" dirty="0"/>
          </a:p>
        </p:txBody>
      </p:sp>
      <p:sp>
        <p:nvSpPr>
          <p:cNvPr id="20" name="Text 18"/>
          <p:cNvSpPr/>
          <p:nvPr/>
        </p:nvSpPr>
        <p:spPr>
          <a:xfrm>
            <a:off x="640080" y="5596128"/>
            <a:ext cx="10911535" cy="603504"/>
          </a:xfrm>
          <a:prstGeom prst="rect">
            <a:avLst/>
          </a:prstGeom>
          <a:noFill/>
          <a:ln/>
        </p:spPr>
        <p:txBody>
          <a:bodyPr wrap="square" lIns="0" tIns="0" rIns="0" bIns="0" rtlCol="0" anchor="t"/>
          <a:lstStyle/>
          <a:p>
            <a:pPr indent="0" marL="0">
              <a:buNone/>
            </a:pPr>
            <a:r>
              <a:rPr lang="en-US" sz="1200" b="1" dirty="0">
                <a:solidFill>
                  <a:srgbClr val="17AF98"/>
                </a:solidFill>
                <a:latin typeface="Yu Gothic" pitchFamily="34" charset="0"/>
                <a:ea typeface="Yu Gothic" pitchFamily="34" charset="-122"/>
                <a:cs typeface="Yu Gothic" pitchFamily="34" charset="-120"/>
              </a:rPr>
              <a:t>本日の教育記録は、警備員指導教育責任者が作成し、所定の期間保存します。</a:t>
            </a:r>
            <a:endParaRPr lang="en-US" sz="1200" dirty="0"/>
          </a:p>
          <a:p>
            <a:pPr indent="0" marL="0">
              <a:buNone/>
            </a:pPr>
            <a:r>
              <a:rPr lang="en-US" sz="950" i="1" dirty="0">
                <a:solidFill>
                  <a:srgbClr val="8EA3B7"/>
                </a:solidFill>
                <a:latin typeface="Calibri" pitchFamily="34" charset="0"/>
                <a:ea typeface="Calibri" pitchFamily="34" charset="-122"/>
                <a:cs typeface="Calibri" pitchFamily="34" charset="-120"/>
              </a:rPr>
              <a:t>Today's training record is prepared by the Security Guard Instruction Supervisor and retained for the prescribed period.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第10時限｜業務別教育6 警報装置その他当該警備業務を実施するために使用する機器の使用方法</dc:title>
  <dc:subject>PptxGenJS Presentation</dc:subject>
  <dc:creator>警備員指導教育責任者</dc:creator>
  <cp:lastModifiedBy>警備員指導教育責任者</cp:lastModifiedBy>
  <cp:revision>1</cp:revision>
  <dcterms:created xsi:type="dcterms:W3CDTF">2026-08-10T11:51:05Z</dcterms:created>
  <dcterms:modified xsi:type="dcterms:W3CDTF">2026-08-10T11:51:05Z</dcterms:modified>
</cp:coreProperties>
</file>