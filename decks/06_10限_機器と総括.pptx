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警報設備の全体像</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Overview of Security Equipment</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classify the equipment on your site, and explain what each of them reports.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防災設備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Safety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alarm system: panel, detectors, call points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Firefighting: extinguishers, hydrants, sprinklers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・防排煙設備 ― 防火戸、防煙垂れ壁、排煙口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Smoke control: fire doors, smoke barriers, vents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・非常放送、誘導灯、非常用照明</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exit signs, emergency lighting</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防犯設備</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Systems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・侵入警報 ― 扉、窓、空間センサー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Intrusion alarm: door, window and space sensors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Access control: readers, electric locks, logs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・防犯カメラ ― 監視、録画、検索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CCTV: monitoring, recording, retrieval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・非常通報装置、インターホン</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Emergency call points and intercoms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通信機器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Communications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・携帯無線機。交話要領は本コマで扱う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Handheld radios. Procedure is covered in this session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・固定電話、非常電話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Fixed lines and emergency phones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Work devices. Keep them clearly separate from personal ones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the fallback before communications fail</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共通する原則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Principles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・機器は異常を知らせる。判断は人が行う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Equipment reports a condition. People make the decision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・操作方法を知らない機器は触らない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touch equipment you have not been trained 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・音を止めることは目的ではない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Silencing an alarm is not the objective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are logged. Record your operations too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受信機と発報対応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Fire Panel and Responding to an Activation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order of checks on activation, and when you may declare a fire.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確認の順序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Order of Checks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・地区表示を読む。何階、どの区画か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the zone display: which floor, which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before you move, not after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Verify on site. Do not conclude before you have seen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・連動の作動状況を確認する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which linked systems have operated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発報は火災の確定ではない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An Activation Is Not a Confirmed Fire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activation only means a detector operated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Non-fire causes: steam, dust, cooking, construction, insecticide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the radio: "Third floor east zone, activation, going to verify"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say "fire" before verifying. It locks in a conclusion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現場での確認</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Checking on Site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 the door to check for heat. If it is hot, do not open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・煙の有無、臭気、音を確認する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for smoke, smell and sound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verify alone. If you must, tell someone where you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Activations in several zones make a non-fire cause less likely</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判断が変わる情報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That Changes the Picture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smoke visible" does not rule out a fire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・感知器の位置と、人がいる位置は異なる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detector is not where the people are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・第2報が出た場合は、判断を切り替える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a second zone activates, change your assessment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・迷った場合は、火災として動く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in doubt, act as though it is a fire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連動、避難誘導、無線交話要領</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Linked Systems, Evacuation Guidance, and Radio Procedure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guide people knowing the routes change, and use the radio in English and Japanese.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連動</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Linked Systems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Fire doors and smoke control: closures change the usable routes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Public address takes priority. Radio traffic suffers while it runs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Lifts descend to the evacuation floor and stop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Shutters: check nobody is left on the far side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避難誘導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Evacuation Guidance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Assume stairs. Do not let people use the lifts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・大きな声で、短い言葉で。方向を手で示す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Loud voice, short words. Point the direction with your hand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non-Japanese visitors, "this way, please" plus a gesture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Sweep for anyone left behind, according to your assigned area</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英語（主）</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English (primary)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・構成：呼出 → 応答 → 用件 → 復唱 → 終話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Structure: call, answer, message, read-back, close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this is [自分]" → "Go ahead"</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then yourself, then hand 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・Over（送信終わり）／Out（交信終了）／Say again／Stand by</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Over, Out, Say again, Stand by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Roger and Copy mean received. Never say "over and out"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無線 ― 日本語（副）と原則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Radio — Japanese (secondary) and Rules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・「◯◯、こちら△△、どうぞ」「以上」「再送願います」「了解」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them, name yourself, hand over; then out, say again, roger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・数字は一桁ずつ（7＝なな、0＝まる）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Read numbers one digit at a time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Plain language. No codes. No personal data by radio</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・参考：NATO（Alpha, Bravo…）、和文通話表（朝日のア…）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Reference only: NATO and Japanese phonetic alphabets</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ログとカメラ画像の管理</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Managing Logs and Footage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preservation and disclosure, knowing that logs and footage are evidence.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証拠としての性質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Their Nature as Evidence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・後の調査、懲戒、訴訟で証拠になる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become evidence in later investigation, discipline and litigation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・同時に個人情報でもある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are also personal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overwritten they cannot be recovered. There is a time limit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guard on the spot is usually the first to notice they matter</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保全の依頼</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Requesting Preservation</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 becoming aware of an incident, request preservation before overwrite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Specify the target: date and time, zone, camera number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・依頼した事実と時刻を記録する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asked, and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 contact is away, go to the next person in the call-out list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見る・渡すの制限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Limits on Viewing and Handing Over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view outside the purpose. Curiosity is not a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・持ち出さない、撮影しない、投稿しない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remove, photograph or post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does not decide on disclosure. Refer to the supervisor and client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・閲覧した事実そのものを記録する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the fact that a viewing took place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求められたときの言い方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to Say When Asked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able to decide on that. Let me connect you with the right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・相手が社員でも、その場では見せない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show it on the spot, even to an employee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see identification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・断ったこと、その理由、時刻を記録する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that you declined, why, and when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総合演習</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 Integrated Exercise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do first? How do you deploy two people?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通報するか。110番か119番か、両方か。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call? Police, fire, or both?</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must be preserved? With the authority away, who do you ask?</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do you leave until later, and on what basis?</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 employee on the third floor radios: "no smoke visible." Does that change your decision?</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10-A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10-A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2つの事象が重なり、人員が足りない。全部はできない。</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Two events overlap and you are short-staffed. You cannot do everything.</a:t>
            </a:r>
            <a:endParaRPr lang="en-US" sz="1000" dirty="0"/>
          </a:p>
        </p:txBody>
      </p:sp>
      <p:sp>
        <p:nvSpPr>
          <p:cNvPr id="7" name="Shape 4"/>
          <p:cNvSpPr/>
          <p:nvPr/>
        </p:nvSpPr>
        <p:spPr>
          <a:xfrm>
            <a:off x="640080" y="1773936"/>
            <a:ext cx="5327752" cy="1091184"/>
          </a:xfrm>
          <a:prstGeom prst="roundRect">
            <a:avLst>
              <a:gd name="adj" fmla="val 3352"/>
            </a:avLst>
          </a:prstGeom>
          <a:solidFill>
            <a:srgbClr val="E4F4F0"/>
          </a:solidFill>
          <a:ln/>
        </p:spPr>
      </p:sp>
      <p:sp>
        <p:nvSpPr>
          <p:cNvPr id="8" name="Text 5"/>
          <p:cNvSpPr/>
          <p:nvPr/>
        </p:nvSpPr>
        <p:spPr>
          <a:xfrm>
            <a:off x="877824"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最初の60秒</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地区表示を読む → 一報を入れる → 現場確認。動く前に一報。</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Read the zone, send the first report, then verify. Report before you move.</a:t>
            </a:r>
            <a:endParaRPr lang="en-US" sz="1050" dirty="0"/>
          </a:p>
        </p:txBody>
      </p:sp>
      <p:sp>
        <p:nvSpPr>
          <p:cNvPr id="9" name="Shape 6"/>
          <p:cNvSpPr/>
          <p:nvPr/>
        </p:nvSpPr>
        <p:spPr>
          <a:xfrm>
            <a:off x="6223864" y="1773936"/>
            <a:ext cx="5327752" cy="1091184"/>
          </a:xfrm>
          <a:prstGeom prst="roundRect">
            <a:avLst>
              <a:gd name="adj" fmla="val 3352"/>
            </a:avLst>
          </a:prstGeom>
          <a:solidFill>
            <a:srgbClr val="E4F4F0"/>
          </a:solidFill>
          <a:ln/>
        </p:spPr>
      </p:sp>
      <p:sp>
        <p:nvSpPr>
          <p:cNvPr id="10" name="Text 7"/>
          <p:cNvSpPr/>
          <p:nvPr/>
        </p:nvSpPr>
        <p:spPr>
          <a:xfrm>
            <a:off x="6461608"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2名の配置</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単独で行かないことと受信機を無人にしないことは両立しない。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Not going alone and not leaving the panel unmanned cannot both hold.</a:t>
            </a:r>
            <a:endParaRPr lang="en-US" sz="1050" dirty="0"/>
          </a:p>
        </p:txBody>
      </p:sp>
      <p:sp>
        <p:nvSpPr>
          <p:cNvPr id="11" name="Shape 8"/>
          <p:cNvSpPr/>
          <p:nvPr/>
        </p:nvSpPr>
        <p:spPr>
          <a:xfrm>
            <a:off x="640080" y="2993136"/>
            <a:ext cx="5327752" cy="1091184"/>
          </a:xfrm>
          <a:prstGeom prst="roundRect">
            <a:avLst>
              <a:gd name="adj" fmla="val 3352"/>
            </a:avLst>
          </a:prstGeom>
          <a:solidFill>
            <a:srgbClr val="EFF4F8"/>
          </a:solidFill>
          <a:ln/>
        </p:spPr>
      </p:sp>
      <p:sp>
        <p:nvSpPr>
          <p:cNvPr id="12" name="Text 9"/>
          <p:cNvSpPr/>
          <p:nvPr/>
        </p:nvSpPr>
        <p:spPr>
          <a:xfrm>
            <a:off x="877824"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「煙は見えない」</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火災を否定する根拠にならない。感知器と人の位置は違う。判断を変えない。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It does not rule out a fire. The detector is not where the people are.</a:t>
            </a:r>
            <a:endParaRPr lang="en-US" sz="1050" dirty="0"/>
          </a:p>
        </p:txBody>
      </p:sp>
      <p:sp>
        <p:nvSpPr>
          <p:cNvPr id="13" name="Shape 10"/>
          <p:cNvSpPr/>
          <p:nvPr/>
        </p:nvSpPr>
        <p:spPr>
          <a:xfrm>
            <a:off x="6223864" y="2993136"/>
            <a:ext cx="5327752" cy="1091184"/>
          </a:xfrm>
          <a:prstGeom prst="roundRect">
            <a:avLst>
              <a:gd name="adj" fmla="val 3352"/>
            </a:avLst>
          </a:prstGeom>
          <a:solidFill>
            <a:srgbClr val="EFF4F8"/>
          </a:solidFill>
          <a:ln/>
        </p:spPr>
      </p:sp>
      <p:sp>
        <p:nvSpPr>
          <p:cNvPr id="14" name="Text 11"/>
          <p:cNvSpPr/>
          <p:nvPr/>
        </p:nvSpPr>
        <p:spPr>
          <a:xfrm>
            <a:off x="6461608"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第2報（4階西）</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2区画同時発報。非火災報の可能性が下がる。通報判断を切り替える。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Two zones at once. A false alarm is less likely. Change your call decision.</a:t>
            </a:r>
            <a:endParaRPr lang="en-US" sz="1050" dirty="0"/>
          </a:p>
        </p:txBody>
      </p:sp>
      <p:sp>
        <p:nvSpPr>
          <p:cNvPr id="15" name="Shape 12"/>
          <p:cNvSpPr/>
          <p:nvPr/>
        </p:nvSpPr>
        <p:spPr>
          <a:xfrm>
            <a:off x="640080" y="4212336"/>
            <a:ext cx="5327752" cy="1091184"/>
          </a:xfrm>
          <a:prstGeom prst="roundRect">
            <a:avLst>
              <a:gd name="adj" fmla="val 3352"/>
            </a:avLst>
          </a:prstGeom>
          <a:solidFill>
            <a:srgbClr val="E4F4F0"/>
          </a:solidFill>
          <a:ln/>
        </p:spPr>
      </p:sp>
      <p:sp>
        <p:nvSpPr>
          <p:cNvPr id="16" name="Text 13"/>
          <p:cNvSpPr/>
          <p:nvPr/>
        </p:nvSpPr>
        <p:spPr>
          <a:xfrm>
            <a:off x="877824"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ログと画像</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退職者カードの解錠記録は保全対象。上書き前に依頼する。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The leaver-card unlock must be preserved. Request it before it is overwritten.</a:t>
            </a:r>
            <a:endParaRPr lang="en-US" sz="1050" dirty="0"/>
          </a:p>
        </p:txBody>
      </p:sp>
      <p:sp>
        <p:nvSpPr>
          <p:cNvPr id="17" name="Shape 14"/>
          <p:cNvSpPr/>
          <p:nvPr/>
        </p:nvSpPr>
        <p:spPr>
          <a:xfrm>
            <a:off x="6223864" y="4212336"/>
            <a:ext cx="5327752" cy="1091184"/>
          </a:xfrm>
          <a:prstGeom prst="roundRect">
            <a:avLst>
              <a:gd name="adj" fmla="val 3352"/>
            </a:avLst>
          </a:prstGeom>
          <a:solidFill>
            <a:srgbClr val="EFF4F8"/>
          </a:solidFill>
          <a:ln/>
        </p:spPr>
      </p:sp>
      <p:sp>
        <p:nvSpPr>
          <p:cNvPr id="18" name="Text 15"/>
          <p:cNvSpPr/>
          <p:nvPr/>
        </p:nvSpPr>
        <p:spPr>
          <a:xfrm>
            <a:off x="6461608"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管理権者不在</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緊急連絡体制の次順位者へ。不在を理由に何もしないのが最も悪い。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Go to the next contact. Doing nothing because they are away is the worst outcome.</a:t>
            </a:r>
            <a:endParaRPr lang="en-US" sz="1050" dirty="0"/>
          </a:p>
        </p:txBody>
      </p:sp>
      <p:sp>
        <p:nvSpPr>
          <p:cNvPr id="19" name="Shape 16"/>
          <p:cNvSpPr/>
          <p:nvPr/>
        </p:nvSpPr>
        <p:spPr>
          <a:xfrm>
            <a:off x="640080" y="5358384"/>
            <a:ext cx="10911535" cy="493776"/>
          </a:xfrm>
          <a:prstGeom prst="roundRect">
            <a:avLst>
              <a:gd name="adj" fmla="val 7407"/>
            </a:avLst>
          </a:prstGeom>
          <a:solidFill>
            <a:srgbClr val="093259"/>
          </a:solidFill>
          <a:ln/>
        </p:spPr>
      </p:sp>
      <p:sp>
        <p:nvSpPr>
          <p:cNvPr id="20" name="Text 17"/>
          <p:cNvSpPr/>
          <p:nvPr/>
        </p:nvSpPr>
        <p:spPr>
          <a:xfrm>
            <a:off x="877824" y="5404104"/>
            <a:ext cx="10436047" cy="402336"/>
          </a:xfrm>
          <a:prstGeom prst="rect">
            <a:avLst/>
          </a:prstGeom>
          <a:noFill/>
          <a:ln/>
        </p:spPr>
        <p:txBody>
          <a:bodyPr wrap="square" lIns="0" tIns="0" rIns="0" bIns="0" rtlCol="0" anchor="ctr"/>
          <a:lstStyle/>
          <a:p>
            <a:pPr indent="0" marL="0">
              <a:lnSpc>
                <a:spcPct val="86000"/>
              </a:lnSpc>
              <a:buNone/>
            </a:pPr>
            <a:r>
              <a:rPr lang="en-US" sz="9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100" b="1" dirty="0">
                <a:solidFill>
                  <a:srgbClr val="FFFFFF"/>
                </a:solidFill>
                <a:latin typeface="Yu Gothic" pitchFamily="34" charset="0"/>
                <a:ea typeface="Yu Gothic" pitchFamily="34" charset="-122"/>
                <a:cs typeface="Yu Gothic" pitchFamily="34" charset="-120"/>
              </a:rPr>
              <a:t>何を後回しにするか。不正解錠の追跡は後回しになる。捨てる判断とその根拠を言えるか。</a:t>
            </a:r>
            <a:endParaRPr lang="en-US" sz="950" dirty="0"/>
          </a:p>
          <a:p>
            <a:pPr indent="0" marL="0">
              <a:lnSpc>
                <a:spcPct val="86000"/>
              </a:lnSpc>
              <a:buNone/>
            </a:pPr>
            <a:r>
              <a:rPr lang="en-US" sz="800" i="1" dirty="0">
                <a:solidFill>
                  <a:srgbClr val="9FD8CD"/>
                </a:solidFill>
                <a:latin typeface="Calibri" pitchFamily="34" charset="0"/>
                <a:ea typeface="Calibri" pitchFamily="34" charset="-122"/>
                <a:cs typeface="Calibri" pitchFamily="34" charset="-120"/>
              </a:rPr>
              <a:t>What waits? Pursuing the unauthorised entry does. Can they state what they dropped, and why?</a:t>
            </a:r>
            <a:endParaRPr lang="en-US" sz="950" dirty="0"/>
          </a:p>
        </p:txBody>
      </p:sp>
      <p:sp>
        <p:nvSpPr>
          <p:cNvPr id="21" name="Text 18"/>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人員配置、通報の判断者、保全依頼の宛先は現場ごとに異なる。緊急連絡体制表による。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Deployment, who calls, and who to ask for preservation differ by site.</a:t>
            </a:r>
            <a:endParaRPr lang="en-US" sz="900" dirty="0"/>
          </a:p>
        </p:txBody>
      </p:sp>
      <p:sp>
        <p:nvSpPr>
          <p:cNvPr id="22" name="Text 19"/>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消防法、警備業法、個人情報保護法</a:t>
            </a:r>
            <a:endParaRPr lang="en-US" sz="750" dirty="0"/>
          </a:p>
        </p:txBody>
      </p:sp>
      <p:sp>
        <p:nvSpPr>
          <p:cNvPr id="23" name="Text 20"/>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4" name="Text 21"/>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 A Manager Asks You for the Access Log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21時、クライアント企業の部長が防災センター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21:00. A department head from the client company comes to the security office. "One of my staff may have taken equipment. I want to see today's access log and the lift-lobby footage now." They are a client manager who has always been cooperative. Your supervisor is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being a client manager justify disclosure?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a guard have authority to decide on disclosure?</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decline, what do you say? Can you decline without damaging the relationship?</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accept a request to preserve? How does that differ from disclosure?</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"Then do not show me. You look, and tell me what you see."</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10-B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10-B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保全と開示は別の行為。保全は受けてよく、開示は受けられない。</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Preservation and disclosure are different acts. You may accept the first, never the second.</a:t>
            </a:r>
            <a:endParaRPr lang="en-US" sz="1000" dirty="0"/>
          </a:p>
        </p:txBody>
      </p:sp>
      <p:sp>
        <p:nvSpPr>
          <p:cNvPr id="7" name="Shape 4"/>
          <p:cNvSpPr/>
          <p:nvPr/>
        </p:nvSpPr>
        <p:spPr>
          <a:xfrm>
            <a:off x="640080" y="1773936"/>
            <a:ext cx="5327752" cy="1091184"/>
          </a:xfrm>
          <a:prstGeom prst="roundRect">
            <a:avLst>
              <a:gd name="adj" fmla="val 3352"/>
            </a:avLst>
          </a:prstGeom>
          <a:solidFill>
            <a:srgbClr val="EFF4F8"/>
          </a:solidFill>
          <a:ln/>
        </p:spPr>
      </p:sp>
      <p:sp>
        <p:nvSpPr>
          <p:cNvPr id="8" name="Text 5"/>
          <p:cNvSpPr/>
          <p:nvPr/>
        </p:nvSpPr>
        <p:spPr>
          <a:xfrm>
            <a:off x="877824"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管理職であること</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開示の根拠にならない。可否は契約とクライアントの規程で決まる。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Not a basis. The contract and the client's rules decide.</a:t>
            </a:r>
            <a:endParaRPr lang="en-US" sz="1050" dirty="0"/>
          </a:p>
        </p:txBody>
      </p:sp>
      <p:sp>
        <p:nvSpPr>
          <p:cNvPr id="9" name="Shape 6"/>
          <p:cNvSpPr/>
          <p:nvPr/>
        </p:nvSpPr>
        <p:spPr>
          <a:xfrm>
            <a:off x="6223864" y="1773936"/>
            <a:ext cx="5327752" cy="1091184"/>
          </a:xfrm>
          <a:prstGeom prst="roundRect">
            <a:avLst>
              <a:gd name="adj" fmla="val 3352"/>
            </a:avLst>
          </a:prstGeom>
          <a:solidFill>
            <a:srgbClr val="EFF4F8"/>
          </a:solidFill>
          <a:ln/>
        </p:spPr>
      </p:sp>
      <p:sp>
        <p:nvSpPr>
          <p:cNvPr id="10" name="Text 7"/>
          <p:cNvSpPr/>
          <p:nvPr/>
        </p:nvSpPr>
        <p:spPr>
          <a:xfrm>
            <a:off x="6461608"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警備員の権限</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判断する立場にない。取り次ぐところまで。</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You are not the decision-maker. Your role ends at referral.</a:t>
            </a:r>
            <a:endParaRPr lang="en-US" sz="1050" dirty="0"/>
          </a:p>
        </p:txBody>
      </p:sp>
      <p:sp>
        <p:nvSpPr>
          <p:cNvPr id="11" name="Shape 8"/>
          <p:cNvSpPr/>
          <p:nvPr/>
        </p:nvSpPr>
        <p:spPr>
          <a:xfrm>
            <a:off x="640080" y="2993136"/>
            <a:ext cx="5327752" cy="1091184"/>
          </a:xfrm>
          <a:prstGeom prst="roundRect">
            <a:avLst>
              <a:gd name="adj" fmla="val 3352"/>
            </a:avLst>
          </a:prstGeom>
          <a:solidFill>
            <a:srgbClr val="EFF4F8"/>
          </a:solidFill>
          <a:ln/>
        </p:spPr>
      </p:sp>
      <p:sp>
        <p:nvSpPr>
          <p:cNvPr id="12" name="Text 9"/>
          <p:cNvSpPr/>
          <p:nvPr/>
        </p:nvSpPr>
        <p:spPr>
          <a:xfrm>
            <a:off x="877824"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断り方</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"I am not able to decide that. Let me connect you with the right person."</a:t>
            </a:r>
            <a:endParaRPr lang="en-US" sz="1050" dirty="0"/>
          </a:p>
        </p:txBody>
      </p:sp>
      <p:sp>
        <p:nvSpPr>
          <p:cNvPr id="13" name="Shape 10"/>
          <p:cNvSpPr/>
          <p:nvPr/>
        </p:nvSpPr>
        <p:spPr>
          <a:xfrm>
            <a:off x="6223864" y="2993136"/>
            <a:ext cx="5327752" cy="1091184"/>
          </a:xfrm>
          <a:prstGeom prst="roundRect">
            <a:avLst>
              <a:gd name="adj" fmla="val 3352"/>
            </a:avLst>
          </a:prstGeom>
          <a:solidFill>
            <a:srgbClr val="E4F4F0"/>
          </a:solidFill>
          <a:ln/>
        </p:spPr>
      </p:sp>
      <p:sp>
        <p:nvSpPr>
          <p:cNvPr id="14" name="Text 11"/>
          <p:cNvSpPr/>
          <p:nvPr/>
        </p:nvSpPr>
        <p:spPr>
          <a:xfrm>
            <a:off x="6461608"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「あなたが見て教えて」</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同じこと。自分が見て伝えるのは開示と同じ結果になる。応じられない。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The same thing. Looking and telling produces the same result as showing. Decline.</a:t>
            </a:r>
            <a:endParaRPr lang="en-US" sz="1050" dirty="0"/>
          </a:p>
        </p:txBody>
      </p:sp>
      <p:sp>
        <p:nvSpPr>
          <p:cNvPr id="15" name="Shape 12"/>
          <p:cNvSpPr/>
          <p:nvPr/>
        </p:nvSpPr>
        <p:spPr>
          <a:xfrm>
            <a:off x="640080" y="4212336"/>
            <a:ext cx="5327752" cy="1091184"/>
          </a:xfrm>
          <a:prstGeom prst="roundRect">
            <a:avLst>
              <a:gd name="adj" fmla="val 3352"/>
            </a:avLst>
          </a:prstGeom>
          <a:solidFill>
            <a:srgbClr val="E4F4F0"/>
          </a:solidFill>
          <a:ln/>
        </p:spPr>
      </p:sp>
      <p:sp>
        <p:nvSpPr>
          <p:cNvPr id="16" name="Text 13"/>
          <p:cNvSpPr/>
          <p:nvPr/>
        </p:nvSpPr>
        <p:spPr>
          <a:xfrm>
            <a:off x="877824"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「消さないでくれ」</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これは受けてよい。保全は上書きを防ぐ行為で、内容を渡す行為ではない。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This you may accept. Preserving prevents overwrite; it does not hand over content.</a:t>
            </a:r>
            <a:endParaRPr lang="en-US" sz="1050" dirty="0"/>
          </a:p>
        </p:txBody>
      </p:sp>
      <p:sp>
        <p:nvSpPr>
          <p:cNvPr id="17" name="Shape 14"/>
          <p:cNvSpPr/>
          <p:nvPr/>
        </p:nvSpPr>
        <p:spPr>
          <a:xfrm>
            <a:off x="6223864" y="4212336"/>
            <a:ext cx="5327752" cy="1091184"/>
          </a:xfrm>
          <a:prstGeom prst="roundRect">
            <a:avLst>
              <a:gd name="adj" fmla="val 3352"/>
            </a:avLst>
          </a:prstGeom>
          <a:solidFill>
            <a:srgbClr val="EFF4F8"/>
          </a:solidFill>
          <a:ln/>
        </p:spPr>
      </p:sp>
      <p:sp>
        <p:nvSpPr>
          <p:cNvPr id="18" name="Text 15"/>
          <p:cNvSpPr/>
          <p:nvPr/>
        </p:nvSpPr>
        <p:spPr>
          <a:xfrm>
            <a:off x="6461608"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記録</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求められた内容、断ったこと、その理由、保全依頼の事実、時刻。</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What was asked, that you declined, why, the preservation request, and the time.</a:t>
            </a:r>
            <a:endParaRPr lang="en-US" sz="1050" dirty="0"/>
          </a:p>
        </p:txBody>
      </p:sp>
      <p:sp>
        <p:nvSpPr>
          <p:cNvPr id="19" name="Shape 16"/>
          <p:cNvSpPr/>
          <p:nvPr/>
        </p:nvSpPr>
        <p:spPr>
          <a:xfrm>
            <a:off x="640080" y="5358384"/>
            <a:ext cx="10911535" cy="493776"/>
          </a:xfrm>
          <a:prstGeom prst="roundRect">
            <a:avLst>
              <a:gd name="adj" fmla="val 7407"/>
            </a:avLst>
          </a:prstGeom>
          <a:solidFill>
            <a:srgbClr val="093259"/>
          </a:solidFill>
          <a:ln/>
        </p:spPr>
      </p:sp>
      <p:sp>
        <p:nvSpPr>
          <p:cNvPr id="20" name="Text 17"/>
          <p:cNvSpPr/>
          <p:nvPr/>
        </p:nvSpPr>
        <p:spPr>
          <a:xfrm>
            <a:off x="877824" y="5404104"/>
            <a:ext cx="10436047" cy="402336"/>
          </a:xfrm>
          <a:prstGeom prst="rect">
            <a:avLst/>
          </a:prstGeom>
          <a:noFill/>
          <a:ln/>
        </p:spPr>
        <p:txBody>
          <a:bodyPr wrap="square" lIns="0" tIns="0" rIns="0" bIns="0" rtlCol="0" anchor="ctr"/>
          <a:lstStyle/>
          <a:p>
            <a:pPr indent="0" marL="0">
              <a:lnSpc>
                <a:spcPct val="86000"/>
              </a:lnSpc>
              <a:buNone/>
            </a:pPr>
            <a:r>
              <a:rPr lang="en-US" sz="9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100" b="1" dirty="0">
                <a:solidFill>
                  <a:srgbClr val="FFFFFF"/>
                </a:solidFill>
                <a:latin typeface="Yu Gothic" pitchFamily="34" charset="0"/>
                <a:ea typeface="Yu Gothic" pitchFamily="34" charset="-122"/>
                <a:cs typeface="Yu Gothic" pitchFamily="34" charset="-120"/>
              </a:rPr>
              <a:t>保全＝残す／開示＝渡す。警備員が受けられるのは前者だけ。言い換えを見抜けるかが要点。</a:t>
            </a:r>
            <a:endParaRPr lang="en-US" sz="950" dirty="0"/>
          </a:p>
          <a:p>
            <a:pPr indent="0" marL="0">
              <a:lnSpc>
                <a:spcPct val="86000"/>
              </a:lnSpc>
              <a:buNone/>
            </a:pPr>
            <a:r>
              <a:rPr lang="en-US" sz="800" i="1" dirty="0">
                <a:solidFill>
                  <a:srgbClr val="9FD8CD"/>
                </a:solidFill>
                <a:latin typeface="Calibri" pitchFamily="34" charset="0"/>
                <a:ea typeface="Calibri" pitchFamily="34" charset="-122"/>
                <a:cs typeface="Calibri" pitchFamily="34" charset="-120"/>
              </a:rPr>
              <a:t>Preserve means keep; disclose means hand over. Only the first is yours to accept. The test is spotting the rephrasing.</a:t>
            </a:r>
            <a:endParaRPr lang="en-US" sz="950" dirty="0"/>
          </a:p>
        </p:txBody>
      </p:sp>
      <p:sp>
        <p:nvSpPr>
          <p:cNvPr id="21" name="Text 18"/>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disclosure, how preservation requests are taken, and the record format differ by site.</a:t>
            </a:r>
            <a:endParaRPr lang="en-US" sz="900" dirty="0"/>
          </a:p>
        </p:txBody>
      </p:sp>
      <p:sp>
        <p:nvSpPr>
          <p:cNvPr id="22" name="Text 19"/>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3" name="Text 20"/>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4" name="Text 21"/>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何が起きるはずだったか。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was supposed to happen?</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実際には何が起きたか。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actually happened?</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なぜ差が生じたか。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Why was there a difference?</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次に何を変えるか。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will we do differently?</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最後に、各自が明日から変える行動を1つ、声に出して述べます。</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To close, each person states aloud one thing they will change from tomorrow.</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2026-08-10T15:21:36Z</dcterms:created>
  <dcterms:modified xsi:type="dcterms:W3CDTF">2026-08-10T15:21:36Z</dcterms:modified>
</cp:coreProperties>
</file>