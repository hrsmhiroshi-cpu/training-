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1417320"/>
            <a:ext cx="9692640" cy="640080"/>
          </a:xfrm>
          <a:prstGeom prst="rect">
            <a:avLst/>
          </a:prstGeom>
          <a:noFill/>
          <a:ln/>
        </p:spPr>
        <p:txBody>
          <a:bodyPr wrap="square" lIns="0" tIns="0" rIns="0" bIns="0" rtlCol="0" anchor="t"/>
          <a:lstStyle/>
          <a:p>
            <a:pPr indent="0" marL="0">
              <a:buNone/>
            </a:pPr>
            <a:r>
              <a:rPr lang="en-US" sz="1300" b="1" dirty="0">
                <a:solidFill>
                  <a:srgbClr val="12B198"/>
                </a:solidFill>
                <a:latin typeface="Yu Gothic" pitchFamily="34" charset="0"/>
                <a:ea typeface="Yu Gothic" pitchFamily="34" charset="-122"/>
                <a:cs typeface="Yu Gothic" pitchFamily="34" charset="-120"/>
              </a:rPr>
              <a:t>第10時限　18:00 – 19:00　業務別教育6</a:t>
            </a:r>
            <a:endParaRPr lang="en-US" sz="1300" dirty="0"/>
          </a:p>
          <a:p>
            <a:pPr indent="0" marL="0">
              <a:buNone/>
            </a:pPr>
            <a:r>
              <a:rPr lang="en-US" sz="1050" dirty="0">
                <a:solidFill>
                  <a:srgbClr val="A9BCCE"/>
                </a:solidFill>
                <a:latin typeface="Calibri" pitchFamily="34" charset="0"/>
                <a:ea typeface="Calibri" pitchFamily="34" charset="-122"/>
                <a:cs typeface="Calibri" pitchFamily="34" charset="-120"/>
              </a:rPr>
              <a:t>Period 10 — Task-Specific Training 6</a:t>
            </a:r>
            <a:endParaRPr lang="en-US" sz="1300" dirty="0"/>
          </a:p>
        </p:txBody>
      </p:sp>
      <p:sp>
        <p:nvSpPr>
          <p:cNvPr id="5" name="Text 2"/>
          <p:cNvSpPr/>
          <p:nvPr/>
        </p:nvSpPr>
        <p:spPr>
          <a:xfrm>
            <a:off x="640080" y="2212848"/>
            <a:ext cx="9966960" cy="1481328"/>
          </a:xfrm>
          <a:prstGeom prst="rect">
            <a:avLst/>
          </a:prstGeom>
          <a:noFill/>
          <a:ln/>
        </p:spPr>
        <p:txBody>
          <a:bodyPr wrap="square" lIns="0" tIns="0" rIns="0" bIns="0" rtlCol="0" anchor="t"/>
          <a:lstStyle/>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警報装置その他の機器の使用方法</a:t>
            </a:r>
            <a:endParaRPr lang="en-US" sz="3600" dirty="0"/>
          </a:p>
          <a:p>
            <a:pPr indent="0" marL="0">
              <a:lnSpc>
                <a:spcPct val="98000"/>
              </a:lnSpc>
              <a:buNone/>
            </a:pPr>
            <a:r>
              <a:rPr lang="en-US" sz="3600" b="1" dirty="0">
                <a:solidFill>
                  <a:srgbClr val="FFFFFF"/>
                </a:solidFill>
                <a:latin typeface="Yu Gothic" pitchFamily="34" charset="0"/>
                <a:ea typeface="Yu Gothic" pitchFamily="34" charset="-122"/>
                <a:cs typeface="Yu Gothic" pitchFamily="34" charset="-120"/>
              </a:rPr>
              <a:t>― 本日の総括</a:t>
            </a:r>
            <a:endParaRPr lang="en-US" sz="3600" dirty="0"/>
          </a:p>
        </p:txBody>
      </p:sp>
      <p:sp>
        <p:nvSpPr>
          <p:cNvPr id="6" name="Text 3"/>
          <p:cNvSpPr/>
          <p:nvPr/>
        </p:nvSpPr>
        <p:spPr>
          <a:xfrm>
            <a:off x="640080" y="3803904"/>
            <a:ext cx="9966960" cy="777240"/>
          </a:xfrm>
          <a:prstGeom prst="rect">
            <a:avLst/>
          </a:prstGeom>
          <a:noFill/>
          <a:ln/>
        </p:spPr>
        <p:txBody>
          <a:bodyPr wrap="square" lIns="0" tIns="0" rIns="0" bIns="0" rtlCol="0" anchor="t"/>
          <a:lstStyle/>
          <a:p>
            <a:pPr indent="0" marL="0">
              <a:buNone/>
            </a:pPr>
            <a:r>
              <a:rPr lang="en-US" sz="1600" i="1" dirty="0">
                <a:solidFill>
                  <a:srgbClr val="9FD8CD"/>
                </a:solidFill>
                <a:latin typeface="Calibri" pitchFamily="34" charset="0"/>
                <a:ea typeface="Calibri" pitchFamily="34" charset="-122"/>
                <a:cs typeface="Calibri" pitchFamily="34" charset="-120"/>
              </a:rPr>
              <a:t>Security Equipment and Systems — and Today's Summary</a:t>
            </a:r>
            <a:endParaRPr lang="en-US" sz="1600" dirty="0"/>
          </a:p>
        </p:txBody>
      </p:sp>
      <p:sp>
        <p:nvSpPr>
          <p:cNvPr id="7" name="Shape 4"/>
          <p:cNvSpPr/>
          <p:nvPr/>
        </p:nvSpPr>
        <p:spPr>
          <a:xfrm>
            <a:off x="640080" y="4828032"/>
            <a:ext cx="1371600" cy="32004"/>
          </a:xfrm>
          <a:prstGeom prst="rect">
            <a:avLst/>
          </a:prstGeom>
          <a:solidFill>
            <a:srgbClr val="12B198"/>
          </a:solidFill>
          <a:ln/>
        </p:spPr>
      </p:sp>
      <p:sp>
        <p:nvSpPr>
          <p:cNvPr id="8" name="Text 5"/>
          <p:cNvSpPr/>
          <p:nvPr/>
        </p:nvSpPr>
        <p:spPr>
          <a:xfrm>
            <a:off x="640080" y="5120640"/>
            <a:ext cx="9966960" cy="822960"/>
          </a:xfrm>
          <a:prstGeom prst="rect">
            <a:avLst/>
          </a:prstGeom>
          <a:noFill/>
          <a:ln/>
        </p:spPr>
        <p:txBody>
          <a:bodyPr wrap="square" lIns="0" tIns="0" rIns="0" bIns="0" rtlCol="0" anchor="t"/>
          <a:lstStyle/>
          <a:p>
            <a:pPr indent="0" marL="0">
              <a:buNone/>
            </a:pPr>
            <a:r>
              <a:rPr lang="en-US" sz="1200" dirty="0">
                <a:solidFill>
                  <a:srgbClr val="C9D6E2"/>
                </a:solidFill>
                <a:latin typeface="Yu Gothic" pitchFamily="34" charset="0"/>
                <a:ea typeface="Yu Gothic" pitchFamily="34" charset="-122"/>
                <a:cs typeface="Yu Gothic" pitchFamily="34" charset="-120"/>
              </a:rPr>
              <a:t>2026年8月11日（火）　施設警備 現任教育　コーポレートセキュリティ</a:t>
            </a:r>
            <a:endParaRPr lang="en-US" sz="1200" dirty="0"/>
          </a:p>
          <a:p>
            <a:pPr indent="0" marL="0">
              <a:buNone/>
            </a:pPr>
            <a:r>
              <a:rPr lang="en-US" sz="1000" dirty="0">
                <a:solidFill>
                  <a:srgbClr val="8EA3B7"/>
                </a:solidFill>
                <a:latin typeface="Calibri" pitchFamily="34" charset="0"/>
                <a:ea typeface="Calibri" pitchFamily="34" charset="-122"/>
                <a:cs typeface="Calibri" pitchFamily="34" charset="-120"/>
              </a:rPr>
              <a:t>11 Aug 2026 — In-Service Training, Facility Security / Corporate Security</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警報設備の全体像（1/2）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Overview of Security Equipment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自分の現場にある設備を分類でき、それぞれが何を知らせるかを説明できる。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classify the equipment on your site, and explain what each of them reports.</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防災設備</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Fire Safety Systems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・自動火災報知設備 ― 受信機、感知器、発信機</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Fire alarm system: panel, detectors, call points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・消火設備 ― 消火器、屋内消火栓、スプリンクラー</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Firefighting: extinguishers, hydrants, sprinklers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・防排煙設備 ― 防火戸、防煙垂れ壁、排煙口</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Smoke control: fire doors, smoke barriers, vents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・非常放送、誘導灯、非常用照明</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Public address, exit signs, emergency lighting</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防犯設備</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Security Systems</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・侵入警報 ― 扉、窓、空間センサー</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Intrusion alarm: door, window and space sensors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・入退室管理 ― カードリーダー、電気錠、ログ</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Access control: readers, electric locks, logs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・防犯カメラ ― 監視、録画、検索</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CCTV: monitoring, recording, retrieval</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・非常通報装置、インターホン</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Emergency call points and intercoms</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設置設備、操作権限、受信機の位置は現場ごとに異なる。Site SOPと設備配置図を確認する。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Installed equipment, operating rights and panel locations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警報設備の全体像（2/2）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Overview of Security Equipment</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通信機器</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Communications</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・携帯無線機。交話要領は本コマで扱う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Handheld radios. Procedure is covered in this session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・固定電話、非常電話</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Fixed lines and emergency phones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・業務用端末。私物との使い分けを明確にする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Work devices. Keep them clearly separate from personal ones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・通信手段が使えない場合の代替を、あらかじめ決めておく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Decide the fallback before communications fail</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共通する原則</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Common Principles</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・機器は異常を知らせる。判断は人が行う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Equipment reports a condition. People make the decision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・操作方法を知らない機器は触らない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touch equipment you have not been trained 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・音を止めることは目的ではない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Silencing an alarm is not the objective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・作動した記録は残る。操作した事実も記録する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Activations are logged. Record your operations too</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設置設備、操作権限、受信機の位置は現場ごとに異なる。Site SOPと設備配置図を確認する。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Installed equipment, operating rights and panel locations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受信機と発報対応（1/2）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Fire Panel and Responding to an Activation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発報時の確認順序を述べ、火災と断定してよい時点を説明できる。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state the order of checks on activation, and when you may declare a fire.</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確認の順序</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Order of Checks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・地区表示を読む。何階、どの区画か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Read the zone display: which floor, which zone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・一報を入れてから動く。動いてからでは遅い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Report before you move, not after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・現場を確認する。目視するまで断定しない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Verify on site. Do not conclude before you have seen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・連動の作動状況を確認する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Check which linked systems have operated</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発報は火災の確定ではない</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An Activation Is Not a Confirmed Fire</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・発報は、感知器が作動したという事実にすぎない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An activation only means a detector operated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・非火災報の原因 ― 蒸気、埃、調理、工事、殺虫剤</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Non-fire causes: steam, dust, cooking, construction, insecticide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・無線では「3階東区画、発報。現場確認に向かいます」と伝える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On the radio: "Third floor east zone, activation, going to verify"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・確認前に「火事です」と言わない。判断が固定される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say "fire" before verifying. It locks in a conclusion</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現場確認の人数、通報の判断者、非常放送の操作権限は現場ごとに定められている。Site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many go to verify, who decides on the call, and who may operate the PA are set per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受信機と発報対応（2/2）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The Fire Panel and Responding to an Activation</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現場での確認</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Checking on Site</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・扉に触れて熱を確認する。熱ければ開けない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Touch the door to check for heat. If it is hot, do not open 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・煙の有無、臭気、音を確認する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Check for smoke, smell and sound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・単独で確認に行かない。行く場合は所在を伝えて行く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verify alone. If you must, tell someone where you are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・複数区画の発報は、非火災報の可能性が下がる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Activations in several zones make a non-fire cause less likely</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判断が変わる情報</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Information That Changes the Picture</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・「煙は見えない」は火災を否定する根拠にならない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"No smoke visible" does not rule out a fire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・感知器の位置と、人がいる位置は異なる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detector is not where the people are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・第2報が出た場合は、判断を切り替える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a second zone activates, change your assessment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・迷った場合は、火災として動く</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When in doubt, act as though it is a fire</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現場確認の人数、通報の判断者、非常放送の操作権限は現場ごとに定められている。Site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How many go to verify, who decides on the call, and who may operate the PA are set per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連動、避難誘導、無線交話要領（1/2）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Linked Systems, Evacuation Guidance, and Radio Procedure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連動で経路が変わることを踏まえて誘導でき、無線を英語と日本語で運用できる。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guide people knowing the routes change, and use the radio in English and Japanese.</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連動</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Linked Systems</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・防火戸、防排煙 ― 閉鎖により通行できる経路が変わる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Fire doors and smoke control: closures change the usable routes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・非常放送 ― 放送が優先される。放送中は無線が通りにくい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Public address takes priority. Radio traffic suffers while it runs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・エレベーター管制 ― 避難階へ降りて停止する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Lifts descend to the evacuation floor and stop</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・シャッター ― 降下した先に人が残っていないか確認する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Shutters: check nobody is left on the far side</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避難誘導</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Evacuation Guidance</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・階段誘導が前提になる。エレベーターは使わせない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Assume stairs. Do not let people use the lifts</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・大きな声で、短い言葉で。方向を手で示す</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Loud voice, short words. Point the direction with your hand</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・外国語の来訪者には「This way, please」と方向指示で足りる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For non-Japanese visitors, "this way, please" plus a gesture is enough</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・取り残しの確認は、担当区分に従って行う</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Sweep for anyone left behind, according to your assigned area</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避難誘導の担当区分と、無線の呼出符号は現場ごとに定められている。Site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Evacuation responsibilities and radio call signs are set per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連動、避難誘導、無線交話要領（2/2）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Linked Systems, Evacuation Guidance, and Radio Procedure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無線 ― 英語（主）</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Radio — English (primary)</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・構成：呼出 → 応答 → 用件 → 復唱 → 終話</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Structure: call, answer, message, read-back, close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 this is [自分]" → "Go ahead"</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Name them, then yourself, then hand over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・Over（送信終わり）／Out（交信終了）／Say again／Stand by</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Over, Out, Say again, Stand by</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・Roger、Copy は受信了解。Over and out は使わない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Roger and Copy mean received. Never say "over and out"</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無線 ― 日本語（副）と原則</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Radio — Japanese (secondary) and Rules</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・「◯◯、こちら△△、どうぞ」「以上」「再送願います」「了解」</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Name them, name yourself, hand over; then out, say again, roger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・数字は一桁ずつ（7＝なな、0＝まる）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Read numbers one digit at a time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・平文で話す。符丁を使わない。個人情報を無線に乗せない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Plain language. No codes. No personal data by radio</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・参考：NATO（Alpha, Bravo…）、和文通話表（朝日のア…）</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Reference only: NATO and Japanese phonetic alphabets</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避難誘導の担当区分と、無線の呼出符号は現場ごとに定められている。Site SOPによる。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Evacuation responsibilities and radio call signs are set per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ログとカメラ画像の管理（1/2）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Managing Logs and Footage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10911535" cy="585216"/>
          </a:xfrm>
          <a:prstGeom prst="roundRect">
            <a:avLst>
              <a:gd name="adj" fmla="val 6250"/>
            </a:avLst>
          </a:prstGeom>
          <a:solidFill>
            <a:srgbClr val="E4F4F0"/>
          </a:solidFill>
          <a:ln/>
        </p:spPr>
      </p:sp>
      <p:sp>
        <p:nvSpPr>
          <p:cNvPr id="7" name="Text 4"/>
          <p:cNvSpPr/>
          <p:nvPr/>
        </p:nvSpPr>
        <p:spPr>
          <a:xfrm>
            <a:off x="877824" y="1161288"/>
            <a:ext cx="10436047" cy="493776"/>
          </a:xfrm>
          <a:prstGeom prst="rect">
            <a:avLst/>
          </a:prstGeom>
          <a:noFill/>
          <a:ln/>
        </p:spPr>
        <p:txBody>
          <a:bodyPr wrap="square" lIns="0" tIns="0" rIns="0" bIns="0" rtlCol="0" anchor="ctr"/>
          <a:lstStyle/>
          <a:p>
            <a:pPr indent="0" marL="0">
              <a:lnSpc>
                <a:spcPct val="90000"/>
              </a:lnSpc>
              <a:buNone/>
            </a:pPr>
            <a:r>
              <a:rPr lang="en-US" sz="1100" b="1" dirty="0">
                <a:solidFill>
                  <a:srgbClr val="0D8A76"/>
                </a:solidFill>
                <a:latin typeface="Yu Gothic" pitchFamily="34" charset="0"/>
                <a:ea typeface="Yu Gothic" pitchFamily="34" charset="-122"/>
                <a:cs typeface="Yu Gothic" pitchFamily="34" charset="-120"/>
              </a:rPr>
              <a:t>身につくこと　</a:t>
            </a:r>
            <a:pPr indent="0" marL="0">
              <a:lnSpc>
                <a:spcPct val="90000"/>
              </a:lnSpc>
              <a:buNone/>
            </a:pPr>
            <a:r>
              <a:rPr lang="en-US" sz="1050" dirty="0">
                <a:solidFill>
                  <a:srgbClr val="0D8A76"/>
                </a:solidFill>
                <a:latin typeface="Calibri" pitchFamily="34" charset="0"/>
                <a:ea typeface="Calibri" pitchFamily="34" charset="-122"/>
                <a:cs typeface="Calibri" pitchFamily="34" charset="-120"/>
              </a:rPr>
              <a:t>What You'll Learn　</a:t>
            </a:r>
            <a:pPr indent="0" marL="0">
              <a:lnSpc>
                <a:spcPct val="90000"/>
              </a:lnSpc>
              <a:buNone/>
            </a:pPr>
            <a:r>
              <a:rPr lang="en-US" sz="1300" b="1" dirty="0">
                <a:solidFill>
                  <a:srgbClr val="1B2733"/>
                </a:solidFill>
                <a:latin typeface="Yu Gothic" pitchFamily="34" charset="0"/>
                <a:ea typeface="Yu Gothic" pitchFamily="34" charset="-122"/>
                <a:cs typeface="Yu Gothic" pitchFamily="34" charset="-120"/>
              </a:rPr>
              <a:t>ログと画像が証拠になることを踏まえ、保全と開示の扱いを説明できる。</a:t>
            </a:r>
            <a:endParaRPr lang="en-US" sz="1100" dirty="0"/>
          </a:p>
          <a:p>
            <a:pPr indent="0" marL="0">
              <a:lnSpc>
                <a:spcPct val="90000"/>
              </a:lnSpc>
              <a:buNone/>
            </a:pPr>
            <a:r>
              <a:rPr lang="en-US" sz="1250" dirty="0">
                <a:solidFill>
                  <a:srgbClr val="1B2733"/>
                </a:solidFill>
                <a:latin typeface="Calibri" pitchFamily="34" charset="0"/>
                <a:ea typeface="Calibri" pitchFamily="34" charset="-122"/>
                <a:cs typeface="Calibri" pitchFamily="34" charset="-120"/>
              </a:rPr>
              <a:t>You can explain preservation and disclosure, knowing that logs and footage are evidence.</a:t>
            </a:r>
            <a:endParaRPr lang="en-US" sz="1100" dirty="0"/>
          </a:p>
        </p:txBody>
      </p:sp>
      <p:sp>
        <p:nvSpPr>
          <p:cNvPr id="8" name="Shape 5"/>
          <p:cNvSpPr/>
          <p:nvPr/>
        </p:nvSpPr>
        <p:spPr>
          <a:xfrm>
            <a:off x="640080" y="1773936"/>
            <a:ext cx="5327752" cy="4133088"/>
          </a:xfrm>
          <a:prstGeom prst="roundRect">
            <a:avLst>
              <a:gd name="adj" fmla="val 885"/>
            </a:avLst>
          </a:prstGeom>
          <a:solidFill>
            <a:srgbClr val="EFF4F8"/>
          </a:solidFill>
          <a:ln/>
        </p:spPr>
      </p:sp>
      <p:sp>
        <p:nvSpPr>
          <p:cNvPr id="9" name="Shape 6"/>
          <p:cNvSpPr/>
          <p:nvPr/>
        </p:nvSpPr>
        <p:spPr>
          <a:xfrm>
            <a:off x="822960" y="1938528"/>
            <a:ext cx="310896" cy="310896"/>
          </a:xfrm>
          <a:prstGeom prst="ellipse">
            <a:avLst/>
          </a:prstGeom>
          <a:solidFill>
            <a:srgbClr val="093259"/>
          </a:solidFill>
          <a:ln/>
        </p:spPr>
      </p:sp>
      <p:sp>
        <p:nvSpPr>
          <p:cNvPr id="10" name="Text 7"/>
          <p:cNvSpPr/>
          <p:nvPr/>
        </p:nvSpPr>
        <p:spPr>
          <a:xfrm>
            <a:off x="822960"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1" name="Text 8"/>
          <p:cNvSpPr/>
          <p:nvPr/>
        </p:nvSpPr>
        <p:spPr>
          <a:xfrm>
            <a:off x="1207008"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証拠としての性質</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Their Nature as Evidence</a:t>
            </a:r>
            <a:endParaRPr lang="en-US" sz="1700" dirty="0"/>
          </a:p>
        </p:txBody>
      </p:sp>
      <p:sp>
        <p:nvSpPr>
          <p:cNvPr id="12" name="Text 9"/>
          <p:cNvSpPr/>
          <p:nvPr/>
        </p:nvSpPr>
        <p:spPr>
          <a:xfrm>
            <a:off x="859536"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・後の調査、懲戒、訴訟で証拠になる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They become evidence in later investigation, discipline and litigation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・同時に個人情報でもある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They are also personal data</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・上書きされると回復できない。時間の制約がある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Once overwritten they cannot be recovered. There is a time limit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・最初に気づくのは、多くの場合その場にいた警備員である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The guard on the spot is usually the first to notice they matter</a:t>
            </a:r>
            <a:endParaRPr lang="en-US" sz="1400" dirty="0"/>
          </a:p>
        </p:txBody>
      </p:sp>
      <p:sp>
        <p:nvSpPr>
          <p:cNvPr id="13" name="Shape 10"/>
          <p:cNvSpPr/>
          <p:nvPr/>
        </p:nvSpPr>
        <p:spPr>
          <a:xfrm>
            <a:off x="6223864" y="1773936"/>
            <a:ext cx="5327752" cy="4133088"/>
          </a:xfrm>
          <a:prstGeom prst="roundRect">
            <a:avLst>
              <a:gd name="adj" fmla="val 885"/>
            </a:avLst>
          </a:prstGeom>
          <a:solidFill>
            <a:srgbClr val="F7FAFC"/>
          </a:solidFill>
          <a:ln/>
        </p:spPr>
      </p:sp>
      <p:sp>
        <p:nvSpPr>
          <p:cNvPr id="14" name="Shape 11"/>
          <p:cNvSpPr/>
          <p:nvPr/>
        </p:nvSpPr>
        <p:spPr>
          <a:xfrm>
            <a:off x="6406744" y="1938528"/>
            <a:ext cx="310896" cy="310896"/>
          </a:xfrm>
          <a:prstGeom prst="ellipse">
            <a:avLst/>
          </a:prstGeom>
          <a:solidFill>
            <a:srgbClr val="093259"/>
          </a:solidFill>
          <a:ln/>
        </p:spPr>
      </p:sp>
      <p:sp>
        <p:nvSpPr>
          <p:cNvPr id="15" name="Text 12"/>
          <p:cNvSpPr/>
          <p:nvPr/>
        </p:nvSpPr>
        <p:spPr>
          <a:xfrm>
            <a:off x="6406744" y="1938528"/>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90792" y="1901952"/>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保全の依頼</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Requesting Preservation</a:t>
            </a:r>
            <a:endParaRPr lang="en-US" sz="1700" dirty="0"/>
          </a:p>
        </p:txBody>
      </p:sp>
      <p:sp>
        <p:nvSpPr>
          <p:cNvPr id="17" name="Text 14"/>
          <p:cNvSpPr/>
          <p:nvPr/>
        </p:nvSpPr>
        <p:spPr>
          <a:xfrm>
            <a:off x="6443320" y="2450592"/>
            <a:ext cx="4888840" cy="3310128"/>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・事案を認知したら、上書き前に保全を依頼する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On becoming aware of an incident, request preservation before overwrite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・対象を特定して伝える。日時、区画、カメラ番号</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Specify the target: date and time, zone, camera number</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・依頼した事実と時刻を記録する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Record that you asked, and when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・依頼先が不在の場合は、緊急連絡体制の次順位者へ</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If the contact is away, go to the next person in the call-out list</a:t>
            </a:r>
            <a:endParaRPr lang="en-US" sz="1400" dirty="0"/>
          </a:p>
        </p:txBody>
      </p:sp>
      <p:sp>
        <p:nvSpPr>
          <p:cNvPr id="18" name="Text 1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保存期間、閲覧権限、開示手続、保全依頼の宛先は現場ごとに異なる。Site SOPと契約による。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Retention, viewing rights, disclosure procedure and who to ask for preservation differ by site.</a:t>
            </a:r>
            <a:endParaRPr lang="en-US" sz="1000" dirty="0"/>
          </a:p>
        </p:txBody>
      </p:sp>
      <p:sp>
        <p:nvSpPr>
          <p:cNvPr id="19" name="Text 1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20" name="Text 1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1" name="Text 1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ログとカメラ画像の管理（2/2）</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Managing Logs and Footage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B6</a:t>
            </a:r>
            <a:endParaRPr lang="en-US" sz="1100" dirty="0"/>
          </a:p>
        </p:txBody>
      </p:sp>
      <p:sp>
        <p:nvSpPr>
          <p:cNvPr id="6" name="Shape 3"/>
          <p:cNvSpPr/>
          <p:nvPr/>
        </p:nvSpPr>
        <p:spPr>
          <a:xfrm>
            <a:off x="640080" y="1115568"/>
            <a:ext cx="5327752" cy="4791456"/>
          </a:xfrm>
          <a:prstGeom prst="roundRect">
            <a:avLst>
              <a:gd name="adj" fmla="val 763"/>
            </a:avLst>
          </a:prstGeom>
          <a:solidFill>
            <a:srgbClr val="EFF4F8"/>
          </a:solidFill>
          <a:ln/>
        </p:spPr>
      </p:sp>
      <p:sp>
        <p:nvSpPr>
          <p:cNvPr id="7" name="Shape 4"/>
          <p:cNvSpPr/>
          <p:nvPr/>
        </p:nvSpPr>
        <p:spPr>
          <a:xfrm>
            <a:off x="822960" y="1280160"/>
            <a:ext cx="310896" cy="310896"/>
          </a:xfrm>
          <a:prstGeom prst="ellipse">
            <a:avLst/>
          </a:prstGeom>
          <a:solidFill>
            <a:srgbClr val="093259"/>
          </a:solidFill>
          <a:ln/>
        </p:spPr>
      </p:sp>
      <p:sp>
        <p:nvSpPr>
          <p:cNvPr id="8" name="Text 5"/>
          <p:cNvSpPr/>
          <p:nvPr/>
        </p:nvSpPr>
        <p:spPr>
          <a:xfrm>
            <a:off x="822960"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07008"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見る・渡すの制限</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Limits on Viewing and Handing Over</a:t>
            </a:r>
            <a:endParaRPr lang="en-US" sz="1700" dirty="0"/>
          </a:p>
        </p:txBody>
      </p:sp>
      <p:sp>
        <p:nvSpPr>
          <p:cNvPr id="10" name="Text 7"/>
          <p:cNvSpPr/>
          <p:nvPr/>
        </p:nvSpPr>
        <p:spPr>
          <a:xfrm>
            <a:off x="859536"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・目的外に見ない。関心があるという理由で再生しない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view outside the purpose. Curiosity is not a reason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・持ち出さない、撮影しない、投稿しない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remove, photograph or post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・開示の可否を警備員が判断しない。上長とクライアントへ取り次ぐ</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 guard does not decide on disclosure. Refer to the supervisor and client</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・閲覧した事実そのものを記録する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Record the fact that a viewing took place</a:t>
            </a:r>
            <a:endParaRPr lang="en-US" sz="1400" dirty="0"/>
          </a:p>
        </p:txBody>
      </p:sp>
      <p:sp>
        <p:nvSpPr>
          <p:cNvPr id="11" name="Shape 8"/>
          <p:cNvSpPr/>
          <p:nvPr/>
        </p:nvSpPr>
        <p:spPr>
          <a:xfrm>
            <a:off x="6223864" y="1115568"/>
            <a:ext cx="5327752" cy="4791456"/>
          </a:xfrm>
          <a:prstGeom prst="roundRect">
            <a:avLst>
              <a:gd name="adj" fmla="val 763"/>
            </a:avLst>
          </a:prstGeom>
          <a:solidFill>
            <a:srgbClr val="F7FAFC"/>
          </a:solidFill>
          <a:ln/>
        </p:spPr>
      </p:sp>
      <p:sp>
        <p:nvSpPr>
          <p:cNvPr id="12" name="Shape 9"/>
          <p:cNvSpPr/>
          <p:nvPr/>
        </p:nvSpPr>
        <p:spPr>
          <a:xfrm>
            <a:off x="6406744" y="1280160"/>
            <a:ext cx="310896" cy="310896"/>
          </a:xfrm>
          <a:prstGeom prst="ellipse">
            <a:avLst/>
          </a:prstGeom>
          <a:solidFill>
            <a:srgbClr val="093259"/>
          </a:solidFill>
          <a:ln/>
        </p:spPr>
      </p:sp>
      <p:sp>
        <p:nvSpPr>
          <p:cNvPr id="13" name="Text 10"/>
          <p:cNvSpPr/>
          <p:nvPr/>
        </p:nvSpPr>
        <p:spPr>
          <a:xfrm>
            <a:off x="6406744" y="1280160"/>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4" name="Text 11"/>
          <p:cNvSpPr/>
          <p:nvPr/>
        </p:nvSpPr>
        <p:spPr>
          <a:xfrm>
            <a:off x="6790792" y="1243584"/>
            <a:ext cx="4559656" cy="512064"/>
          </a:xfrm>
          <a:prstGeom prst="rect">
            <a:avLst/>
          </a:prstGeom>
          <a:noFill/>
          <a:ln/>
        </p:spPr>
        <p:txBody>
          <a:bodyPr wrap="square" lIns="0" tIns="0" rIns="0" bIns="0" rtlCol="0" anchor="t"/>
          <a:lstStyle/>
          <a:p>
            <a:pPr indent="0" marL="0">
              <a:lnSpc>
                <a:spcPct val="88000"/>
              </a:lnSpc>
              <a:buNone/>
            </a:pPr>
            <a:r>
              <a:rPr lang="en-US" sz="1700" b="1" dirty="0">
                <a:solidFill>
                  <a:srgbClr val="093259"/>
                </a:solidFill>
                <a:latin typeface="Yu Gothic" pitchFamily="34" charset="0"/>
                <a:ea typeface="Yu Gothic" pitchFamily="34" charset="-122"/>
                <a:cs typeface="Yu Gothic" pitchFamily="34" charset="-120"/>
              </a:rPr>
              <a:t>求められたときの言い方</a:t>
            </a:r>
            <a:endParaRPr lang="en-US" sz="1700" dirty="0"/>
          </a:p>
          <a:p>
            <a:pPr indent="0" marL="0">
              <a:lnSpc>
                <a:spcPct val="88000"/>
              </a:lnSpc>
              <a:buNone/>
            </a:pPr>
            <a:r>
              <a:rPr lang="en-US" sz="1400" dirty="0">
                <a:solidFill>
                  <a:srgbClr val="12B198"/>
                </a:solidFill>
                <a:latin typeface="Calibri" pitchFamily="34" charset="0"/>
                <a:ea typeface="Calibri" pitchFamily="34" charset="-122"/>
                <a:cs typeface="Calibri" pitchFamily="34" charset="-120"/>
              </a:rPr>
              <a:t>What to Say When Asked</a:t>
            </a:r>
            <a:endParaRPr lang="en-US" sz="1700" dirty="0"/>
          </a:p>
        </p:txBody>
      </p:sp>
      <p:sp>
        <p:nvSpPr>
          <p:cNvPr id="15" name="Text 12"/>
          <p:cNvSpPr/>
          <p:nvPr/>
        </p:nvSpPr>
        <p:spPr>
          <a:xfrm>
            <a:off x="6443320" y="1792224"/>
            <a:ext cx="4888840" cy="3968496"/>
          </a:xfrm>
          <a:prstGeom prst="rect">
            <a:avLst/>
          </a:prstGeom>
          <a:noFill/>
          <a:ln/>
        </p:spPr>
        <p:txBody>
          <a:bodyPr wrap="square" lIns="0" tIns="0" rIns="0" bIns="0" rtlCol="0" anchor="t"/>
          <a:lstStyle/>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・「私には開示の判断ができません。担当へお繋ぎします」</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"I am not able to decide on that. Let me connect you with the right person"</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・相手が社員でも、その場では見せない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Do not show it on the spot, even to an employee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・身分証の提示を求めることは失礼ではない</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Asking to see identification is not rude</a:t>
            </a:r>
            <a:endParaRPr lang="en-US" sz="1400" dirty="0"/>
          </a:p>
          <a:p>
            <a:pPr indent="0" marL="0">
              <a:lnSpc>
                <a:spcPct val="90000"/>
              </a:lnSpc>
              <a:spcAft>
                <a:spcPts val="200"/>
              </a:spcAft>
              <a:buNone/>
            </a:pPr>
            <a:r>
              <a:rPr lang="en-US" sz="1400" dirty="0">
                <a:solidFill>
                  <a:srgbClr val="1B2733"/>
                </a:solidFill>
                <a:latin typeface="Yu Gothic" pitchFamily="34" charset="0"/>
                <a:ea typeface="Yu Gothic" pitchFamily="34" charset="-122"/>
                <a:cs typeface="Yu Gothic" pitchFamily="34" charset="-120"/>
              </a:rPr>
              <a:t>・断ったこと、その理由、時刻を記録する</a:t>
            </a:r>
            <a:endParaRPr lang="en-US" sz="1400" dirty="0"/>
          </a:p>
          <a:p>
            <a:pPr indent="0" marL="0">
              <a:lnSpc>
                <a:spcPct val="90000"/>
              </a:lnSpc>
              <a:spcAft>
                <a:spcPts val="200"/>
              </a:spcAft>
              <a:buNone/>
            </a:pPr>
            <a:r>
              <a:rPr lang="en-US" sz="1350" dirty="0">
                <a:solidFill>
                  <a:srgbClr val="1B2733"/>
                </a:solidFill>
                <a:latin typeface="Calibri" pitchFamily="34" charset="0"/>
                <a:ea typeface="Calibri" pitchFamily="34" charset="-122"/>
                <a:cs typeface="Calibri" pitchFamily="34" charset="-120"/>
              </a:rPr>
              <a:t>Record that you declined, why, and when</a:t>
            </a:r>
            <a:endParaRPr lang="en-US" sz="1400" dirty="0"/>
          </a:p>
        </p:txBody>
      </p:sp>
      <p:sp>
        <p:nvSpPr>
          <p:cNvPr id="16" name="Text 1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保存期間、閲覧権限、開示手続、保全依頼の宛先は現場ごとに異なる。Site SOPと契約による。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Retention, viewing rights, disclosure procedure and who to ask for preservation differ by site.</a:t>
            </a:r>
            <a:endParaRPr lang="en-US" sz="1000" dirty="0"/>
          </a:p>
        </p:txBody>
      </p:sp>
      <p:sp>
        <p:nvSpPr>
          <p:cNvPr id="17" name="Text 1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18" name="Text 1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19" name="Text 1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10-A　総合演習</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10-A — Integrated Exercise</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10-A</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18時40分、受信機が3階東区画で発報。ほぼ同時刻、入退室ログに、退職者に返却済みのはずのカードによる3階の解錠記録。防火戸が閉鎖。管理権者は不在で電話がつながらない。勤務中の警備員は、あなたを含めて2名。</a:t>
            </a:r>
            <a:endParaRPr lang="en-US" sz="1100" dirty="0"/>
          </a:p>
          <a:p>
            <a:pPr indent="0" marL="0">
              <a:lnSpc>
                <a:spcPct val="92000"/>
              </a:lnSpc>
              <a:buNone/>
            </a:pPr>
            <a:r>
              <a:rPr lang="en-US" sz="1350" dirty="0">
                <a:solidFill>
                  <a:srgbClr val="DCEFEB"/>
                </a:solidFill>
                <a:latin typeface="Calibri" pitchFamily="34" charset="0"/>
                <a:ea typeface="Calibri" pitchFamily="34" charset="-122"/>
                <a:cs typeface="Calibri" pitchFamily="34" charset="-120"/>
              </a:rPr>
              <a:t>18:40. The fire panel activates in the third-floor east zone. At almost the same time, the access log records a third-floor unlock by a card a leaver should have returned. Fire doors have closed. The site authority is away and unreachable. Two guards are on duty, including you.</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35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最初の60秒に何を行うか。2名をどう配置するか。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What do you do first? How do you deploy two people?</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通報するか。110番か119番か、両方か。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Do you call? Police, fire, or both?</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保全すべきログと画像は何か。管理権者不在のとき誰に依頼するか。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What must be preserved? With the authority away, who do you ask?</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何を後回しにするか。その判断の根拠は何か。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What do you leave until later, and on what basis?</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3階の社員から「煙は見えない」と無線が入った。判断を変えるか。</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An employee on the third floor radios: "no smoke visible." Does that change your decision?</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受信機が、4階西区画で第2報を表示した。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The panel shows a second activation, fourth-floor west zone.</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人員配置、通報の判断者、保全依頼の宛先は現場ごとに異なる。Site SOPと緊急連絡体制による。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Deployment, who decides on the call, and who to ask for preservation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消防法、警備業法、警察庁「警備員教育」</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10-A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10-A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4F4F0"/>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最初の60秒。2名の配置</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地区表示を読む→一報→現場確認。単独行動の回避と受信機の常駐は両立しない。選んだ方を説明する。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Read the zone, report, then verify. Not going alone and manning the panel cannot both hold — justify which you chose.</a:t>
            </a:r>
            <a:endParaRPr lang="en-US" sz="11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通報するか。110か119か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119番。発報は火災の確定ではないが、防火戸閉鎖まで進んでいる。不正解錠は後から110番。</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Call the fire service. The alarm is not proof of fire, but the doors have closed. The unauthorised entry goes to police later.</a:t>
            </a:r>
            <a:endParaRPr lang="en-US" sz="1150" dirty="0"/>
          </a:p>
        </p:txBody>
      </p:sp>
      <p:sp>
        <p:nvSpPr>
          <p:cNvPr id="14" name="Shape 11"/>
          <p:cNvSpPr/>
          <p:nvPr/>
        </p:nvSpPr>
        <p:spPr>
          <a:xfrm>
            <a:off x="640080" y="2747772"/>
            <a:ext cx="10911535" cy="715518"/>
          </a:xfrm>
          <a:prstGeom prst="roundRect">
            <a:avLst>
              <a:gd name="adj" fmla="val 5112"/>
            </a:avLst>
          </a:prstGeom>
          <a:solidFill>
            <a:srgbClr val="E4F4F0"/>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保全すべきもの。誰に依頼するか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退職者カードの解錠ログと3階カメラ画像。管理権者不在なら緊急連絡体制の次順位者へ。</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The leaver-card unlock log and the third-floor footage. With the authority away, go to the next contact.</a:t>
            </a:r>
            <a:endParaRPr lang="en-US" sz="1150" dirty="0"/>
          </a:p>
        </p:txBody>
      </p:sp>
      <p:sp>
        <p:nvSpPr>
          <p:cNvPr id="18" name="Shape 15"/>
          <p:cNvSpPr/>
          <p:nvPr/>
        </p:nvSpPr>
        <p:spPr>
          <a:xfrm>
            <a:off x="640080" y="3563874"/>
            <a:ext cx="10911535" cy="715518"/>
          </a:xfrm>
          <a:prstGeom prst="roundRect">
            <a:avLst>
              <a:gd name="adj" fmla="val 5112"/>
            </a:avLst>
          </a:prstGeom>
          <a:solidFill>
            <a:srgbClr val="EFF4F8"/>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何を後回しにするか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不正解錠の追跡。人命と火災対応が先。捨てた判断と理由を記録に残す。</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Pursuing the unauthorised entry. Life and fire come first — and record what you dropped, and why.</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「煙は見えない」と無線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判断を変えない。感知器の位置と人がいる位置は違う。火災を否定する根拠にならない。</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Do not change your assessment. The detector is not where the people are, and this does not rule out a fire.</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4階西区画で第2報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2区画同時発報。非火災報の可能性が下がる。全館避難と通報の判断へ切り替える。</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Two zones at once makes a false alarm unlikely. Switch to full evacuation and call.</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全部はできない。何を捨てたかを言えるか。捨てる判断ができない班が必ず出る。</a:t>
            </a:r>
            <a:endParaRPr lang="en-US" sz="1050" dirty="0"/>
          </a:p>
          <a:p>
            <a:pPr indent="0" marL="0">
              <a:lnSpc>
                <a:spcPct val="86000"/>
              </a:lnSpc>
              <a:buNone/>
            </a:pPr>
            <a:r>
              <a:rPr lang="en-US" sz="1200" dirty="0">
                <a:solidFill>
                  <a:srgbClr val="DCEFEB"/>
                </a:solidFill>
                <a:latin typeface="Calibri" pitchFamily="34" charset="0"/>
                <a:ea typeface="Calibri" pitchFamily="34" charset="-122"/>
                <a:cs typeface="Calibri" pitchFamily="34" charset="-120"/>
              </a:rPr>
              <a:t>You cannot do everything. Can they say what they dropped? Some groups will not be able to drop anything.</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人員配置、通報の判断者、保全依頼の宛先は現場ごとに異なる。緊急連絡体制表による。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Deployment, who calls, and who to ask for preservation differ by site.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消防法、警備業法、個人情報保護法</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10-B　上司が入退室ログの提供を求める</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10-B — A Manager Asks You for the Access Log</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CASE 10-B</a:t>
            </a:r>
            <a:endParaRPr lang="en-US" sz="1100" dirty="0"/>
          </a:p>
        </p:txBody>
      </p:sp>
      <p:sp>
        <p:nvSpPr>
          <p:cNvPr id="6" name="Shape 3"/>
          <p:cNvSpPr/>
          <p:nvPr/>
        </p:nvSpPr>
        <p:spPr>
          <a:xfrm>
            <a:off x="640080" y="1115568"/>
            <a:ext cx="10911535" cy="1124712"/>
          </a:xfrm>
          <a:prstGeom prst="roundRect">
            <a:avLst>
              <a:gd name="adj" fmla="val 3252"/>
            </a:avLst>
          </a:prstGeom>
          <a:solidFill>
            <a:srgbClr val="093259"/>
          </a:solidFill>
          <a:ln/>
        </p:spPr>
      </p:sp>
      <p:sp>
        <p:nvSpPr>
          <p:cNvPr id="7" name="Text 4"/>
          <p:cNvSpPr/>
          <p:nvPr/>
        </p:nvSpPr>
        <p:spPr>
          <a:xfrm>
            <a:off x="950976" y="1243584"/>
            <a:ext cx="10289743" cy="868680"/>
          </a:xfrm>
          <a:prstGeom prst="rect">
            <a:avLst/>
          </a:prstGeom>
          <a:noFill/>
          <a:ln/>
        </p:spPr>
        <p:txBody>
          <a:bodyPr wrap="square" lIns="0" tIns="0" rIns="0" bIns="0" rtlCol="0" anchor="t"/>
          <a:lstStyle/>
          <a:p>
            <a:pPr indent="0" marL="0">
              <a:lnSpc>
                <a:spcPct val="92000"/>
              </a:lnSpc>
              <a:buNone/>
            </a:pPr>
            <a:r>
              <a:rPr lang="en-US" sz="1100" b="1" dirty="0">
                <a:solidFill>
                  <a:srgbClr val="12B198"/>
                </a:solidFill>
                <a:latin typeface="Yu Gothic" pitchFamily="34" charset="0"/>
                <a:ea typeface="Yu Gothic" pitchFamily="34" charset="-122"/>
                <a:cs typeface="Yu Gothic" pitchFamily="34" charset="-120"/>
              </a:rPr>
              <a:t>シナリオ　</a:t>
            </a:r>
            <a:pPr indent="0" marL="0">
              <a:lnSpc>
                <a:spcPct val="92000"/>
              </a:lnSpc>
              <a:buNone/>
            </a:pPr>
            <a:r>
              <a:rPr lang="en-US" sz="950" dirty="0">
                <a:solidFill>
                  <a:srgbClr val="12B198"/>
                </a:solidFill>
                <a:latin typeface="Calibri" pitchFamily="34" charset="0"/>
                <a:ea typeface="Calibri" pitchFamily="34" charset="-122"/>
                <a:cs typeface="Calibri" pitchFamily="34" charset="-120"/>
              </a:rPr>
              <a:t>SCENARIO</a:t>
            </a:r>
            <a:endParaRPr lang="en-US" sz="1100" dirty="0"/>
          </a:p>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21時、クライアント企業の部長がセキュリティデスクに来る。「うちの部員が備品を持ち出した疑いがある。今日の入退室ログとエレベーターホールのカメラ画像を、いま見せてほしい」と述べる。相手はクライアント側の管理職で、日頃から警備に協力的である。上長は不在。</a:t>
            </a:r>
            <a:endParaRPr lang="en-US" sz="1100" dirty="0"/>
          </a:p>
          <a:p>
            <a:pPr indent="0" marL="0">
              <a:lnSpc>
                <a:spcPct val="92000"/>
              </a:lnSpc>
              <a:buNone/>
            </a:pPr>
            <a:r>
              <a:rPr lang="en-US" sz="1350" dirty="0">
                <a:solidFill>
                  <a:srgbClr val="DCEFEB"/>
                </a:solidFill>
                <a:latin typeface="Calibri" pitchFamily="34" charset="0"/>
                <a:ea typeface="Calibri" pitchFamily="34" charset="-122"/>
                <a:cs typeface="Calibri" pitchFamily="34" charset="-120"/>
              </a:rPr>
              <a:t>21:00. A department head from the client company comes to the security desk. "One of my staff may have taken equipment. I want to see today's access log and the lift-lobby footage now." They are a client manager who has always been cooperative. Your supervisor is away.</a:t>
            </a:r>
            <a:endParaRPr lang="en-US" sz="1100" dirty="0"/>
          </a:p>
        </p:txBody>
      </p:sp>
      <p:sp>
        <p:nvSpPr>
          <p:cNvPr id="8" name="Text 5"/>
          <p:cNvSpPr/>
          <p:nvPr/>
        </p:nvSpPr>
        <p:spPr>
          <a:xfrm>
            <a:off x="640080" y="2386584"/>
            <a:ext cx="10911535" cy="566928"/>
          </a:xfrm>
          <a:prstGeom prst="rect">
            <a:avLst/>
          </a:prstGeom>
          <a:noFill/>
          <a:ln/>
        </p:spPr>
        <p:txBody>
          <a:bodyPr wrap="square" lIns="0" tIns="0" rIns="0" bIns="0" rtlCol="0" anchor="t"/>
          <a:lstStyle/>
          <a:p>
            <a:pPr indent="0" marL="0">
              <a:lnSpc>
                <a:spcPct val="90000"/>
              </a:lnSpc>
              <a:buNone/>
            </a:pPr>
            <a:r>
              <a:rPr lang="en-US" sz="1200" b="1" dirty="0">
                <a:solidFill>
                  <a:srgbClr val="0D8A76"/>
                </a:solidFill>
                <a:latin typeface="Yu Gothic" pitchFamily="34" charset="0"/>
                <a:ea typeface="Yu Gothic" pitchFamily="34" charset="-122"/>
                <a:cs typeface="Yu Gothic" pitchFamily="34" charset="-120"/>
              </a:rPr>
              <a:t>問い　</a:t>
            </a:r>
            <a:pPr indent="0" marL="0">
              <a:lnSpc>
                <a:spcPct val="90000"/>
              </a:lnSpc>
              <a:buNone/>
            </a:pPr>
            <a:r>
              <a:rPr lang="en-US" sz="1600" b="1" dirty="0">
                <a:solidFill>
                  <a:srgbClr val="093259"/>
                </a:solidFill>
                <a:latin typeface="Yu Gothic" pitchFamily="34" charset="0"/>
                <a:ea typeface="Yu Gothic" pitchFamily="34" charset="-122"/>
                <a:cs typeface="Yu Gothic" pitchFamily="34" charset="-120"/>
              </a:rPr>
              <a:t>あなたなら次の60秒、何をどう動きますか。</a:t>
            </a:r>
            <a:endParaRPr lang="en-US" sz="1200" dirty="0"/>
          </a:p>
          <a:p>
            <a:pPr indent="0" marL="0">
              <a:lnSpc>
                <a:spcPct val="90000"/>
              </a:lnSpc>
              <a:buNone/>
            </a:pPr>
            <a:r>
              <a:rPr lang="en-US" sz="1350" dirty="0">
                <a:solidFill>
                  <a:srgbClr val="1B2733"/>
                </a:solidFill>
                <a:latin typeface="Calibri" pitchFamily="34" charset="0"/>
                <a:ea typeface="Calibri" pitchFamily="34" charset="-122"/>
                <a:cs typeface="Calibri" pitchFamily="34" charset="-120"/>
              </a:rPr>
              <a:t>What do you do in the next sixty seconds?</a:t>
            </a:r>
            <a:endParaRPr lang="en-US" sz="1200" dirty="0"/>
          </a:p>
        </p:txBody>
      </p:sp>
      <p:sp>
        <p:nvSpPr>
          <p:cNvPr id="9" name="Shape 6"/>
          <p:cNvSpPr/>
          <p:nvPr/>
        </p:nvSpPr>
        <p:spPr>
          <a:xfrm>
            <a:off x="640080" y="3008376"/>
            <a:ext cx="5327752" cy="900684"/>
          </a:xfrm>
          <a:prstGeom prst="roundRect">
            <a:avLst>
              <a:gd name="adj" fmla="val 4061"/>
            </a:avLst>
          </a:prstGeom>
          <a:solidFill>
            <a:srgbClr val="EFF4F8"/>
          </a:solidFill>
          <a:ln/>
        </p:spPr>
      </p:sp>
      <p:sp>
        <p:nvSpPr>
          <p:cNvPr id="10" name="Shape 7"/>
          <p:cNvSpPr/>
          <p:nvPr/>
        </p:nvSpPr>
        <p:spPr>
          <a:xfrm>
            <a:off x="804672" y="3312414"/>
            <a:ext cx="292608" cy="292608"/>
          </a:xfrm>
          <a:prstGeom prst="ellipse">
            <a:avLst/>
          </a:prstGeom>
          <a:solidFill>
            <a:srgbClr val="12B198"/>
          </a:solidFill>
          <a:ln/>
        </p:spPr>
      </p:sp>
      <p:sp>
        <p:nvSpPr>
          <p:cNvPr id="11" name="Text 8"/>
          <p:cNvSpPr/>
          <p:nvPr/>
        </p:nvSpPr>
        <p:spPr>
          <a:xfrm>
            <a:off x="804672"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2" name="Text 9"/>
          <p:cNvSpPr/>
          <p:nvPr/>
        </p:nvSpPr>
        <p:spPr>
          <a:xfrm>
            <a:off x="1188720"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クライアントの管理職であることは、開示の根拠になるか。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Does being a client manager justify disclosure?</a:t>
            </a:r>
            <a:endParaRPr lang="en-US" sz="1400" dirty="0"/>
          </a:p>
        </p:txBody>
      </p:sp>
      <p:sp>
        <p:nvSpPr>
          <p:cNvPr id="13" name="Shape 10"/>
          <p:cNvSpPr/>
          <p:nvPr/>
        </p:nvSpPr>
        <p:spPr>
          <a:xfrm>
            <a:off x="6223864" y="3008376"/>
            <a:ext cx="5327752" cy="900684"/>
          </a:xfrm>
          <a:prstGeom prst="roundRect">
            <a:avLst>
              <a:gd name="adj" fmla="val 4061"/>
            </a:avLst>
          </a:prstGeom>
          <a:solidFill>
            <a:srgbClr val="EFF4F8"/>
          </a:solidFill>
          <a:ln/>
        </p:spPr>
      </p:sp>
      <p:sp>
        <p:nvSpPr>
          <p:cNvPr id="14" name="Shape 11"/>
          <p:cNvSpPr/>
          <p:nvPr/>
        </p:nvSpPr>
        <p:spPr>
          <a:xfrm>
            <a:off x="6388456" y="3312414"/>
            <a:ext cx="292608" cy="292608"/>
          </a:xfrm>
          <a:prstGeom prst="ellipse">
            <a:avLst/>
          </a:prstGeom>
          <a:solidFill>
            <a:srgbClr val="12B198"/>
          </a:solidFill>
          <a:ln/>
        </p:spPr>
      </p:sp>
      <p:sp>
        <p:nvSpPr>
          <p:cNvPr id="15" name="Text 12"/>
          <p:cNvSpPr/>
          <p:nvPr/>
        </p:nvSpPr>
        <p:spPr>
          <a:xfrm>
            <a:off x="6388456" y="3312414"/>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6" name="Text 13"/>
          <p:cNvSpPr/>
          <p:nvPr/>
        </p:nvSpPr>
        <p:spPr>
          <a:xfrm>
            <a:off x="6772504" y="3063240"/>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警備員に開示の可否を判断する権限はあるか。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Does a guard have authority to decide on disclosure?</a:t>
            </a:r>
            <a:endParaRPr lang="en-US" sz="1400" dirty="0"/>
          </a:p>
        </p:txBody>
      </p:sp>
      <p:sp>
        <p:nvSpPr>
          <p:cNvPr id="17" name="Shape 14"/>
          <p:cNvSpPr/>
          <p:nvPr/>
        </p:nvSpPr>
        <p:spPr>
          <a:xfrm>
            <a:off x="640080" y="4018788"/>
            <a:ext cx="5327752" cy="900684"/>
          </a:xfrm>
          <a:prstGeom prst="roundRect">
            <a:avLst>
              <a:gd name="adj" fmla="val 4061"/>
            </a:avLst>
          </a:prstGeom>
          <a:solidFill>
            <a:srgbClr val="EFF4F8"/>
          </a:solidFill>
          <a:ln/>
        </p:spPr>
      </p:sp>
      <p:sp>
        <p:nvSpPr>
          <p:cNvPr id="18" name="Shape 15"/>
          <p:cNvSpPr/>
          <p:nvPr/>
        </p:nvSpPr>
        <p:spPr>
          <a:xfrm>
            <a:off x="804672" y="4322826"/>
            <a:ext cx="292608" cy="292608"/>
          </a:xfrm>
          <a:prstGeom prst="ellipse">
            <a:avLst/>
          </a:prstGeom>
          <a:solidFill>
            <a:srgbClr val="12B198"/>
          </a:solidFill>
          <a:ln/>
        </p:spPr>
      </p:sp>
      <p:sp>
        <p:nvSpPr>
          <p:cNvPr id="19" name="Text 16"/>
          <p:cNvSpPr/>
          <p:nvPr/>
        </p:nvSpPr>
        <p:spPr>
          <a:xfrm>
            <a:off x="804672"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0" name="Text 17"/>
          <p:cNvSpPr/>
          <p:nvPr/>
        </p:nvSpPr>
        <p:spPr>
          <a:xfrm>
            <a:off x="1188720"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断る場合、何と言うか。関係を壊さずに断れるか。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If you decline, what do you say? Can you decline without damaging the relationship?</a:t>
            </a:r>
            <a:endParaRPr lang="en-US" sz="1400" dirty="0"/>
          </a:p>
        </p:txBody>
      </p:sp>
      <p:sp>
        <p:nvSpPr>
          <p:cNvPr id="21" name="Shape 18"/>
          <p:cNvSpPr/>
          <p:nvPr/>
        </p:nvSpPr>
        <p:spPr>
          <a:xfrm>
            <a:off x="6223864" y="4018788"/>
            <a:ext cx="5327752" cy="900684"/>
          </a:xfrm>
          <a:prstGeom prst="roundRect">
            <a:avLst>
              <a:gd name="adj" fmla="val 4061"/>
            </a:avLst>
          </a:prstGeom>
          <a:solidFill>
            <a:srgbClr val="EFF4F8"/>
          </a:solidFill>
          <a:ln/>
        </p:spPr>
      </p:sp>
      <p:sp>
        <p:nvSpPr>
          <p:cNvPr id="22" name="Shape 19"/>
          <p:cNvSpPr/>
          <p:nvPr/>
        </p:nvSpPr>
        <p:spPr>
          <a:xfrm>
            <a:off x="6388456" y="4322826"/>
            <a:ext cx="292608" cy="292608"/>
          </a:xfrm>
          <a:prstGeom prst="ellipse">
            <a:avLst/>
          </a:prstGeom>
          <a:solidFill>
            <a:srgbClr val="12B198"/>
          </a:solidFill>
          <a:ln/>
        </p:spPr>
      </p:sp>
      <p:sp>
        <p:nvSpPr>
          <p:cNvPr id="23" name="Text 20"/>
          <p:cNvSpPr/>
          <p:nvPr/>
        </p:nvSpPr>
        <p:spPr>
          <a:xfrm>
            <a:off x="6388456" y="4322826"/>
            <a:ext cx="292608" cy="29260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4" name="Text 21"/>
          <p:cNvSpPr/>
          <p:nvPr/>
        </p:nvSpPr>
        <p:spPr>
          <a:xfrm>
            <a:off x="6772504" y="4073652"/>
            <a:ext cx="4596232" cy="790956"/>
          </a:xfrm>
          <a:prstGeom prst="rect">
            <a:avLst/>
          </a:prstGeom>
          <a:noFill/>
          <a:ln/>
        </p:spPr>
        <p:txBody>
          <a:bodyPr wrap="square" lIns="0" tIns="0" rIns="0" bIns="0" rtlCol="0" anchor="ctr"/>
          <a:lstStyle/>
          <a:p>
            <a:pPr indent="0" marL="0">
              <a:lnSpc>
                <a:spcPct val="88000"/>
              </a:lnSpc>
              <a:buNone/>
            </a:pPr>
            <a:r>
              <a:rPr lang="en-US" sz="1400" b="1" dirty="0">
                <a:solidFill>
                  <a:srgbClr val="1B2733"/>
                </a:solidFill>
                <a:latin typeface="Yu Gothic" pitchFamily="34" charset="0"/>
                <a:ea typeface="Yu Gothic" pitchFamily="34" charset="-122"/>
                <a:cs typeface="Yu Gothic" pitchFamily="34" charset="-120"/>
              </a:rPr>
              <a:t>保全の依頼は受けてよいか。開示との違いは何か。</a:t>
            </a:r>
            <a:endParaRPr lang="en-US" sz="1400" dirty="0"/>
          </a:p>
          <a:p>
            <a:pPr indent="0" marL="0">
              <a:lnSpc>
                <a:spcPct val="88000"/>
              </a:lnSpc>
              <a:buNone/>
            </a:pPr>
            <a:r>
              <a:rPr lang="en-US" sz="1350" dirty="0">
                <a:solidFill>
                  <a:srgbClr val="1B2733"/>
                </a:solidFill>
                <a:latin typeface="Calibri" pitchFamily="34" charset="0"/>
                <a:ea typeface="Calibri" pitchFamily="34" charset="-122"/>
                <a:cs typeface="Calibri" pitchFamily="34" charset="-120"/>
              </a:rPr>
              <a:t>May you accept a request to preserve? How does that differ from disclosure?</a:t>
            </a:r>
            <a:endParaRPr lang="en-US" sz="1400" dirty="0"/>
          </a:p>
        </p:txBody>
      </p:sp>
      <p:sp>
        <p:nvSpPr>
          <p:cNvPr id="25" name="Shape 22"/>
          <p:cNvSpPr/>
          <p:nvPr/>
        </p:nvSpPr>
        <p:spPr>
          <a:xfrm>
            <a:off x="640080" y="4974336"/>
            <a:ext cx="10911535" cy="420624"/>
          </a:xfrm>
          <a:prstGeom prst="roundRect">
            <a:avLst>
              <a:gd name="adj" fmla="val 8696"/>
            </a:avLst>
          </a:prstGeom>
          <a:solidFill>
            <a:srgbClr val="E4F4F0"/>
          </a:solidFill>
          <a:ln/>
        </p:spPr>
      </p:sp>
      <p:sp>
        <p:nvSpPr>
          <p:cNvPr id="26" name="Text 23"/>
          <p:cNvSpPr/>
          <p:nvPr/>
        </p:nvSpPr>
        <p:spPr>
          <a:xfrm>
            <a:off x="877824" y="5001768"/>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相手が「では、私が見るのではなく、あなたが見て教えてほしい」と述べた。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They say: "Then do not show me. You look, and tell me what you see."</a:t>
            </a:r>
            <a:endParaRPr lang="en-US" sz="1050" dirty="0"/>
          </a:p>
        </p:txBody>
      </p:sp>
      <p:sp>
        <p:nvSpPr>
          <p:cNvPr id="27" name="Shape 24"/>
          <p:cNvSpPr/>
          <p:nvPr/>
        </p:nvSpPr>
        <p:spPr>
          <a:xfrm>
            <a:off x="640080" y="5449824"/>
            <a:ext cx="10911535" cy="420624"/>
          </a:xfrm>
          <a:prstGeom prst="roundRect">
            <a:avLst>
              <a:gd name="adj" fmla="val 8696"/>
            </a:avLst>
          </a:prstGeom>
          <a:solidFill>
            <a:srgbClr val="E4F4F0"/>
          </a:solidFill>
          <a:ln/>
        </p:spPr>
      </p:sp>
      <p:sp>
        <p:nvSpPr>
          <p:cNvPr id="28" name="Text 25"/>
          <p:cNvSpPr/>
          <p:nvPr/>
        </p:nvSpPr>
        <p:spPr>
          <a:xfrm>
            <a:off x="877824" y="5477256"/>
            <a:ext cx="10436047"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相手が「では正式に依頼書を出す。それまで消さないでくれ」と述べた。</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They say: "Then I will submit a formal request. Until then, do not delete it."</a:t>
            </a:r>
            <a:endParaRPr lang="en-US" sz="1050" dirty="0"/>
          </a:p>
        </p:txBody>
      </p:sp>
      <p:sp>
        <p:nvSpPr>
          <p:cNvPr id="29" name="Text 26"/>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decides on disclosure, how preservation requests are accepted, and the record format differ by site.</a:t>
            </a:r>
            <a:endParaRPr lang="en-US" sz="1000" dirty="0"/>
          </a:p>
        </p:txBody>
      </p:sp>
      <p:sp>
        <p:nvSpPr>
          <p:cNvPr id="30" name="Text 27"/>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1" name="Text 28"/>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2" name="Text 29"/>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TTX 10-B 模範解答</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TTX 10-B — Model Answers</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DEBRIEF</a:t>
            </a:r>
            <a:endParaRPr lang="en-US" sz="1100" dirty="0"/>
          </a:p>
        </p:txBody>
      </p:sp>
      <p:sp>
        <p:nvSpPr>
          <p:cNvPr id="6" name="Shape 3"/>
          <p:cNvSpPr/>
          <p:nvPr/>
        </p:nvSpPr>
        <p:spPr>
          <a:xfrm>
            <a:off x="640080" y="1115568"/>
            <a:ext cx="10911535" cy="715518"/>
          </a:xfrm>
          <a:prstGeom prst="roundRect">
            <a:avLst>
              <a:gd name="adj" fmla="val 5112"/>
            </a:avLst>
          </a:prstGeom>
          <a:solidFill>
            <a:srgbClr val="EFF4F8"/>
          </a:solidFill>
          <a:ln/>
        </p:spPr>
      </p:sp>
      <p:sp>
        <p:nvSpPr>
          <p:cNvPr id="7" name="Shape 4"/>
          <p:cNvSpPr/>
          <p:nvPr/>
        </p:nvSpPr>
        <p:spPr>
          <a:xfrm>
            <a:off x="841248" y="1299591"/>
            <a:ext cx="347472" cy="347472"/>
          </a:xfrm>
          <a:prstGeom prst="ellipse">
            <a:avLst/>
          </a:prstGeom>
          <a:solidFill>
            <a:srgbClr val="12B198"/>
          </a:solidFill>
          <a:ln/>
        </p:spPr>
      </p:sp>
      <p:sp>
        <p:nvSpPr>
          <p:cNvPr id="8" name="Text 5"/>
          <p:cNvSpPr/>
          <p:nvPr/>
        </p:nvSpPr>
        <p:spPr>
          <a:xfrm>
            <a:off x="841248" y="1299591"/>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管理職であることは根拠になるか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ならない。開示の可否は契約とクライアントの規程で決まる。役職では決まらない。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No. The contract and the client's rules decide, not the person's rank.</a:t>
            </a:r>
            <a:endParaRPr lang="en-US" sz="1150" dirty="0"/>
          </a:p>
        </p:txBody>
      </p:sp>
      <p:sp>
        <p:nvSpPr>
          <p:cNvPr id="10" name="Shape 7"/>
          <p:cNvSpPr/>
          <p:nvPr/>
        </p:nvSpPr>
        <p:spPr>
          <a:xfrm>
            <a:off x="640080" y="1931670"/>
            <a:ext cx="10911535" cy="715518"/>
          </a:xfrm>
          <a:prstGeom prst="roundRect">
            <a:avLst>
              <a:gd name="adj" fmla="val 5112"/>
            </a:avLst>
          </a:prstGeom>
          <a:solidFill>
            <a:srgbClr val="EFF4F8"/>
          </a:solidFill>
          <a:ln/>
        </p:spPr>
      </p:sp>
      <p:sp>
        <p:nvSpPr>
          <p:cNvPr id="11" name="Shape 8"/>
          <p:cNvSpPr/>
          <p:nvPr/>
        </p:nvSpPr>
        <p:spPr>
          <a:xfrm>
            <a:off x="841248" y="2115693"/>
            <a:ext cx="347472" cy="347472"/>
          </a:xfrm>
          <a:prstGeom prst="ellipse">
            <a:avLst/>
          </a:prstGeom>
          <a:solidFill>
            <a:srgbClr val="12B198"/>
          </a:solidFill>
          <a:ln/>
        </p:spPr>
      </p:sp>
      <p:sp>
        <p:nvSpPr>
          <p:cNvPr id="12" name="Text 9"/>
          <p:cNvSpPr/>
          <p:nvPr/>
        </p:nvSpPr>
        <p:spPr>
          <a:xfrm>
            <a:off x="841248" y="2115693"/>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1995678"/>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警備員に判断する権限はあるか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ない。取り次ぐところまで。日頃の協力関係は判断を変える理由にならない。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No. Your role ends at referral. A good working relationship does not change that.</a:t>
            </a:r>
            <a:endParaRPr lang="en-US" sz="1150" dirty="0"/>
          </a:p>
        </p:txBody>
      </p:sp>
      <p:sp>
        <p:nvSpPr>
          <p:cNvPr id="14" name="Shape 11"/>
          <p:cNvSpPr/>
          <p:nvPr/>
        </p:nvSpPr>
        <p:spPr>
          <a:xfrm>
            <a:off x="640080" y="2747772"/>
            <a:ext cx="10911535" cy="715518"/>
          </a:xfrm>
          <a:prstGeom prst="roundRect">
            <a:avLst>
              <a:gd name="adj" fmla="val 5112"/>
            </a:avLst>
          </a:prstGeom>
          <a:solidFill>
            <a:srgbClr val="E4F4F0"/>
          </a:solidFill>
          <a:ln/>
        </p:spPr>
      </p:sp>
      <p:sp>
        <p:nvSpPr>
          <p:cNvPr id="15" name="Shape 12"/>
          <p:cNvSpPr/>
          <p:nvPr/>
        </p:nvSpPr>
        <p:spPr>
          <a:xfrm>
            <a:off x="841248" y="2931795"/>
            <a:ext cx="347472" cy="347472"/>
          </a:xfrm>
          <a:prstGeom prst="ellipse">
            <a:avLst/>
          </a:prstGeom>
          <a:solidFill>
            <a:srgbClr val="12B198"/>
          </a:solidFill>
          <a:ln/>
        </p:spPr>
      </p:sp>
      <p:sp>
        <p:nvSpPr>
          <p:cNvPr id="16" name="Text 13"/>
          <p:cNvSpPr/>
          <p:nvPr/>
        </p:nvSpPr>
        <p:spPr>
          <a:xfrm>
            <a:off x="841248" y="293179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2811780"/>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断り方。関係を壊さずに断れるか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「私には開示の判断ができません。担当へお繋ぎします」。断るのではなく、繋ぐと伝える。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"I am not able to decide that. Let me connect you with the right person." You are not refusing — you are routing.</a:t>
            </a:r>
            <a:endParaRPr lang="en-US" sz="1150" dirty="0"/>
          </a:p>
        </p:txBody>
      </p:sp>
      <p:sp>
        <p:nvSpPr>
          <p:cNvPr id="18" name="Shape 15"/>
          <p:cNvSpPr/>
          <p:nvPr/>
        </p:nvSpPr>
        <p:spPr>
          <a:xfrm>
            <a:off x="640080" y="3563874"/>
            <a:ext cx="10911535" cy="715518"/>
          </a:xfrm>
          <a:prstGeom prst="roundRect">
            <a:avLst>
              <a:gd name="adj" fmla="val 5112"/>
            </a:avLst>
          </a:prstGeom>
          <a:solidFill>
            <a:srgbClr val="E4F4F0"/>
          </a:solidFill>
          <a:ln/>
        </p:spPr>
      </p:sp>
      <p:sp>
        <p:nvSpPr>
          <p:cNvPr id="19" name="Shape 16"/>
          <p:cNvSpPr/>
          <p:nvPr/>
        </p:nvSpPr>
        <p:spPr>
          <a:xfrm>
            <a:off x="841248" y="3747897"/>
            <a:ext cx="347472" cy="347472"/>
          </a:xfrm>
          <a:prstGeom prst="ellipse">
            <a:avLst/>
          </a:prstGeom>
          <a:solidFill>
            <a:srgbClr val="12B198"/>
          </a:solidFill>
          <a:ln/>
        </p:spPr>
      </p:sp>
      <p:sp>
        <p:nvSpPr>
          <p:cNvPr id="20" name="Text 17"/>
          <p:cNvSpPr/>
          <p:nvPr/>
        </p:nvSpPr>
        <p:spPr>
          <a:xfrm>
            <a:off x="841248" y="3747897"/>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3627882"/>
            <a:ext cx="10033711" cy="587502"/>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保全の依頼は受けてよいか</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受けてよい。保全＝残す、開示＝渡す。警備員が受けられるのは前者だけ。</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Yes. Preserving means keeping; disclosing means handing over. Only the first is yours to accept.</a:t>
            </a:r>
            <a:endParaRPr lang="en-US" sz="1150" dirty="0"/>
          </a:p>
        </p:txBody>
      </p:sp>
      <p:sp>
        <p:nvSpPr>
          <p:cNvPr id="22" name="Shape 19"/>
          <p:cNvSpPr/>
          <p:nvPr/>
        </p:nvSpPr>
        <p:spPr>
          <a:xfrm>
            <a:off x="640080" y="4389120"/>
            <a:ext cx="10911535" cy="420624"/>
          </a:xfrm>
          <a:prstGeom prst="roundRect">
            <a:avLst>
              <a:gd name="adj" fmla="val 8696"/>
            </a:avLst>
          </a:prstGeom>
          <a:solidFill>
            <a:srgbClr val="EEF6FA"/>
          </a:solidFill>
          <a:ln/>
        </p:spPr>
      </p:sp>
      <p:sp>
        <p:nvSpPr>
          <p:cNvPr id="23" name="Text 20"/>
          <p:cNvSpPr/>
          <p:nvPr/>
        </p:nvSpPr>
        <p:spPr>
          <a:xfrm>
            <a:off x="859536" y="4416552"/>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追加付与①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「あなたが見て教えて」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応じられない。自分が見て伝えるのは開示と同じ結果になる。言い換えを見抜く。</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Decline. Looking and telling produces the same result as showing. Spot the rephrasing.</a:t>
            </a:r>
            <a:endParaRPr lang="en-US" sz="1050" dirty="0"/>
          </a:p>
        </p:txBody>
      </p:sp>
      <p:sp>
        <p:nvSpPr>
          <p:cNvPr id="24" name="Shape 21"/>
          <p:cNvSpPr/>
          <p:nvPr/>
        </p:nvSpPr>
        <p:spPr>
          <a:xfrm>
            <a:off x="640080" y="4882896"/>
            <a:ext cx="10911535" cy="420624"/>
          </a:xfrm>
          <a:prstGeom prst="roundRect">
            <a:avLst>
              <a:gd name="adj" fmla="val 8696"/>
            </a:avLst>
          </a:prstGeom>
          <a:solidFill>
            <a:srgbClr val="EEF6FA"/>
          </a:solidFill>
          <a:ln/>
        </p:spPr>
      </p:sp>
      <p:sp>
        <p:nvSpPr>
          <p:cNvPr id="25" name="Text 22"/>
          <p:cNvSpPr/>
          <p:nvPr/>
        </p:nvSpPr>
        <p:spPr>
          <a:xfrm>
            <a:off x="859536" y="4910328"/>
            <a:ext cx="10472623" cy="365760"/>
          </a:xfrm>
          <a:prstGeom prst="rect">
            <a:avLst/>
          </a:prstGeom>
          <a:noFill/>
          <a:ln/>
        </p:spPr>
        <p:txBody>
          <a:bodyPr wrap="square" lIns="0" tIns="0" rIns="0" bIns="0" rtlCol="0" anchor="ctr"/>
          <a:lstStyle/>
          <a:p>
            <a:pPr indent="0" marL="0">
              <a:lnSpc>
                <a:spcPct val="86000"/>
              </a:lnSpc>
              <a:buNone/>
            </a:pPr>
            <a:r>
              <a:rPr lang="en-US" sz="1050" b="1" dirty="0">
                <a:solidFill>
                  <a:srgbClr val="0D8A76"/>
                </a:solidFill>
                <a:latin typeface="Yu Gothic" pitchFamily="34" charset="0"/>
                <a:ea typeface="Yu Gothic" pitchFamily="34" charset="-122"/>
                <a:cs typeface="Yu Gothic" pitchFamily="34" charset="-120"/>
              </a:rPr>
              <a:t>追加付与②　</a:t>
            </a:r>
            <a:pPr indent="0" marL="0">
              <a:lnSpc>
                <a:spcPct val="86000"/>
              </a:lnSpc>
              <a:buNone/>
            </a:pPr>
            <a:r>
              <a:rPr lang="en-US" sz="1050" dirty="0">
                <a:solidFill>
                  <a:srgbClr val="5F7183"/>
                </a:solidFill>
                <a:latin typeface="Yu Gothic" pitchFamily="34" charset="0"/>
                <a:ea typeface="Yu Gothic" pitchFamily="34" charset="-122"/>
                <a:cs typeface="Yu Gothic" pitchFamily="34" charset="-120"/>
              </a:rPr>
              <a:t>「依頼書を出す。消さないで」　→　</a:t>
            </a:r>
            <a:pPr indent="0" marL="0">
              <a:lnSpc>
                <a:spcPct val="86000"/>
              </a:lnSpc>
              <a:buNone/>
            </a:pPr>
            <a:r>
              <a:rPr lang="en-US" sz="1350" b="1" dirty="0">
                <a:solidFill>
                  <a:srgbClr val="1B2733"/>
                </a:solidFill>
                <a:latin typeface="Yu Gothic" pitchFamily="34" charset="0"/>
                <a:ea typeface="Yu Gothic" pitchFamily="34" charset="-122"/>
                <a:cs typeface="Yu Gothic" pitchFamily="34" charset="-120"/>
              </a:rPr>
              <a:t>これは受けてよい。上書きを防ぐ依頼であり、内容を渡す依頼ではない。時刻とともに記録する。</a:t>
            </a:r>
            <a:endParaRPr lang="en-US" sz="1050" dirty="0"/>
          </a:p>
          <a:p>
            <a:pPr indent="0" marL="0">
              <a:lnSpc>
                <a:spcPct val="86000"/>
              </a:lnSpc>
              <a:buNone/>
            </a:pPr>
            <a:r>
              <a:rPr lang="en-US" sz="1250" dirty="0">
                <a:solidFill>
                  <a:srgbClr val="1B2733"/>
                </a:solidFill>
                <a:latin typeface="Calibri" pitchFamily="34" charset="0"/>
                <a:ea typeface="Calibri" pitchFamily="34" charset="-122"/>
                <a:cs typeface="Calibri" pitchFamily="34" charset="-120"/>
              </a:rPr>
              <a:t>This you may accept. It prevents overwrite; it does not hand over content. Record it with the time.</a:t>
            </a:r>
            <a:endParaRPr lang="en-US" sz="1050" dirty="0"/>
          </a:p>
        </p:txBody>
      </p:sp>
      <p:sp>
        <p:nvSpPr>
          <p:cNvPr id="26" name="Shape 23"/>
          <p:cNvSpPr/>
          <p:nvPr/>
        </p:nvSpPr>
        <p:spPr>
          <a:xfrm>
            <a:off x="640080" y="5413248"/>
            <a:ext cx="10911535" cy="457200"/>
          </a:xfrm>
          <a:prstGeom prst="roundRect">
            <a:avLst>
              <a:gd name="adj" fmla="val 8000"/>
            </a:avLst>
          </a:prstGeom>
          <a:solidFill>
            <a:srgbClr val="093259"/>
          </a:solidFill>
          <a:ln/>
        </p:spPr>
      </p:sp>
      <p:sp>
        <p:nvSpPr>
          <p:cNvPr id="27" name="Text 24"/>
          <p:cNvSpPr/>
          <p:nvPr/>
        </p:nvSpPr>
        <p:spPr>
          <a:xfrm>
            <a:off x="859536" y="5440680"/>
            <a:ext cx="10472623" cy="402336"/>
          </a:xfrm>
          <a:prstGeom prst="rect">
            <a:avLst/>
          </a:prstGeom>
          <a:noFill/>
          <a:ln/>
        </p:spPr>
        <p:txBody>
          <a:bodyPr wrap="square" lIns="0" tIns="0" rIns="0" bIns="0" rtlCol="0" anchor="ctr"/>
          <a:lstStyle/>
          <a:p>
            <a:pPr indent="0" marL="0">
              <a:lnSpc>
                <a:spcPct val="86000"/>
              </a:lnSpc>
              <a:buNone/>
            </a:pPr>
            <a:r>
              <a:rPr lang="en-US" sz="1050" b="1" dirty="0">
                <a:solidFill>
                  <a:srgbClr val="12B198"/>
                </a:solidFill>
                <a:latin typeface="Yu Gothic" pitchFamily="34" charset="0"/>
                <a:ea typeface="Yu Gothic" pitchFamily="34" charset="-122"/>
                <a:cs typeface="Yu Gothic" pitchFamily="34" charset="-120"/>
              </a:rPr>
              <a:t>割れる論点　</a:t>
            </a:r>
            <a:pPr indent="0" marL="0">
              <a:lnSpc>
                <a:spcPct val="86000"/>
              </a:lnSpc>
              <a:buNone/>
            </a:pPr>
            <a:r>
              <a:rPr lang="en-US" sz="1300" b="1" dirty="0">
                <a:solidFill>
                  <a:srgbClr val="FFFFFF"/>
                </a:solidFill>
                <a:latin typeface="Yu Gothic" pitchFamily="34" charset="0"/>
                <a:ea typeface="Yu Gothic" pitchFamily="34" charset="-122"/>
                <a:cs typeface="Yu Gothic" pitchFamily="34" charset="-120"/>
              </a:rPr>
              <a:t>インジェクト①に気づけるか。「見せない」から「見て教える」への言い換えが本問の核。</a:t>
            </a:r>
            <a:endParaRPr lang="en-US" sz="1050" dirty="0"/>
          </a:p>
          <a:p>
            <a:pPr indent="0" marL="0">
              <a:lnSpc>
                <a:spcPct val="86000"/>
              </a:lnSpc>
              <a:buNone/>
            </a:pPr>
            <a:r>
              <a:rPr lang="en-US" sz="1200" dirty="0">
                <a:solidFill>
                  <a:srgbClr val="DCEFEB"/>
                </a:solidFill>
                <a:latin typeface="Calibri" pitchFamily="34" charset="0"/>
                <a:ea typeface="Calibri" pitchFamily="34" charset="-122"/>
                <a:cs typeface="Calibri" pitchFamily="34" charset="-120"/>
              </a:rPr>
              <a:t>Can they spot inject 1? The shift from "show me" to "look and tell me" is the heart of this case.</a:t>
            </a:r>
            <a:endParaRPr lang="en-US" sz="1050" dirty="0"/>
          </a:p>
        </p:txBody>
      </p:sp>
      <p:sp>
        <p:nvSpPr>
          <p:cNvPr id="28" name="Text 25"/>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Site SOP優先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開示の判断者、保全依頼の受付方法、記録の様式は現場ごとに異なる。Site SOPと契約による。</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Who decides on disclosure, how preservation requests are taken, and the record format differ by site.</a:t>
            </a:r>
            <a:endParaRPr lang="en-US" sz="1000" dirty="0"/>
          </a:p>
        </p:txBody>
      </p:sp>
      <p:sp>
        <p:nvSpPr>
          <p:cNvPr id="29" name="Text 26"/>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個人情報保護法、不正競争防止法、経済産業省「営業秘密管理指針」</a:t>
            </a:r>
            <a:endParaRPr lang="en-US" sz="750" dirty="0"/>
          </a:p>
        </p:txBody>
      </p:sp>
      <p:sp>
        <p:nvSpPr>
          <p:cNvPr id="30" name="Text 27"/>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31" name="Text 28"/>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AAR ― 振り返り（After Action Review）</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AAR — After Action Review</a:t>
            </a:r>
            <a:endParaRPr lang="en-US" sz="2700" dirty="0"/>
          </a:p>
        </p:txBody>
      </p:sp>
      <p:sp>
        <p:nvSpPr>
          <p:cNvPr id="4" name="Text 1"/>
          <p:cNvSpPr/>
          <p:nvPr/>
        </p:nvSpPr>
        <p:spPr>
          <a:xfrm>
            <a:off x="640080" y="1536192"/>
            <a:ext cx="10911535" cy="566928"/>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AAR は事案や訓練の直後に行う振り返りです。原則は、犯人探しをしないことです。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An AAR is a review held immediately after an incident or exercise. The rule is: no blame.</a:t>
            </a:r>
            <a:endParaRPr lang="en-US" sz="1300" dirty="0"/>
          </a:p>
        </p:txBody>
      </p:sp>
      <p:sp>
        <p:nvSpPr>
          <p:cNvPr id="5" name="Shape 2"/>
          <p:cNvSpPr/>
          <p:nvPr/>
        </p:nvSpPr>
        <p:spPr>
          <a:xfrm>
            <a:off x="640080" y="2286000"/>
            <a:ext cx="10911535" cy="702259"/>
          </a:xfrm>
          <a:prstGeom prst="roundRect">
            <a:avLst>
              <a:gd name="adj" fmla="val 6510"/>
            </a:avLst>
          </a:prstGeom>
          <a:solidFill>
            <a:srgbClr val="EFF4F8"/>
          </a:solidFill>
          <a:ln/>
        </p:spPr>
      </p:sp>
      <p:sp>
        <p:nvSpPr>
          <p:cNvPr id="6" name="Shape 3"/>
          <p:cNvSpPr/>
          <p:nvPr/>
        </p:nvSpPr>
        <p:spPr>
          <a:xfrm>
            <a:off x="896112" y="2445106"/>
            <a:ext cx="384048" cy="384048"/>
          </a:xfrm>
          <a:prstGeom prst="ellipse">
            <a:avLst/>
          </a:prstGeom>
          <a:solidFill>
            <a:srgbClr val="12B198"/>
          </a:solidFill>
          <a:ln/>
        </p:spPr>
      </p:sp>
      <p:sp>
        <p:nvSpPr>
          <p:cNvPr id="7" name="Text 4"/>
          <p:cNvSpPr/>
          <p:nvPr/>
        </p:nvSpPr>
        <p:spPr>
          <a:xfrm>
            <a:off x="896112" y="244510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499616" y="2395728"/>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何が起きるはずだったか。</a:t>
            </a:r>
            <a:endParaRPr lang="en-US" sz="17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What was supposed to happen?</a:t>
            </a:r>
            <a:endParaRPr lang="en-US" sz="1700" dirty="0"/>
          </a:p>
        </p:txBody>
      </p:sp>
      <p:sp>
        <p:nvSpPr>
          <p:cNvPr id="9" name="Shape 6"/>
          <p:cNvSpPr/>
          <p:nvPr/>
        </p:nvSpPr>
        <p:spPr>
          <a:xfrm>
            <a:off x="640080" y="3097987"/>
            <a:ext cx="10911535" cy="702259"/>
          </a:xfrm>
          <a:prstGeom prst="roundRect">
            <a:avLst>
              <a:gd name="adj" fmla="val 6510"/>
            </a:avLst>
          </a:prstGeom>
          <a:solidFill>
            <a:srgbClr val="F7FAFC"/>
          </a:solidFill>
          <a:ln/>
        </p:spPr>
      </p:sp>
      <p:sp>
        <p:nvSpPr>
          <p:cNvPr id="10" name="Shape 7"/>
          <p:cNvSpPr/>
          <p:nvPr/>
        </p:nvSpPr>
        <p:spPr>
          <a:xfrm>
            <a:off x="896112" y="3257093"/>
            <a:ext cx="384048" cy="384048"/>
          </a:xfrm>
          <a:prstGeom prst="ellipse">
            <a:avLst/>
          </a:prstGeom>
          <a:solidFill>
            <a:srgbClr val="12B198"/>
          </a:solidFill>
          <a:ln/>
        </p:spPr>
      </p:sp>
      <p:sp>
        <p:nvSpPr>
          <p:cNvPr id="11" name="Text 8"/>
          <p:cNvSpPr/>
          <p:nvPr/>
        </p:nvSpPr>
        <p:spPr>
          <a:xfrm>
            <a:off x="896112" y="325709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499616" y="3207715"/>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実際には何が起きたか。</a:t>
            </a:r>
            <a:endParaRPr lang="en-US" sz="17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What actually happened?</a:t>
            </a:r>
            <a:endParaRPr lang="en-US" sz="1700" dirty="0"/>
          </a:p>
        </p:txBody>
      </p:sp>
      <p:sp>
        <p:nvSpPr>
          <p:cNvPr id="13" name="Shape 10"/>
          <p:cNvSpPr/>
          <p:nvPr/>
        </p:nvSpPr>
        <p:spPr>
          <a:xfrm>
            <a:off x="640080" y="3909974"/>
            <a:ext cx="10911535" cy="702259"/>
          </a:xfrm>
          <a:prstGeom prst="roundRect">
            <a:avLst>
              <a:gd name="adj" fmla="val 6510"/>
            </a:avLst>
          </a:prstGeom>
          <a:solidFill>
            <a:srgbClr val="EFF4F8"/>
          </a:solidFill>
          <a:ln/>
        </p:spPr>
      </p:sp>
      <p:sp>
        <p:nvSpPr>
          <p:cNvPr id="14" name="Shape 11"/>
          <p:cNvSpPr/>
          <p:nvPr/>
        </p:nvSpPr>
        <p:spPr>
          <a:xfrm>
            <a:off x="896112" y="4069080"/>
            <a:ext cx="384048" cy="384048"/>
          </a:xfrm>
          <a:prstGeom prst="ellipse">
            <a:avLst/>
          </a:prstGeom>
          <a:solidFill>
            <a:srgbClr val="12B198"/>
          </a:solidFill>
          <a:ln/>
        </p:spPr>
      </p:sp>
      <p:sp>
        <p:nvSpPr>
          <p:cNvPr id="15" name="Text 12"/>
          <p:cNvSpPr/>
          <p:nvPr/>
        </p:nvSpPr>
        <p:spPr>
          <a:xfrm>
            <a:off x="896112" y="40690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499616" y="4019702"/>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なぜ差が生じたか。</a:t>
            </a:r>
            <a:endParaRPr lang="en-US" sz="17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Why was there a difference?</a:t>
            </a:r>
            <a:endParaRPr lang="en-US" sz="1700" dirty="0"/>
          </a:p>
        </p:txBody>
      </p:sp>
      <p:sp>
        <p:nvSpPr>
          <p:cNvPr id="17" name="Shape 14"/>
          <p:cNvSpPr/>
          <p:nvPr/>
        </p:nvSpPr>
        <p:spPr>
          <a:xfrm>
            <a:off x="640080" y="4721962"/>
            <a:ext cx="10911535" cy="702259"/>
          </a:xfrm>
          <a:prstGeom prst="roundRect">
            <a:avLst>
              <a:gd name="adj" fmla="val 6510"/>
            </a:avLst>
          </a:prstGeom>
          <a:solidFill>
            <a:srgbClr val="F7FAFC"/>
          </a:solidFill>
          <a:ln/>
        </p:spPr>
      </p:sp>
      <p:sp>
        <p:nvSpPr>
          <p:cNvPr id="18" name="Shape 15"/>
          <p:cNvSpPr/>
          <p:nvPr/>
        </p:nvSpPr>
        <p:spPr>
          <a:xfrm>
            <a:off x="896112" y="4881067"/>
            <a:ext cx="384048" cy="384048"/>
          </a:xfrm>
          <a:prstGeom prst="ellipse">
            <a:avLst/>
          </a:prstGeom>
          <a:solidFill>
            <a:srgbClr val="12B198"/>
          </a:solidFill>
          <a:ln/>
        </p:spPr>
      </p:sp>
      <p:sp>
        <p:nvSpPr>
          <p:cNvPr id="19" name="Text 16"/>
          <p:cNvSpPr/>
          <p:nvPr/>
        </p:nvSpPr>
        <p:spPr>
          <a:xfrm>
            <a:off x="896112" y="488106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499616" y="4831690"/>
            <a:ext cx="9777679" cy="519379"/>
          </a:xfrm>
          <a:prstGeom prst="rect">
            <a:avLst/>
          </a:prstGeom>
          <a:noFill/>
          <a:ln/>
        </p:spPr>
        <p:txBody>
          <a:bodyPr wrap="square" lIns="0" tIns="0" rIns="0" bIns="0" rtlCol="0" anchor="ctr"/>
          <a:lstStyle/>
          <a:p>
            <a:pPr indent="0" marL="0">
              <a:lnSpc>
                <a:spcPct val="92000"/>
              </a:lnSpc>
              <a:buNone/>
            </a:pPr>
            <a:r>
              <a:rPr lang="en-US" sz="1700" b="1" dirty="0">
                <a:solidFill>
                  <a:srgbClr val="1B2733"/>
                </a:solidFill>
                <a:latin typeface="Yu Gothic" pitchFamily="34" charset="0"/>
                <a:ea typeface="Yu Gothic" pitchFamily="34" charset="-122"/>
                <a:cs typeface="Yu Gothic" pitchFamily="34" charset="-120"/>
              </a:rPr>
              <a:t>次に何を変えるか。</a:t>
            </a:r>
            <a:endParaRPr lang="en-US" sz="1700" dirty="0"/>
          </a:p>
          <a:p>
            <a:pPr indent="0" marL="0">
              <a:lnSpc>
                <a:spcPct val="92000"/>
              </a:lnSpc>
              <a:buNone/>
            </a:pPr>
            <a:r>
              <a:rPr lang="en-US" sz="1500" dirty="0">
                <a:solidFill>
                  <a:srgbClr val="1B2733"/>
                </a:solidFill>
                <a:latin typeface="Calibri" pitchFamily="34" charset="0"/>
                <a:ea typeface="Calibri" pitchFamily="34" charset="-122"/>
                <a:cs typeface="Calibri" pitchFamily="34" charset="-120"/>
              </a:rPr>
              <a:t>What will we do differently?</a:t>
            </a:r>
            <a:endParaRPr lang="en-US" sz="1700" dirty="0"/>
          </a:p>
        </p:txBody>
      </p:sp>
      <p:sp>
        <p:nvSpPr>
          <p:cNvPr id="21" name="Shape 18"/>
          <p:cNvSpPr/>
          <p:nvPr/>
        </p:nvSpPr>
        <p:spPr>
          <a:xfrm>
            <a:off x="640080" y="5533949"/>
            <a:ext cx="10911535" cy="702259"/>
          </a:xfrm>
          <a:prstGeom prst="roundRect">
            <a:avLst>
              <a:gd name="adj" fmla="val 6510"/>
            </a:avLst>
          </a:prstGeom>
          <a:solidFill>
            <a:srgbClr val="EFF4F8"/>
          </a:solidFill>
          <a:ln/>
        </p:spPr>
      </p:sp>
      <p:sp>
        <p:nvSpPr>
          <p:cNvPr id="22" name="Shape 19"/>
          <p:cNvSpPr/>
          <p:nvPr/>
        </p:nvSpPr>
        <p:spPr>
          <a:xfrm>
            <a:off x="896112" y="5693054"/>
            <a:ext cx="384048" cy="384048"/>
          </a:xfrm>
          <a:prstGeom prst="ellipse">
            <a:avLst/>
          </a:prstGeom>
          <a:solidFill>
            <a:srgbClr val="12B198"/>
          </a:solidFill>
          <a:ln/>
        </p:spPr>
      </p:sp>
      <p:sp>
        <p:nvSpPr>
          <p:cNvPr id="23" name="Text 20"/>
          <p:cNvSpPr/>
          <p:nvPr/>
        </p:nvSpPr>
        <p:spPr>
          <a:xfrm>
            <a:off x="896112" y="569305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4" name="Text 21"/>
          <p:cNvSpPr/>
          <p:nvPr/>
        </p:nvSpPr>
        <p:spPr>
          <a:xfrm>
            <a:off x="1499616" y="5643677"/>
            <a:ext cx="9777679" cy="519379"/>
          </a:xfrm>
          <a:prstGeom prst="rect">
            <a:avLst/>
          </a:prstGeom>
          <a:noFill/>
          <a:ln/>
        </p:spPr>
        <p:txBody>
          <a:bodyPr wrap="square" lIns="0" tIns="0" rIns="0" bIns="0" rtlCol="0" anchor="ctr"/>
          <a:lstStyle/>
          <a:p>
            <a:pPr indent="0" marL="0">
              <a:lnSpc>
                <a:spcPct val="92000"/>
              </a:lnSpc>
              <a:buNone/>
            </a:pPr>
            <a:r>
              <a:rPr lang="en-US" sz="1500" b="1" dirty="0">
                <a:solidFill>
                  <a:srgbClr val="1B2733"/>
                </a:solidFill>
                <a:latin typeface="Yu Gothic" pitchFamily="34" charset="0"/>
                <a:ea typeface="Yu Gothic" pitchFamily="34" charset="-122"/>
                <a:cs typeface="Yu Gothic" pitchFamily="34" charset="-120"/>
              </a:rPr>
              <a:t>出た改善点は、記録に残して次回の教育と警備指令書の見直しに反映します。</a:t>
            </a:r>
            <a:endParaRPr lang="en-US" sz="1500" dirty="0"/>
          </a:p>
          <a:p>
            <a:pPr indent="0" marL="0">
              <a:lnSpc>
                <a:spcPct val="92000"/>
              </a:lnSpc>
              <a:buNone/>
            </a:pPr>
            <a:r>
              <a:rPr lang="en-US" sz="1350" dirty="0">
                <a:solidFill>
                  <a:srgbClr val="1B2733"/>
                </a:solidFill>
                <a:latin typeface="Calibri" pitchFamily="34" charset="0"/>
                <a:ea typeface="Calibri" pitchFamily="34" charset="-122"/>
                <a:cs typeface="Calibri" pitchFamily="34" charset="-120"/>
              </a:rPr>
              <a:t>Record what comes out of it, and feed it into the next session and the post orders.</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問1〜問5</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Assessment — Questions 1 to 5</a:t>
            </a:r>
            <a:endParaRPr lang="en-US" sz="2700" dirty="0"/>
          </a:p>
        </p:txBody>
      </p:sp>
      <p:sp>
        <p:nvSpPr>
          <p:cNvPr id="4" name="Text 1"/>
          <p:cNvSpPr/>
          <p:nvPr/>
        </p:nvSpPr>
        <p:spPr>
          <a:xfrm>
            <a:off x="640080" y="1499616"/>
            <a:ext cx="10911535" cy="512064"/>
          </a:xfrm>
          <a:prstGeom prst="rect">
            <a:avLst/>
          </a:prstGeom>
          <a:noFill/>
          <a:ln/>
        </p:spPr>
        <p:txBody>
          <a:bodyPr wrap="square" lIns="0" tIns="0" rIns="0" bIns="0" rtlCol="0" anchor="t"/>
          <a:lstStyle/>
          <a:p>
            <a:pPr algn="l" indent="0" marL="0">
              <a:lnSpc>
                <a:spcPct val="92000"/>
              </a:lnSpc>
              <a:buNone/>
            </a:pPr>
            <a:r>
              <a:rPr lang="en-US" sz="1300" dirty="0">
                <a:solidFill>
                  <a:srgbClr val="093259"/>
                </a:solidFill>
                <a:latin typeface="Yu Gothic" pitchFamily="34" charset="0"/>
                <a:ea typeface="Yu Gothic" pitchFamily="34" charset="-122"/>
                <a:cs typeface="Yu Gothic" pitchFamily="34" charset="-120"/>
              </a:rPr>
              <a:t>15分。回答は日本語・英語どちらでも構いません。記述は一言で結構です。</a:t>
            </a:r>
            <a:endParaRPr lang="en-US" sz="1300" dirty="0"/>
          </a:p>
          <a:p>
            <a:pPr algn="l" indent="0" marL="0">
              <a:lnSpc>
                <a:spcPct val="92000"/>
              </a:lnSpc>
              <a:buNone/>
            </a:pPr>
            <a:r>
              <a:rPr lang="en-US" sz="1000" dirty="0">
                <a:solidFill>
                  <a:srgbClr val="1B2733"/>
                </a:solidFill>
                <a:latin typeface="Calibri" pitchFamily="34" charset="0"/>
                <a:ea typeface="Calibri" pitchFamily="34" charset="-122"/>
                <a:cs typeface="Calibri" pitchFamily="34" charset="-120"/>
              </a:rPr>
              <a:t>15 minutes. Answer in Japanese or English. Short answers are fine.</a:t>
            </a:r>
            <a:endParaRPr lang="en-US" sz="1300" dirty="0"/>
          </a:p>
        </p:txBody>
      </p:sp>
      <p:sp>
        <p:nvSpPr>
          <p:cNvPr id="5" name="Shape 2"/>
          <p:cNvSpPr/>
          <p:nvPr/>
        </p:nvSpPr>
        <p:spPr>
          <a:xfrm>
            <a:off x="640080" y="2194560"/>
            <a:ext cx="10911535" cy="691286"/>
          </a:xfrm>
          <a:prstGeom prst="roundRect">
            <a:avLst>
              <a:gd name="adj" fmla="val 5291"/>
            </a:avLst>
          </a:prstGeom>
          <a:solidFill>
            <a:srgbClr val="EFF4F8"/>
          </a:solidFill>
          <a:ln/>
        </p:spPr>
      </p:sp>
      <p:sp>
        <p:nvSpPr>
          <p:cNvPr id="6" name="Shape 3"/>
          <p:cNvSpPr/>
          <p:nvPr/>
        </p:nvSpPr>
        <p:spPr>
          <a:xfrm>
            <a:off x="822960" y="2375611"/>
            <a:ext cx="329184" cy="329184"/>
          </a:xfrm>
          <a:prstGeom prst="ellipse">
            <a:avLst/>
          </a:prstGeom>
          <a:solidFill>
            <a:srgbClr val="093259"/>
          </a:solidFill>
          <a:ln/>
        </p:spPr>
      </p:sp>
      <p:sp>
        <p:nvSpPr>
          <p:cNvPr id="7" name="Text 4"/>
          <p:cNvSpPr/>
          <p:nvPr/>
        </p:nvSpPr>
        <p:spPr>
          <a:xfrm>
            <a:off x="822960" y="2375611"/>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8" name="Text 5"/>
          <p:cNvSpPr/>
          <p:nvPr/>
        </p:nvSpPr>
        <p:spPr>
          <a:xfrm>
            <a:off x="1243584" y="2267712"/>
            <a:ext cx="10070287" cy="544982"/>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警備員の法的な立場は何か。また、警察官にあって警備員にない権限を1つ挙げよ。</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What is a guard's legal status? Name one power the police have and you do not.</a:t>
            </a:r>
            <a:endParaRPr lang="en-US" sz="1500" dirty="0"/>
          </a:p>
        </p:txBody>
      </p:sp>
      <p:sp>
        <p:nvSpPr>
          <p:cNvPr id="9" name="Shape 6"/>
          <p:cNvSpPr/>
          <p:nvPr/>
        </p:nvSpPr>
        <p:spPr>
          <a:xfrm>
            <a:off x="640080" y="3032150"/>
            <a:ext cx="10911535" cy="691286"/>
          </a:xfrm>
          <a:prstGeom prst="roundRect">
            <a:avLst>
              <a:gd name="adj" fmla="val 5291"/>
            </a:avLst>
          </a:prstGeom>
          <a:solidFill>
            <a:srgbClr val="EFF4F8"/>
          </a:solidFill>
          <a:ln/>
        </p:spPr>
      </p:sp>
      <p:sp>
        <p:nvSpPr>
          <p:cNvPr id="10" name="Shape 7"/>
          <p:cNvSpPr/>
          <p:nvPr/>
        </p:nvSpPr>
        <p:spPr>
          <a:xfrm>
            <a:off x="822960" y="3213202"/>
            <a:ext cx="329184" cy="329184"/>
          </a:xfrm>
          <a:prstGeom prst="ellipse">
            <a:avLst/>
          </a:prstGeom>
          <a:solidFill>
            <a:srgbClr val="093259"/>
          </a:solidFill>
          <a:ln/>
        </p:spPr>
      </p:sp>
      <p:sp>
        <p:nvSpPr>
          <p:cNvPr id="11" name="Text 8"/>
          <p:cNvSpPr/>
          <p:nvPr/>
        </p:nvSpPr>
        <p:spPr>
          <a:xfrm>
            <a:off x="822960" y="321320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2" name="Text 9"/>
          <p:cNvSpPr/>
          <p:nvPr/>
        </p:nvSpPr>
        <p:spPr>
          <a:xfrm>
            <a:off x="1243584" y="3105302"/>
            <a:ext cx="10070287" cy="544982"/>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De-escalation の目的は何か。一言で述べよ。</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In one line: what is the aim of de-escalation?</a:t>
            </a:r>
            <a:endParaRPr lang="en-US" sz="1500" dirty="0"/>
          </a:p>
        </p:txBody>
      </p:sp>
      <p:sp>
        <p:nvSpPr>
          <p:cNvPr id="13" name="Shape 10"/>
          <p:cNvSpPr/>
          <p:nvPr/>
        </p:nvSpPr>
        <p:spPr>
          <a:xfrm>
            <a:off x="640080" y="3869741"/>
            <a:ext cx="10911535" cy="691286"/>
          </a:xfrm>
          <a:prstGeom prst="roundRect">
            <a:avLst>
              <a:gd name="adj" fmla="val 5291"/>
            </a:avLst>
          </a:prstGeom>
          <a:solidFill>
            <a:srgbClr val="EFF4F8"/>
          </a:solidFill>
          <a:ln/>
        </p:spPr>
      </p:sp>
      <p:sp>
        <p:nvSpPr>
          <p:cNvPr id="14" name="Shape 11"/>
          <p:cNvSpPr/>
          <p:nvPr/>
        </p:nvSpPr>
        <p:spPr>
          <a:xfrm>
            <a:off x="822960" y="4050792"/>
            <a:ext cx="329184" cy="329184"/>
          </a:xfrm>
          <a:prstGeom prst="ellipse">
            <a:avLst/>
          </a:prstGeom>
          <a:solidFill>
            <a:srgbClr val="093259"/>
          </a:solidFill>
          <a:ln/>
        </p:spPr>
      </p:sp>
      <p:sp>
        <p:nvSpPr>
          <p:cNvPr id="15" name="Text 12"/>
          <p:cNvSpPr/>
          <p:nvPr/>
        </p:nvSpPr>
        <p:spPr>
          <a:xfrm>
            <a:off x="822960" y="405079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6" name="Text 13"/>
          <p:cNvSpPr/>
          <p:nvPr/>
        </p:nvSpPr>
        <p:spPr>
          <a:xfrm>
            <a:off x="1243584" y="3942893"/>
            <a:ext cx="10070287" cy="544982"/>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相手が引き下がれる形を残すのは、なぜか。</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Why do you leave the other person a way to step back?</a:t>
            </a:r>
            <a:endParaRPr lang="en-US" sz="1500" dirty="0"/>
          </a:p>
        </p:txBody>
      </p:sp>
      <p:sp>
        <p:nvSpPr>
          <p:cNvPr id="17" name="Shape 14"/>
          <p:cNvSpPr/>
          <p:nvPr/>
        </p:nvSpPr>
        <p:spPr>
          <a:xfrm>
            <a:off x="640080" y="4707331"/>
            <a:ext cx="10911535" cy="691286"/>
          </a:xfrm>
          <a:prstGeom prst="roundRect">
            <a:avLst>
              <a:gd name="adj" fmla="val 5291"/>
            </a:avLst>
          </a:prstGeom>
          <a:solidFill>
            <a:srgbClr val="EFF4F8"/>
          </a:solidFill>
          <a:ln/>
        </p:spPr>
      </p:sp>
      <p:sp>
        <p:nvSpPr>
          <p:cNvPr id="18" name="Shape 15"/>
          <p:cNvSpPr/>
          <p:nvPr/>
        </p:nvSpPr>
        <p:spPr>
          <a:xfrm>
            <a:off x="822960" y="4888382"/>
            <a:ext cx="329184" cy="329184"/>
          </a:xfrm>
          <a:prstGeom prst="ellipse">
            <a:avLst/>
          </a:prstGeom>
          <a:solidFill>
            <a:srgbClr val="093259"/>
          </a:solidFill>
          <a:ln/>
        </p:spPr>
      </p:sp>
      <p:sp>
        <p:nvSpPr>
          <p:cNvPr id="19" name="Text 16"/>
          <p:cNvSpPr/>
          <p:nvPr/>
        </p:nvSpPr>
        <p:spPr>
          <a:xfrm>
            <a:off x="822960" y="488838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0" name="Text 17"/>
          <p:cNvSpPr/>
          <p:nvPr/>
        </p:nvSpPr>
        <p:spPr>
          <a:xfrm>
            <a:off x="1243584" y="4780483"/>
            <a:ext cx="10070287" cy="544982"/>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対話が効いていないと判断する兆候を2つ挙げ、そのとき取る行動を順に述べよ。</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Name two signs that talking is not working, and state the actions you take, in order.</a:t>
            </a:r>
            <a:endParaRPr lang="en-US" sz="1500" dirty="0"/>
          </a:p>
        </p:txBody>
      </p:sp>
      <p:sp>
        <p:nvSpPr>
          <p:cNvPr id="21" name="Shape 18"/>
          <p:cNvSpPr/>
          <p:nvPr/>
        </p:nvSpPr>
        <p:spPr>
          <a:xfrm>
            <a:off x="640080" y="5544922"/>
            <a:ext cx="10911535" cy="691286"/>
          </a:xfrm>
          <a:prstGeom prst="roundRect">
            <a:avLst>
              <a:gd name="adj" fmla="val 5291"/>
            </a:avLst>
          </a:prstGeom>
          <a:solidFill>
            <a:srgbClr val="EFF4F8"/>
          </a:solidFill>
          <a:ln/>
        </p:spPr>
      </p:sp>
      <p:sp>
        <p:nvSpPr>
          <p:cNvPr id="22" name="Shape 19"/>
          <p:cNvSpPr/>
          <p:nvPr/>
        </p:nvSpPr>
        <p:spPr>
          <a:xfrm>
            <a:off x="822960" y="5725973"/>
            <a:ext cx="329184" cy="329184"/>
          </a:xfrm>
          <a:prstGeom prst="ellipse">
            <a:avLst/>
          </a:prstGeom>
          <a:solidFill>
            <a:srgbClr val="093259"/>
          </a:solidFill>
          <a:ln/>
        </p:spPr>
      </p:sp>
      <p:sp>
        <p:nvSpPr>
          <p:cNvPr id="23" name="Text 20"/>
          <p:cNvSpPr/>
          <p:nvPr/>
        </p:nvSpPr>
        <p:spPr>
          <a:xfrm>
            <a:off x="822960" y="5725973"/>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4" name="Text 21"/>
          <p:cNvSpPr/>
          <p:nvPr/>
        </p:nvSpPr>
        <p:spPr>
          <a:xfrm>
            <a:off x="1243584" y="5618074"/>
            <a:ext cx="10070287" cy="544982"/>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退去を求める根拠は、誰の意思に基づくか。</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A request to leave rests on whose intent?</a:t>
            </a:r>
            <a:endParaRPr lang="en-US" sz="1500" dirty="0"/>
          </a:p>
        </p:txBody>
      </p:sp>
      <p:sp>
        <p:nvSpPr>
          <p:cNvPr id="25" name="Text 22"/>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6" name="Text 23"/>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475488"/>
            <a:ext cx="9805111" cy="960120"/>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問6〜問10</a:t>
            </a:r>
            <a:endParaRPr lang="en-US" sz="2700" dirty="0"/>
          </a:p>
          <a:p>
            <a:pPr indent="0" marL="0">
              <a:lnSpc>
                <a:spcPct val="94000"/>
              </a:lnSpc>
              <a:buNone/>
            </a:pPr>
            <a:r>
              <a:rPr lang="en-US" sz="1350" dirty="0">
                <a:solidFill>
                  <a:srgbClr val="12B198"/>
                </a:solidFill>
                <a:latin typeface="Calibri" pitchFamily="34" charset="0"/>
                <a:ea typeface="Calibri" pitchFamily="34" charset="-122"/>
                <a:cs typeface="Calibri" pitchFamily="34" charset="-120"/>
              </a:rPr>
              <a:t>Assessment — Questions 6 to 10</a:t>
            </a:r>
            <a:endParaRPr lang="en-US" sz="2700" dirty="0"/>
          </a:p>
        </p:txBody>
      </p:sp>
      <p:sp>
        <p:nvSpPr>
          <p:cNvPr id="4" name="Shape 1"/>
          <p:cNvSpPr/>
          <p:nvPr/>
        </p:nvSpPr>
        <p:spPr>
          <a:xfrm>
            <a:off x="640080" y="1627632"/>
            <a:ext cx="10911535" cy="804672"/>
          </a:xfrm>
          <a:prstGeom prst="roundRect">
            <a:avLst>
              <a:gd name="adj" fmla="val 4545"/>
            </a:avLst>
          </a:prstGeom>
          <a:solidFill>
            <a:srgbClr val="EFF4F8"/>
          </a:solidFill>
          <a:ln/>
        </p:spPr>
      </p:sp>
      <p:sp>
        <p:nvSpPr>
          <p:cNvPr id="5" name="Shape 2"/>
          <p:cNvSpPr/>
          <p:nvPr/>
        </p:nvSpPr>
        <p:spPr>
          <a:xfrm>
            <a:off x="822960" y="1865376"/>
            <a:ext cx="329184" cy="329184"/>
          </a:xfrm>
          <a:prstGeom prst="ellipse">
            <a:avLst/>
          </a:prstGeom>
          <a:solidFill>
            <a:srgbClr val="093259"/>
          </a:solidFill>
          <a:ln/>
        </p:spPr>
      </p:sp>
      <p:sp>
        <p:nvSpPr>
          <p:cNvPr id="6" name="Text 3"/>
          <p:cNvSpPr/>
          <p:nvPr/>
        </p:nvSpPr>
        <p:spPr>
          <a:xfrm>
            <a:off x="822960" y="186537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7" name="Text 4"/>
          <p:cNvSpPr/>
          <p:nvPr/>
        </p:nvSpPr>
        <p:spPr>
          <a:xfrm>
            <a:off x="1243584" y="1700784"/>
            <a:ext cx="10070287" cy="658368"/>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20時15分、B1東側の非常口が15cmほど開いていた。施錠されているはずの扉で、付近に人影はない。同僚は「不審者が非常口から入りました」と報告した。問題点を指摘し、あなたなら何と報告するか書け。</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At 20:15 the B1 east emergency door stood about 15 cm open. It should have been locked, and nobody was nearby. A colleague reported: "An intruder came in through the emergency exit." What is wrong with that, and what would you report?</a:t>
            </a:r>
            <a:endParaRPr lang="en-US" sz="1500" dirty="0"/>
          </a:p>
        </p:txBody>
      </p:sp>
      <p:sp>
        <p:nvSpPr>
          <p:cNvPr id="8" name="Shape 5"/>
          <p:cNvSpPr/>
          <p:nvPr/>
        </p:nvSpPr>
        <p:spPr>
          <a:xfrm>
            <a:off x="640080" y="2578608"/>
            <a:ext cx="10911535" cy="804672"/>
          </a:xfrm>
          <a:prstGeom prst="roundRect">
            <a:avLst>
              <a:gd name="adj" fmla="val 4545"/>
            </a:avLst>
          </a:prstGeom>
          <a:solidFill>
            <a:srgbClr val="EFF4F8"/>
          </a:solidFill>
          <a:ln/>
        </p:spPr>
      </p:sp>
      <p:sp>
        <p:nvSpPr>
          <p:cNvPr id="9" name="Shape 6"/>
          <p:cNvSpPr/>
          <p:nvPr/>
        </p:nvSpPr>
        <p:spPr>
          <a:xfrm>
            <a:off x="822960" y="2816352"/>
            <a:ext cx="329184" cy="329184"/>
          </a:xfrm>
          <a:prstGeom prst="ellipse">
            <a:avLst/>
          </a:prstGeom>
          <a:solidFill>
            <a:srgbClr val="093259"/>
          </a:solidFill>
          <a:ln/>
        </p:spPr>
      </p:sp>
      <p:sp>
        <p:nvSpPr>
          <p:cNvPr id="10" name="Text 7"/>
          <p:cNvSpPr/>
          <p:nvPr/>
        </p:nvSpPr>
        <p:spPr>
          <a:xfrm>
            <a:off x="822960" y="2816352"/>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1" name="Text 8"/>
          <p:cNvSpPr/>
          <p:nvPr/>
        </p:nvSpPr>
        <p:spPr>
          <a:xfrm>
            <a:off x="1243584" y="2651760"/>
            <a:ext cx="10070287" cy="658368"/>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119番通報で、最初に伝えることは何か。</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What must you say first when you call the fire service?</a:t>
            </a:r>
            <a:endParaRPr lang="en-US" sz="1500" dirty="0"/>
          </a:p>
        </p:txBody>
      </p:sp>
      <p:sp>
        <p:nvSpPr>
          <p:cNvPr id="12" name="Shape 9"/>
          <p:cNvSpPr/>
          <p:nvPr/>
        </p:nvSpPr>
        <p:spPr>
          <a:xfrm>
            <a:off x="640080" y="3529584"/>
            <a:ext cx="10911535" cy="804672"/>
          </a:xfrm>
          <a:prstGeom prst="roundRect">
            <a:avLst>
              <a:gd name="adj" fmla="val 4545"/>
            </a:avLst>
          </a:prstGeom>
          <a:solidFill>
            <a:srgbClr val="EFF4F8"/>
          </a:solidFill>
          <a:ln/>
        </p:spPr>
      </p:sp>
      <p:sp>
        <p:nvSpPr>
          <p:cNvPr id="13" name="Shape 10"/>
          <p:cNvSpPr/>
          <p:nvPr/>
        </p:nvSpPr>
        <p:spPr>
          <a:xfrm>
            <a:off x="822960" y="3767328"/>
            <a:ext cx="329184" cy="329184"/>
          </a:xfrm>
          <a:prstGeom prst="ellipse">
            <a:avLst/>
          </a:prstGeom>
          <a:solidFill>
            <a:srgbClr val="093259"/>
          </a:solidFill>
          <a:ln/>
        </p:spPr>
      </p:sp>
      <p:sp>
        <p:nvSpPr>
          <p:cNvPr id="14" name="Text 11"/>
          <p:cNvSpPr/>
          <p:nvPr/>
        </p:nvSpPr>
        <p:spPr>
          <a:xfrm>
            <a:off x="822960" y="3767328"/>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5" name="Text 12"/>
          <p:cNvSpPr/>
          <p:nvPr/>
        </p:nvSpPr>
        <p:spPr>
          <a:xfrm>
            <a:off x="1243584" y="3602736"/>
            <a:ext cx="10070287" cy="658368"/>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現場を変えてよい理由は何か。それ以外の場合はどうするか。</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For what reason may you alter the scene? And otherwise?</a:t>
            </a:r>
            <a:endParaRPr lang="en-US" sz="1500" dirty="0"/>
          </a:p>
        </p:txBody>
      </p:sp>
      <p:sp>
        <p:nvSpPr>
          <p:cNvPr id="16" name="Shape 13"/>
          <p:cNvSpPr/>
          <p:nvPr/>
        </p:nvSpPr>
        <p:spPr>
          <a:xfrm>
            <a:off x="640080" y="4480560"/>
            <a:ext cx="10911535" cy="804672"/>
          </a:xfrm>
          <a:prstGeom prst="roundRect">
            <a:avLst>
              <a:gd name="adj" fmla="val 4545"/>
            </a:avLst>
          </a:prstGeom>
          <a:solidFill>
            <a:srgbClr val="EFF4F8"/>
          </a:solidFill>
          <a:ln/>
        </p:spPr>
      </p:sp>
      <p:sp>
        <p:nvSpPr>
          <p:cNvPr id="17" name="Shape 14"/>
          <p:cNvSpPr/>
          <p:nvPr/>
        </p:nvSpPr>
        <p:spPr>
          <a:xfrm>
            <a:off x="822960" y="4718304"/>
            <a:ext cx="329184" cy="329184"/>
          </a:xfrm>
          <a:prstGeom prst="ellipse">
            <a:avLst/>
          </a:prstGeom>
          <a:solidFill>
            <a:srgbClr val="093259"/>
          </a:solidFill>
          <a:ln/>
        </p:spPr>
      </p:sp>
      <p:sp>
        <p:nvSpPr>
          <p:cNvPr id="18" name="Text 15"/>
          <p:cNvSpPr/>
          <p:nvPr/>
        </p:nvSpPr>
        <p:spPr>
          <a:xfrm>
            <a:off x="822960" y="4718304"/>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19" name="Text 16"/>
          <p:cNvSpPr/>
          <p:nvPr/>
        </p:nvSpPr>
        <p:spPr>
          <a:xfrm>
            <a:off x="1243584" y="4553712"/>
            <a:ext cx="10070287" cy="658368"/>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受信機が発報した。最初に確認するものは何か。無線で「火事です」と言ってよいか。</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The panel activates. What do you check first? May you say "fire" on the radio?</a:t>
            </a:r>
            <a:endParaRPr lang="en-US" sz="1500" dirty="0"/>
          </a:p>
        </p:txBody>
      </p:sp>
      <p:sp>
        <p:nvSpPr>
          <p:cNvPr id="20" name="Shape 17"/>
          <p:cNvSpPr/>
          <p:nvPr/>
        </p:nvSpPr>
        <p:spPr>
          <a:xfrm>
            <a:off x="640080" y="5431536"/>
            <a:ext cx="10911535" cy="804672"/>
          </a:xfrm>
          <a:prstGeom prst="roundRect">
            <a:avLst>
              <a:gd name="adj" fmla="val 4545"/>
            </a:avLst>
          </a:prstGeom>
          <a:solidFill>
            <a:srgbClr val="EFF4F8"/>
          </a:solidFill>
          <a:ln/>
        </p:spPr>
      </p:sp>
      <p:sp>
        <p:nvSpPr>
          <p:cNvPr id="21" name="Shape 18"/>
          <p:cNvSpPr/>
          <p:nvPr/>
        </p:nvSpPr>
        <p:spPr>
          <a:xfrm>
            <a:off x="822960" y="5669280"/>
            <a:ext cx="329184" cy="329184"/>
          </a:xfrm>
          <a:prstGeom prst="ellipse">
            <a:avLst/>
          </a:prstGeom>
          <a:solidFill>
            <a:srgbClr val="093259"/>
          </a:solidFill>
          <a:ln/>
        </p:spPr>
      </p:sp>
      <p:sp>
        <p:nvSpPr>
          <p:cNvPr id="22" name="Text 19"/>
          <p:cNvSpPr/>
          <p:nvPr/>
        </p:nvSpPr>
        <p:spPr>
          <a:xfrm>
            <a:off x="822960" y="5669280"/>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23" name="Text 20"/>
          <p:cNvSpPr/>
          <p:nvPr/>
        </p:nvSpPr>
        <p:spPr>
          <a:xfrm>
            <a:off x="1243584" y="5504688"/>
            <a:ext cx="10070287" cy="658368"/>
          </a:xfrm>
          <a:prstGeom prst="rect">
            <a:avLst/>
          </a:prstGeom>
          <a:noFill/>
          <a:ln/>
        </p:spPr>
        <p:txBody>
          <a:bodyPr wrap="square" lIns="0" tIns="0" rIns="0" bIns="0" rtlCol="0" anchor="ctr"/>
          <a:lstStyle/>
          <a:p>
            <a:pPr indent="0" marL="0">
              <a:lnSpc>
                <a:spcPct val="90000"/>
              </a:lnSpc>
              <a:buNone/>
            </a:pPr>
            <a:r>
              <a:rPr lang="en-US" sz="1500" b="1" dirty="0">
                <a:solidFill>
                  <a:srgbClr val="1B2733"/>
                </a:solidFill>
                <a:latin typeface="Yu Gothic" pitchFamily="34" charset="0"/>
                <a:ea typeface="Yu Gothic" pitchFamily="34" charset="-122"/>
                <a:cs typeface="Yu Gothic" pitchFamily="34" charset="-120"/>
              </a:rPr>
              <a:t>入退室ログの「保全」と「開示」の違いは何か。警備員が受けられるのはどちらか。</a:t>
            </a:r>
            <a:endParaRPr lang="en-US" sz="1500" dirty="0"/>
          </a:p>
          <a:p>
            <a:pPr indent="0" marL="0">
              <a:lnSpc>
                <a:spcPct val="90000"/>
              </a:lnSpc>
              <a:buNone/>
            </a:pPr>
            <a:r>
              <a:rPr lang="en-US" sz="1400" dirty="0">
                <a:solidFill>
                  <a:srgbClr val="1B2733"/>
                </a:solidFill>
                <a:latin typeface="Calibri" pitchFamily="34" charset="0"/>
                <a:ea typeface="Calibri" pitchFamily="34" charset="-122"/>
                <a:cs typeface="Calibri" pitchFamily="34" charset="-120"/>
              </a:rPr>
              <a:t>What is the difference between preserving and disclosing an access log? Which may a guard accept?</a:t>
            </a:r>
            <a:endParaRPr lang="en-US" sz="1500" dirty="0"/>
          </a:p>
        </p:txBody>
      </p:sp>
      <p:sp>
        <p:nvSpPr>
          <p:cNvPr id="24" name="Text 21"/>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5" name="Text 22"/>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解答と解説　問1〜問5</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Assessment — Answers 1 to 5</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6" name="Shape 3"/>
          <p:cNvSpPr/>
          <p:nvPr/>
        </p:nvSpPr>
        <p:spPr>
          <a:xfrm>
            <a:off x="640080" y="1115568"/>
            <a:ext cx="10911535" cy="870509"/>
          </a:xfrm>
          <a:prstGeom prst="roundRect">
            <a:avLst>
              <a:gd name="adj" fmla="val 4202"/>
            </a:avLst>
          </a:prstGeom>
          <a:solidFill>
            <a:srgbClr val="E4F4F0"/>
          </a:solidFill>
          <a:ln/>
        </p:spPr>
      </p:sp>
      <p:sp>
        <p:nvSpPr>
          <p:cNvPr id="7" name="Shape 4"/>
          <p:cNvSpPr/>
          <p:nvPr/>
        </p:nvSpPr>
        <p:spPr>
          <a:xfrm>
            <a:off x="841248" y="1377086"/>
            <a:ext cx="347472" cy="347472"/>
          </a:xfrm>
          <a:prstGeom prst="ellipse">
            <a:avLst/>
          </a:prstGeom>
          <a:solidFill>
            <a:srgbClr val="12B198"/>
          </a:solidFill>
          <a:ln/>
        </p:spPr>
      </p:sp>
      <p:sp>
        <p:nvSpPr>
          <p:cNvPr id="8" name="Text 5"/>
          <p:cNvSpPr/>
          <p:nvPr/>
        </p:nvSpPr>
        <p:spPr>
          <a:xfrm>
            <a:off x="841248" y="137708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6"/>
          <p:cNvSpPr/>
          <p:nvPr/>
        </p:nvSpPr>
        <p:spPr>
          <a:xfrm>
            <a:off x="1280160" y="1179576"/>
            <a:ext cx="10033711" cy="74249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　法的な立場と、警察にあって警備員にない権限</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私人。制服により権限は加わらない。／ 職務質問、保護、避難等の措置、制止、立入、武器の使用、逮捕状による逮捕のいずれか1つ。</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A private citizen; the uniform adds nothing. Any one of: stop and question, protective custody, evacuation orders, stopping a crime, entry, weapons, arrest by warrant.</a:t>
            </a:r>
            <a:endParaRPr lang="en-US" sz="1150" dirty="0"/>
          </a:p>
        </p:txBody>
      </p:sp>
      <p:sp>
        <p:nvSpPr>
          <p:cNvPr id="10" name="Shape 7"/>
          <p:cNvSpPr/>
          <p:nvPr/>
        </p:nvSpPr>
        <p:spPr>
          <a:xfrm>
            <a:off x="640080" y="2086661"/>
            <a:ext cx="10911535" cy="870509"/>
          </a:xfrm>
          <a:prstGeom prst="roundRect">
            <a:avLst>
              <a:gd name="adj" fmla="val 4202"/>
            </a:avLst>
          </a:prstGeom>
          <a:solidFill>
            <a:srgbClr val="EFF4F8"/>
          </a:solidFill>
          <a:ln/>
        </p:spPr>
      </p:sp>
      <p:sp>
        <p:nvSpPr>
          <p:cNvPr id="11" name="Shape 8"/>
          <p:cNvSpPr/>
          <p:nvPr/>
        </p:nvSpPr>
        <p:spPr>
          <a:xfrm>
            <a:off x="841248" y="2348179"/>
            <a:ext cx="347472" cy="347472"/>
          </a:xfrm>
          <a:prstGeom prst="ellipse">
            <a:avLst/>
          </a:prstGeom>
          <a:solidFill>
            <a:srgbClr val="12B198"/>
          </a:solidFill>
          <a:ln/>
        </p:spPr>
      </p:sp>
      <p:sp>
        <p:nvSpPr>
          <p:cNvPr id="12" name="Text 9"/>
          <p:cNvSpPr/>
          <p:nvPr/>
        </p:nvSpPr>
        <p:spPr>
          <a:xfrm>
            <a:off x="841248" y="234817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0"/>
          <p:cNvSpPr/>
          <p:nvPr/>
        </p:nvSpPr>
        <p:spPr>
          <a:xfrm>
            <a:off x="1280160" y="2150669"/>
            <a:ext cx="10033711" cy="74249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問2　De-escalation の目的</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有形力を使わずに緊張を下げ、その場を安全に終えること。勝つことではない。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To lower tension without force and end the situation safely. Not to win.</a:t>
            </a:r>
            <a:endParaRPr lang="en-US" sz="1150" dirty="0"/>
          </a:p>
        </p:txBody>
      </p:sp>
      <p:sp>
        <p:nvSpPr>
          <p:cNvPr id="14" name="Shape 11"/>
          <p:cNvSpPr/>
          <p:nvPr/>
        </p:nvSpPr>
        <p:spPr>
          <a:xfrm>
            <a:off x="640080" y="3057754"/>
            <a:ext cx="10911535" cy="870509"/>
          </a:xfrm>
          <a:prstGeom prst="roundRect">
            <a:avLst>
              <a:gd name="adj" fmla="val 4202"/>
            </a:avLst>
          </a:prstGeom>
          <a:solidFill>
            <a:srgbClr val="EFF4F8"/>
          </a:solidFill>
          <a:ln/>
        </p:spPr>
      </p:sp>
      <p:sp>
        <p:nvSpPr>
          <p:cNvPr id="15" name="Shape 12"/>
          <p:cNvSpPr/>
          <p:nvPr/>
        </p:nvSpPr>
        <p:spPr>
          <a:xfrm>
            <a:off x="841248" y="3319272"/>
            <a:ext cx="347472" cy="347472"/>
          </a:xfrm>
          <a:prstGeom prst="ellipse">
            <a:avLst/>
          </a:prstGeom>
          <a:solidFill>
            <a:srgbClr val="12B198"/>
          </a:solidFill>
          <a:ln/>
        </p:spPr>
      </p:sp>
      <p:sp>
        <p:nvSpPr>
          <p:cNvPr id="16" name="Text 13"/>
          <p:cNvSpPr/>
          <p:nvPr/>
        </p:nvSpPr>
        <p:spPr>
          <a:xfrm>
            <a:off x="841248" y="331927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4"/>
          <p:cNvSpPr/>
          <p:nvPr/>
        </p:nvSpPr>
        <p:spPr>
          <a:xfrm>
            <a:off x="1280160" y="3121762"/>
            <a:ext cx="10033711" cy="74249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問3　引き下がれる形を残す理由</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逃げ道がないと、相手は引き下がれず対立を続けるほかなくなるため。</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Without a way out, the person has no option but to keep fighting.</a:t>
            </a:r>
            <a:endParaRPr lang="en-US" sz="1150" dirty="0"/>
          </a:p>
        </p:txBody>
      </p:sp>
      <p:sp>
        <p:nvSpPr>
          <p:cNvPr id="18" name="Shape 15"/>
          <p:cNvSpPr/>
          <p:nvPr/>
        </p:nvSpPr>
        <p:spPr>
          <a:xfrm>
            <a:off x="640080" y="4028846"/>
            <a:ext cx="10911535" cy="870509"/>
          </a:xfrm>
          <a:prstGeom prst="roundRect">
            <a:avLst>
              <a:gd name="adj" fmla="val 4202"/>
            </a:avLst>
          </a:prstGeom>
          <a:solidFill>
            <a:srgbClr val="EFF4F8"/>
          </a:solidFill>
          <a:ln/>
        </p:spPr>
      </p:sp>
      <p:sp>
        <p:nvSpPr>
          <p:cNvPr id="19" name="Shape 16"/>
          <p:cNvSpPr/>
          <p:nvPr/>
        </p:nvSpPr>
        <p:spPr>
          <a:xfrm>
            <a:off x="841248" y="4290365"/>
            <a:ext cx="347472" cy="347472"/>
          </a:xfrm>
          <a:prstGeom prst="ellipse">
            <a:avLst/>
          </a:prstGeom>
          <a:solidFill>
            <a:srgbClr val="12B198"/>
          </a:solidFill>
          <a:ln/>
        </p:spPr>
      </p:sp>
      <p:sp>
        <p:nvSpPr>
          <p:cNvPr id="20" name="Text 17"/>
          <p:cNvSpPr/>
          <p:nvPr/>
        </p:nvSpPr>
        <p:spPr>
          <a:xfrm>
            <a:off x="841248" y="429036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8"/>
          <p:cNvSpPr/>
          <p:nvPr/>
        </p:nvSpPr>
        <p:spPr>
          <a:xfrm>
            <a:off x="1280160" y="4092854"/>
            <a:ext cx="10033711" cy="74249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問4　兆候2つと、そのあとの行動</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兆候：声が大きくなり続ける／同じ言葉を繰り返す／距離を詰める／持ち物を握りしめる。行動は順に、離脱する→応援を要請する→通報する。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Signs: rising volume, repeating a phrase, closing distance, gripping an object. Then, in order: disengage, call backup, report to police.</a:t>
            </a:r>
            <a:endParaRPr lang="en-US" sz="1150" dirty="0"/>
          </a:p>
        </p:txBody>
      </p:sp>
      <p:sp>
        <p:nvSpPr>
          <p:cNvPr id="22" name="Shape 19"/>
          <p:cNvSpPr/>
          <p:nvPr/>
        </p:nvSpPr>
        <p:spPr>
          <a:xfrm>
            <a:off x="640080" y="4999939"/>
            <a:ext cx="10911535" cy="870509"/>
          </a:xfrm>
          <a:prstGeom prst="roundRect">
            <a:avLst>
              <a:gd name="adj" fmla="val 4202"/>
            </a:avLst>
          </a:prstGeom>
          <a:solidFill>
            <a:srgbClr val="EFF4F8"/>
          </a:solidFill>
          <a:ln/>
        </p:spPr>
      </p:sp>
      <p:sp>
        <p:nvSpPr>
          <p:cNvPr id="23" name="Shape 20"/>
          <p:cNvSpPr/>
          <p:nvPr/>
        </p:nvSpPr>
        <p:spPr>
          <a:xfrm>
            <a:off x="841248" y="5261458"/>
            <a:ext cx="347472" cy="347472"/>
          </a:xfrm>
          <a:prstGeom prst="ellipse">
            <a:avLst/>
          </a:prstGeom>
          <a:solidFill>
            <a:srgbClr val="12B198"/>
          </a:solidFill>
          <a:ln/>
        </p:spPr>
      </p:sp>
      <p:sp>
        <p:nvSpPr>
          <p:cNvPr id="24" name="Text 21"/>
          <p:cNvSpPr/>
          <p:nvPr/>
        </p:nvSpPr>
        <p:spPr>
          <a:xfrm>
            <a:off x="841248" y="526145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2"/>
          <p:cNvSpPr/>
          <p:nvPr/>
        </p:nvSpPr>
        <p:spPr>
          <a:xfrm>
            <a:off x="1280160" y="5063947"/>
            <a:ext cx="10033711" cy="74249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問5　退去要請の根拠</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管理権者の意思。警備員が自分の判断で命じるものではない。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The site authority's intent. A guard does not order it on their own judgement.</a:t>
            </a:r>
            <a:endParaRPr lang="en-US" sz="11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採点の目安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表現が異なっても要点が含まれていれば正解とします。英語での回答も同じ基準で採点します。</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Different wording is fine if the point is there. Answers in English are marked to the same standard.</a:t>
            </a:r>
            <a:endParaRPr lang="en-US" sz="10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警備業法、刑法、刑事訴訟法、警察官職務執行法</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3" name="Text 0"/>
          <p:cNvSpPr/>
          <p:nvPr/>
        </p:nvSpPr>
        <p:spPr>
          <a:xfrm>
            <a:off x="640080" y="365760"/>
            <a:ext cx="8982151" cy="749808"/>
          </a:xfrm>
          <a:prstGeom prst="rect">
            <a:avLst/>
          </a:prstGeom>
          <a:noFill/>
          <a:ln/>
        </p:spPr>
        <p:txBody>
          <a:bodyPr wrap="square" lIns="0" tIns="0" rIns="0" bIns="0" rtlCol="0" anchor="t"/>
          <a:lstStyle/>
          <a:p>
            <a:pPr indent="0" marL="0">
              <a:lnSpc>
                <a:spcPct val="94000"/>
              </a:lnSpc>
              <a:buNone/>
            </a:pPr>
            <a:r>
              <a:rPr lang="en-US" sz="2700" b="1" dirty="0">
                <a:solidFill>
                  <a:srgbClr val="093259"/>
                </a:solidFill>
                <a:latin typeface="Yu Gothic" pitchFamily="34" charset="0"/>
                <a:ea typeface="Yu Gothic" pitchFamily="34" charset="-122"/>
                <a:cs typeface="Yu Gothic" pitchFamily="34" charset="-120"/>
              </a:rPr>
              <a:t>確認テスト　解答と解説　問6〜問10</a:t>
            </a:r>
            <a:endParaRPr lang="en-US" sz="2700" dirty="0"/>
          </a:p>
          <a:p>
            <a:pPr indent="0" marL="0">
              <a:lnSpc>
                <a:spcPct val="94000"/>
              </a:lnSpc>
              <a:buNone/>
            </a:pPr>
            <a:r>
              <a:rPr lang="en-US" sz="1400" dirty="0">
                <a:solidFill>
                  <a:srgbClr val="12B198"/>
                </a:solidFill>
                <a:latin typeface="Calibri" pitchFamily="34" charset="0"/>
                <a:ea typeface="Calibri" pitchFamily="34" charset="-122"/>
                <a:cs typeface="Calibri" pitchFamily="34" charset="-120"/>
              </a:rPr>
              <a:t>Assessment — Answers 6 to 10</a:t>
            </a:r>
            <a:endParaRPr lang="en-US" sz="2700" dirty="0"/>
          </a:p>
        </p:txBody>
      </p:sp>
      <p:sp>
        <p:nvSpPr>
          <p:cNvPr id="4" name="Shape 1"/>
          <p:cNvSpPr/>
          <p:nvPr/>
        </p:nvSpPr>
        <p:spPr>
          <a:xfrm>
            <a:off x="9686239" y="420624"/>
            <a:ext cx="932688" cy="310896"/>
          </a:xfrm>
          <a:prstGeom prst="roundRect">
            <a:avLst>
              <a:gd name="adj" fmla="val 14706"/>
            </a:avLst>
          </a:prstGeom>
          <a:solidFill>
            <a:srgbClr val="093259"/>
          </a:solidFill>
          <a:ln/>
        </p:spPr>
      </p:sp>
      <p:sp>
        <p:nvSpPr>
          <p:cNvPr id="5" name="Text 2"/>
          <p:cNvSpPr/>
          <p:nvPr/>
        </p:nvSpPr>
        <p:spPr>
          <a:xfrm>
            <a:off x="9686239" y="420624"/>
            <a:ext cx="932688"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ANSWERS</a:t>
            </a:r>
            <a:endParaRPr lang="en-US" sz="1100" dirty="0"/>
          </a:p>
        </p:txBody>
      </p:sp>
      <p:sp>
        <p:nvSpPr>
          <p:cNvPr id="6" name="Shape 3"/>
          <p:cNvSpPr/>
          <p:nvPr/>
        </p:nvSpPr>
        <p:spPr>
          <a:xfrm>
            <a:off x="640080" y="1115568"/>
            <a:ext cx="10911535" cy="870509"/>
          </a:xfrm>
          <a:prstGeom prst="roundRect">
            <a:avLst>
              <a:gd name="adj" fmla="val 4202"/>
            </a:avLst>
          </a:prstGeom>
          <a:solidFill>
            <a:srgbClr val="E4F4F0"/>
          </a:solidFill>
          <a:ln/>
        </p:spPr>
      </p:sp>
      <p:sp>
        <p:nvSpPr>
          <p:cNvPr id="7" name="Shape 4"/>
          <p:cNvSpPr/>
          <p:nvPr/>
        </p:nvSpPr>
        <p:spPr>
          <a:xfrm>
            <a:off x="841248" y="1377086"/>
            <a:ext cx="347472" cy="347472"/>
          </a:xfrm>
          <a:prstGeom prst="ellipse">
            <a:avLst/>
          </a:prstGeom>
          <a:solidFill>
            <a:srgbClr val="12B198"/>
          </a:solidFill>
          <a:ln/>
        </p:spPr>
      </p:sp>
      <p:sp>
        <p:nvSpPr>
          <p:cNvPr id="8" name="Text 5"/>
          <p:cNvSpPr/>
          <p:nvPr/>
        </p:nvSpPr>
        <p:spPr>
          <a:xfrm>
            <a:off x="841248" y="1377086"/>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 name="Text 6"/>
          <p:cNvSpPr/>
          <p:nvPr/>
        </p:nvSpPr>
        <p:spPr>
          <a:xfrm>
            <a:off x="1280160" y="1179576"/>
            <a:ext cx="10033711" cy="74249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問6　問題点と、あなたの報告文</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問題点は、見ていない「侵入」を断定していること。報告例「20時15分、B1東側非常口が15cmほど開いていた。施錠されているはずの扉で、付近に人影はない。侵入の可能性があると思われる」。</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The problem is asserting an intrusion nobody saw. Report: "At 20:15 the B1 east exit stood about 15 cm open. It should have been locked and nobody was nearby. In my judgement there may have been an intrusion."</a:t>
            </a:r>
            <a:endParaRPr lang="en-US" sz="1150" dirty="0"/>
          </a:p>
        </p:txBody>
      </p:sp>
      <p:sp>
        <p:nvSpPr>
          <p:cNvPr id="10" name="Shape 7"/>
          <p:cNvSpPr/>
          <p:nvPr/>
        </p:nvSpPr>
        <p:spPr>
          <a:xfrm>
            <a:off x="640080" y="2086661"/>
            <a:ext cx="10911535" cy="870509"/>
          </a:xfrm>
          <a:prstGeom prst="roundRect">
            <a:avLst>
              <a:gd name="adj" fmla="val 4202"/>
            </a:avLst>
          </a:prstGeom>
          <a:solidFill>
            <a:srgbClr val="EFF4F8"/>
          </a:solidFill>
          <a:ln/>
        </p:spPr>
      </p:sp>
      <p:sp>
        <p:nvSpPr>
          <p:cNvPr id="11" name="Shape 8"/>
          <p:cNvSpPr/>
          <p:nvPr/>
        </p:nvSpPr>
        <p:spPr>
          <a:xfrm>
            <a:off x="841248" y="2348179"/>
            <a:ext cx="347472" cy="347472"/>
          </a:xfrm>
          <a:prstGeom prst="ellipse">
            <a:avLst/>
          </a:prstGeom>
          <a:solidFill>
            <a:srgbClr val="12B198"/>
          </a:solidFill>
          <a:ln/>
        </p:spPr>
      </p:sp>
      <p:sp>
        <p:nvSpPr>
          <p:cNvPr id="12" name="Text 9"/>
          <p:cNvSpPr/>
          <p:nvPr/>
        </p:nvSpPr>
        <p:spPr>
          <a:xfrm>
            <a:off x="841248" y="2348179"/>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3" name="Text 10"/>
          <p:cNvSpPr/>
          <p:nvPr/>
        </p:nvSpPr>
        <p:spPr>
          <a:xfrm>
            <a:off x="1280160" y="2150669"/>
            <a:ext cx="10033711" cy="74249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問7　119番で最初に伝えること</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種別。「火事です」か「救急です」。場所より先に言う。</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The type — fire, or ambulance. Before the location.</a:t>
            </a:r>
            <a:endParaRPr lang="en-US" sz="1150" dirty="0"/>
          </a:p>
        </p:txBody>
      </p:sp>
      <p:sp>
        <p:nvSpPr>
          <p:cNvPr id="14" name="Shape 11"/>
          <p:cNvSpPr/>
          <p:nvPr/>
        </p:nvSpPr>
        <p:spPr>
          <a:xfrm>
            <a:off x="640080" y="3057754"/>
            <a:ext cx="10911535" cy="870509"/>
          </a:xfrm>
          <a:prstGeom prst="roundRect">
            <a:avLst>
              <a:gd name="adj" fmla="val 4202"/>
            </a:avLst>
          </a:prstGeom>
          <a:solidFill>
            <a:srgbClr val="EFF4F8"/>
          </a:solidFill>
          <a:ln/>
        </p:spPr>
      </p:sp>
      <p:sp>
        <p:nvSpPr>
          <p:cNvPr id="15" name="Shape 12"/>
          <p:cNvSpPr/>
          <p:nvPr/>
        </p:nvSpPr>
        <p:spPr>
          <a:xfrm>
            <a:off x="841248" y="3319272"/>
            <a:ext cx="347472" cy="347472"/>
          </a:xfrm>
          <a:prstGeom prst="ellipse">
            <a:avLst/>
          </a:prstGeom>
          <a:solidFill>
            <a:srgbClr val="12B198"/>
          </a:solidFill>
          <a:ln/>
        </p:spPr>
      </p:sp>
      <p:sp>
        <p:nvSpPr>
          <p:cNvPr id="16" name="Text 13"/>
          <p:cNvSpPr/>
          <p:nvPr/>
        </p:nvSpPr>
        <p:spPr>
          <a:xfrm>
            <a:off x="841248" y="3319272"/>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7" name="Text 14"/>
          <p:cNvSpPr/>
          <p:nvPr/>
        </p:nvSpPr>
        <p:spPr>
          <a:xfrm>
            <a:off x="1280160" y="3121762"/>
            <a:ext cx="10033711" cy="74249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問8　現場を変えてよい理由</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人命（救助・救護）のため。それ以外では動かさない。動かした場合は何を・どこから・どこへ・誰が・何時にを記録。</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To save life. Otherwise change nothing; if you did, record what, from where, to where, by whom and when.</a:t>
            </a:r>
            <a:endParaRPr lang="en-US" sz="1150" dirty="0"/>
          </a:p>
        </p:txBody>
      </p:sp>
      <p:sp>
        <p:nvSpPr>
          <p:cNvPr id="18" name="Shape 15"/>
          <p:cNvSpPr/>
          <p:nvPr/>
        </p:nvSpPr>
        <p:spPr>
          <a:xfrm>
            <a:off x="640080" y="4028846"/>
            <a:ext cx="10911535" cy="870509"/>
          </a:xfrm>
          <a:prstGeom prst="roundRect">
            <a:avLst>
              <a:gd name="adj" fmla="val 4202"/>
            </a:avLst>
          </a:prstGeom>
          <a:solidFill>
            <a:srgbClr val="E4F4F0"/>
          </a:solidFill>
          <a:ln/>
        </p:spPr>
      </p:sp>
      <p:sp>
        <p:nvSpPr>
          <p:cNvPr id="19" name="Shape 16"/>
          <p:cNvSpPr/>
          <p:nvPr/>
        </p:nvSpPr>
        <p:spPr>
          <a:xfrm>
            <a:off x="841248" y="4290365"/>
            <a:ext cx="347472" cy="347472"/>
          </a:xfrm>
          <a:prstGeom prst="ellipse">
            <a:avLst/>
          </a:prstGeom>
          <a:solidFill>
            <a:srgbClr val="12B198"/>
          </a:solidFill>
          <a:ln/>
        </p:spPr>
      </p:sp>
      <p:sp>
        <p:nvSpPr>
          <p:cNvPr id="20" name="Text 17"/>
          <p:cNvSpPr/>
          <p:nvPr/>
        </p:nvSpPr>
        <p:spPr>
          <a:xfrm>
            <a:off x="841248" y="4290365"/>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21" name="Text 18"/>
          <p:cNvSpPr/>
          <p:nvPr/>
        </p:nvSpPr>
        <p:spPr>
          <a:xfrm>
            <a:off x="1280160" y="4092854"/>
            <a:ext cx="10033711" cy="74249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問9　受信機の発報時</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地区表示（どこが鳴っているか）。「火事です」とは言わない。発報は火災の確定ではない。</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The zone display. Do not say "fire" — an activation is not a confirmed fire.</a:t>
            </a:r>
            <a:endParaRPr lang="en-US" sz="1150" dirty="0"/>
          </a:p>
        </p:txBody>
      </p:sp>
      <p:sp>
        <p:nvSpPr>
          <p:cNvPr id="22" name="Shape 19"/>
          <p:cNvSpPr/>
          <p:nvPr/>
        </p:nvSpPr>
        <p:spPr>
          <a:xfrm>
            <a:off x="640080" y="4999939"/>
            <a:ext cx="10911535" cy="870509"/>
          </a:xfrm>
          <a:prstGeom prst="roundRect">
            <a:avLst>
              <a:gd name="adj" fmla="val 4202"/>
            </a:avLst>
          </a:prstGeom>
          <a:solidFill>
            <a:srgbClr val="EFF4F8"/>
          </a:solidFill>
          <a:ln/>
        </p:spPr>
      </p:sp>
      <p:sp>
        <p:nvSpPr>
          <p:cNvPr id="23" name="Shape 20"/>
          <p:cNvSpPr/>
          <p:nvPr/>
        </p:nvSpPr>
        <p:spPr>
          <a:xfrm>
            <a:off x="841248" y="5261458"/>
            <a:ext cx="347472" cy="347472"/>
          </a:xfrm>
          <a:prstGeom prst="ellipse">
            <a:avLst/>
          </a:prstGeom>
          <a:solidFill>
            <a:srgbClr val="12B198"/>
          </a:solidFill>
          <a:ln/>
        </p:spPr>
      </p:sp>
      <p:sp>
        <p:nvSpPr>
          <p:cNvPr id="24" name="Text 21"/>
          <p:cNvSpPr/>
          <p:nvPr/>
        </p:nvSpPr>
        <p:spPr>
          <a:xfrm>
            <a:off x="841248" y="5261458"/>
            <a:ext cx="347472" cy="347472"/>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25" name="Text 22"/>
          <p:cNvSpPr/>
          <p:nvPr/>
        </p:nvSpPr>
        <p:spPr>
          <a:xfrm>
            <a:off x="1280160" y="5063947"/>
            <a:ext cx="10033711" cy="742493"/>
          </a:xfrm>
          <a:prstGeom prst="rect">
            <a:avLst/>
          </a:prstGeom>
          <a:noFill/>
          <a:ln/>
        </p:spPr>
        <p:txBody>
          <a:bodyPr wrap="square" lIns="0" tIns="0" rIns="0" bIns="0" rtlCol="0" anchor="ctr"/>
          <a:lstStyle/>
          <a:p>
            <a:pPr indent="0" marL="0">
              <a:lnSpc>
                <a:spcPct val="88000"/>
              </a:lnSpc>
              <a:buNone/>
            </a:pPr>
            <a:r>
              <a:rPr lang="en-US" sz="1150" dirty="0">
                <a:solidFill>
                  <a:srgbClr val="5F7183"/>
                </a:solidFill>
                <a:latin typeface="Yu Gothic" pitchFamily="34" charset="0"/>
                <a:ea typeface="Yu Gothic" pitchFamily="34" charset="-122"/>
                <a:cs typeface="Yu Gothic" pitchFamily="34" charset="-120"/>
              </a:rPr>
              <a:t>問10　保全と開示の違い</a:t>
            </a:r>
            <a:endParaRPr lang="en-US" sz="1150" dirty="0"/>
          </a:p>
          <a:p>
            <a:pPr indent="0" marL="0">
              <a:lnSpc>
                <a:spcPct val="88000"/>
              </a:lnSpc>
              <a:buNone/>
            </a:pPr>
            <a:r>
              <a:rPr lang="en-US" sz="1500" b="1" dirty="0">
                <a:solidFill>
                  <a:srgbClr val="1B2733"/>
                </a:solidFill>
                <a:latin typeface="Yu Gothic" pitchFamily="34" charset="0"/>
                <a:ea typeface="Yu Gothic" pitchFamily="34" charset="-122"/>
                <a:cs typeface="Yu Gothic" pitchFamily="34" charset="-120"/>
              </a:rPr>
              <a:t>保全＝上書きを防いで残す。開示＝内容を渡す。警備員が受けられるのは保全のみ。</a:t>
            </a:r>
            <a:endParaRPr lang="en-US" sz="1150" dirty="0"/>
          </a:p>
          <a:p>
            <a:pPr indent="0" marL="0">
              <a:lnSpc>
                <a:spcPct val="88000"/>
              </a:lnSpc>
              <a:buNone/>
            </a:pPr>
            <a:r>
              <a:rPr lang="en-US" sz="1400" dirty="0">
                <a:solidFill>
                  <a:srgbClr val="1B2733"/>
                </a:solidFill>
                <a:latin typeface="Calibri" pitchFamily="34" charset="0"/>
                <a:ea typeface="Calibri" pitchFamily="34" charset="-122"/>
                <a:cs typeface="Calibri" pitchFamily="34" charset="-120"/>
              </a:rPr>
              <a:t>Preserving keeps it from being overwritten. Disclosing hands over the content. Only preservation is yours to accept.</a:t>
            </a:r>
            <a:endParaRPr lang="en-US" sz="1150" dirty="0"/>
          </a:p>
        </p:txBody>
      </p:sp>
      <p:sp>
        <p:nvSpPr>
          <p:cNvPr id="26" name="Text 23"/>
          <p:cNvSpPr/>
          <p:nvPr/>
        </p:nvSpPr>
        <p:spPr>
          <a:xfrm>
            <a:off x="640080" y="5961888"/>
            <a:ext cx="10911535" cy="292608"/>
          </a:xfrm>
          <a:prstGeom prst="rect">
            <a:avLst/>
          </a:prstGeom>
          <a:noFill/>
          <a:ln/>
        </p:spPr>
        <p:txBody>
          <a:bodyPr wrap="square" lIns="0" tIns="0" rIns="0" bIns="0" rtlCol="0" anchor="t"/>
          <a:lstStyle/>
          <a:p>
            <a:pPr indent="0" marL="0">
              <a:lnSpc>
                <a:spcPct val="88000"/>
              </a:lnSpc>
              <a:buNone/>
            </a:pPr>
            <a:r>
              <a:rPr lang="en-US" sz="1000" b="1" dirty="0">
                <a:solidFill>
                  <a:srgbClr val="0D8A76"/>
                </a:solidFill>
                <a:latin typeface="Yu Gothic" pitchFamily="34" charset="0"/>
                <a:ea typeface="Yu Gothic" pitchFamily="34" charset="-122"/>
                <a:cs typeface="Yu Gothic" pitchFamily="34" charset="-120"/>
              </a:rPr>
              <a:t>採点の目安　</a:t>
            </a:r>
            <a:pPr indent="0" marL="0">
              <a:lnSpc>
                <a:spcPct val="88000"/>
              </a:lnSpc>
              <a:buNone/>
            </a:pPr>
            <a:r>
              <a:rPr lang="en-US" sz="1000" dirty="0">
                <a:solidFill>
                  <a:srgbClr val="1B2733"/>
                </a:solidFill>
                <a:latin typeface="Yu Gothic" pitchFamily="34" charset="0"/>
                <a:ea typeface="Yu Gothic" pitchFamily="34" charset="-122"/>
                <a:cs typeface="Yu Gothic" pitchFamily="34" charset="-120"/>
              </a:rPr>
              <a:t>問6と問9は重点問題です。落とした受講者には個別に確認してください。</a:t>
            </a:r>
            <a:endParaRPr lang="en-US" sz="1000" dirty="0"/>
          </a:p>
          <a:p>
            <a:pPr indent="0" marL="0">
              <a:lnSpc>
                <a:spcPct val="88000"/>
              </a:lnSpc>
              <a:buNone/>
            </a:pPr>
            <a:r>
              <a:rPr lang="en-US" sz="900" i="1" dirty="0">
                <a:solidFill>
                  <a:srgbClr val="5F7183"/>
                </a:solidFill>
                <a:latin typeface="Calibri" pitchFamily="34" charset="0"/>
                <a:ea typeface="Calibri" pitchFamily="34" charset="-122"/>
                <a:cs typeface="Calibri" pitchFamily="34" charset="-120"/>
              </a:rPr>
              <a:t>Questions 6 and 9 are the key items. Follow up individually with anyone who missed them.</a:t>
            </a:r>
            <a:endParaRPr lang="en-US" sz="1000" dirty="0"/>
          </a:p>
        </p:txBody>
      </p:sp>
      <p:sp>
        <p:nvSpPr>
          <p:cNvPr id="27" name="Text 24"/>
          <p:cNvSpPr/>
          <p:nvPr/>
        </p:nvSpPr>
        <p:spPr>
          <a:xfrm>
            <a:off x="640080" y="6272784"/>
            <a:ext cx="9905695" cy="219456"/>
          </a:xfrm>
          <a:prstGeom prst="rect">
            <a:avLst/>
          </a:prstGeom>
          <a:noFill/>
          <a:ln/>
        </p:spPr>
        <p:txBody>
          <a:bodyPr wrap="square" lIns="0" tIns="0" rIns="0" bIns="0" rtlCol="0" anchor="t"/>
          <a:lstStyle/>
          <a:p>
            <a:pPr indent="0" marL="0">
              <a:buNone/>
            </a:pPr>
            <a:r>
              <a:rPr lang="en-US" sz="750" b="1" dirty="0">
                <a:solidFill>
                  <a:srgbClr val="D6E0E9"/>
                </a:solidFill>
                <a:latin typeface="Yu Gothic" pitchFamily="34" charset="0"/>
                <a:ea typeface="Yu Gothic" pitchFamily="34" charset="-122"/>
                <a:cs typeface="Yu Gothic" pitchFamily="34" charset="-120"/>
              </a:rPr>
              <a:t>ソース　</a:t>
            </a:r>
            <a:pPr indent="0" marL="0">
              <a:buNone/>
            </a:pPr>
            <a:r>
              <a:rPr lang="en-US" sz="750" dirty="0">
                <a:solidFill>
                  <a:srgbClr val="5F7183"/>
                </a:solidFill>
                <a:latin typeface="Yu Gothic" pitchFamily="34" charset="0"/>
                <a:ea typeface="Yu Gothic" pitchFamily="34" charset="-122"/>
                <a:cs typeface="Yu Gothic" pitchFamily="34" charset="-120"/>
              </a:rPr>
              <a:t>消防法、個人情報保護法、警察庁「警備員教育」</a:t>
            </a:r>
            <a:endParaRPr lang="en-US" sz="750" dirty="0"/>
          </a:p>
        </p:txBody>
      </p:sp>
      <p:sp>
        <p:nvSpPr>
          <p:cNvPr id="28" name="Text 25"/>
          <p:cNvSpPr/>
          <p:nvPr/>
        </p:nvSpPr>
        <p:spPr>
          <a:xfrm>
            <a:off x="640080" y="6492240"/>
            <a:ext cx="8778240" cy="292608"/>
          </a:xfrm>
          <a:prstGeom prst="rect">
            <a:avLst/>
          </a:prstGeom>
          <a:noFill/>
          <a:ln/>
        </p:spPr>
        <p:txBody>
          <a:bodyPr wrap="square" lIns="0" tIns="0" rIns="0" bIns="0" rtlCol="0" anchor="ctr"/>
          <a:lstStyle/>
          <a:p>
            <a:pPr indent="0" marL="0">
              <a:buNone/>
            </a:pPr>
            <a:r>
              <a:rPr lang="en-US" sz="900" dirty="0">
                <a:solidFill>
                  <a:srgbClr val="5F7183"/>
                </a:solidFill>
                <a:latin typeface="Yu Gothic" pitchFamily="34" charset="0"/>
                <a:ea typeface="Yu Gothic" pitchFamily="34" charset="-122"/>
                <a:cs typeface="Yu Gothic" pitchFamily="34" charset="-120"/>
              </a:rPr>
              <a:t>第10時限｜業務別教育6 警報装置その他当該警備業務を実施するために使用する機器の使用方法  </a:t>
            </a:r>
            <a:pPr indent="0" marL="0">
              <a:buNone/>
            </a:pPr>
            <a:r>
              <a:rPr lang="en-US" sz="850" i="1" dirty="0">
                <a:solidFill>
                  <a:srgbClr val="D6E0E9"/>
                </a:solidFill>
                <a:latin typeface="Calibri" pitchFamily="34" charset="0"/>
                <a:ea typeface="Calibri" pitchFamily="34" charset="-122"/>
                <a:cs typeface="Calibri" pitchFamily="34" charset="-120"/>
              </a:rPr>
              <a:t>Period 10 | Task-Specific Training 6 — Security Equipment</a:t>
            </a:r>
            <a:endParaRPr lang="en-US" sz="900" dirty="0"/>
          </a:p>
        </p:txBody>
      </p:sp>
      <p:sp>
        <p:nvSpPr>
          <p:cNvPr id="29" name="Text 26"/>
          <p:cNvSpPr/>
          <p:nvPr/>
        </p:nvSpPr>
        <p:spPr>
          <a:xfrm>
            <a:off x="10637215" y="6492240"/>
            <a:ext cx="914400" cy="292608"/>
          </a:xfrm>
          <a:prstGeom prst="rect">
            <a:avLst/>
          </a:prstGeom>
          <a:noFill/>
          <a:ln/>
        </p:spPr>
        <p:txBody>
          <a:bodyPr wrap="square" lIns="0" tIns="0" rIns="0" bIns="0" rtlCol="0" anchor="ctr"/>
          <a:lstStyle/>
          <a:p>
            <a:pPr algn="r" indent="0" marL="0">
              <a:buNone/>
            </a:pPr>
            <a:r>
              <a:rPr lang="en-US" sz="1000" dirty="0">
                <a:solidFill>
                  <a:srgbClr val="5F7183"/>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93259"/>
        </a:solidFill>
      </p:bgPr>
    </p:bg>
    <p:spTree>
      <p:nvGrpSpPr>
        <p:cNvPr id="1" name=""/>
        <p:cNvGrpSpPr/>
        <p:nvPr/>
      </p:nvGrpSpPr>
      <p:grpSpPr>
        <a:xfrm>
          <a:off x="0" y="0"/>
          <a:ext cx="0" cy="0"/>
          <a:chOff x="0" y="0"/>
          <a:chExt cx="0" cy="0"/>
        </a:xfrm>
      </p:grpSpPr>
      <p:sp>
        <p:nvSpPr>
          <p:cNvPr id="2" name="Shape 0"/>
          <p:cNvSpPr/>
          <p:nvPr/>
        </p:nvSpPr>
        <p:spPr>
          <a:xfrm>
            <a:off x="10637215" y="219456"/>
            <a:ext cx="1042416" cy="969264"/>
          </a:xfrm>
          <a:prstGeom prst="roundRect">
            <a:avLst>
              <a:gd name="adj" fmla="val 5660"/>
            </a:avLst>
          </a:prstGeom>
          <a:solidFill>
            <a:srgbClr val="FFFFFF"/>
          </a:solidFill>
          <a:ln/>
        </p:spPr>
      </p:sp>
      <p:pic>
        <p:nvPicPr>
          <p:cNvPr id="3" name="Image 0" descr="/home/user/Training-/assets/logo.png">    </p:cNvPr>
          <p:cNvPicPr>
            <a:picLocks noChangeAspect="1"/>
          </p:cNvPicPr>
          <p:nvPr/>
        </p:nvPicPr>
        <p:blipFill>
          <a:blip r:embed="rId1"/>
          <a:stretch>
            <a:fillRect/>
          </a:stretch>
        </p:blipFill>
        <p:spPr>
          <a:xfrm>
            <a:off x="10765231" y="332912"/>
            <a:ext cx="786384" cy="742353"/>
          </a:xfrm>
          <a:prstGeom prst="rect">
            <a:avLst/>
          </a:prstGeom>
        </p:spPr>
      </p:pic>
      <p:sp>
        <p:nvSpPr>
          <p:cNvPr id="4" name="Text 1"/>
          <p:cNvSpPr/>
          <p:nvPr/>
        </p:nvSpPr>
        <p:spPr>
          <a:xfrm>
            <a:off x="640080" y="658368"/>
            <a:ext cx="9692640" cy="1188720"/>
          </a:xfrm>
          <a:prstGeom prst="rect">
            <a:avLst/>
          </a:prstGeom>
          <a:noFill/>
          <a:ln/>
        </p:spPr>
        <p:txBody>
          <a:bodyPr wrap="square" lIns="0" tIns="0" rIns="0" bIns="0" rtlCol="0" anchor="t"/>
          <a:lstStyle/>
          <a:p>
            <a:pPr indent="0" marL="0">
              <a:lnSpc>
                <a:spcPct val="96000"/>
              </a:lnSpc>
              <a:buNone/>
            </a:pPr>
            <a:r>
              <a:rPr lang="en-US" sz="3000" b="1" dirty="0">
                <a:solidFill>
                  <a:srgbClr val="FFFFFF"/>
                </a:solidFill>
                <a:latin typeface="Yu Gothic" pitchFamily="34" charset="0"/>
                <a:ea typeface="Yu Gothic" pitchFamily="34" charset="-122"/>
                <a:cs typeface="Yu Gothic" pitchFamily="34" charset="-120"/>
              </a:rPr>
              <a:t>確認テストと修了</a:t>
            </a:r>
            <a:endParaRPr lang="en-US" sz="3000" dirty="0"/>
          </a:p>
          <a:p>
            <a:pPr indent="0" marL="0">
              <a:lnSpc>
                <a:spcPct val="96000"/>
              </a:lnSpc>
              <a:buNone/>
            </a:pPr>
            <a:r>
              <a:rPr lang="en-US" sz="1300" dirty="0">
                <a:solidFill>
                  <a:srgbClr val="9FD8CD"/>
                </a:solidFill>
                <a:latin typeface="Calibri" pitchFamily="34" charset="0"/>
                <a:ea typeface="Calibri" pitchFamily="34" charset="-122"/>
                <a:cs typeface="Calibri" pitchFamily="34" charset="-120"/>
              </a:rPr>
              <a:t>Assessment and Close</a:t>
            </a:r>
            <a:endParaRPr lang="en-US" sz="3000" dirty="0"/>
          </a:p>
        </p:txBody>
      </p:sp>
      <p:sp>
        <p:nvSpPr>
          <p:cNvPr id="5" name="Shape 2"/>
          <p:cNvSpPr/>
          <p:nvPr/>
        </p:nvSpPr>
        <p:spPr>
          <a:xfrm>
            <a:off x="640080" y="2084832"/>
            <a:ext cx="10911535" cy="676656"/>
          </a:xfrm>
          <a:prstGeom prst="roundRect">
            <a:avLst>
              <a:gd name="adj" fmla="val 6757"/>
            </a:avLst>
          </a:prstGeom>
          <a:solidFill>
            <a:srgbClr val="06223D"/>
          </a:solidFill>
          <a:ln/>
        </p:spPr>
      </p:sp>
      <p:sp>
        <p:nvSpPr>
          <p:cNvPr id="6" name="Shape 3"/>
          <p:cNvSpPr/>
          <p:nvPr/>
        </p:nvSpPr>
        <p:spPr>
          <a:xfrm>
            <a:off x="914400" y="2231136"/>
            <a:ext cx="384048" cy="384048"/>
          </a:xfrm>
          <a:prstGeom prst="ellipse">
            <a:avLst/>
          </a:prstGeom>
          <a:solidFill>
            <a:srgbClr val="12B198"/>
          </a:solidFill>
          <a:ln/>
        </p:spPr>
      </p:sp>
      <p:sp>
        <p:nvSpPr>
          <p:cNvPr id="7" name="Text 4"/>
          <p:cNvSpPr/>
          <p:nvPr/>
        </p:nvSpPr>
        <p:spPr>
          <a:xfrm>
            <a:off x="914400" y="22311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8" name="Text 5"/>
          <p:cNvSpPr/>
          <p:nvPr/>
        </p:nvSpPr>
        <p:spPr>
          <a:xfrm>
            <a:off x="1517904" y="2176272"/>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確認テスト10問（15分）。解答と解説はその場で行います。回答は日本語・英語どちらでも可。</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Ten questions, fifteen minutes. Answers follow immediately. Answer in Japanese or English.</a:t>
            </a:r>
            <a:endParaRPr lang="en-US" sz="1500" dirty="0"/>
          </a:p>
        </p:txBody>
      </p:sp>
      <p:sp>
        <p:nvSpPr>
          <p:cNvPr id="9" name="Shape 6"/>
          <p:cNvSpPr/>
          <p:nvPr/>
        </p:nvSpPr>
        <p:spPr>
          <a:xfrm>
            <a:off x="640080" y="2962656"/>
            <a:ext cx="10911535" cy="676656"/>
          </a:xfrm>
          <a:prstGeom prst="roundRect">
            <a:avLst>
              <a:gd name="adj" fmla="val 6757"/>
            </a:avLst>
          </a:prstGeom>
          <a:solidFill>
            <a:srgbClr val="06223D"/>
          </a:solidFill>
          <a:ln/>
        </p:spPr>
      </p:sp>
      <p:sp>
        <p:nvSpPr>
          <p:cNvPr id="10" name="Shape 7"/>
          <p:cNvSpPr/>
          <p:nvPr/>
        </p:nvSpPr>
        <p:spPr>
          <a:xfrm>
            <a:off x="914400" y="3108960"/>
            <a:ext cx="384048" cy="384048"/>
          </a:xfrm>
          <a:prstGeom prst="ellipse">
            <a:avLst/>
          </a:prstGeom>
          <a:solidFill>
            <a:srgbClr val="12B198"/>
          </a:solidFill>
          <a:ln/>
        </p:spPr>
      </p:sp>
      <p:sp>
        <p:nvSpPr>
          <p:cNvPr id="11" name="Text 8"/>
          <p:cNvSpPr/>
          <p:nvPr/>
        </p:nvSpPr>
        <p:spPr>
          <a:xfrm>
            <a:off x="914400" y="31089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9"/>
          <p:cNvSpPr/>
          <p:nvPr/>
        </p:nvSpPr>
        <p:spPr>
          <a:xfrm>
            <a:off x="1517904" y="3054096"/>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何を守っているのか ― People / Asset / Reputation。</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What am I protecting? People, Asset, or Reputation.</a:t>
            </a:r>
            <a:endParaRPr lang="en-US" sz="1500" dirty="0"/>
          </a:p>
        </p:txBody>
      </p:sp>
      <p:sp>
        <p:nvSpPr>
          <p:cNvPr id="13" name="Shape 10"/>
          <p:cNvSpPr/>
          <p:nvPr/>
        </p:nvSpPr>
        <p:spPr>
          <a:xfrm>
            <a:off x="640080" y="3840480"/>
            <a:ext cx="10911535" cy="676656"/>
          </a:xfrm>
          <a:prstGeom prst="roundRect">
            <a:avLst>
              <a:gd name="adj" fmla="val 6757"/>
            </a:avLst>
          </a:prstGeom>
          <a:solidFill>
            <a:srgbClr val="06223D"/>
          </a:solidFill>
          <a:ln/>
        </p:spPr>
      </p:sp>
      <p:sp>
        <p:nvSpPr>
          <p:cNvPr id="14" name="Shape 11"/>
          <p:cNvSpPr/>
          <p:nvPr/>
        </p:nvSpPr>
        <p:spPr>
          <a:xfrm>
            <a:off x="914400" y="3986784"/>
            <a:ext cx="384048" cy="384048"/>
          </a:xfrm>
          <a:prstGeom prst="ellipse">
            <a:avLst/>
          </a:prstGeom>
          <a:solidFill>
            <a:srgbClr val="12B198"/>
          </a:solidFill>
          <a:ln/>
        </p:spPr>
      </p:sp>
      <p:sp>
        <p:nvSpPr>
          <p:cNvPr id="15" name="Text 12"/>
          <p:cNvSpPr/>
          <p:nvPr/>
        </p:nvSpPr>
        <p:spPr>
          <a:xfrm>
            <a:off x="914400" y="398678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6" name="Text 13"/>
          <p:cNvSpPr/>
          <p:nvPr/>
        </p:nvSpPr>
        <p:spPr>
          <a:xfrm>
            <a:off x="1517904" y="3931920"/>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どの立場で動くのか ― 私人か、補助者か。</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In what capacity am I acting? Citizen, or delegated agent.</a:t>
            </a:r>
            <a:endParaRPr lang="en-US" sz="1500" dirty="0"/>
          </a:p>
        </p:txBody>
      </p:sp>
      <p:sp>
        <p:nvSpPr>
          <p:cNvPr id="17" name="Shape 14"/>
          <p:cNvSpPr/>
          <p:nvPr/>
        </p:nvSpPr>
        <p:spPr>
          <a:xfrm>
            <a:off x="640080" y="4718304"/>
            <a:ext cx="10911535" cy="676656"/>
          </a:xfrm>
          <a:prstGeom prst="roundRect">
            <a:avLst>
              <a:gd name="adj" fmla="val 6757"/>
            </a:avLst>
          </a:prstGeom>
          <a:solidFill>
            <a:srgbClr val="06223D"/>
          </a:solidFill>
          <a:ln/>
        </p:spPr>
      </p:sp>
      <p:sp>
        <p:nvSpPr>
          <p:cNvPr id="18" name="Shape 15"/>
          <p:cNvSpPr/>
          <p:nvPr/>
        </p:nvSpPr>
        <p:spPr>
          <a:xfrm>
            <a:off x="914400" y="4864608"/>
            <a:ext cx="384048" cy="384048"/>
          </a:xfrm>
          <a:prstGeom prst="ellipse">
            <a:avLst/>
          </a:prstGeom>
          <a:solidFill>
            <a:srgbClr val="12B198"/>
          </a:solidFill>
          <a:ln/>
        </p:spPr>
      </p:sp>
      <p:sp>
        <p:nvSpPr>
          <p:cNvPr id="19" name="Text 16"/>
          <p:cNvSpPr/>
          <p:nvPr/>
        </p:nvSpPr>
        <p:spPr>
          <a:xfrm>
            <a:off x="91440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517904" y="4809744"/>
            <a:ext cx="9722815" cy="493776"/>
          </a:xfrm>
          <a:prstGeom prst="rect">
            <a:avLst/>
          </a:prstGeom>
          <a:noFill/>
          <a:ln/>
        </p:spPr>
        <p:txBody>
          <a:bodyPr wrap="square" lIns="0" tIns="0" rIns="0" bIns="0" rtlCol="0" anchor="ctr"/>
          <a:lstStyle/>
          <a:p>
            <a:pPr indent="0" marL="0">
              <a:lnSpc>
                <a:spcPct val="92000"/>
              </a:lnSpc>
              <a:buNone/>
            </a:pPr>
            <a:r>
              <a:rPr lang="en-US" sz="1500" b="1" dirty="0">
                <a:solidFill>
                  <a:srgbClr val="FFFFFF"/>
                </a:solidFill>
                <a:latin typeface="Yu Gothic" pitchFamily="34" charset="0"/>
                <a:ea typeface="Yu Gothic" pitchFamily="34" charset="-122"/>
                <a:cs typeface="Yu Gothic" pitchFamily="34" charset="-120"/>
              </a:rPr>
              <a:t>その手段は最小限か ― 越えた場合、何の罪に当たるか。</a:t>
            </a:r>
            <a:endParaRPr lang="en-US" sz="1500" dirty="0"/>
          </a:p>
          <a:p>
            <a:pPr indent="0" marL="0">
              <a:lnSpc>
                <a:spcPct val="92000"/>
              </a:lnSpc>
              <a:buNone/>
            </a:pPr>
            <a:r>
              <a:rPr lang="en-US" sz="1050" dirty="0">
                <a:solidFill>
                  <a:srgbClr val="9FB6CB"/>
                </a:solidFill>
                <a:latin typeface="Calibri" pitchFamily="34" charset="0"/>
                <a:ea typeface="Calibri" pitchFamily="34" charset="-122"/>
                <a:cs typeface="Calibri" pitchFamily="34" charset="-120"/>
              </a:rPr>
              <a:t>Is this the minimum action? If I exceed it, what offence does it become?</a:t>
            </a:r>
            <a:endParaRPr lang="en-US" sz="1500" dirty="0"/>
          </a:p>
        </p:txBody>
      </p:sp>
      <p:sp>
        <p:nvSpPr>
          <p:cNvPr id="21" name="Text 18"/>
          <p:cNvSpPr/>
          <p:nvPr/>
        </p:nvSpPr>
        <p:spPr>
          <a:xfrm>
            <a:off x="640080" y="5596128"/>
            <a:ext cx="10911535" cy="603504"/>
          </a:xfrm>
          <a:prstGeom prst="rect">
            <a:avLst/>
          </a:prstGeom>
          <a:noFill/>
          <a:ln/>
        </p:spPr>
        <p:txBody>
          <a:bodyPr wrap="square" lIns="0" tIns="0" rIns="0" bIns="0" rtlCol="0" anchor="t"/>
          <a:lstStyle/>
          <a:p>
            <a:pPr indent="0" marL="0">
              <a:buNone/>
            </a:pPr>
            <a:r>
              <a:rPr lang="en-US" sz="1200" b="1" dirty="0">
                <a:solidFill>
                  <a:srgbClr val="12B198"/>
                </a:solidFill>
                <a:latin typeface="Yu Gothic" pitchFamily="34" charset="0"/>
                <a:ea typeface="Yu Gothic" pitchFamily="34" charset="-122"/>
                <a:cs typeface="Yu Gothic" pitchFamily="34" charset="-120"/>
              </a:rPr>
              <a:t>本日の教育記録は、警備員指導教育責任者が作成し、所定の期間保存します。</a:t>
            </a:r>
            <a:endParaRPr lang="en-US" sz="1200" dirty="0"/>
          </a:p>
          <a:p>
            <a:pPr indent="0" marL="0">
              <a:buNone/>
            </a:pPr>
            <a:r>
              <a:rPr lang="en-US" sz="950" dirty="0">
                <a:solidFill>
                  <a:srgbClr val="8EA3B7"/>
                </a:solidFill>
                <a:latin typeface="Calibri" pitchFamily="34" charset="0"/>
                <a:ea typeface="Calibri" pitchFamily="34" charset="-122"/>
                <a:cs typeface="Calibri" pitchFamily="34" charset="-120"/>
              </a:rPr>
              <a:t>Today's training record is prepared by the Instruction Supervisor and retained for the prescribed period.</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第10時限｜業務別教育6 警報装置その他当該警備業務を実施するために使用する機器の使用方法</dc:title>
  <dc:subject>PptxGenJS Presentation</dc:subject>
  <dc:creator>警備員指導教育責任者</dc:creator>
  <cp:lastModifiedBy>警備員指導教育責任者</cp:lastModifiedBy>
  <cp:revision>1</cp:revision>
  <dcterms:created xsi:type="dcterms:W3CDTF">2026-08-10T22:31:17Z</dcterms:created>
  <dcterms:modified xsi:type="dcterms:W3CDTF">2026-08-10T22:31:17Z</dcterms:modified>
</cp:coreProperties>
</file>