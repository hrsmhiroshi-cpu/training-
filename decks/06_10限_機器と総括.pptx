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警報装置の全体像</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Overview of Security Equipment</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機器は異常を知らせます。判断は人が行います。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Equipment reports a condition. People make the decision.</a:t>
            </a:r>
            <a:endParaRPr lang="en-US" sz="1300" dirty="0"/>
          </a:p>
        </p:txBody>
      </p:sp>
      <p:sp>
        <p:nvSpPr>
          <p:cNvPr id="5" name="Shape 2"/>
          <p:cNvSpPr/>
          <p:nvPr/>
        </p:nvSpPr>
        <p:spPr>
          <a:xfrm>
            <a:off x="640080" y="2670048"/>
            <a:ext cx="5318608" cy="932688"/>
          </a:xfrm>
          <a:prstGeom prst="roundRect">
            <a:avLst>
              <a:gd name="adj" fmla="val 3922"/>
            </a:avLst>
          </a:prstGeom>
          <a:solidFill>
            <a:srgbClr val="EFF4F8"/>
          </a:solidFill>
          <a:ln/>
        </p:spPr>
      </p:sp>
      <p:sp>
        <p:nvSpPr>
          <p:cNvPr id="6" name="Shape 3"/>
          <p:cNvSpPr/>
          <p:nvPr/>
        </p:nvSpPr>
        <p:spPr>
          <a:xfrm>
            <a:off x="822960" y="2971800"/>
            <a:ext cx="329184" cy="329184"/>
          </a:xfrm>
          <a:prstGeom prst="ellipse">
            <a:avLst/>
          </a:prstGeom>
          <a:solidFill>
            <a:srgbClr val="093259"/>
          </a:solidFill>
          <a:ln/>
        </p:spPr>
      </p:sp>
      <p:sp>
        <p:nvSpPr>
          <p:cNvPr id="7" name="Text 4"/>
          <p:cNvSpPr/>
          <p:nvPr/>
        </p:nvSpPr>
        <p:spPr>
          <a:xfrm>
            <a:off x="822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Fire alarm system: panel, detectors, call points</a:t>
            </a:r>
            <a:endParaRPr lang="en-US" sz="1150" dirty="0"/>
          </a:p>
        </p:txBody>
      </p:sp>
      <p:sp>
        <p:nvSpPr>
          <p:cNvPr id="9" name="Shape 6"/>
          <p:cNvSpPr/>
          <p:nvPr/>
        </p:nvSpPr>
        <p:spPr>
          <a:xfrm>
            <a:off x="6233008" y="2670048"/>
            <a:ext cx="5318608" cy="932688"/>
          </a:xfrm>
          <a:prstGeom prst="roundRect">
            <a:avLst>
              <a:gd name="adj" fmla="val 3922"/>
            </a:avLst>
          </a:prstGeom>
          <a:solidFill>
            <a:srgbClr val="EFF4F8"/>
          </a:solidFill>
          <a:ln/>
        </p:spPr>
      </p:sp>
      <p:sp>
        <p:nvSpPr>
          <p:cNvPr id="10" name="Shape 7"/>
          <p:cNvSpPr/>
          <p:nvPr/>
        </p:nvSpPr>
        <p:spPr>
          <a:xfrm>
            <a:off x="6415888" y="2971800"/>
            <a:ext cx="329184" cy="329184"/>
          </a:xfrm>
          <a:prstGeom prst="ellipse">
            <a:avLst/>
          </a:prstGeom>
          <a:solidFill>
            <a:srgbClr val="093259"/>
          </a:solidFill>
          <a:ln/>
        </p:spPr>
      </p:sp>
      <p:sp>
        <p:nvSpPr>
          <p:cNvPr id="11" name="Text 8"/>
          <p:cNvSpPr/>
          <p:nvPr/>
        </p:nvSpPr>
        <p:spPr>
          <a:xfrm>
            <a:off x="6415888"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侵入警報 ― 扉、窓、空間センサー</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Intrusion alarm: door, window and space sensors</a:t>
            </a:r>
            <a:endParaRPr lang="en-US" sz="1150" dirty="0"/>
          </a:p>
        </p:txBody>
      </p:sp>
      <p:sp>
        <p:nvSpPr>
          <p:cNvPr id="13" name="Shape 10"/>
          <p:cNvSpPr/>
          <p:nvPr/>
        </p:nvSpPr>
        <p:spPr>
          <a:xfrm>
            <a:off x="640080" y="3749040"/>
            <a:ext cx="5318608" cy="932688"/>
          </a:xfrm>
          <a:prstGeom prst="roundRect">
            <a:avLst>
              <a:gd name="adj" fmla="val 3922"/>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Access control: readers, electric locks, logs</a:t>
            </a:r>
            <a:endParaRPr lang="en-US" sz="1150" dirty="0"/>
          </a:p>
        </p:txBody>
      </p:sp>
      <p:sp>
        <p:nvSpPr>
          <p:cNvPr id="17" name="Shape 14"/>
          <p:cNvSpPr/>
          <p:nvPr/>
        </p:nvSpPr>
        <p:spPr>
          <a:xfrm>
            <a:off x="6233008" y="3749040"/>
            <a:ext cx="5318608" cy="932688"/>
          </a:xfrm>
          <a:prstGeom prst="roundRect">
            <a:avLst>
              <a:gd name="adj" fmla="val 3922"/>
            </a:avLst>
          </a:prstGeom>
          <a:solidFill>
            <a:srgbClr val="EFF4F8"/>
          </a:solidFill>
          <a:ln/>
        </p:spPr>
      </p:sp>
      <p:sp>
        <p:nvSpPr>
          <p:cNvPr id="18" name="Shape 15"/>
          <p:cNvSpPr/>
          <p:nvPr/>
        </p:nvSpPr>
        <p:spPr>
          <a:xfrm>
            <a:off x="6415888" y="4050792"/>
            <a:ext cx="329184" cy="329184"/>
          </a:xfrm>
          <a:prstGeom prst="ellipse">
            <a:avLst/>
          </a:prstGeom>
          <a:solidFill>
            <a:srgbClr val="093259"/>
          </a:solidFill>
          <a:ln/>
        </p:spPr>
      </p:sp>
      <p:sp>
        <p:nvSpPr>
          <p:cNvPr id="19" name="Text 16"/>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防犯カメラ ― 監視、録画、検索</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CCTV: monitoring, recording, retrieval</a:t>
            </a:r>
            <a:endParaRPr lang="en-US" sz="1150" dirty="0"/>
          </a:p>
        </p:txBody>
      </p:sp>
      <p:sp>
        <p:nvSpPr>
          <p:cNvPr id="21" name="Shape 18"/>
          <p:cNvSpPr/>
          <p:nvPr/>
        </p:nvSpPr>
        <p:spPr>
          <a:xfrm>
            <a:off x="640080" y="4828032"/>
            <a:ext cx="5318608" cy="932688"/>
          </a:xfrm>
          <a:prstGeom prst="roundRect">
            <a:avLst>
              <a:gd name="adj" fmla="val 3922"/>
            </a:avLst>
          </a:prstGeom>
          <a:solidFill>
            <a:srgbClr val="EFF4F8"/>
          </a:solidFill>
          <a:ln/>
        </p:spPr>
      </p:sp>
      <p:sp>
        <p:nvSpPr>
          <p:cNvPr id="22" name="Shape 19"/>
          <p:cNvSpPr/>
          <p:nvPr/>
        </p:nvSpPr>
        <p:spPr>
          <a:xfrm>
            <a:off x="822960" y="5129784"/>
            <a:ext cx="329184" cy="329184"/>
          </a:xfrm>
          <a:prstGeom prst="ellipse">
            <a:avLst/>
          </a:prstGeom>
          <a:solidFill>
            <a:srgbClr val="093259"/>
          </a:solidFill>
          <a:ln/>
        </p:spPr>
      </p:sp>
      <p:sp>
        <p:nvSpPr>
          <p:cNvPr id="23" name="Text 20"/>
          <p:cNvSpPr/>
          <p:nvPr/>
        </p:nvSpPr>
        <p:spPr>
          <a:xfrm>
            <a:off x="822960"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非常通報、無線 ― 非常電話、携帯無線機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Emergency call and radio: emergency phones, handheld radios</a:t>
            </a:r>
            <a:endParaRPr lang="en-US" sz="1150" dirty="0"/>
          </a:p>
        </p:txBody>
      </p:sp>
      <p:sp>
        <p:nvSpPr>
          <p:cNvPr id="25" name="Shape 22"/>
          <p:cNvSpPr/>
          <p:nvPr/>
        </p:nvSpPr>
        <p:spPr>
          <a:xfrm>
            <a:off x="6233008" y="4828032"/>
            <a:ext cx="5318608" cy="932688"/>
          </a:xfrm>
          <a:prstGeom prst="roundRect">
            <a:avLst>
              <a:gd name="adj" fmla="val 3922"/>
            </a:avLst>
          </a:prstGeom>
          <a:solidFill>
            <a:srgbClr val="EFF4F8"/>
          </a:solidFill>
          <a:ln/>
        </p:spPr>
      </p:sp>
      <p:sp>
        <p:nvSpPr>
          <p:cNvPr id="26" name="Shape 23"/>
          <p:cNvSpPr/>
          <p:nvPr/>
        </p:nvSpPr>
        <p:spPr>
          <a:xfrm>
            <a:off x="6415888" y="5129784"/>
            <a:ext cx="329184" cy="329184"/>
          </a:xfrm>
          <a:prstGeom prst="ellipse">
            <a:avLst/>
          </a:prstGeom>
          <a:solidFill>
            <a:srgbClr val="093259"/>
          </a:solidFill>
          <a:ln/>
        </p:spPr>
      </p:sp>
      <p:sp>
        <p:nvSpPr>
          <p:cNvPr id="27" name="Text 24"/>
          <p:cNvSpPr/>
          <p:nvPr/>
        </p:nvSpPr>
        <p:spPr>
          <a:xfrm>
            <a:off x="6415888"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消火、防排煙 ― 消火器、屋内消火栓、防火戸</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Fire response: extinguishers, hydrants, fire doors</a:t>
            </a:r>
            <a:endParaRPr lang="en-US" sz="11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受信機の確認手順</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Using the Fire Alarm Panel</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最初に確認するのは地区表示です。音を止めることは目的ではありません。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Check the zone display first. Silencing the panel is not the objective.</a:t>
            </a:r>
            <a:endParaRPr lang="en-US" sz="1300" dirty="0"/>
          </a:p>
        </p:txBody>
      </p:sp>
      <p:sp>
        <p:nvSpPr>
          <p:cNvPr id="5" name="Shape 2"/>
          <p:cNvSpPr/>
          <p:nvPr/>
        </p:nvSpPr>
        <p:spPr>
          <a:xfrm>
            <a:off x="640080" y="2286000"/>
            <a:ext cx="10911535" cy="850392"/>
          </a:xfrm>
          <a:prstGeom prst="roundRect">
            <a:avLst>
              <a:gd name="adj" fmla="val 5376"/>
            </a:avLst>
          </a:prstGeom>
          <a:solidFill>
            <a:srgbClr val="EFF4F8"/>
          </a:solidFill>
          <a:ln/>
        </p:spPr>
      </p:sp>
      <p:sp>
        <p:nvSpPr>
          <p:cNvPr id="6" name="Shape 3"/>
          <p:cNvSpPr/>
          <p:nvPr/>
        </p:nvSpPr>
        <p:spPr>
          <a:xfrm>
            <a:off x="896112" y="2519172"/>
            <a:ext cx="384048" cy="384048"/>
          </a:xfrm>
          <a:prstGeom prst="ellipse">
            <a:avLst/>
          </a:prstGeom>
          <a:solidFill>
            <a:srgbClr val="12B198"/>
          </a:solidFill>
          <a:ln/>
        </p:spPr>
      </p:sp>
      <p:sp>
        <p:nvSpPr>
          <p:cNvPr id="7" name="Text 4"/>
          <p:cNvSpPr/>
          <p:nvPr/>
        </p:nvSpPr>
        <p:spPr>
          <a:xfrm>
            <a:off x="896112" y="25191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地区表示を読みます。何階、どの区画か。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Read the zone display: which floor, which zone.</a:t>
            </a:r>
            <a:endParaRPr lang="en-US" sz="1450" dirty="0"/>
          </a:p>
        </p:txBody>
      </p:sp>
      <p:sp>
        <p:nvSpPr>
          <p:cNvPr id="9" name="Shape 6"/>
          <p:cNvSpPr/>
          <p:nvPr/>
        </p:nvSpPr>
        <p:spPr>
          <a:xfrm>
            <a:off x="640080" y="3319272"/>
            <a:ext cx="10911535" cy="850392"/>
          </a:xfrm>
          <a:prstGeom prst="roundRect">
            <a:avLst>
              <a:gd name="adj" fmla="val 5376"/>
            </a:avLst>
          </a:prstGeom>
          <a:solidFill>
            <a:srgbClr val="F7FAFC"/>
          </a:solidFill>
          <a:ln/>
        </p:spPr>
      </p:sp>
      <p:sp>
        <p:nvSpPr>
          <p:cNvPr id="10" name="Shape 7"/>
          <p:cNvSpPr/>
          <p:nvPr/>
        </p:nvSpPr>
        <p:spPr>
          <a:xfrm>
            <a:off x="896112" y="3552444"/>
            <a:ext cx="384048" cy="384048"/>
          </a:xfrm>
          <a:prstGeom prst="ellipse">
            <a:avLst/>
          </a:prstGeom>
          <a:solidFill>
            <a:srgbClr val="12B198"/>
          </a:solidFill>
          <a:ln/>
        </p:spPr>
      </p:sp>
      <p:sp>
        <p:nvSpPr>
          <p:cNvPr id="11" name="Text 8"/>
          <p:cNvSpPr/>
          <p:nvPr/>
        </p:nvSpPr>
        <p:spPr>
          <a:xfrm>
            <a:off x="896112" y="35524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429000"/>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現場を確認します。目視するまで断定しません。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Verify on site. Do not conclude before you have seen it.</a:t>
            </a:r>
            <a:endParaRPr lang="en-US" sz="1450" dirty="0"/>
          </a:p>
        </p:txBody>
      </p:sp>
      <p:sp>
        <p:nvSpPr>
          <p:cNvPr id="13" name="Shape 10"/>
          <p:cNvSpPr/>
          <p:nvPr/>
        </p:nvSpPr>
        <p:spPr>
          <a:xfrm>
            <a:off x="640080" y="4352544"/>
            <a:ext cx="10911535" cy="850392"/>
          </a:xfrm>
          <a:prstGeom prst="roundRect">
            <a:avLst>
              <a:gd name="adj" fmla="val 5376"/>
            </a:avLst>
          </a:prstGeom>
          <a:solidFill>
            <a:srgbClr val="EFF4F8"/>
          </a:solidFill>
          <a:ln/>
        </p:spPr>
      </p:sp>
      <p:sp>
        <p:nvSpPr>
          <p:cNvPr id="14" name="Shape 11"/>
          <p:cNvSpPr/>
          <p:nvPr/>
        </p:nvSpPr>
        <p:spPr>
          <a:xfrm>
            <a:off x="896112" y="4585716"/>
            <a:ext cx="384048" cy="384048"/>
          </a:xfrm>
          <a:prstGeom prst="ellipse">
            <a:avLst/>
          </a:prstGeom>
          <a:solidFill>
            <a:srgbClr val="12B198"/>
          </a:solidFill>
          <a:ln/>
        </p:spPr>
      </p:sp>
      <p:sp>
        <p:nvSpPr>
          <p:cNvPr id="15" name="Text 12"/>
          <p:cNvSpPr/>
          <p:nvPr/>
        </p:nvSpPr>
        <p:spPr>
          <a:xfrm>
            <a:off x="896112" y="45857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462272"/>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連動の状況を確認します。何が既に作動したか。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Check what has already actuated.</a:t>
            </a:r>
            <a:endParaRPr lang="en-US" sz="1450" dirty="0"/>
          </a:p>
        </p:txBody>
      </p:sp>
      <p:sp>
        <p:nvSpPr>
          <p:cNvPr id="17" name="Shape 14"/>
          <p:cNvSpPr/>
          <p:nvPr/>
        </p:nvSpPr>
        <p:spPr>
          <a:xfrm>
            <a:off x="640080" y="5385816"/>
            <a:ext cx="10911535" cy="850392"/>
          </a:xfrm>
          <a:prstGeom prst="roundRect">
            <a:avLst>
              <a:gd name="adj" fmla="val 5376"/>
            </a:avLst>
          </a:prstGeom>
          <a:solidFill>
            <a:srgbClr val="F7FAFC"/>
          </a:solidFill>
          <a:ln/>
        </p:spPr>
      </p:sp>
      <p:sp>
        <p:nvSpPr>
          <p:cNvPr id="18" name="Shape 15"/>
          <p:cNvSpPr/>
          <p:nvPr/>
        </p:nvSpPr>
        <p:spPr>
          <a:xfrm>
            <a:off x="896112" y="5618988"/>
            <a:ext cx="384048" cy="384048"/>
          </a:xfrm>
          <a:prstGeom prst="ellipse">
            <a:avLst/>
          </a:prstGeom>
          <a:solidFill>
            <a:srgbClr val="12B198"/>
          </a:solidFill>
          <a:ln/>
        </p:spPr>
      </p:sp>
      <p:sp>
        <p:nvSpPr>
          <p:cNvPr id="19" name="Text 16"/>
          <p:cNvSpPr/>
          <p:nvPr/>
        </p:nvSpPr>
        <p:spPr>
          <a:xfrm>
            <a:off x="896112" y="56189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5495544"/>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報告します。事実（地区表示）と評価（推測）を分けます。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Report, keeping the fact (the zone) separate from your assessment.</a:t>
            </a:r>
            <a:endParaRPr lang="en-US" sz="1450" dirty="0"/>
          </a:p>
        </p:txBody>
      </p:sp>
      <p:sp>
        <p:nvSpPr>
          <p:cNvPr id="21" name="Text 1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2" name="Text 1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発報は火災の確定ではありません</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An Activation Is Not a Confirmed Fire</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800" b="1" dirty="0">
                <a:solidFill>
                  <a:srgbClr val="FFFFFF"/>
                </a:solidFill>
                <a:latin typeface="Yu Gothic" pitchFamily="34" charset="0"/>
                <a:ea typeface="Yu Gothic" pitchFamily="34" charset="-122"/>
                <a:cs typeface="Yu Gothic" pitchFamily="34" charset="-120"/>
              </a:rPr>
              <a:t>発報は、感知器が作動したという事実です。</a:t>
            </a:r>
            <a:endParaRPr lang="en-US" sz="1800" dirty="0"/>
          </a:p>
          <a:p>
            <a:pPr indent="0" marL="0">
              <a:lnSpc>
                <a:spcPct val="102000"/>
              </a:lnSpc>
              <a:buNone/>
            </a:pPr>
            <a:r>
              <a:rPr lang="en-US" sz="1800" b="1" dirty="0">
                <a:solidFill>
                  <a:srgbClr val="FFFFFF"/>
                </a:solidFill>
                <a:latin typeface="Yu Gothic" pitchFamily="34" charset="0"/>
                <a:ea typeface="Yu Gothic" pitchFamily="34" charset="-122"/>
                <a:cs typeface="Yu Gothic" pitchFamily="34" charset="-120"/>
              </a:rPr>
              <a:t>現場を確認するまで、火災と断定しません。</a:t>
            </a:r>
            <a:endParaRPr lang="en-US" sz="18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200" i="1" dirty="0">
                <a:solidFill>
                  <a:srgbClr val="9FD8CD"/>
                </a:solidFill>
                <a:latin typeface="Calibri" pitchFamily="34" charset="0"/>
                <a:ea typeface="Calibri" pitchFamily="34" charset="-122"/>
                <a:cs typeface="Calibri" pitchFamily="34" charset="-120"/>
              </a:rPr>
              <a:t>An activation means a detector has operated.</a:t>
            </a:r>
            <a:endParaRPr lang="en-US" sz="1200" dirty="0"/>
          </a:p>
          <a:p>
            <a:pPr indent="0" marL="0">
              <a:lnSpc>
                <a:spcPct val="100000"/>
              </a:lnSpc>
              <a:buNone/>
            </a:pPr>
            <a:r>
              <a:rPr lang="en-US" sz="1200" i="1" dirty="0">
                <a:solidFill>
                  <a:srgbClr val="9FD8CD"/>
                </a:solidFill>
                <a:latin typeface="Calibri" pitchFamily="34" charset="0"/>
                <a:ea typeface="Calibri" pitchFamily="34" charset="-122"/>
                <a:cs typeface="Calibri" pitchFamily="34" charset="-120"/>
              </a:rPr>
              <a:t>Do not declare a fire until you have checked the site.</a:t>
            </a:r>
            <a:endParaRPr lang="en-US" sz="1200" dirty="0"/>
          </a:p>
        </p:txBody>
      </p:sp>
      <p:sp>
        <p:nvSpPr>
          <p:cNvPr id="7" name="Shape 4"/>
          <p:cNvSpPr/>
          <p:nvPr/>
        </p:nvSpPr>
        <p:spPr>
          <a:xfrm>
            <a:off x="640080" y="4937760"/>
            <a:ext cx="10911535" cy="1298448"/>
          </a:xfrm>
          <a:prstGeom prst="roundRect">
            <a:avLst>
              <a:gd name="adj" fmla="val 3521"/>
            </a:avLst>
          </a:prstGeom>
          <a:solidFill>
            <a:srgbClr val="E4F4F0"/>
          </a:solidFill>
          <a:ln/>
        </p:spPr>
      </p:sp>
      <p:sp>
        <p:nvSpPr>
          <p:cNvPr id="8" name="Shape 5"/>
          <p:cNvSpPr/>
          <p:nvPr/>
        </p:nvSpPr>
        <p:spPr>
          <a:xfrm>
            <a:off x="914400" y="5404104"/>
            <a:ext cx="365760" cy="365760"/>
          </a:xfrm>
          <a:prstGeom prst="ellipse">
            <a:avLst/>
          </a:prstGeom>
          <a:solidFill>
            <a:srgbClr val="12B198"/>
          </a:solidFill>
          <a:ln/>
        </p:spPr>
      </p:sp>
      <p:sp>
        <p:nvSpPr>
          <p:cNvPr id="9" name="Text 6"/>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7"/>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無線では「3階東区画、発報。現場確認に向かいます」と伝えます。蒸気、埃、調理、工事による非火災報が生じます。</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On the radio: "Third floor east zone, activation, going to verify." Steam, dust, cooking and construction cause non-fire activations.</a:t>
            </a:r>
            <a:endParaRPr lang="en-US" sz="145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連動 ― 通行経路が変わります</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Linked Systems Change the Available Routes</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連動が作動すると、通行できる経路が変わります。避難誘導はこれを前提に行います。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When linked systems operate, the usable routes change. Plan evacuation guidance on that basis.</a:t>
            </a:r>
            <a:endParaRPr lang="en-US" sz="1300" dirty="0"/>
          </a:p>
        </p:txBody>
      </p:sp>
      <p:sp>
        <p:nvSpPr>
          <p:cNvPr id="5" name="Shape 2"/>
          <p:cNvSpPr/>
          <p:nvPr/>
        </p:nvSpPr>
        <p:spPr>
          <a:xfrm>
            <a:off x="640080" y="2286000"/>
            <a:ext cx="10911535" cy="850392"/>
          </a:xfrm>
          <a:prstGeom prst="roundRect">
            <a:avLst>
              <a:gd name="adj" fmla="val 5376"/>
            </a:avLst>
          </a:prstGeom>
          <a:solidFill>
            <a:srgbClr val="EFF4F8"/>
          </a:solidFill>
          <a:ln/>
        </p:spPr>
      </p:sp>
      <p:sp>
        <p:nvSpPr>
          <p:cNvPr id="6" name="Shape 3"/>
          <p:cNvSpPr/>
          <p:nvPr/>
        </p:nvSpPr>
        <p:spPr>
          <a:xfrm>
            <a:off x="896112" y="2519172"/>
            <a:ext cx="384048" cy="384048"/>
          </a:xfrm>
          <a:prstGeom prst="ellipse">
            <a:avLst/>
          </a:prstGeom>
          <a:solidFill>
            <a:srgbClr val="12B198"/>
          </a:solidFill>
          <a:ln/>
        </p:spPr>
      </p:sp>
      <p:sp>
        <p:nvSpPr>
          <p:cNvPr id="7" name="Text 4"/>
          <p:cNvSpPr/>
          <p:nvPr/>
        </p:nvSpPr>
        <p:spPr>
          <a:xfrm>
            <a:off x="896112" y="25191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防火戸、防排煙 ― 閉鎖により経路が変わります。押して開くか確認します。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Fire doors and smoke control: closures change routes. Check which still open.</a:t>
            </a:r>
            <a:endParaRPr lang="en-US" sz="1450" dirty="0"/>
          </a:p>
        </p:txBody>
      </p:sp>
      <p:sp>
        <p:nvSpPr>
          <p:cNvPr id="9" name="Shape 6"/>
          <p:cNvSpPr/>
          <p:nvPr/>
        </p:nvSpPr>
        <p:spPr>
          <a:xfrm>
            <a:off x="640080" y="3319272"/>
            <a:ext cx="10911535" cy="850392"/>
          </a:xfrm>
          <a:prstGeom prst="roundRect">
            <a:avLst>
              <a:gd name="adj" fmla="val 5376"/>
            </a:avLst>
          </a:prstGeom>
          <a:solidFill>
            <a:srgbClr val="F7FAFC"/>
          </a:solidFill>
          <a:ln/>
        </p:spPr>
      </p:sp>
      <p:sp>
        <p:nvSpPr>
          <p:cNvPr id="10" name="Shape 7"/>
          <p:cNvSpPr/>
          <p:nvPr/>
        </p:nvSpPr>
        <p:spPr>
          <a:xfrm>
            <a:off x="896112" y="3552444"/>
            <a:ext cx="384048" cy="384048"/>
          </a:xfrm>
          <a:prstGeom prst="ellipse">
            <a:avLst/>
          </a:prstGeom>
          <a:solidFill>
            <a:srgbClr val="12B198"/>
          </a:solidFill>
          <a:ln/>
        </p:spPr>
      </p:sp>
      <p:sp>
        <p:nvSpPr>
          <p:cNvPr id="11" name="Text 8"/>
          <p:cNvSpPr/>
          <p:nvPr/>
        </p:nvSpPr>
        <p:spPr>
          <a:xfrm>
            <a:off x="896112" y="35524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429000"/>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非常放送 ― 放送が優先されます。放送中は無線が通りにくくなります。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Public address takes priority. Radio traffic is harder while it runs.</a:t>
            </a:r>
            <a:endParaRPr lang="en-US" sz="1450" dirty="0"/>
          </a:p>
        </p:txBody>
      </p:sp>
      <p:sp>
        <p:nvSpPr>
          <p:cNvPr id="13" name="Shape 10"/>
          <p:cNvSpPr/>
          <p:nvPr/>
        </p:nvSpPr>
        <p:spPr>
          <a:xfrm>
            <a:off x="640080" y="4352544"/>
            <a:ext cx="10911535" cy="850392"/>
          </a:xfrm>
          <a:prstGeom prst="roundRect">
            <a:avLst>
              <a:gd name="adj" fmla="val 5376"/>
            </a:avLst>
          </a:prstGeom>
          <a:solidFill>
            <a:srgbClr val="EFF4F8"/>
          </a:solidFill>
          <a:ln/>
        </p:spPr>
      </p:sp>
      <p:sp>
        <p:nvSpPr>
          <p:cNvPr id="14" name="Shape 11"/>
          <p:cNvSpPr/>
          <p:nvPr/>
        </p:nvSpPr>
        <p:spPr>
          <a:xfrm>
            <a:off x="896112" y="4585716"/>
            <a:ext cx="384048" cy="384048"/>
          </a:xfrm>
          <a:prstGeom prst="ellipse">
            <a:avLst/>
          </a:prstGeom>
          <a:solidFill>
            <a:srgbClr val="12B198"/>
          </a:solidFill>
          <a:ln/>
        </p:spPr>
      </p:sp>
      <p:sp>
        <p:nvSpPr>
          <p:cNvPr id="15" name="Text 12"/>
          <p:cNvSpPr/>
          <p:nvPr/>
        </p:nvSpPr>
        <p:spPr>
          <a:xfrm>
            <a:off x="896112" y="45857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462272"/>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エレベーター管制 ― 避難階へ降りて停止します。階段誘導が前提になります。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Lifts descend and stop. Guidance moves to the stairs.</a:t>
            </a:r>
            <a:endParaRPr lang="en-US" sz="1450" dirty="0"/>
          </a:p>
        </p:txBody>
      </p:sp>
      <p:sp>
        <p:nvSpPr>
          <p:cNvPr id="17" name="Shape 14"/>
          <p:cNvSpPr/>
          <p:nvPr/>
        </p:nvSpPr>
        <p:spPr>
          <a:xfrm>
            <a:off x="640080" y="5385816"/>
            <a:ext cx="10911535" cy="850392"/>
          </a:xfrm>
          <a:prstGeom prst="roundRect">
            <a:avLst>
              <a:gd name="adj" fmla="val 5376"/>
            </a:avLst>
          </a:prstGeom>
          <a:solidFill>
            <a:srgbClr val="F7FAFC"/>
          </a:solidFill>
          <a:ln/>
        </p:spPr>
      </p:sp>
      <p:sp>
        <p:nvSpPr>
          <p:cNvPr id="18" name="Shape 15"/>
          <p:cNvSpPr/>
          <p:nvPr/>
        </p:nvSpPr>
        <p:spPr>
          <a:xfrm>
            <a:off x="896112" y="5618988"/>
            <a:ext cx="384048" cy="384048"/>
          </a:xfrm>
          <a:prstGeom prst="ellipse">
            <a:avLst/>
          </a:prstGeom>
          <a:solidFill>
            <a:srgbClr val="12B198"/>
          </a:solidFill>
          <a:ln/>
        </p:spPr>
      </p:sp>
      <p:sp>
        <p:nvSpPr>
          <p:cNvPr id="19" name="Text 16"/>
          <p:cNvSpPr/>
          <p:nvPr/>
        </p:nvSpPr>
        <p:spPr>
          <a:xfrm>
            <a:off x="896112" y="56189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5495544"/>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シャッター ― 降下した先に人が残っていないか確認します。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Shutters: check nobody is left on the far side.</a:t>
            </a:r>
            <a:endParaRPr lang="en-US" sz="1450" dirty="0"/>
          </a:p>
        </p:txBody>
      </p:sp>
      <p:sp>
        <p:nvSpPr>
          <p:cNvPr id="21" name="Text 1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2" name="Text 1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無線交話要領</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Radio Procedure</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構成は共通です。呼出 → 応答 → 用件 → 復唱 → 終話</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structure in both languages: call, answer, message, read-back, close.</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英語（主）</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English — primary</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・"[相手], this is [自分]" → "Go ahead"</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Name them, then yourself, then hand over</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・Over ― 送信終わり、応答を求める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Over: I have finished, reply expected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・Out ― 交信終了（Over and out は使わない）</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Out: exchange complete. Do not say "over and out"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・Say again ― 再送を求める（Repeat は使わない）</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Say again. Do not say "repeat"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・Roger / Copy ― 受信了解　Stand by ― 待て</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Roger and Copy: received. Stand by: wait</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日本語（副）</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Japanese — secondary</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・「◯◯、こちら△△、どうぞ」</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Name them, name yourself, then hand over</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・「どうぞ」― 送信終わり</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Dōzo: over to you</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・「以上」― 交信終了</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Ijō: out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・「再送願います」「待て」「了解」</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Say again / stand by / roger</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・数字は一桁ずつ（7＝なな、0＝まる）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Read numbers one digit at a time</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平文で話します。符丁は使いません。個人名と個人情報は無線に乗せません。＜参考＞NATO：Alpha, Bravo, Charlie… ／ 和文通話表：朝日のア、いろはのイ…</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Use plain language. Do not use codes. Do not send personal data by radio. (Reference only: NATO and Japanese phonetic alphabets.)</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ログとカメラ画像は証拠になります</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Logs and Footage Become Evidence</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600" b="1" dirty="0">
                <a:solidFill>
                  <a:srgbClr val="FFFFFF"/>
                </a:solidFill>
                <a:latin typeface="Yu Gothic" pitchFamily="34" charset="0"/>
                <a:ea typeface="Yu Gothic" pitchFamily="34" charset="-122"/>
                <a:cs typeface="Yu Gothic" pitchFamily="34" charset="-120"/>
              </a:rPr>
              <a:t>入退室ログとカメラ画像は、後の調査、懲戒、訴訟で証拠になります。</a:t>
            </a:r>
            <a:endParaRPr lang="en-US" sz="1600" dirty="0"/>
          </a:p>
          <a:p>
            <a:pPr indent="0" marL="0">
              <a:lnSpc>
                <a:spcPct val="102000"/>
              </a:lnSpc>
              <a:buNone/>
            </a:pPr>
            <a:r>
              <a:rPr lang="en-US" sz="1600" b="1" dirty="0">
                <a:solidFill>
                  <a:srgbClr val="FFFFFF"/>
                </a:solidFill>
                <a:latin typeface="Yu Gothic" pitchFamily="34" charset="0"/>
                <a:ea typeface="Yu Gothic" pitchFamily="34" charset="-122"/>
                <a:cs typeface="Yu Gothic" pitchFamily="34" charset="-120"/>
              </a:rPr>
              <a:t>同時に、個人情報でもあります。</a:t>
            </a:r>
            <a:endParaRPr lang="en-US" sz="16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100" i="1" dirty="0">
                <a:solidFill>
                  <a:srgbClr val="9FD8CD"/>
                </a:solidFill>
                <a:latin typeface="Calibri" pitchFamily="34" charset="0"/>
                <a:ea typeface="Calibri" pitchFamily="34" charset="-122"/>
                <a:cs typeface="Calibri" pitchFamily="34" charset="-120"/>
              </a:rPr>
              <a:t>Access logs and camera footage become evidence in later investigations, disciplinary action and litigation.</a:t>
            </a:r>
            <a:endParaRPr lang="en-US" sz="1100" dirty="0"/>
          </a:p>
          <a:p>
            <a:pPr indent="0" marL="0">
              <a:lnSpc>
                <a:spcPct val="100000"/>
              </a:lnSpc>
              <a:buNone/>
            </a:pPr>
            <a:r>
              <a:rPr lang="en-US" sz="1100" i="1" dirty="0">
                <a:solidFill>
                  <a:srgbClr val="9FD8CD"/>
                </a:solidFill>
                <a:latin typeface="Calibri" pitchFamily="34" charset="0"/>
                <a:ea typeface="Calibri" pitchFamily="34" charset="-122"/>
                <a:cs typeface="Calibri" pitchFamily="34" charset="-120"/>
              </a:rPr>
              <a:t>They are also personal data.</a:t>
            </a:r>
            <a:endParaRPr lang="en-US" sz="1100" dirty="0"/>
          </a:p>
        </p:txBody>
      </p:sp>
      <p:sp>
        <p:nvSpPr>
          <p:cNvPr id="7" name="Shape 4"/>
          <p:cNvSpPr/>
          <p:nvPr/>
        </p:nvSpPr>
        <p:spPr>
          <a:xfrm>
            <a:off x="640080" y="4937760"/>
            <a:ext cx="10911535" cy="1298448"/>
          </a:xfrm>
          <a:prstGeom prst="roundRect">
            <a:avLst>
              <a:gd name="adj" fmla="val 3521"/>
            </a:avLst>
          </a:prstGeom>
          <a:solidFill>
            <a:srgbClr val="E4F4F0"/>
          </a:solidFill>
          <a:ln/>
        </p:spPr>
      </p:sp>
      <p:sp>
        <p:nvSpPr>
          <p:cNvPr id="8" name="Shape 5"/>
          <p:cNvSpPr/>
          <p:nvPr/>
        </p:nvSpPr>
        <p:spPr>
          <a:xfrm>
            <a:off x="914400" y="5404104"/>
            <a:ext cx="365760" cy="365760"/>
          </a:xfrm>
          <a:prstGeom prst="ellipse">
            <a:avLst/>
          </a:prstGeom>
          <a:solidFill>
            <a:srgbClr val="12B198"/>
          </a:solidFill>
          <a:ln/>
        </p:spPr>
      </p:sp>
      <p:sp>
        <p:nvSpPr>
          <p:cNvPr id="9" name="Text 6"/>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7"/>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目的外に見ません。持ち出しません。撮影しません。上書きされる前に保全を依頼します。</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Do not view them outside their purpose, remove them, or photograph them. Request preservation before they are overwritten.</a:t>
            </a:r>
            <a:endParaRPr lang="en-US" sz="145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TTX⑤ 総合演習</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TTX ⑤ — Integrated Exercise</a:t>
            </a:r>
            <a:endParaRPr lang="en-US" sz="2700" dirty="0"/>
          </a:p>
        </p:txBody>
      </p:sp>
      <p:sp>
        <p:nvSpPr>
          <p:cNvPr id="4" name="Shape 1"/>
          <p:cNvSpPr/>
          <p:nvPr/>
        </p:nvSpPr>
        <p:spPr>
          <a:xfrm>
            <a:off x="640080" y="1627632"/>
            <a:ext cx="10911535" cy="1810512"/>
          </a:xfrm>
          <a:prstGeom prst="roundRect">
            <a:avLst>
              <a:gd name="adj" fmla="val 2525"/>
            </a:avLst>
          </a:prstGeom>
          <a:solidFill>
            <a:srgbClr val="093259"/>
          </a:solidFill>
          <a:ln/>
        </p:spPr>
      </p:sp>
      <p:sp>
        <p:nvSpPr>
          <p:cNvPr id="5" name="Text 2"/>
          <p:cNvSpPr/>
          <p:nvPr/>
        </p:nvSpPr>
        <p:spPr>
          <a:xfrm>
            <a:off x="1024128" y="1810512"/>
            <a:ext cx="10143439" cy="1444752"/>
          </a:xfrm>
          <a:prstGeom prst="rect">
            <a:avLst/>
          </a:prstGeom>
          <a:noFill/>
          <a:ln/>
        </p:spPr>
        <p:txBody>
          <a:bodyPr wrap="square" lIns="0" tIns="0" rIns="0" bIns="0" rtlCol="0" anchor="t"/>
          <a:lstStyle/>
          <a:p>
            <a:pPr indent="0" marL="0">
              <a:lnSpc>
                <a:spcPct val="96000"/>
              </a:lnSpc>
              <a:buNone/>
            </a:pPr>
            <a:r>
              <a:rPr lang="en-US" sz="1050" b="1" dirty="0">
                <a:solidFill>
                  <a:srgbClr val="12B198"/>
                </a:solidFill>
                <a:latin typeface="Yu Gothic" pitchFamily="34" charset="0"/>
                <a:ea typeface="Yu Gothic" pitchFamily="34" charset="-122"/>
                <a:cs typeface="Yu Gothic" pitchFamily="34" charset="-120"/>
              </a:rPr>
              <a:t>状況付与  </a:t>
            </a:r>
            <a:pPr indent="0" marL="0">
              <a:lnSpc>
                <a:spcPct val="96000"/>
              </a:lnSpc>
              <a:buNone/>
            </a:pPr>
            <a:r>
              <a:rPr lang="en-US" sz="900" dirty="0">
                <a:solidFill>
                  <a:srgbClr val="12B198"/>
                </a:solidFill>
                <a:latin typeface="Calibri" pitchFamily="34" charset="0"/>
                <a:ea typeface="Calibri" pitchFamily="34" charset="-122"/>
                <a:cs typeface="Calibri" pitchFamily="34" charset="-120"/>
              </a:rPr>
              <a:t>SITUATION</a:t>
            </a:r>
            <a:endParaRPr lang="en-US" sz="1050" dirty="0"/>
          </a:p>
          <a:p>
            <a:pPr indent="0" marL="0">
              <a:lnSpc>
                <a:spcPct val="96000"/>
              </a:lnSpc>
              <a:buNone/>
            </a:pPr>
            <a:r>
              <a:rPr lang="en-US" sz="13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1050" dirty="0"/>
          </a:p>
          <a:p>
            <a:pPr indent="0" marL="0">
              <a:lnSpc>
                <a:spcPct val="96000"/>
              </a:lnSpc>
              <a:buNone/>
            </a:pPr>
            <a:r>
              <a:rPr lang="en-US" sz="950" i="1" dirty="0">
                <a:solidFill>
                  <a:srgbClr val="9FD8CD"/>
                </a:solidFill>
                <a:latin typeface="Calibri" pitchFamily="34" charset="0"/>
                <a:ea typeface="Calibri" pitchFamily="34" charset="-122"/>
                <a:cs typeface="Calibri" pitchFamily="34" charset="-120"/>
              </a:rPr>
              <a:t>18:40. The fire panel shows an activation in the third-floor east zone. At almost the same time, the access log records a third-floor unlock by a card that a leaver should have returned. Fire doors have closed. The site authority is away and not answering. Two guards are on duty, including you.</a:t>
            </a:r>
            <a:endParaRPr lang="en-US" sz="1050" dirty="0"/>
          </a:p>
        </p:txBody>
      </p:sp>
      <p:sp>
        <p:nvSpPr>
          <p:cNvPr id="6" name="Shape 3"/>
          <p:cNvSpPr/>
          <p:nvPr/>
        </p:nvSpPr>
        <p:spPr>
          <a:xfrm>
            <a:off x="640080" y="3675888"/>
            <a:ext cx="10911535" cy="347472"/>
          </a:xfrm>
          <a:prstGeom prst="roundRect">
            <a:avLst>
              <a:gd name="adj" fmla="val 10526"/>
            </a:avLst>
          </a:prstGeom>
          <a:solidFill>
            <a:srgbClr val="EFF4F8"/>
          </a:solidFill>
          <a:ln/>
        </p:spPr>
      </p:sp>
      <p:sp>
        <p:nvSpPr>
          <p:cNvPr id="7" name="Shape 4"/>
          <p:cNvSpPr/>
          <p:nvPr/>
        </p:nvSpPr>
        <p:spPr>
          <a:xfrm>
            <a:off x="859536" y="3685032"/>
            <a:ext cx="329184" cy="329184"/>
          </a:xfrm>
          <a:prstGeom prst="ellipse">
            <a:avLst/>
          </a:prstGeom>
          <a:solidFill>
            <a:srgbClr val="12B198"/>
          </a:solidFill>
          <a:ln/>
        </p:spPr>
      </p:sp>
      <p:sp>
        <p:nvSpPr>
          <p:cNvPr id="8" name="Text 5"/>
          <p:cNvSpPr/>
          <p:nvPr/>
        </p:nvSpPr>
        <p:spPr>
          <a:xfrm>
            <a:off x="859536" y="36850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335024" y="3730752"/>
            <a:ext cx="9960559" cy="237744"/>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What do you do in the first sixty seconds? How do you deploy two people?</a:t>
            </a:r>
            <a:endParaRPr lang="en-US" sz="1300" dirty="0"/>
          </a:p>
        </p:txBody>
      </p:sp>
      <p:sp>
        <p:nvSpPr>
          <p:cNvPr id="10" name="Shape 7"/>
          <p:cNvSpPr/>
          <p:nvPr/>
        </p:nvSpPr>
        <p:spPr>
          <a:xfrm>
            <a:off x="640080" y="4114800"/>
            <a:ext cx="10911535" cy="347472"/>
          </a:xfrm>
          <a:prstGeom prst="roundRect">
            <a:avLst>
              <a:gd name="adj" fmla="val 10526"/>
            </a:avLst>
          </a:prstGeom>
          <a:solidFill>
            <a:srgbClr val="EFF4F8"/>
          </a:solidFill>
          <a:ln/>
        </p:spPr>
      </p:sp>
      <p:sp>
        <p:nvSpPr>
          <p:cNvPr id="11" name="Shape 8"/>
          <p:cNvSpPr/>
          <p:nvPr/>
        </p:nvSpPr>
        <p:spPr>
          <a:xfrm>
            <a:off x="859536" y="4123944"/>
            <a:ext cx="329184" cy="329184"/>
          </a:xfrm>
          <a:prstGeom prst="ellipse">
            <a:avLst/>
          </a:prstGeom>
          <a:solidFill>
            <a:srgbClr val="12B198"/>
          </a:solidFill>
          <a:ln/>
        </p:spPr>
      </p:sp>
      <p:sp>
        <p:nvSpPr>
          <p:cNvPr id="12" name="Text 9"/>
          <p:cNvSpPr/>
          <p:nvPr/>
        </p:nvSpPr>
        <p:spPr>
          <a:xfrm>
            <a:off x="85953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335024" y="4169664"/>
            <a:ext cx="9960559" cy="237744"/>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通報するか。110番か119番か、両方か。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Do you call? Police, fire, or both?</a:t>
            </a:r>
            <a:endParaRPr lang="en-US" sz="1300" dirty="0"/>
          </a:p>
        </p:txBody>
      </p:sp>
      <p:sp>
        <p:nvSpPr>
          <p:cNvPr id="14" name="Shape 11"/>
          <p:cNvSpPr/>
          <p:nvPr/>
        </p:nvSpPr>
        <p:spPr>
          <a:xfrm>
            <a:off x="640080" y="4553712"/>
            <a:ext cx="10911535" cy="347472"/>
          </a:xfrm>
          <a:prstGeom prst="roundRect">
            <a:avLst>
              <a:gd name="adj" fmla="val 10526"/>
            </a:avLst>
          </a:prstGeom>
          <a:solidFill>
            <a:srgbClr val="EFF4F8"/>
          </a:solidFill>
          <a:ln/>
        </p:spPr>
      </p:sp>
      <p:sp>
        <p:nvSpPr>
          <p:cNvPr id="15" name="Shape 12"/>
          <p:cNvSpPr/>
          <p:nvPr/>
        </p:nvSpPr>
        <p:spPr>
          <a:xfrm>
            <a:off x="859536" y="4562856"/>
            <a:ext cx="329184" cy="329184"/>
          </a:xfrm>
          <a:prstGeom prst="ellipse">
            <a:avLst/>
          </a:prstGeom>
          <a:solidFill>
            <a:srgbClr val="12B198"/>
          </a:solidFill>
          <a:ln/>
        </p:spPr>
      </p:sp>
      <p:sp>
        <p:nvSpPr>
          <p:cNvPr id="16" name="Text 13"/>
          <p:cNvSpPr/>
          <p:nvPr/>
        </p:nvSpPr>
        <p:spPr>
          <a:xfrm>
            <a:off x="859536" y="45628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335024" y="4608576"/>
            <a:ext cx="9960559" cy="237744"/>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保全すべきログと画像は何か。管理権者が不在のとき、誰に依頼するか。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Which logs and footage must be preserved? With the authority away, who do you ask?</a:t>
            </a:r>
            <a:endParaRPr lang="en-US" sz="1300" dirty="0"/>
          </a:p>
        </p:txBody>
      </p:sp>
      <p:sp>
        <p:nvSpPr>
          <p:cNvPr id="18" name="Shape 15"/>
          <p:cNvSpPr/>
          <p:nvPr/>
        </p:nvSpPr>
        <p:spPr>
          <a:xfrm>
            <a:off x="640080" y="4992624"/>
            <a:ext cx="10911535" cy="347472"/>
          </a:xfrm>
          <a:prstGeom prst="roundRect">
            <a:avLst>
              <a:gd name="adj" fmla="val 10526"/>
            </a:avLst>
          </a:prstGeom>
          <a:solidFill>
            <a:srgbClr val="EFF4F8"/>
          </a:solidFill>
          <a:ln/>
        </p:spPr>
      </p:sp>
      <p:sp>
        <p:nvSpPr>
          <p:cNvPr id="19" name="Shape 16"/>
          <p:cNvSpPr/>
          <p:nvPr/>
        </p:nvSpPr>
        <p:spPr>
          <a:xfrm>
            <a:off x="859536" y="5001768"/>
            <a:ext cx="329184" cy="329184"/>
          </a:xfrm>
          <a:prstGeom prst="ellipse">
            <a:avLst/>
          </a:prstGeom>
          <a:solidFill>
            <a:srgbClr val="12B198"/>
          </a:solidFill>
          <a:ln/>
        </p:spPr>
      </p:sp>
      <p:sp>
        <p:nvSpPr>
          <p:cNvPr id="20" name="Text 17"/>
          <p:cNvSpPr/>
          <p:nvPr/>
        </p:nvSpPr>
        <p:spPr>
          <a:xfrm>
            <a:off x="859536" y="5001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335024" y="5047488"/>
            <a:ext cx="9960559" cy="237744"/>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What do you leave until later, and on what basis?</a:t>
            </a:r>
            <a:endParaRPr lang="en-US" sz="1300" dirty="0"/>
          </a:p>
        </p:txBody>
      </p:sp>
      <p:sp>
        <p:nvSpPr>
          <p:cNvPr id="22" name="Shape 19"/>
          <p:cNvSpPr/>
          <p:nvPr/>
        </p:nvSpPr>
        <p:spPr>
          <a:xfrm>
            <a:off x="640080" y="5486400"/>
            <a:ext cx="10911535" cy="749808"/>
          </a:xfrm>
          <a:prstGeom prst="roundRect">
            <a:avLst>
              <a:gd name="adj" fmla="val 4878"/>
            </a:avLst>
          </a:prstGeom>
          <a:solidFill>
            <a:srgbClr val="E4F4F0"/>
          </a:solidFill>
          <a:ln/>
        </p:spPr>
      </p:sp>
      <p:sp>
        <p:nvSpPr>
          <p:cNvPr id="23" name="Text 20"/>
          <p:cNvSpPr/>
          <p:nvPr/>
        </p:nvSpPr>
        <p:spPr>
          <a:xfrm>
            <a:off x="914400" y="5559552"/>
            <a:ext cx="10362895" cy="603504"/>
          </a:xfrm>
          <a:prstGeom prst="rect">
            <a:avLst/>
          </a:prstGeom>
          <a:noFill/>
          <a:ln/>
        </p:spPr>
        <p:txBody>
          <a:bodyPr wrap="square" lIns="0" tIns="0" rIns="0" bIns="0" rtlCol="0" anchor="ctr"/>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追加付与  </a:t>
            </a:r>
            <a:pPr indent="0" marL="0">
              <a:lnSpc>
                <a:spcPct val="90000"/>
              </a:lnSpc>
              <a:buNone/>
            </a:pPr>
            <a:r>
              <a:rPr lang="en-US" sz="850" dirty="0">
                <a:solidFill>
                  <a:srgbClr val="0D8A76"/>
                </a:solidFill>
                <a:latin typeface="Calibri" pitchFamily="34" charset="0"/>
                <a:ea typeface="Calibri" pitchFamily="34" charset="-122"/>
                <a:cs typeface="Calibri" pitchFamily="34" charset="-120"/>
              </a:rPr>
              <a:t>INJECT   </a:t>
            </a:r>
            <a:pPr indent="0" marL="0">
              <a:lnSpc>
                <a:spcPct val="90000"/>
              </a:lnSpc>
              <a:buNone/>
            </a:pPr>
            <a:r>
              <a:rPr lang="en-US" sz="1250" b="1" dirty="0">
                <a:solidFill>
                  <a:srgbClr val="1B2733"/>
                </a:solidFill>
                <a:latin typeface="Yu Gothic" pitchFamily="34" charset="0"/>
                <a:ea typeface="Yu Gothic" pitchFamily="34" charset="-122"/>
                <a:cs typeface="Yu Gothic" pitchFamily="34" charset="-120"/>
              </a:rPr>
              <a:t>3階の従業員から「煙は見えない」と無線が入った。判断を変えるか。</a:t>
            </a:r>
            <a:endParaRPr lang="en-US" sz="100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100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TTX⑤ 講評 ― 本日の内容との対応</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TTX ⑤ Debrief — Where Today's Content Applied</a:t>
            </a:r>
            <a:endParaRPr lang="en-US" sz="2700" dirty="0"/>
          </a:p>
        </p:txBody>
      </p:sp>
      <p:sp>
        <p:nvSpPr>
          <p:cNvPr id="4" name="Shape 1"/>
          <p:cNvSpPr/>
          <p:nvPr/>
        </p:nvSpPr>
        <p:spPr>
          <a:xfrm>
            <a:off x="640080" y="1627632"/>
            <a:ext cx="10911535" cy="833933"/>
          </a:xfrm>
          <a:prstGeom prst="roundRect">
            <a:avLst>
              <a:gd name="adj" fmla="val 5482"/>
            </a:avLst>
          </a:prstGeom>
          <a:solidFill>
            <a:srgbClr val="EFF4F8"/>
          </a:solidFill>
          <a:ln/>
        </p:spPr>
      </p:sp>
      <p:sp>
        <p:nvSpPr>
          <p:cNvPr id="5" name="Shape 2"/>
          <p:cNvSpPr/>
          <p:nvPr/>
        </p:nvSpPr>
        <p:spPr>
          <a:xfrm>
            <a:off x="896112" y="1852574"/>
            <a:ext cx="384048" cy="384048"/>
          </a:xfrm>
          <a:prstGeom prst="ellipse">
            <a:avLst/>
          </a:prstGeom>
          <a:solidFill>
            <a:srgbClr val="12B198"/>
          </a:solidFill>
          <a:ln/>
        </p:spPr>
      </p:sp>
      <p:sp>
        <p:nvSpPr>
          <p:cNvPr id="6" name="Text 3"/>
          <p:cNvSpPr/>
          <p:nvPr/>
        </p:nvSpPr>
        <p:spPr>
          <a:xfrm>
            <a:off x="896112" y="185257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499616" y="1737360"/>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第1限 ― People / Asset / Reputation のどれを優先したか。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Period 1: which of People, Asset or Reputation did you put first?</a:t>
            </a:r>
            <a:endParaRPr lang="en-US" sz="1450" dirty="0"/>
          </a:p>
        </p:txBody>
      </p:sp>
      <p:sp>
        <p:nvSpPr>
          <p:cNvPr id="8" name="Shape 5"/>
          <p:cNvSpPr/>
          <p:nvPr/>
        </p:nvSpPr>
        <p:spPr>
          <a:xfrm>
            <a:off x="640080" y="2571293"/>
            <a:ext cx="10911535" cy="833933"/>
          </a:xfrm>
          <a:prstGeom prst="roundRect">
            <a:avLst>
              <a:gd name="adj" fmla="val 5482"/>
            </a:avLst>
          </a:prstGeom>
          <a:solidFill>
            <a:srgbClr val="F7FAFC"/>
          </a:solidFill>
          <a:ln/>
        </p:spPr>
      </p:sp>
      <p:sp>
        <p:nvSpPr>
          <p:cNvPr id="9" name="Shape 6"/>
          <p:cNvSpPr/>
          <p:nvPr/>
        </p:nvSpPr>
        <p:spPr>
          <a:xfrm>
            <a:off x="896112" y="2796235"/>
            <a:ext cx="384048" cy="384048"/>
          </a:xfrm>
          <a:prstGeom prst="ellipse">
            <a:avLst/>
          </a:prstGeom>
          <a:solidFill>
            <a:srgbClr val="12B198"/>
          </a:solidFill>
          <a:ln/>
        </p:spPr>
      </p:sp>
      <p:sp>
        <p:nvSpPr>
          <p:cNvPr id="10" name="Text 7"/>
          <p:cNvSpPr/>
          <p:nvPr/>
        </p:nvSpPr>
        <p:spPr>
          <a:xfrm>
            <a:off x="896112" y="279623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499616" y="2681021"/>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第2限 ― カードの使用者を追う権限が、あなたにあったか。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Period 2: did you have the authority to pursue the cardholder?</a:t>
            </a:r>
            <a:endParaRPr lang="en-US" sz="1450" dirty="0"/>
          </a:p>
        </p:txBody>
      </p:sp>
      <p:sp>
        <p:nvSpPr>
          <p:cNvPr id="12" name="Shape 9"/>
          <p:cNvSpPr/>
          <p:nvPr/>
        </p:nvSpPr>
        <p:spPr>
          <a:xfrm>
            <a:off x="640080" y="3514954"/>
            <a:ext cx="10911535" cy="833933"/>
          </a:xfrm>
          <a:prstGeom prst="roundRect">
            <a:avLst>
              <a:gd name="adj" fmla="val 5482"/>
            </a:avLst>
          </a:prstGeom>
          <a:solidFill>
            <a:srgbClr val="EFF4F8"/>
          </a:solidFill>
          <a:ln/>
        </p:spPr>
      </p:sp>
      <p:sp>
        <p:nvSpPr>
          <p:cNvPr id="13" name="Shape 10"/>
          <p:cNvSpPr/>
          <p:nvPr/>
        </p:nvSpPr>
        <p:spPr>
          <a:xfrm>
            <a:off x="896112" y="3739896"/>
            <a:ext cx="384048" cy="384048"/>
          </a:xfrm>
          <a:prstGeom prst="ellipse">
            <a:avLst/>
          </a:prstGeom>
          <a:solidFill>
            <a:srgbClr val="12B198"/>
          </a:solidFill>
          <a:ln/>
        </p:spPr>
      </p:sp>
      <p:sp>
        <p:nvSpPr>
          <p:cNvPr id="14" name="Text 11"/>
          <p:cNvSpPr/>
          <p:nvPr/>
        </p:nvSpPr>
        <p:spPr>
          <a:xfrm>
            <a:off x="896112" y="3739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p:nvPr/>
        </p:nvSpPr>
        <p:spPr>
          <a:xfrm>
            <a:off x="1499616" y="3624682"/>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第4限 ― 3階のどこを、何のために確認しに行ったか。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Period 4: what did you go to check on the third floor, and why?</a:t>
            </a:r>
            <a:endParaRPr lang="en-US" sz="1450" dirty="0"/>
          </a:p>
        </p:txBody>
      </p:sp>
      <p:sp>
        <p:nvSpPr>
          <p:cNvPr id="16" name="Shape 13"/>
          <p:cNvSpPr/>
          <p:nvPr/>
        </p:nvSpPr>
        <p:spPr>
          <a:xfrm>
            <a:off x="640080" y="4458614"/>
            <a:ext cx="10911535" cy="833933"/>
          </a:xfrm>
          <a:prstGeom prst="roundRect">
            <a:avLst>
              <a:gd name="adj" fmla="val 5482"/>
            </a:avLst>
          </a:prstGeom>
          <a:solidFill>
            <a:srgbClr val="F7FAFC"/>
          </a:solidFill>
          <a:ln/>
        </p:spPr>
      </p:sp>
      <p:sp>
        <p:nvSpPr>
          <p:cNvPr id="17" name="Shape 14"/>
          <p:cNvSpPr/>
          <p:nvPr/>
        </p:nvSpPr>
        <p:spPr>
          <a:xfrm>
            <a:off x="896112" y="4683557"/>
            <a:ext cx="384048" cy="384048"/>
          </a:xfrm>
          <a:prstGeom prst="ellipse">
            <a:avLst/>
          </a:prstGeom>
          <a:solidFill>
            <a:srgbClr val="12B198"/>
          </a:solidFill>
          <a:ln/>
        </p:spPr>
      </p:sp>
      <p:sp>
        <p:nvSpPr>
          <p:cNvPr id="18" name="Text 15"/>
          <p:cNvSpPr/>
          <p:nvPr/>
        </p:nvSpPr>
        <p:spPr>
          <a:xfrm>
            <a:off x="896112" y="46835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6"/>
          <p:cNvSpPr/>
          <p:nvPr/>
        </p:nvSpPr>
        <p:spPr>
          <a:xfrm>
            <a:off x="1499616" y="4568342"/>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第5限 ― 現場で人に会ったとき、最初に何と言ったか。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Period 5: meeting a person there, what did you say first?</a:t>
            </a:r>
            <a:endParaRPr lang="en-US" sz="1450" dirty="0"/>
          </a:p>
        </p:txBody>
      </p:sp>
      <p:sp>
        <p:nvSpPr>
          <p:cNvPr id="20" name="Shape 17"/>
          <p:cNvSpPr/>
          <p:nvPr/>
        </p:nvSpPr>
        <p:spPr>
          <a:xfrm>
            <a:off x="640080" y="5402275"/>
            <a:ext cx="10911535" cy="833933"/>
          </a:xfrm>
          <a:prstGeom prst="roundRect">
            <a:avLst>
              <a:gd name="adj" fmla="val 5482"/>
            </a:avLst>
          </a:prstGeom>
          <a:solidFill>
            <a:srgbClr val="EFF4F8"/>
          </a:solidFill>
          <a:ln/>
        </p:spPr>
      </p:sp>
      <p:sp>
        <p:nvSpPr>
          <p:cNvPr id="21" name="Shape 18"/>
          <p:cNvSpPr/>
          <p:nvPr/>
        </p:nvSpPr>
        <p:spPr>
          <a:xfrm>
            <a:off x="896112" y="5627218"/>
            <a:ext cx="384048" cy="384048"/>
          </a:xfrm>
          <a:prstGeom prst="ellipse">
            <a:avLst/>
          </a:prstGeom>
          <a:solidFill>
            <a:srgbClr val="12B198"/>
          </a:solidFill>
          <a:ln/>
        </p:spPr>
      </p:sp>
      <p:sp>
        <p:nvSpPr>
          <p:cNvPr id="22" name="Text 19"/>
          <p:cNvSpPr/>
          <p:nvPr/>
        </p:nvSpPr>
        <p:spPr>
          <a:xfrm>
            <a:off x="896112" y="56272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499616" y="5512003"/>
            <a:ext cx="9777679" cy="651053"/>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第9限 ― 事実と評価を分けて報告したか。保全を依頼したか。</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Period 9: did you separate fact from assessment? Did you request preservation?</a:t>
            </a:r>
            <a:endParaRPr lang="en-US" sz="130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最後に、各自が明日から変える行動を1つ、声に出して述べます。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To close, each person states aloud one thing they will change from tomorrow.</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and explanation follow immediately.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Assets,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2026-08-10T13:22:24Z</dcterms:created>
  <dcterms:modified xsi:type="dcterms:W3CDTF">2026-08-10T13:22:24Z</dcterms:modified>
</cp:coreProperties>
</file>