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325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37215" y="219456"/>
            <a:ext cx="1042416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/>
        </p:spPr>
      </p:sp>
      <p:pic>
        <p:nvPicPr>
          <p:cNvPr id="3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141732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B1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　08:05 – 09:05　基本教育2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A9BC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— Basic Training 2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2212848"/>
            <a:ext cx="996696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警備業法その他警備業務の</a:t>
            </a:r>
            <a:endParaRPr lang="en-US" sz="3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適正な実施に必要な法令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640080" y="3803904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9FD8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Security Services Act and Other Applicable Law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640080" y="4828032"/>
            <a:ext cx="1371600" cy="32004"/>
          </a:xfrm>
          <a:prstGeom prst="rect">
            <a:avLst/>
          </a:prstGeom>
          <a:solidFill>
            <a:srgbClr val="12B19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5120640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E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2026年8月11日（火）　施設警備 現任教育　コーポレートセキュリティ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8EA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Aug 2026 — In-Service Training, Facility Security / Corporate Security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75488"/>
            <a:ext cx="98051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日本の法律用語（1/2）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35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Japanese Legal Terms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640080" y="149961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日本国内では日本の法律が適用されます。母国の制度と同じとは限りません。</a:t>
            </a:r>
            <a:endParaRPr lang="en-US" sz="13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Japanese law applies in Japan. It may differ from the system in your home country.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640080" y="3209544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6" name="Shape 3"/>
          <p:cNvSpPr/>
          <p:nvPr/>
        </p:nvSpPr>
        <p:spPr>
          <a:xfrm>
            <a:off x="822960" y="3511296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35112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243584" y="3282696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5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私人　shijin ― 警備員も法的には私人。</a:t>
            </a:r>
            <a:endParaRPr lang="en-US" sz="15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citizen. Your legal status, even in uniform.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233008" y="3209544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10" name="Shape 7"/>
          <p:cNvSpPr/>
          <p:nvPr/>
        </p:nvSpPr>
        <p:spPr>
          <a:xfrm>
            <a:off x="6415888" y="3511296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1" name="Text 8"/>
          <p:cNvSpPr/>
          <p:nvPr/>
        </p:nvSpPr>
        <p:spPr>
          <a:xfrm>
            <a:off x="6415888" y="35112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836512" y="3282696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5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管理権者　kanri-kensha ― 施設を管理する権限をもつ者。</a:t>
            </a:r>
            <a:endParaRPr lang="en-US" sz="15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site authority. Your powers come from them.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40080" y="4288536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14" name="Shape 11"/>
          <p:cNvSpPr/>
          <p:nvPr/>
        </p:nvSpPr>
        <p:spPr>
          <a:xfrm>
            <a:off x="822960" y="4590288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45902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1243584" y="4361688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5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現行犯逮捕　genkōhan-taiho ― 明白かつ直後であること。</a:t>
            </a:r>
            <a:endParaRPr lang="en-US" sz="15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Flagrant-offender arrest. Must be obvious and immediate.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6233008" y="4288536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18" name="Shape 15"/>
          <p:cNvSpPr/>
          <p:nvPr/>
        </p:nvSpPr>
        <p:spPr>
          <a:xfrm>
            <a:off x="6415888" y="4590288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9" name="Text 16"/>
          <p:cNvSpPr/>
          <p:nvPr/>
        </p:nvSpPr>
        <p:spPr>
          <a:xfrm>
            <a:off x="6415888" y="45902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836512" y="4361688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5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正当防衛　seitō-bōei ― 侵害が終われば終わる。</a:t>
            </a:r>
            <a:endParaRPr lang="en-US" sz="15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Self-defence. It ends when the attack ends.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640080" y="64922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0637215" y="6492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75488"/>
            <a:ext cx="98051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日本の法律用語（2/2）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35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Japanese Legal Terms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640080" y="2926080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5" name="Shape 2"/>
          <p:cNvSpPr/>
          <p:nvPr/>
        </p:nvSpPr>
        <p:spPr>
          <a:xfrm>
            <a:off x="822960" y="3227832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6" name="Text 3"/>
          <p:cNvSpPr/>
          <p:nvPr/>
        </p:nvSpPr>
        <p:spPr>
          <a:xfrm>
            <a:off x="822960" y="32278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1243584" y="2999232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5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緊急避難　kinkyū-hinan ― 害の釣り合いが必要。</a:t>
            </a:r>
            <a:endParaRPr lang="en-US" sz="15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Necessity. Harm caused must not exceed harm avoided.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233008" y="2926080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9" name="Shape 6"/>
          <p:cNvSpPr/>
          <p:nvPr/>
        </p:nvSpPr>
        <p:spPr>
          <a:xfrm>
            <a:off x="6415888" y="3227832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0" name="Text 7"/>
          <p:cNvSpPr/>
          <p:nvPr/>
        </p:nvSpPr>
        <p:spPr>
          <a:xfrm>
            <a:off x="6415888" y="32278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836512" y="2999232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5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自救行為　jikyū-kōi ― 日本では原則認められない。</a:t>
            </a:r>
            <a:endParaRPr lang="en-US" sz="15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Self-help. As a rule, not permitted in Japan.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40080" y="4005072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13" name="Shape 10"/>
          <p:cNvSpPr/>
          <p:nvPr/>
        </p:nvSpPr>
        <p:spPr>
          <a:xfrm>
            <a:off x="822960" y="4306824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3068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243584" y="4078224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5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有形力　yūkeiryoku ― 相手に触れた時点で有形力。</a:t>
            </a:r>
            <a:endParaRPr lang="en-US" sz="15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force. Touching the person is already force.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6233008" y="4005072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17" name="Shape 14"/>
          <p:cNvSpPr/>
          <p:nvPr/>
        </p:nvSpPr>
        <p:spPr>
          <a:xfrm>
            <a:off x="6415888" y="4306824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8" name="Text 15"/>
          <p:cNvSpPr/>
          <p:nvPr/>
        </p:nvSpPr>
        <p:spPr>
          <a:xfrm>
            <a:off x="6415888" y="43068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836512" y="4078224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5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不退去　futaikyo ― 退去要請は管理権者の意思による。</a:t>
            </a:r>
            <a:endParaRPr lang="en-US" sz="15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Refusing to leave. The request must come from the authority.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640080" y="64922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0637215" y="6492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65760"/>
            <a:ext cx="8982151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現行犯逮捕と、逮捕後の措置（1/2）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4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Citizen's Arrest, and What Follows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9686239" y="420624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20624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15568"/>
            <a:ext cx="10911535" cy="585216"/>
          </a:xfrm>
          <a:prstGeom prst="roundRect">
            <a:avLst>
              <a:gd name="adj" fmla="val 6250"/>
            </a:avLst>
          </a:prstGeom>
          <a:solidFill>
            <a:srgbClr val="E4F4F0"/>
          </a:solidFill>
          <a:ln/>
        </p:spPr>
      </p:sp>
      <p:sp>
        <p:nvSpPr>
          <p:cNvPr id="7" name="Text 4"/>
          <p:cNvSpPr/>
          <p:nvPr/>
        </p:nvSpPr>
        <p:spPr>
          <a:xfrm>
            <a:off x="877824" y="1161288"/>
            <a:ext cx="104360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身につくこと　</a:t>
            </a:r>
            <a:pPr indent="0" marL="0">
              <a:lnSpc>
                <a:spcPct val="90000"/>
              </a:lnSpc>
              <a:buNone/>
            </a:pPr>
            <a:r>
              <a:rPr lang="en-US" sz="1050" dirty="0">
                <a:solidFill>
                  <a:srgbClr val="0D8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Learn  </a:t>
            </a:r>
            <a:pPr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現行犯逮捕の要件を述べ、逮捕後にしてよいこととしてはいけないことを区別できる。</a:t>
            </a:r>
            <a:endParaRPr lang="en-US" sz="11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state the tests for a citizen's arrest, and separate what you may and may not do afterwards.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40080" y="1773936"/>
            <a:ext cx="5327752" cy="4133088"/>
          </a:xfrm>
          <a:prstGeom prst="roundRect">
            <a:avLst>
              <a:gd name="adj" fmla="val 885"/>
            </a:avLst>
          </a:prstGeom>
          <a:solidFill>
            <a:srgbClr val="EFF4F8"/>
          </a:solidFill>
          <a:ln/>
        </p:spPr>
      </p:sp>
      <p:sp>
        <p:nvSpPr>
          <p:cNvPr id="9" name="Shape 6"/>
          <p:cNvSpPr/>
          <p:nvPr/>
        </p:nvSpPr>
        <p:spPr>
          <a:xfrm>
            <a:off x="822960" y="1938528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207008" y="1901952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現行犯逮捕の要件</a:t>
            </a:r>
            <a:endParaRPr lang="en-US" sz="17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5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Tests for a Citizen's Arrest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859536" y="2450592"/>
            <a:ext cx="4888840" cy="331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・刑訴法213条。現行犯人は、何人でも逮捕状なしに逮捕できる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CCP Art. 213. Any person may arrest a flagrant offender without a warrant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・犯罪が明白であること。「疑い」では足りない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offence must be obvious. Suspicion is not enough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・犯人が明白であること。人違いのリスクは自分が負う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offender must be obvious. You carry the risk of misidentification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・時間的に接着していること。時間が空くと成立しない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must be immediate. Once time has passed it no longer applies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223864" y="1773936"/>
            <a:ext cx="5327752" cy="4133088"/>
          </a:xfrm>
          <a:prstGeom prst="roundRect">
            <a:avLst>
              <a:gd name="adj" fmla="val 885"/>
            </a:avLst>
          </a:prstGeom>
          <a:solidFill>
            <a:srgbClr val="F7FAFC"/>
          </a:solidFill>
          <a:ln/>
        </p:spPr>
      </p:sp>
      <p:sp>
        <p:nvSpPr>
          <p:cNvPr id="14" name="Shape 11"/>
          <p:cNvSpPr/>
          <p:nvPr/>
        </p:nvSpPr>
        <p:spPr>
          <a:xfrm>
            <a:off x="6406744" y="1938528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5" name="Text 12"/>
          <p:cNvSpPr/>
          <p:nvPr/>
        </p:nvSpPr>
        <p:spPr>
          <a:xfrm>
            <a:off x="6406744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790792" y="1901952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準現行犯</a:t>
            </a:r>
            <a:endParaRPr lang="en-US" sz="17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5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Quasi-Flagrant Offenders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6443320" y="2450592"/>
            <a:ext cx="4888840" cy="331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・刑訴法212条2項。犯行直後と明らかに認められる者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CCP Art. 212(2). A person clearly recognised as being just after the act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・贓物や凶器の所持、身体・衣服への犯罪の痕跡などが要件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include possession of stolen goods or a weapon, or traces on body or clothing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・「さっき出て行った人」を後から追うことには当たらない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Chasing "the person who left earlier" does not qualify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・判断に迷う場合は逮捕しない。追跡もしない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are unsure, do not arrest. Do not pursue either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40080" y="596188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0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10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逮捕に至った場合の社内連絡順序と、クライアントへの報告方法は現場ごとに異なる。Site SOPに従う。</a:t>
            </a:r>
            <a:endParaRPr lang="en-US" sz="10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notification order and client reporting after an arrest differ by site. Follow the Site SOP.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40080" y="6272784"/>
            <a:ext cx="9905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警備業法、刑法、刑事訴訟法、警察官職務執行法</a:t>
            </a:r>
            <a:endParaRPr lang="en-US" sz="750" dirty="0"/>
          </a:p>
        </p:txBody>
      </p:sp>
      <p:sp>
        <p:nvSpPr>
          <p:cNvPr id="20" name="Text 17"/>
          <p:cNvSpPr/>
          <p:nvPr/>
        </p:nvSpPr>
        <p:spPr>
          <a:xfrm>
            <a:off x="640080" y="64922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0637215" y="6492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65760"/>
            <a:ext cx="8982151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現行犯逮捕と、逮捕後の措置（2/2）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4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Citizen's Arrest, and What Follows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9686239" y="420624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20624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15568"/>
            <a:ext cx="5327752" cy="4791456"/>
          </a:xfrm>
          <a:prstGeom prst="roundRect">
            <a:avLst>
              <a:gd name="adj" fmla="val 763"/>
            </a:avLst>
          </a:prstGeom>
          <a:solidFill>
            <a:srgbClr val="EFF4F8"/>
          </a:solidFill>
          <a:ln/>
        </p:spPr>
      </p:sp>
      <p:sp>
        <p:nvSpPr>
          <p:cNvPr id="7" name="Shape 4"/>
          <p:cNvSpPr/>
          <p:nvPr/>
        </p:nvSpPr>
        <p:spPr>
          <a:xfrm>
            <a:off x="822960" y="1280160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280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207008" y="1243584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逮捕後にすること</a:t>
            </a:r>
            <a:endParaRPr lang="en-US" sz="17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5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Must Do After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59536" y="1792224"/>
            <a:ext cx="4888840" cy="3968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・刑訴法214条。直ちに検察官または司法警察職員に引き渡す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CCP Art. 214. Hand the person to a prosecutor or judicial police official without delay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・相手と自分の安全を確保する。第三者を近づけない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the safety of both parties. Keep third parties away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・経過を記録する。時刻、場所、行為、発言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the sequence: time, place, actions, and what was said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・上長へ即時報告する。判断が固まる前でよい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to your supervisor immediately. You do not need a conclusion first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223864" y="1115568"/>
            <a:ext cx="5327752" cy="4791456"/>
          </a:xfrm>
          <a:prstGeom prst="roundRect">
            <a:avLst>
              <a:gd name="adj" fmla="val 763"/>
            </a:avLst>
          </a:prstGeom>
          <a:solidFill>
            <a:srgbClr val="F7FAFC"/>
          </a:solidFill>
          <a:ln/>
        </p:spPr>
      </p:sp>
      <p:sp>
        <p:nvSpPr>
          <p:cNvPr id="12" name="Shape 9"/>
          <p:cNvSpPr/>
          <p:nvPr/>
        </p:nvSpPr>
        <p:spPr>
          <a:xfrm>
            <a:off x="6406744" y="1280160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3" name="Text 10"/>
          <p:cNvSpPr/>
          <p:nvPr/>
        </p:nvSpPr>
        <p:spPr>
          <a:xfrm>
            <a:off x="6406744" y="1280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790792" y="1243584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逮捕後にしてはいけないこと</a:t>
            </a:r>
            <a:endParaRPr lang="en-US" sz="17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5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Must Not Do After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6443320" y="1792224"/>
            <a:ext cx="4888840" cy="3968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・事務所に留め置いて事情を聞く。取り調べる権限はない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Holding the person to question them. You have no power to interrogate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・書面へのサインを求める。強要に当たりうる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Asking them to sign a statement. This can amount to coercion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・同意なく私物を確認する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Examining their belongings without consent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・写真を撮る、SNSに上げる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Photographing them, or posting anything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40080" y="596188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0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10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逮捕に至った場合の社内連絡順序と、クライアントへの報告方法は現場ごとに異なる。Site SOPに従う。</a:t>
            </a:r>
            <a:endParaRPr lang="en-US" sz="10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notification order and client reporting after an arrest differ by site. Follow the Site SOP.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40080" y="6272784"/>
            <a:ext cx="9905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警備業法、刑法、刑事訴訟法、警察官職務執行法</a:t>
            </a:r>
            <a:endParaRPr lang="en-US" sz="750" dirty="0"/>
          </a:p>
        </p:txBody>
      </p:sp>
      <p:sp>
        <p:nvSpPr>
          <p:cNvPr id="18" name="Text 15"/>
          <p:cNvSpPr/>
          <p:nvPr/>
        </p:nvSpPr>
        <p:spPr>
          <a:xfrm>
            <a:off x="640080" y="64922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0637215" y="6492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65760"/>
            <a:ext cx="8982151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正当防衛・緊急避難・自救行為・有形力（1/2）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4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Self-Defence, Necessity, Self-Help, and Force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9686239" y="420624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20624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15568"/>
            <a:ext cx="10911535" cy="585216"/>
          </a:xfrm>
          <a:prstGeom prst="roundRect">
            <a:avLst>
              <a:gd name="adj" fmla="val 6250"/>
            </a:avLst>
          </a:prstGeom>
          <a:solidFill>
            <a:srgbClr val="E4F4F0"/>
          </a:solidFill>
          <a:ln/>
        </p:spPr>
      </p:sp>
      <p:sp>
        <p:nvSpPr>
          <p:cNvPr id="7" name="Text 4"/>
          <p:cNvSpPr/>
          <p:nvPr/>
        </p:nvSpPr>
        <p:spPr>
          <a:xfrm>
            <a:off x="877824" y="1161288"/>
            <a:ext cx="104360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身につくこと　</a:t>
            </a:r>
            <a:pPr indent="0" marL="0">
              <a:lnSpc>
                <a:spcPct val="90000"/>
              </a:lnSpc>
              <a:buNone/>
            </a:pPr>
            <a:r>
              <a:rPr lang="en-US" sz="1050" dirty="0">
                <a:solidFill>
                  <a:srgbClr val="0D8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Learn  </a:t>
            </a:r>
            <a:pPr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自分の行為がどこまで許され、どこから罪になるかの境界を説明できる。</a:t>
            </a:r>
            <a:endParaRPr lang="en-US" sz="11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explain how far your action is permitted, and where it becomes an offence.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40080" y="1773936"/>
            <a:ext cx="5327752" cy="4133088"/>
          </a:xfrm>
          <a:prstGeom prst="roundRect">
            <a:avLst>
              <a:gd name="adj" fmla="val 885"/>
            </a:avLst>
          </a:prstGeom>
          <a:solidFill>
            <a:srgbClr val="EFF4F8"/>
          </a:solidFill>
          <a:ln/>
        </p:spPr>
      </p:sp>
      <p:sp>
        <p:nvSpPr>
          <p:cNvPr id="9" name="Shape 6"/>
          <p:cNvSpPr/>
          <p:nvPr/>
        </p:nvSpPr>
        <p:spPr>
          <a:xfrm>
            <a:off x="822960" y="1938528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207008" y="1901952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正当防衛（刑法36条）</a:t>
            </a:r>
            <a:endParaRPr lang="en-US" sz="17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5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Self-Defence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859536" y="2450592"/>
            <a:ext cx="4888840" cy="331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・急迫不正の侵害に対し、やむを得ずした行為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unavoidable act against an imminent and unlawful attack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・侵害が終われば権利も終わる。倒れた相手を押さえ続けない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right ends with the attack. Do not keep holding someone already down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・逃げられる場合に逃げることは、弱さではなく正しい選択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Withdrawing when you can is the correct choice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・越えた場合は過剰防衛（36条2項）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that it is excessive defence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223864" y="1773936"/>
            <a:ext cx="5327752" cy="4133088"/>
          </a:xfrm>
          <a:prstGeom prst="roundRect">
            <a:avLst>
              <a:gd name="adj" fmla="val 885"/>
            </a:avLst>
          </a:prstGeom>
          <a:solidFill>
            <a:srgbClr val="F7FAFC"/>
          </a:solidFill>
          <a:ln/>
        </p:spPr>
      </p:sp>
      <p:sp>
        <p:nvSpPr>
          <p:cNvPr id="14" name="Shape 11"/>
          <p:cNvSpPr/>
          <p:nvPr/>
        </p:nvSpPr>
        <p:spPr>
          <a:xfrm>
            <a:off x="6406744" y="1938528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5" name="Text 12"/>
          <p:cNvSpPr/>
          <p:nvPr/>
        </p:nvSpPr>
        <p:spPr>
          <a:xfrm>
            <a:off x="6406744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790792" y="1901952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緊急避難（刑法37条）</a:t>
            </a:r>
            <a:endParaRPr lang="en-US" sz="17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5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Necessity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6443320" y="2450592"/>
            <a:ext cx="4888840" cy="331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・現在の危難を避けるため、やむを得ずした行為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unavoidable act to escape a present danger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・生じた害が、避けようとした害を超えないこと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harm caused must not exceed the harm avoided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・避難のために他人の物を壊す場合は、釣り合いを検討する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break property to escape, weigh the balance first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・越えた場合は過剰避難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that it is excessive necessity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40080" y="596188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0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10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護身用具の有無と使用基準は現場ごとに異なる。配備がない現場では使用を前提としない。</a:t>
            </a:r>
            <a:endParaRPr lang="en-US" sz="10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protective equipment is issued, and the rules for it, differ by site.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40080" y="6272784"/>
            <a:ext cx="9905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警備業法、刑法、刑事訴訟法、警察官職務執行法</a:t>
            </a:r>
            <a:endParaRPr lang="en-US" sz="750" dirty="0"/>
          </a:p>
        </p:txBody>
      </p:sp>
      <p:sp>
        <p:nvSpPr>
          <p:cNvPr id="20" name="Text 17"/>
          <p:cNvSpPr/>
          <p:nvPr/>
        </p:nvSpPr>
        <p:spPr>
          <a:xfrm>
            <a:off x="640080" y="64922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0637215" y="6492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65760"/>
            <a:ext cx="8982151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正当防衛・緊急避難・自救行為・有形力（2/2）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4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Self-Defence, Necessity, Self-Help, and Force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9686239" y="420624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20624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15568"/>
            <a:ext cx="5327752" cy="4791456"/>
          </a:xfrm>
          <a:prstGeom prst="roundRect">
            <a:avLst>
              <a:gd name="adj" fmla="val 763"/>
            </a:avLst>
          </a:prstGeom>
          <a:solidFill>
            <a:srgbClr val="EFF4F8"/>
          </a:solidFill>
          <a:ln/>
        </p:spPr>
      </p:sp>
      <p:sp>
        <p:nvSpPr>
          <p:cNvPr id="7" name="Shape 4"/>
          <p:cNvSpPr/>
          <p:nvPr/>
        </p:nvSpPr>
        <p:spPr>
          <a:xfrm>
            <a:off x="822960" y="1280160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280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207008" y="1243584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自救行為</a:t>
            </a:r>
            <a:endParaRPr lang="en-US" sz="17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5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Self-Help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59536" y="1792224"/>
            <a:ext cx="4888840" cy="3968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・明文の規定がなく、原則として認められない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statutory basis, and it is not permitted as a rule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・盗まれた物を実力で取り返さない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recover stolen property by force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・相手の持ち物を取り上げて確認しない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take someone's possessions to inspect them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・取り返すのではなく、記録して警察に渡す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recover it. Record it and hand the matter to the police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223864" y="1115568"/>
            <a:ext cx="5327752" cy="4791456"/>
          </a:xfrm>
          <a:prstGeom prst="roundRect">
            <a:avLst>
              <a:gd name="adj" fmla="val 763"/>
            </a:avLst>
          </a:prstGeom>
          <a:solidFill>
            <a:srgbClr val="F7FAFC"/>
          </a:solidFill>
          <a:ln/>
        </p:spPr>
      </p:sp>
      <p:sp>
        <p:nvSpPr>
          <p:cNvPr id="12" name="Shape 9"/>
          <p:cNvSpPr/>
          <p:nvPr/>
        </p:nvSpPr>
        <p:spPr>
          <a:xfrm>
            <a:off x="6406744" y="1280160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3" name="Text 10"/>
          <p:cNvSpPr/>
          <p:nvPr/>
        </p:nvSpPr>
        <p:spPr>
          <a:xfrm>
            <a:off x="6406744" y="1280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790792" y="1243584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有形力の段階</a:t>
            </a:r>
            <a:endParaRPr lang="en-US" sz="17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5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Steps of Physical Force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6443320" y="1792224"/>
            <a:ext cx="4888840" cy="3968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・声をかける。有形力ではない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Speaking to someone. Not force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・立ち位置で示す。まだ有形力ではない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Positioning yourself. Still not force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・進路に立ちふさがる。ここが境界。目的と必要性を説明できるか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 the path. This is the boundary. Can you justify it?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・触れる、つかむ。正当防衛か現行犯逮捕に伴う場合に限る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Touching or seizing. Only incidental to self-defence or a lawful arrest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40080" y="596188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0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10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護身用具の有無と使用基準は現場ごとに異なる。配備がない現場では使用を前提としない。</a:t>
            </a:r>
            <a:endParaRPr lang="en-US" sz="10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protective equipment is issued, and the rules for it, differ by site.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40080" y="6272784"/>
            <a:ext cx="9905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警備業法、刑法、刑事訴訟法、警察官職務執行法</a:t>
            </a:r>
            <a:endParaRPr lang="en-US" sz="750" dirty="0"/>
          </a:p>
        </p:txBody>
      </p:sp>
      <p:sp>
        <p:nvSpPr>
          <p:cNvPr id="18" name="Text 15"/>
          <p:cNvSpPr/>
          <p:nvPr/>
        </p:nvSpPr>
        <p:spPr>
          <a:xfrm>
            <a:off x="640080" y="64922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0637215" y="6492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65760"/>
            <a:ext cx="8982151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企業法務リスク（1/2）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4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Legal Risk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9686239" y="420624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20624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15568"/>
            <a:ext cx="10911535" cy="585216"/>
          </a:xfrm>
          <a:prstGeom prst="roundRect">
            <a:avLst>
              <a:gd name="adj" fmla="val 6250"/>
            </a:avLst>
          </a:prstGeom>
          <a:solidFill>
            <a:srgbClr val="E4F4F0"/>
          </a:solidFill>
          <a:ln/>
        </p:spPr>
      </p:sp>
      <p:sp>
        <p:nvSpPr>
          <p:cNvPr id="7" name="Text 4"/>
          <p:cNvSpPr/>
          <p:nvPr/>
        </p:nvSpPr>
        <p:spPr>
          <a:xfrm>
            <a:off x="877824" y="1161288"/>
            <a:ext cx="104360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身につくこと　</a:t>
            </a:r>
            <a:pPr indent="0" marL="0">
              <a:lnSpc>
                <a:spcPct val="90000"/>
              </a:lnSpc>
              <a:buNone/>
            </a:pPr>
            <a:r>
              <a:rPr lang="en-US" sz="1050" dirty="0">
                <a:solidFill>
                  <a:srgbClr val="0D8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Learn  </a:t>
            </a:r>
            <a:pPr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警備が日常的に扱う情報が、どの法律に触れうるかを説明できる。</a:t>
            </a:r>
            <a:endParaRPr lang="en-US" sz="11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explain which laws apply to the information security handles every day.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40080" y="1773936"/>
            <a:ext cx="5327752" cy="4133088"/>
          </a:xfrm>
          <a:prstGeom prst="roundRect">
            <a:avLst>
              <a:gd name="adj" fmla="val 885"/>
            </a:avLst>
          </a:prstGeom>
          <a:solidFill>
            <a:srgbClr val="EFF4F8"/>
          </a:solidFill>
          <a:ln/>
        </p:spPr>
      </p:sp>
      <p:sp>
        <p:nvSpPr>
          <p:cNvPr id="9" name="Shape 6"/>
          <p:cNvSpPr/>
          <p:nvPr/>
        </p:nvSpPr>
        <p:spPr>
          <a:xfrm>
            <a:off x="822960" y="1938528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207008" y="1901952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カメラ画像と入退室ログ</a:t>
            </a:r>
            <a:endParaRPr lang="en-US" sz="17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5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Footage and Access Logs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859536" y="2450592"/>
            <a:ext cx="4888840" cy="331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・個人を識別できるものは個人情報になりうる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person can be identified, it can be personal data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・目的外に見ない。関心があるという理由で再生しない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view outside the purpose. Curiosity is not a reason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・持ち出さない、撮影しない、投稿しない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remove, photograph, or post it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・閲覧した事実そのものを記録する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the fact that a viewing took place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223864" y="1773936"/>
            <a:ext cx="5327752" cy="4133088"/>
          </a:xfrm>
          <a:prstGeom prst="roundRect">
            <a:avLst>
              <a:gd name="adj" fmla="val 885"/>
            </a:avLst>
          </a:prstGeom>
          <a:solidFill>
            <a:srgbClr val="F7FAFC"/>
          </a:solidFill>
          <a:ln/>
        </p:spPr>
      </p:sp>
      <p:sp>
        <p:nvSpPr>
          <p:cNvPr id="14" name="Shape 11"/>
          <p:cNvSpPr/>
          <p:nvPr/>
        </p:nvSpPr>
        <p:spPr>
          <a:xfrm>
            <a:off x="6406744" y="1938528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5" name="Text 12"/>
          <p:cNvSpPr/>
          <p:nvPr/>
        </p:nvSpPr>
        <p:spPr>
          <a:xfrm>
            <a:off x="6406744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790792" y="1901952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開示を求められたとき</a:t>
            </a:r>
            <a:endParaRPr lang="en-US" sz="17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5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Someone Asks for Disclosure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6443320" y="2450592"/>
            <a:ext cx="4888840" cy="331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・警備員は開示の可否を判断する立場にない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guard is not in a position to decide on disclosure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・社員から求められても、その場で見せない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show it on the spot, even to an employee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・警察官から求められた場合も、まず上長とクライアントに取り次ぐ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for a police officer, refer first to your supervisor and the client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・身分証の提示を求めることは失礼ではない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Asking to see identification is not rude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40080" y="596188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0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10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カメラ画像の保存期間、閲覧権限、開示手続は現場ごとに異なる。Site SOPと契約による。</a:t>
            </a:r>
            <a:endParaRPr lang="en-US" sz="10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Retention, viewing rights and disclosure procedures for footage differ by site.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40080" y="6272784"/>
            <a:ext cx="9905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個人情報保護法、不正競争防止法、経済産業省「営業秘密管理指針」</a:t>
            </a:r>
            <a:endParaRPr lang="en-US" sz="750" dirty="0"/>
          </a:p>
        </p:txBody>
      </p:sp>
      <p:sp>
        <p:nvSpPr>
          <p:cNvPr id="20" name="Text 17"/>
          <p:cNvSpPr/>
          <p:nvPr/>
        </p:nvSpPr>
        <p:spPr>
          <a:xfrm>
            <a:off x="640080" y="64922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0637215" y="6492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65760"/>
            <a:ext cx="8982151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企業法務リスク（2/2）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4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Legal Risk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9686239" y="420624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20624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15568"/>
            <a:ext cx="5327752" cy="4791456"/>
          </a:xfrm>
          <a:prstGeom prst="roundRect">
            <a:avLst>
              <a:gd name="adj" fmla="val 763"/>
            </a:avLst>
          </a:prstGeom>
          <a:solidFill>
            <a:srgbClr val="EFF4F8"/>
          </a:solidFill>
          <a:ln/>
        </p:spPr>
      </p:sp>
      <p:sp>
        <p:nvSpPr>
          <p:cNvPr id="7" name="Shape 4"/>
          <p:cNvSpPr/>
          <p:nvPr/>
        </p:nvSpPr>
        <p:spPr>
          <a:xfrm>
            <a:off x="822960" y="1280160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280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207008" y="1243584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不正競争防止法</a:t>
            </a:r>
            <a:endParaRPr lang="en-US" sz="17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5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Unfair Competition Prevention Act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59536" y="1792224"/>
            <a:ext cx="4888840" cy="3968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・営業秘密は、秘密管理性・有用性・非公知性の3要件で判断される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trade secret is judged by three tests: managed as secret, useful, and not publicly known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・侵害すると刑事罰の対象になりうる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Infringement can carry criminal penalties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・警備員が接する書類・端末・会話も対象になりうる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Documents, devices and conversations a guard encounters can fall within it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・「見ただけ」でも、持ち出せば問題になる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if you only looked, carrying it out is a problem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223864" y="1115568"/>
            <a:ext cx="5327752" cy="4791456"/>
          </a:xfrm>
          <a:prstGeom prst="roundRect">
            <a:avLst>
              <a:gd name="adj" fmla="val 763"/>
            </a:avLst>
          </a:prstGeom>
          <a:solidFill>
            <a:srgbClr val="F7FAFC"/>
          </a:solidFill>
          <a:ln/>
        </p:spPr>
      </p:sp>
      <p:sp>
        <p:nvSpPr>
          <p:cNvPr id="12" name="Shape 9"/>
          <p:cNvSpPr/>
          <p:nvPr/>
        </p:nvSpPr>
        <p:spPr>
          <a:xfrm>
            <a:off x="6406744" y="1280160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3" name="Text 10"/>
          <p:cNvSpPr/>
          <p:nvPr/>
        </p:nvSpPr>
        <p:spPr>
          <a:xfrm>
            <a:off x="6406744" y="1280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790792" y="1243584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社内規程と法令の関係</a:t>
            </a:r>
            <a:endParaRPr lang="en-US" sz="17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5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Rules and the Law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6443320" y="1792224"/>
            <a:ext cx="4888840" cy="3968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・社内規程は法令を超えられない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rules cannot override the law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・規程が警備員に新しい権限を与えることはない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rule cannot create new legal authority for a guard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・規程と法令が矛盾する場合は、法令が優先する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they conflict, the law prevails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・矛盾に気づいたら、実行せずに上長へ報告する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notice a conflict, report it rather than acting on it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40080" y="596188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0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10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カメラ画像の保存期間、閲覧権限、開示手続は現場ごとに異なる。Site SOPと契約による。</a:t>
            </a:r>
            <a:endParaRPr lang="en-US" sz="10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Retention, viewing rights and disclosure procedures for footage differ by site.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40080" y="6272784"/>
            <a:ext cx="9905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個人情報保護法、不正競争防止法、経済産業省「営業秘密管理指針」</a:t>
            </a:r>
            <a:endParaRPr lang="en-US" sz="750" dirty="0"/>
          </a:p>
        </p:txBody>
      </p:sp>
      <p:sp>
        <p:nvSpPr>
          <p:cNvPr id="18" name="Text 15"/>
          <p:cNvSpPr/>
          <p:nvPr/>
        </p:nvSpPr>
        <p:spPr>
          <a:xfrm>
            <a:off x="640080" y="64922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0637215" y="6492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65760"/>
            <a:ext cx="8982151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TTX 2-A　社内の持ち出しを現認した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4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TTX 2-A — Witnessing an Internal Removal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9686239" y="420624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20624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2-A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15568"/>
            <a:ext cx="10911535" cy="1124712"/>
          </a:xfrm>
          <a:prstGeom prst="roundRect">
            <a:avLst>
              <a:gd name="adj" fmla="val 3252"/>
            </a:avLst>
          </a:prstGeom>
          <a:solidFill>
            <a:srgbClr val="093259"/>
          </a:solidFill>
          <a:ln/>
        </p:spPr>
      </p:sp>
      <p:sp>
        <p:nvSpPr>
          <p:cNvPr id="7" name="Text 4"/>
          <p:cNvSpPr/>
          <p:nvPr/>
        </p:nvSpPr>
        <p:spPr>
          <a:xfrm>
            <a:off x="950976" y="1243584"/>
            <a:ext cx="1028974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2B1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シナリオ　</a:t>
            </a:r>
            <a:pPr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時。退社しようとする社員のバッグから、会社備品のノートPCが見えている。声をかけると「部長の許可は取ってある」と言い、立ち止まらない。持ち出し許可証の運用は先月変更されたばかりで、あなたは新しい様式を見たことがない。</a:t>
            </a:r>
            <a:endParaRPr lang="en-US" sz="11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450" dirty="0">
                <a:solidFill>
                  <a:srgbClr val="DCE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20:00. A company laptop is visible in the bag of an employee who is leaving. They say "I have the director's permission" and keep walking. The removal-permit procedure changed last month and you have not seen the new form.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40080" y="2386584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2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問い　</a:t>
            </a:r>
            <a:pPr indent="0" marL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あなたなら次の60秒、何をどう動きますか。</a:t>
            </a:r>
            <a:endParaRPr lang="en-US" sz="12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you do in the next sixty seconds?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40080" y="3008376"/>
            <a:ext cx="5327752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10" name="Shape 7"/>
          <p:cNvSpPr/>
          <p:nvPr/>
        </p:nvSpPr>
        <p:spPr>
          <a:xfrm>
            <a:off x="804672" y="3312414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1" name="Text 8"/>
          <p:cNvSpPr/>
          <p:nvPr/>
        </p:nvSpPr>
        <p:spPr>
          <a:xfrm>
            <a:off x="804672" y="331241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188720" y="3063240"/>
            <a:ext cx="4596232" cy="790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4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これは犯罪か、確認が必要な事象か。判断の根拠は何か。</a:t>
            </a:r>
            <a:endParaRPr lang="en-US" sz="14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this a crime, or something that needs checking? On what basis?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223864" y="3008376"/>
            <a:ext cx="5327752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14" name="Shape 11"/>
          <p:cNvSpPr/>
          <p:nvPr/>
        </p:nvSpPr>
        <p:spPr>
          <a:xfrm>
            <a:off x="6388456" y="3312414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5" name="Text 12"/>
          <p:cNvSpPr/>
          <p:nvPr/>
        </p:nvSpPr>
        <p:spPr>
          <a:xfrm>
            <a:off x="6388456" y="331241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772504" y="3063240"/>
            <a:ext cx="4596232" cy="790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4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許可証の様式を知らないことは、判断にどう影響するか。</a:t>
            </a:r>
            <a:endParaRPr lang="en-US" sz="14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 not know the new form. How does that affect your decision?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40080" y="4018788"/>
            <a:ext cx="5327752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18" name="Shape 15"/>
          <p:cNvSpPr/>
          <p:nvPr/>
        </p:nvSpPr>
        <p:spPr>
          <a:xfrm>
            <a:off x="804672" y="4322826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9" name="Text 16"/>
          <p:cNvSpPr/>
          <p:nvPr/>
        </p:nvSpPr>
        <p:spPr>
          <a:xfrm>
            <a:off x="804672" y="432282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1188720" y="4073652"/>
            <a:ext cx="4596232" cy="790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4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その場でできる最小限の手段は何か。できないことは何か。</a:t>
            </a:r>
            <a:endParaRPr lang="en-US" sz="14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minimum action available, and what is off-limits?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223864" y="4018788"/>
            <a:ext cx="5327752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22" name="Shape 19"/>
          <p:cNvSpPr/>
          <p:nvPr/>
        </p:nvSpPr>
        <p:spPr>
          <a:xfrm>
            <a:off x="6388456" y="4322826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23" name="Text 20"/>
          <p:cNvSpPr/>
          <p:nvPr/>
        </p:nvSpPr>
        <p:spPr>
          <a:xfrm>
            <a:off x="6388456" y="432282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772504" y="4073652"/>
            <a:ext cx="4596232" cy="790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4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誰に、何分以内に、何を報告するか。</a:t>
            </a:r>
            <a:endParaRPr lang="en-US" sz="14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do you report to, within what time, and with what content?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640080" y="4974336"/>
            <a:ext cx="10911535" cy="420624"/>
          </a:xfrm>
          <a:prstGeom prst="roundRect">
            <a:avLst>
              <a:gd name="adj" fmla="val 8696"/>
            </a:avLst>
          </a:prstGeom>
          <a:solidFill>
            <a:srgbClr val="E4F4F0"/>
          </a:solidFill>
          <a:ln/>
        </p:spPr>
      </p:sp>
      <p:sp>
        <p:nvSpPr>
          <p:cNvPr id="26" name="Text 23"/>
          <p:cNvSpPr/>
          <p:nvPr/>
        </p:nvSpPr>
        <p:spPr>
          <a:xfrm>
            <a:off x="877824" y="5001768"/>
            <a:ext cx="1043604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10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追加付与①　</a:t>
            </a:r>
            <a:pPr indent="0" marL="0">
              <a:lnSpc>
                <a:spcPct val="86000"/>
              </a:lnSpc>
              <a:buNone/>
            </a:pPr>
            <a:r>
              <a:rPr lang="en-US" sz="13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無線が入る。「こちら警備長。出口で止めろ。行かせるな。」</a:t>
            </a:r>
            <a:endParaRPr lang="en-US" sz="105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Radio: "Security chief here. Stop them at the exit. Do not let them leave."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640080" y="5449824"/>
            <a:ext cx="10911535" cy="420624"/>
          </a:xfrm>
          <a:prstGeom prst="roundRect">
            <a:avLst>
              <a:gd name="adj" fmla="val 8696"/>
            </a:avLst>
          </a:prstGeom>
          <a:solidFill>
            <a:srgbClr val="E4F4F0"/>
          </a:solidFill>
          <a:ln/>
        </p:spPr>
      </p:sp>
      <p:sp>
        <p:nvSpPr>
          <p:cNvPr id="28" name="Text 25"/>
          <p:cNvSpPr/>
          <p:nvPr/>
        </p:nvSpPr>
        <p:spPr>
          <a:xfrm>
            <a:off x="877824" y="5477256"/>
            <a:ext cx="1043604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10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追加付与②　</a:t>
            </a:r>
            <a:pPr indent="0" marL="0">
              <a:lnSpc>
                <a:spcPct val="86000"/>
              </a:lnSpc>
              <a:buNone/>
            </a:pPr>
            <a:r>
              <a:rPr lang="en-US" sz="13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相手はそのまま出口へ向かった。追うか、追わないか。</a:t>
            </a:r>
            <a:endParaRPr lang="en-US" sz="105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head straight for the exit. Do you follow, or not?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40080" y="596188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0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10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持ち出し許可の運用と、確認を求める相手は現場ごとに異なる。Site SOPを確認する。</a:t>
            </a:r>
            <a:endParaRPr lang="en-US" sz="10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Removal-permit procedures and who to verify with differ by site. Check the Site SOP.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640080" y="6272784"/>
            <a:ext cx="9905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警備業法、刑法、刑事訴訟法、警察官職務執行法</a:t>
            </a:r>
            <a:endParaRPr lang="en-US" sz="750" dirty="0"/>
          </a:p>
        </p:txBody>
      </p:sp>
      <p:sp>
        <p:nvSpPr>
          <p:cNvPr id="31" name="Text 28"/>
          <p:cNvSpPr/>
          <p:nvPr/>
        </p:nvSpPr>
        <p:spPr>
          <a:xfrm>
            <a:off x="640080" y="64922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10637215" y="6492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65760"/>
            <a:ext cx="8982151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TTX 2-A 模範解答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4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TTX 2-A — Model Answers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9686239" y="420624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20624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DEBRIEF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15568"/>
            <a:ext cx="10911535" cy="854714"/>
          </a:xfrm>
          <a:prstGeom prst="roundRect">
            <a:avLst>
              <a:gd name="adj" fmla="val 4279"/>
            </a:avLst>
          </a:prstGeom>
          <a:solidFill>
            <a:srgbClr val="EFF4F8"/>
          </a:solidFill>
          <a:ln/>
        </p:spPr>
      </p:sp>
      <p:sp>
        <p:nvSpPr>
          <p:cNvPr id="7" name="Shape 4"/>
          <p:cNvSpPr/>
          <p:nvPr/>
        </p:nvSpPr>
        <p:spPr>
          <a:xfrm>
            <a:off x="841248" y="1369189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8" name="Text 5"/>
          <p:cNvSpPr/>
          <p:nvPr/>
        </p:nvSpPr>
        <p:spPr>
          <a:xfrm>
            <a:off x="841248" y="1369189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280160" y="1179576"/>
            <a:ext cx="10033711" cy="7266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問1　犯罪か、確認事項か</a:t>
            </a:r>
            <a:endParaRPr lang="en-US" sz="11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5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確認が必要な事象。社員が会社備品を持つこと自体は犯罪ではなく、明白性を満たさない。</a:t>
            </a:r>
            <a:endParaRPr lang="en-US" sz="11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matter to verify. An employee holding company property is not itself a crime, and the obviousness test is not met.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40080" y="2070866"/>
            <a:ext cx="10911535" cy="669119"/>
          </a:xfrm>
          <a:prstGeom prst="roundRect">
            <a:avLst>
              <a:gd name="adj" fmla="val 5466"/>
            </a:avLst>
          </a:prstGeom>
          <a:solidFill>
            <a:srgbClr val="EFF4F8"/>
          </a:solidFill>
          <a:ln/>
        </p:spPr>
      </p:sp>
      <p:sp>
        <p:nvSpPr>
          <p:cNvPr id="11" name="Shape 8"/>
          <p:cNvSpPr/>
          <p:nvPr/>
        </p:nvSpPr>
        <p:spPr>
          <a:xfrm>
            <a:off x="841248" y="2231690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2" name="Text 9"/>
          <p:cNvSpPr/>
          <p:nvPr/>
        </p:nvSpPr>
        <p:spPr>
          <a:xfrm>
            <a:off x="841248" y="223169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280160" y="2134874"/>
            <a:ext cx="10033711" cy="541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問2　様式を知らないことの影響</a:t>
            </a:r>
            <a:endParaRPr lang="en-US" sz="11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5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判断の根拠にしない。知らないなら確認できる者に確認する。</a:t>
            </a:r>
            <a:endParaRPr lang="en-US" sz="11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not a basis for a decision. If you do not know, ask someone who can confirm.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40080" y="2840570"/>
            <a:ext cx="10911535" cy="669119"/>
          </a:xfrm>
          <a:prstGeom prst="roundRect">
            <a:avLst>
              <a:gd name="adj" fmla="val 5466"/>
            </a:avLst>
          </a:prstGeom>
          <a:solidFill>
            <a:srgbClr val="E4F4F0"/>
          </a:solidFill>
          <a:ln/>
        </p:spPr>
      </p:sp>
      <p:sp>
        <p:nvSpPr>
          <p:cNvPr id="15" name="Shape 12"/>
          <p:cNvSpPr/>
          <p:nvPr/>
        </p:nvSpPr>
        <p:spPr>
          <a:xfrm>
            <a:off x="841248" y="3001393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6" name="Text 13"/>
          <p:cNvSpPr/>
          <p:nvPr/>
        </p:nvSpPr>
        <p:spPr>
          <a:xfrm>
            <a:off x="841248" y="3001393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1280160" y="2904578"/>
            <a:ext cx="10033711" cy="541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問3　できること／できないこと</a:t>
            </a:r>
            <a:endParaRPr lang="en-US" sz="11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5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できるのは確認の依頼、記録、報告。強制、取り上げ、進路をふさぐことはできない。</a:t>
            </a:r>
            <a:endParaRPr lang="en-US" sz="11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may request, record and report. You may not compel, seize, or block their path.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40080" y="3610273"/>
            <a:ext cx="10911535" cy="669119"/>
          </a:xfrm>
          <a:prstGeom prst="roundRect">
            <a:avLst>
              <a:gd name="adj" fmla="val 5466"/>
            </a:avLst>
          </a:prstGeom>
          <a:solidFill>
            <a:srgbClr val="EFF4F8"/>
          </a:solidFill>
          <a:ln/>
        </p:spPr>
      </p:sp>
      <p:sp>
        <p:nvSpPr>
          <p:cNvPr id="19" name="Shape 16"/>
          <p:cNvSpPr/>
          <p:nvPr/>
        </p:nvSpPr>
        <p:spPr>
          <a:xfrm>
            <a:off x="841248" y="3771096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20" name="Text 17"/>
          <p:cNvSpPr/>
          <p:nvPr/>
        </p:nvSpPr>
        <p:spPr>
          <a:xfrm>
            <a:off x="841248" y="37710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280160" y="3674281"/>
            <a:ext cx="10033711" cy="541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問4　誰に何分以内に報告するか</a:t>
            </a:r>
            <a:endParaRPr lang="en-US" sz="11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5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警備責任者へ即時。品目、型番、時刻、会話をそのまま伝える。</a:t>
            </a:r>
            <a:endParaRPr lang="en-US" sz="11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security supervisor, immediately: item, model, time, and what was said.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640080" y="4389120"/>
            <a:ext cx="10911535" cy="420624"/>
          </a:xfrm>
          <a:prstGeom prst="roundRect">
            <a:avLst>
              <a:gd name="adj" fmla="val 8696"/>
            </a:avLst>
          </a:prstGeom>
          <a:solidFill>
            <a:srgbClr val="EEF6FA"/>
          </a:solidFill>
          <a:ln/>
        </p:spPr>
      </p:sp>
      <p:sp>
        <p:nvSpPr>
          <p:cNvPr id="23" name="Text 20"/>
          <p:cNvSpPr/>
          <p:nvPr/>
        </p:nvSpPr>
        <p:spPr>
          <a:xfrm>
            <a:off x="859536" y="4416552"/>
            <a:ext cx="104726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10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追加付与①　</a:t>
            </a:r>
            <a:pPr indent="0" marL="0">
              <a:lnSpc>
                <a:spcPct val="8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無線「出口で止めろ」　→　</a:t>
            </a:r>
            <a:pPr indent="0" marL="0">
              <a:lnSpc>
                <a:spcPct val="86000"/>
              </a:lnSpc>
              <a:buNone/>
            </a:pPr>
            <a:r>
              <a:rPr lang="en-US" sz="13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上位者の指示でも権限は増えない。「実力での制止はできません。記録と報告を行います」と代替案を返す。</a:t>
            </a:r>
            <a:endParaRPr lang="en-US" sz="105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order from above does not expand your powers. Reply: "I cannot physically stop them. I will record and report."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640080" y="4882896"/>
            <a:ext cx="10911535" cy="420624"/>
          </a:xfrm>
          <a:prstGeom prst="roundRect">
            <a:avLst>
              <a:gd name="adj" fmla="val 8696"/>
            </a:avLst>
          </a:prstGeom>
          <a:solidFill>
            <a:srgbClr val="EEF6FA"/>
          </a:solidFill>
          <a:ln/>
        </p:spPr>
      </p:sp>
      <p:sp>
        <p:nvSpPr>
          <p:cNvPr id="25" name="Text 22"/>
          <p:cNvSpPr/>
          <p:nvPr/>
        </p:nvSpPr>
        <p:spPr>
          <a:xfrm>
            <a:off x="859536" y="4910328"/>
            <a:ext cx="104726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10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追加付与②　</a:t>
            </a:r>
            <a:pPr indent="0" marL="0">
              <a:lnSpc>
                <a:spcPct val="8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そのまま出口へ向かった　→　</a:t>
            </a:r>
            <a:pPr indent="0" marL="0">
              <a:lnSpc>
                <a:spcPct val="86000"/>
              </a:lnSpc>
              <a:buNone/>
            </a:pPr>
            <a:r>
              <a:rPr lang="en-US" sz="13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追わない。追跡は有形力に発展しやすく、安全と信用を同時に損なう。</a:t>
            </a:r>
            <a:endParaRPr lang="en-US" sz="105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follow. Pursuit escalates into force, and risks both safety and reputation.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640080" y="5413248"/>
            <a:ext cx="10911535" cy="457200"/>
          </a:xfrm>
          <a:prstGeom prst="roundRect">
            <a:avLst>
              <a:gd name="adj" fmla="val 8000"/>
            </a:avLst>
          </a:prstGeom>
          <a:solidFill>
            <a:srgbClr val="093259"/>
          </a:solidFill>
          <a:ln/>
        </p:spPr>
      </p:sp>
      <p:sp>
        <p:nvSpPr>
          <p:cNvPr id="27" name="Text 24"/>
          <p:cNvSpPr/>
          <p:nvPr/>
        </p:nvSpPr>
        <p:spPr>
          <a:xfrm>
            <a:off x="859536" y="5440680"/>
            <a:ext cx="1047262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1050" b="1" dirty="0">
                <a:solidFill>
                  <a:srgbClr val="12B1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割れる論点　</a:t>
            </a:r>
            <a:pPr indent="0" marL="0">
              <a:lnSpc>
                <a:spcPct val="86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指示に従うか。従うと答えた班には「何をもって止めるのか」を問う。無言で従わないのが最も悪い。</a:t>
            </a:r>
            <a:endParaRPr lang="en-US" sz="105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1300" dirty="0">
                <a:solidFill>
                  <a:srgbClr val="DCE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you obey? Ask those who say yes: by what means? Silent non-compliance is the worst outcome.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640080" y="596188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0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注記　</a:t>
            </a:r>
            <a:pPr indent="0" marL="0">
              <a:lnSpc>
                <a:spcPct val="88000"/>
              </a:lnSpc>
              <a:buNone/>
            </a:pPr>
            <a:r>
              <a:rPr lang="en-US" sz="10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模範解答は判断の型を示すものです。実際の手順は各現場のSite SOPと警備指令書が優先します。</a:t>
            </a:r>
            <a:endParaRPr lang="en-US" sz="10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answers show a pattern of reasoning. The Site SOP and post orders always take precedence.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640080" y="6272784"/>
            <a:ext cx="9905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警備業法、刑法、刑事訴訟法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640080" y="64922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0637215" y="6492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65760"/>
            <a:ext cx="8982151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TTX 2-B　警察官を名乗る人物が来訪者情報を求める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4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TTX 2-B — A Person Claiming to Be Police Asks for Visitor Records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9686239" y="420624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20624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2-B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15568"/>
            <a:ext cx="10911535" cy="1124712"/>
          </a:xfrm>
          <a:prstGeom prst="roundRect">
            <a:avLst>
              <a:gd name="adj" fmla="val 3252"/>
            </a:avLst>
          </a:prstGeom>
          <a:solidFill>
            <a:srgbClr val="093259"/>
          </a:solidFill>
          <a:ln/>
        </p:spPr>
      </p:sp>
      <p:sp>
        <p:nvSpPr>
          <p:cNvPr id="7" name="Text 4"/>
          <p:cNvSpPr/>
          <p:nvPr/>
        </p:nvSpPr>
        <p:spPr>
          <a:xfrm>
            <a:off x="950976" y="1243584"/>
            <a:ext cx="1028974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2B1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シナリオ　</a:t>
            </a:r>
            <a:pPr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午前11時、私服の人物が受付に来る。警察手帳らしきものを示し「捜査中の事案がある。昨日の来訪者名簿と、正面入口のカメラ画像を確認したい」と述べる。上長は外出中で電話に出ない。相手は「急ぐ」と繰り返す。</a:t>
            </a:r>
            <a:endParaRPr lang="en-US" sz="11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450" dirty="0">
                <a:solidFill>
                  <a:srgbClr val="DCE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11:00. A person in plain clothes comes to reception, shows what appears to be a police ID, and says they need yesterday's visitor list and the front-entrance footage for an ongoing investigation. Your supervisor is out and not answering. The person keeps saying it is urgent.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40080" y="2386584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2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問い　</a:t>
            </a:r>
            <a:pPr indent="0" marL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あなたなら次の60秒、何をどう動きますか。</a:t>
            </a:r>
            <a:endParaRPr lang="en-US" sz="12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you do in the next sixty seconds?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40080" y="3008376"/>
            <a:ext cx="5327752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10" name="Shape 7"/>
          <p:cNvSpPr/>
          <p:nvPr/>
        </p:nvSpPr>
        <p:spPr>
          <a:xfrm>
            <a:off x="804672" y="3312414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1" name="Text 8"/>
          <p:cNvSpPr/>
          <p:nvPr/>
        </p:nvSpPr>
        <p:spPr>
          <a:xfrm>
            <a:off x="804672" y="331241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188720" y="3063240"/>
            <a:ext cx="4596232" cy="790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4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警察官であることは、その場で開示してよい根拠になるか。</a:t>
            </a:r>
            <a:endParaRPr lang="en-US" sz="14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being a police officer make immediate disclosure permissible?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223864" y="3008376"/>
            <a:ext cx="5327752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14" name="Shape 11"/>
          <p:cNvSpPr/>
          <p:nvPr/>
        </p:nvSpPr>
        <p:spPr>
          <a:xfrm>
            <a:off x="6388456" y="3312414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5" name="Text 12"/>
          <p:cNvSpPr/>
          <p:nvPr/>
        </p:nvSpPr>
        <p:spPr>
          <a:xfrm>
            <a:off x="6388456" y="331241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772504" y="3063240"/>
            <a:ext cx="4596232" cy="790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4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警備員に、開示の可否を判断する権限はあるか。</a:t>
            </a:r>
            <a:endParaRPr lang="en-US" sz="14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a guard have authority to decide on disclosure?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40080" y="4018788"/>
            <a:ext cx="5327752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18" name="Shape 15"/>
          <p:cNvSpPr/>
          <p:nvPr/>
        </p:nvSpPr>
        <p:spPr>
          <a:xfrm>
            <a:off x="804672" y="4322826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9" name="Text 16"/>
          <p:cNvSpPr/>
          <p:nvPr/>
        </p:nvSpPr>
        <p:spPr>
          <a:xfrm>
            <a:off x="804672" y="432282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1188720" y="4073652"/>
            <a:ext cx="4596232" cy="790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4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上長に連絡がつかない場合、何をして、何をしないか。</a:t>
            </a:r>
            <a:endParaRPr lang="en-US" sz="14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your supervisor unreachable, what do you do and not do?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223864" y="4018788"/>
            <a:ext cx="5327752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22" name="Shape 19"/>
          <p:cNvSpPr/>
          <p:nvPr/>
        </p:nvSpPr>
        <p:spPr>
          <a:xfrm>
            <a:off x="6388456" y="4322826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23" name="Text 20"/>
          <p:cNvSpPr/>
          <p:nvPr/>
        </p:nvSpPr>
        <p:spPr>
          <a:xfrm>
            <a:off x="6388456" y="432282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772504" y="4073652"/>
            <a:ext cx="4596232" cy="790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4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相手の身分をどう確認するか。確認を求めてよいか。</a:t>
            </a:r>
            <a:endParaRPr lang="en-US" sz="14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you verify their identity? May you ask?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640080" y="4974336"/>
            <a:ext cx="10911535" cy="420624"/>
          </a:xfrm>
          <a:prstGeom prst="roundRect">
            <a:avLst>
              <a:gd name="adj" fmla="val 8696"/>
            </a:avLst>
          </a:prstGeom>
          <a:solidFill>
            <a:srgbClr val="E4F4F0"/>
          </a:solidFill>
          <a:ln/>
        </p:spPr>
      </p:sp>
      <p:sp>
        <p:nvSpPr>
          <p:cNvPr id="26" name="Text 23"/>
          <p:cNvSpPr/>
          <p:nvPr/>
        </p:nvSpPr>
        <p:spPr>
          <a:xfrm>
            <a:off x="877824" y="5001768"/>
            <a:ext cx="1043604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10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追加付与①　</a:t>
            </a:r>
            <a:pPr indent="0" marL="0">
              <a:lnSpc>
                <a:spcPct val="86000"/>
              </a:lnSpc>
              <a:buNone/>
            </a:pPr>
            <a:r>
              <a:rPr lang="en-US" sz="13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相手が「令状がなくても任意で協力できるはずだ」と述べた。</a:t>
            </a:r>
            <a:endParaRPr lang="en-US" sz="105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say "you can cooperate voluntarily, even without a warrant."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640080" y="5449824"/>
            <a:ext cx="10911535" cy="420624"/>
          </a:xfrm>
          <a:prstGeom prst="roundRect">
            <a:avLst>
              <a:gd name="adj" fmla="val 8696"/>
            </a:avLst>
          </a:prstGeom>
          <a:solidFill>
            <a:srgbClr val="E4F4F0"/>
          </a:solidFill>
          <a:ln/>
        </p:spPr>
      </p:sp>
      <p:sp>
        <p:nvSpPr>
          <p:cNvPr id="28" name="Text 25"/>
          <p:cNvSpPr/>
          <p:nvPr/>
        </p:nvSpPr>
        <p:spPr>
          <a:xfrm>
            <a:off x="877824" y="5477256"/>
            <a:ext cx="1043604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10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追加付与②　</a:t>
            </a:r>
            <a:pPr indent="0" marL="0">
              <a:lnSpc>
                <a:spcPct val="86000"/>
              </a:lnSpc>
              <a:buNone/>
            </a:pPr>
            <a:r>
              <a:rPr lang="en-US" sz="13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相手が「名簿は見せなくていい。ある名前があったかどうかだけ教えてほしい」と述べた。</a:t>
            </a:r>
            <a:endParaRPr lang="en-US" sz="105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say: "Then do not show me the list. Just tell me whether a certain name appears."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40080" y="596188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0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10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捜査関係事項照会への対応は、クライアントと自社の法務が決める。警備員は取り次ぐ。</a:t>
            </a:r>
            <a:endParaRPr lang="en-US" sz="10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Responses to investigative enquiries are decided by the client and legal. The guard refers, and does not decide.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640080" y="6272784"/>
            <a:ext cx="9905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個人情報保護法、不正競争防止法、経済産業省「営業秘密管理指針」</a:t>
            </a:r>
            <a:endParaRPr lang="en-US" sz="750" dirty="0"/>
          </a:p>
        </p:txBody>
      </p:sp>
      <p:sp>
        <p:nvSpPr>
          <p:cNvPr id="31" name="Text 28"/>
          <p:cNvSpPr/>
          <p:nvPr/>
        </p:nvSpPr>
        <p:spPr>
          <a:xfrm>
            <a:off x="640080" y="64922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10637215" y="6492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65760"/>
            <a:ext cx="8982151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TTX 2-B 模範解答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4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TTX 2-B — Model Answers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9686239" y="420624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20624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DEBRIEF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15568"/>
            <a:ext cx="10911535" cy="857250"/>
          </a:xfrm>
          <a:prstGeom prst="roundRect">
            <a:avLst>
              <a:gd name="adj" fmla="val 4267"/>
            </a:avLst>
          </a:prstGeom>
          <a:solidFill>
            <a:srgbClr val="E4F4F0"/>
          </a:solidFill>
          <a:ln/>
        </p:spPr>
      </p:sp>
      <p:sp>
        <p:nvSpPr>
          <p:cNvPr id="7" name="Shape 4"/>
          <p:cNvSpPr/>
          <p:nvPr/>
        </p:nvSpPr>
        <p:spPr>
          <a:xfrm>
            <a:off x="841248" y="1370457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8" name="Text 5"/>
          <p:cNvSpPr/>
          <p:nvPr/>
        </p:nvSpPr>
        <p:spPr>
          <a:xfrm>
            <a:off x="841248" y="1370457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280160" y="1179576"/>
            <a:ext cx="10033711" cy="729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問1　警察官であることは根拠になるか</a:t>
            </a:r>
            <a:endParaRPr lang="en-US" sz="11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5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ならない。情報の管理権はクライアントにある。警察官であることは開示の根拠ではない。</a:t>
            </a:r>
            <a:endParaRPr lang="en-US" sz="11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No. The client controls the information. Being a police officer is not a basis for disclosure.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40080" y="2073402"/>
            <a:ext cx="10911535" cy="857250"/>
          </a:xfrm>
          <a:prstGeom prst="roundRect">
            <a:avLst>
              <a:gd name="adj" fmla="val 4267"/>
            </a:avLst>
          </a:prstGeom>
          <a:solidFill>
            <a:srgbClr val="EFF4F8"/>
          </a:solidFill>
          <a:ln/>
        </p:spPr>
      </p:sp>
      <p:sp>
        <p:nvSpPr>
          <p:cNvPr id="11" name="Shape 8"/>
          <p:cNvSpPr/>
          <p:nvPr/>
        </p:nvSpPr>
        <p:spPr>
          <a:xfrm>
            <a:off x="841248" y="2328291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2" name="Text 9"/>
          <p:cNvSpPr/>
          <p:nvPr/>
        </p:nvSpPr>
        <p:spPr>
          <a:xfrm>
            <a:off x="841248" y="232829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280160" y="2137410"/>
            <a:ext cx="10033711" cy="729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問2　警備員に判断する権限はあるか</a:t>
            </a:r>
            <a:endParaRPr lang="en-US" sz="11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5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ない。取り次ぐところまでが役割。開示の可否は契約とクライアントが決める。</a:t>
            </a:r>
            <a:endParaRPr lang="en-US" sz="11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No. Your role ends at referral. The contract and the client decide.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40080" y="3031236"/>
            <a:ext cx="10911535" cy="857250"/>
          </a:xfrm>
          <a:prstGeom prst="roundRect">
            <a:avLst>
              <a:gd name="adj" fmla="val 4267"/>
            </a:avLst>
          </a:prstGeom>
          <a:solidFill>
            <a:srgbClr val="EFF4F8"/>
          </a:solidFill>
          <a:ln/>
        </p:spPr>
      </p:sp>
      <p:sp>
        <p:nvSpPr>
          <p:cNvPr id="15" name="Shape 12"/>
          <p:cNvSpPr/>
          <p:nvPr/>
        </p:nvSpPr>
        <p:spPr>
          <a:xfrm>
            <a:off x="841248" y="3286125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6" name="Text 13"/>
          <p:cNvSpPr/>
          <p:nvPr/>
        </p:nvSpPr>
        <p:spPr>
          <a:xfrm>
            <a:off x="841248" y="3286125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1280160" y="3095244"/>
            <a:ext cx="10033711" cy="729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問3　上長に連絡がつかない場合</a:t>
            </a:r>
            <a:endParaRPr lang="en-US" sz="11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5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緊急連絡体制の次順位者へ。不在を理由に自分で判断しない。待たせることは失礼ではない。</a:t>
            </a:r>
            <a:endParaRPr lang="en-US" sz="11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to the next person on the call-out list. Absence is not authority to decide. Asking them to wait is not rude.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40080" y="3989070"/>
            <a:ext cx="10911535" cy="857250"/>
          </a:xfrm>
          <a:prstGeom prst="roundRect">
            <a:avLst>
              <a:gd name="adj" fmla="val 4267"/>
            </a:avLst>
          </a:prstGeom>
          <a:solidFill>
            <a:srgbClr val="EFF4F8"/>
          </a:solidFill>
          <a:ln/>
        </p:spPr>
      </p:sp>
      <p:sp>
        <p:nvSpPr>
          <p:cNvPr id="19" name="Shape 16"/>
          <p:cNvSpPr/>
          <p:nvPr/>
        </p:nvSpPr>
        <p:spPr>
          <a:xfrm>
            <a:off x="841248" y="4243959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20" name="Text 17"/>
          <p:cNvSpPr/>
          <p:nvPr/>
        </p:nvSpPr>
        <p:spPr>
          <a:xfrm>
            <a:off x="841248" y="4243959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280160" y="4053078"/>
            <a:ext cx="10033711" cy="729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問4　身分をどう確認するか</a:t>
            </a:r>
            <a:endParaRPr lang="en-US" sz="11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5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求めてよい。所属、階級、氏名、連絡先を控える。確認は手続きであり失礼ではない。</a:t>
            </a:r>
            <a:endParaRPr lang="en-US" sz="11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Ask. Note the unit, rank, name and contact. Verifying is procedure, not discourtesy.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640080" y="4956048"/>
            <a:ext cx="10911535" cy="420624"/>
          </a:xfrm>
          <a:prstGeom prst="roundRect">
            <a:avLst>
              <a:gd name="adj" fmla="val 8696"/>
            </a:avLst>
          </a:prstGeom>
          <a:solidFill>
            <a:srgbClr val="EEF6FA"/>
          </a:solidFill>
          <a:ln/>
        </p:spPr>
      </p:sp>
      <p:sp>
        <p:nvSpPr>
          <p:cNvPr id="23" name="Text 20"/>
          <p:cNvSpPr/>
          <p:nvPr/>
        </p:nvSpPr>
        <p:spPr>
          <a:xfrm>
            <a:off x="859536" y="4983480"/>
            <a:ext cx="104726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10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追加付与①　</a:t>
            </a:r>
            <a:pPr indent="0" marL="0">
              <a:lnSpc>
                <a:spcPct val="8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「令状がなくても任意で」　→　</a:t>
            </a:r>
            <a:pPr indent="0" marL="0">
              <a:lnSpc>
                <a:spcPct val="86000"/>
              </a:lnSpc>
              <a:buNone/>
            </a:pPr>
            <a:r>
              <a:rPr lang="en-US" sz="13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任意であるからこそ、応じるか否かはクライアントが決める。警備員は応じられない。</a:t>
            </a:r>
            <a:endParaRPr lang="en-US" sz="105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Precisely because it is voluntary, the client decides. A guard cannot agree on their behalf.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640080" y="5449824"/>
            <a:ext cx="10911535" cy="420624"/>
          </a:xfrm>
          <a:prstGeom prst="roundRect">
            <a:avLst>
              <a:gd name="adj" fmla="val 8696"/>
            </a:avLst>
          </a:prstGeom>
          <a:solidFill>
            <a:srgbClr val="EEF6FA"/>
          </a:solidFill>
          <a:ln/>
        </p:spPr>
      </p:sp>
      <p:sp>
        <p:nvSpPr>
          <p:cNvPr id="25" name="Text 22"/>
          <p:cNvSpPr/>
          <p:nvPr/>
        </p:nvSpPr>
        <p:spPr>
          <a:xfrm>
            <a:off x="859536" y="5477256"/>
            <a:ext cx="104726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10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追加付与②　</a:t>
            </a:r>
            <a:pPr indent="0" marL="0">
              <a:lnSpc>
                <a:spcPct val="8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「名前があったかだけ教えて」　→　</a:t>
            </a:r>
            <a:pPr indent="0" marL="0">
              <a:lnSpc>
                <a:spcPct val="86000"/>
              </a:lnSpc>
              <a:buNone/>
            </a:pPr>
            <a:r>
              <a:rPr lang="en-US" sz="13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同じこと。有無を答えるのも開示。第10時限10-Bと同じ構造。</a:t>
            </a:r>
            <a:endParaRPr lang="en-US" sz="105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thing. Confirming yes or no is still disclosure — the same structure as case 10-B.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40080" y="596188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0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注記　</a:t>
            </a:r>
            <a:pPr indent="0" marL="0">
              <a:lnSpc>
                <a:spcPct val="88000"/>
              </a:lnSpc>
              <a:buNone/>
            </a:pPr>
            <a:r>
              <a:rPr lang="en-US" sz="10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模範解答は判断の型を示すものです。実際の手順は各現場のSite SOPと警備指令書が優先します。</a:t>
            </a:r>
            <a:endParaRPr lang="en-US" sz="10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answers show a pattern of reasoning. The Site SOP and post orders always take precedence.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640080" y="6272784"/>
            <a:ext cx="9905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個人情報保護法、刑事訴訟法、警察官職務執行法</a:t>
            </a:r>
            <a:endParaRPr lang="en-US" sz="750" dirty="0"/>
          </a:p>
        </p:txBody>
      </p:sp>
      <p:sp>
        <p:nvSpPr>
          <p:cNvPr id="28" name="Text 25"/>
          <p:cNvSpPr/>
          <p:nvPr/>
        </p:nvSpPr>
        <p:spPr>
          <a:xfrm>
            <a:off x="640080" y="64922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10637215" y="6492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第2時限｜基本教育2 警備業法その他警備業務の適正な実施に必要な法令</dc:title>
  <dc:subject>PptxGenJS Presentation</dc:subject>
  <dc:creator>警備員指導教育責任者</dc:creator>
  <cp:lastModifiedBy>警備員指導教育責任者</cp:lastModifiedBy>
  <cp:revision>1</cp:revision>
  <dcterms:created xsi:type="dcterms:W3CDTF">2026-08-10T22:51:40Z</dcterms:created>
  <dcterms:modified xsi:type="dcterms:W3CDTF">2026-08-10T22:51:40Z</dcterms:modified>
</cp:coreProperties>
</file>