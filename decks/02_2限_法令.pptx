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D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37215" y="219456"/>
            <a:ext cx="1042416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173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AF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　08:05 – 09:05　基本教育2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A9B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— Basic Training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2212848"/>
            <a:ext cx="99669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警備業法その他警備業務の</a:t>
            </a:r>
            <a:endParaRPr lang="en-US" sz="3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適正な実施に必要な法令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3803904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Security Services Act and Other Applicable Law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828032"/>
            <a:ext cx="1371600" cy="32004"/>
          </a:xfrm>
          <a:prstGeom prst="rect">
            <a:avLst/>
          </a:prstGeom>
          <a:solidFill>
            <a:srgbClr val="17AF9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1206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2026年8月11日（火）　施設警備 現任教育　コーポレートセキュリティ</a:t>
            </a: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8EA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Aug 2026 — In-Service Training, Facility Security / Corporate Security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前限の振り返り（30秒）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Thirty-Second Recap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627632"/>
            <a:ext cx="10911535" cy="1014984"/>
          </a:xfrm>
          <a:prstGeom prst="roundRect">
            <a:avLst>
              <a:gd name="adj" fmla="val 4505"/>
            </a:avLst>
          </a:prstGeom>
          <a:solidFill>
            <a:srgbClr val="EFF4F8"/>
          </a:solidFill>
          <a:ln/>
        </p:spPr>
      </p:sp>
      <p:sp>
        <p:nvSpPr>
          <p:cNvPr id="4" name="Shape 2"/>
          <p:cNvSpPr/>
          <p:nvPr/>
        </p:nvSpPr>
        <p:spPr>
          <a:xfrm>
            <a:off x="896112" y="1943100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19431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99616" y="1737360"/>
            <a:ext cx="9777679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守る対象は People / Asset / Reputation。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Assets, Reputation.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825496"/>
            <a:ext cx="10911535" cy="1014984"/>
          </a:xfrm>
          <a:prstGeom prst="roundRect">
            <a:avLst>
              <a:gd name="adj" fmla="val 4505"/>
            </a:avLst>
          </a:prstGeom>
          <a:solidFill>
            <a:srgbClr val="F7FAFC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3140964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31409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99616" y="2935224"/>
            <a:ext cx="9777679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警備業法15条 ― 特別な権限はない。立場は私人。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15 — no special authority. You act as a private citizen.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4023360"/>
            <a:ext cx="10911535" cy="1014984"/>
          </a:xfrm>
          <a:prstGeom prst="roundRect">
            <a:avLst>
              <a:gd name="adj" fmla="val 4505"/>
            </a:avLst>
          </a:prstGeom>
          <a:solidFill>
            <a:srgbClr val="EFF4F8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112" y="4338828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4338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99616" y="4133088"/>
            <a:ext cx="9777679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できるのは「誰でもできること」と「委ねられたこと」だけ。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anyone may do, and what was delegated to you.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0080" y="5221224"/>
            <a:ext cx="10911535" cy="1014984"/>
          </a:xfrm>
          <a:prstGeom prst="roundRect">
            <a:avLst>
              <a:gd name="adj" fmla="val 4505"/>
            </a:avLst>
          </a:prstGeom>
          <a:solidFill>
            <a:srgbClr val="F7FA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96112" y="5536692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7" name="Text 15"/>
          <p:cNvSpPr/>
          <p:nvPr/>
        </p:nvSpPr>
        <p:spPr>
          <a:xfrm>
            <a:off x="896112" y="55366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99616" y="5330952"/>
            <a:ext cx="9777679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本コマは、その限界を条文と罪名で具体化します。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 puts statutes and offence names to those limits.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権限と限界マップ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Authority Map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627632"/>
            <a:ext cx="5318608" cy="2176272"/>
          </a:xfrm>
          <a:prstGeom prst="roundRect">
            <a:avLst>
              <a:gd name="adj" fmla="val 2101"/>
            </a:avLst>
          </a:prstGeom>
          <a:solidFill>
            <a:srgbClr val="EFF4F8"/>
          </a:solidFill>
          <a:ln/>
        </p:spPr>
      </p:sp>
      <p:sp>
        <p:nvSpPr>
          <p:cNvPr id="4" name="Shape 2"/>
          <p:cNvSpPr/>
          <p:nvPr/>
        </p:nvSpPr>
        <p:spPr>
          <a:xfrm>
            <a:off x="877824" y="1865376"/>
            <a:ext cx="384048" cy="384048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865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89888" y="1847088"/>
            <a:ext cx="4331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誰でもできる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to anyone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96112" y="2596896"/>
            <a:ext cx="4806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現行犯逮捕（刑訴法213条）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正当防衛（刑法36条）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緊急避難（刑法37条）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Citizen's arrest (CCP Art.213) · Self-defence (Penal Code Art.36) · Necessity (Art.37)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3008" y="1627632"/>
            <a:ext cx="5318608" cy="2176272"/>
          </a:xfrm>
          <a:prstGeom prst="roundRect">
            <a:avLst>
              <a:gd name="adj" fmla="val 2101"/>
            </a:avLst>
          </a:prstGeom>
          <a:solidFill>
            <a:srgbClr val="E4F4F0"/>
          </a:solidFill>
          <a:ln/>
        </p:spPr>
      </p:sp>
      <p:sp>
        <p:nvSpPr>
          <p:cNvPr id="9" name="Shape 7"/>
          <p:cNvSpPr/>
          <p:nvPr/>
        </p:nvSpPr>
        <p:spPr>
          <a:xfrm>
            <a:off x="6470752" y="1865376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0" name="Text 8"/>
          <p:cNvSpPr/>
          <p:nvPr/>
        </p:nvSpPr>
        <p:spPr>
          <a:xfrm>
            <a:off x="6470752" y="1865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982816" y="1847088"/>
            <a:ext cx="4331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委ねられてできる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Delegated by the site authority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89040" y="2596896"/>
            <a:ext cx="4806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入館の可否の判断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退去の要請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立入制限・記録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admission · Requesting departure · Restricting access · Keeping records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059936"/>
            <a:ext cx="5318608" cy="2176272"/>
          </a:xfrm>
          <a:prstGeom prst="roundRect">
            <a:avLst>
              <a:gd name="adj" fmla="val 2101"/>
            </a:avLst>
          </a:prstGeom>
          <a:solidFill>
            <a:srgbClr val="EFF4F8"/>
          </a:solidFill>
          <a:ln/>
        </p:spPr>
      </p:sp>
      <p:sp>
        <p:nvSpPr>
          <p:cNvPr id="14" name="Shape 12"/>
          <p:cNvSpPr/>
          <p:nvPr/>
        </p:nvSpPr>
        <p:spPr>
          <a:xfrm>
            <a:off x="877824" y="4297680"/>
            <a:ext cx="384048" cy="384048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15" name="Text 13"/>
          <p:cNvSpPr/>
          <p:nvPr/>
        </p:nvSpPr>
        <p:spPr>
          <a:xfrm>
            <a:off x="877824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89888" y="4279392"/>
            <a:ext cx="4331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できない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available to you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96112" y="5029200"/>
            <a:ext cx="4806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所持品検査の強制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取り調べ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実力による取戻し（自救行為）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Compelling a bag search · Interrogation · Recovering property by force (self-help)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33008" y="4059936"/>
            <a:ext cx="5318608" cy="2176272"/>
          </a:xfrm>
          <a:prstGeom prst="roundRect">
            <a:avLst>
              <a:gd name="adj" fmla="val 2101"/>
            </a:avLst>
          </a:prstGeom>
          <a:solidFill>
            <a:srgbClr val="EFF4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470752" y="4297680"/>
            <a:ext cx="384048" cy="384048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20" name="Text 18"/>
          <p:cNvSpPr/>
          <p:nvPr/>
        </p:nvSpPr>
        <p:spPr>
          <a:xfrm>
            <a:off x="6470752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82816" y="4279392"/>
            <a:ext cx="43310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越えると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cross the line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89040" y="5029200"/>
            <a:ext cx="4806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逮捕監禁罪・暴行罪・傷害罪・強要罪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 そして会社の Reputation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Unlawful confinement, assault, injury, coercion — and the company's reputation.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現行犯逮捕 ― 要件は「明白性」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Citizen's Arrest — the test is obviousness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627632"/>
            <a:ext cx="10911535" cy="2395728"/>
          </a:xfrm>
          <a:prstGeom prst="roundRect">
            <a:avLst>
              <a:gd name="adj" fmla="val 1908"/>
            </a:avLst>
          </a:prstGeom>
          <a:solidFill>
            <a:srgbClr val="0F2D52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938528"/>
            <a:ext cx="9997135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現行犯人は、何人でも、逮捕状なくしてこれを逮捕することができる。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97280" y="2971800"/>
            <a:ext cx="9997135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person may arrest a flagrant offender without a warrant.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097280" y="3639312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刑事訴訟法 第213条 / Code of Criminal Procedure, Art. 213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4937760"/>
            <a:ext cx="10911535" cy="1298448"/>
          </a:xfrm>
          <a:prstGeom prst="roundRect">
            <a:avLst>
              <a:gd name="adj" fmla="val 3521"/>
            </a:avLst>
          </a:prstGeom>
          <a:solidFill>
            <a:srgbClr val="E4F4F0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5404104"/>
            <a:ext cx="365760" cy="365760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5404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99616" y="5047488"/>
            <a:ext cx="9722815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「怪しい」では足りません。犯罪と犯人が明白で、時間的に接着していることが必要です。越えれば逮捕監禁罪。</a:t>
            </a:r>
            <a:endParaRPr lang="en-US" sz="14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000" i="1" dirty="0">
                <a:solidFill>
                  <a:srgbClr val="0E8C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Suspicion is not enough. The offence and the offender must be obvious, and the act immediate. Cross that line and it is unlawful confinement.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逮捕後は「直ちに」引き渡す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an Arrest — hand over immediately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刑事訴訟法第214条 ― 直ちに検察官または司法警察職員に引き渡さなければならない。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CCP Art. 214 — the person must be handed over to a prosecutor or judicial police official without delay.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事務所に留め置いて事情を聞く ― 取り調べる権限はありません。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someone in the office to question them — you have no power to interrogate.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書面へのサインを求める ― 強要になりえます。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Asking them to sign a statement — this can amount to coercion.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私物を確認する ― 同意がなければできません。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Examining their belongings — not without consent.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7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やることは3つ：安全確保、警察への引継ぎ、そして記録。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three tasks: secure safety, hand over to police, and record what happened.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所持品検査 ― 権限規定はありません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 Checks — there is no statutory power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627632"/>
            <a:ext cx="10911535" cy="1014984"/>
          </a:xfrm>
          <a:prstGeom prst="roundRect">
            <a:avLst>
              <a:gd name="adj" fmla="val 4505"/>
            </a:avLst>
          </a:prstGeom>
          <a:solidFill>
            <a:srgbClr val="EFF4F8"/>
          </a:solidFill>
          <a:ln/>
        </p:spPr>
      </p:sp>
      <p:sp>
        <p:nvSpPr>
          <p:cNvPr id="4" name="Shape 2"/>
          <p:cNvSpPr/>
          <p:nvPr/>
        </p:nvSpPr>
        <p:spPr>
          <a:xfrm>
            <a:off x="896112" y="1943100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19431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99616" y="1737360"/>
            <a:ext cx="9777679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できるのは、相手の任意の同意がある場合だけ。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with the person's genuinely voluntary consent.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825496"/>
            <a:ext cx="10911535" cy="1014984"/>
          </a:xfrm>
          <a:prstGeom prst="roundRect">
            <a:avLst>
              <a:gd name="adj" fmla="val 4505"/>
            </a:avLst>
          </a:prstGeom>
          <a:solidFill>
            <a:srgbClr val="F7FAFC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3140964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31409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99616" y="2935224"/>
            <a:ext cx="9777679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断れない状況でとった同意は、同意ではありません。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obtained where refusal was not a real option is not consent.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4023360"/>
            <a:ext cx="10911535" cy="1014984"/>
          </a:xfrm>
          <a:prstGeom prst="roundRect">
            <a:avLst>
              <a:gd name="adj" fmla="val 4505"/>
            </a:avLst>
          </a:prstGeom>
          <a:solidFill>
            <a:srgbClr val="EFF4F8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112" y="4338828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4338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99616" y="4133088"/>
            <a:ext cx="9777679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言い方は依頼形で。「ご協力いただけますか」― 命令にしない。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Ask, never order: "Would you be willing to help us?"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0080" y="5221224"/>
            <a:ext cx="10911535" cy="1014984"/>
          </a:xfrm>
          <a:prstGeom prst="roundRect">
            <a:avLst>
              <a:gd name="adj" fmla="val 4505"/>
            </a:avLst>
          </a:prstGeom>
          <a:solidFill>
            <a:srgbClr val="F7FA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96112" y="5536692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7" name="Text 15"/>
          <p:cNvSpPr/>
          <p:nvPr/>
        </p:nvSpPr>
        <p:spPr>
          <a:xfrm>
            <a:off x="896112" y="55366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99616" y="5330952"/>
            <a:ext cx="9777679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拒否されたら引き止めない。判断を警察・管理権者へ渡す。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refused, do not detain. Pass the decision to the police or the site authority.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正当防衛・緊急避難・自救行為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Self-Defence, Necessity, and Self-Help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2446020"/>
            <a:ext cx="3454298" cy="2971800"/>
          </a:xfrm>
          <a:prstGeom prst="roundRect">
            <a:avLst>
              <a:gd name="adj" fmla="val 1538"/>
            </a:avLst>
          </a:prstGeom>
          <a:solidFill>
            <a:srgbClr val="EFF4F8"/>
          </a:solidFill>
          <a:ln/>
        </p:spPr>
      </p:sp>
      <p:sp>
        <p:nvSpPr>
          <p:cNvPr id="4" name="Shape 2"/>
          <p:cNvSpPr/>
          <p:nvPr/>
        </p:nvSpPr>
        <p:spPr>
          <a:xfrm>
            <a:off x="877824" y="2683764"/>
            <a:ext cx="384048" cy="384048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26837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89888" y="2665476"/>
            <a:ext cx="24667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正当防衛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Self-defence — Penal Code Art. 36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96112" y="3415284"/>
            <a:ext cx="294223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急迫不正の侵害に対し、やむを得ずした行為。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侵害が終われば、権利も終わる。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越えると：過剰防衛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unavoidable act against an imminent unlawful attack. When the attack ends, so does the right. Beyond it: excessive defence.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68698" y="2446020"/>
            <a:ext cx="3454298" cy="2971800"/>
          </a:xfrm>
          <a:prstGeom prst="roundRect">
            <a:avLst>
              <a:gd name="adj" fmla="val 1538"/>
            </a:avLst>
          </a:prstGeom>
          <a:solidFill>
            <a:srgbClr val="EFF4F8"/>
          </a:solidFill>
          <a:ln/>
        </p:spPr>
      </p:sp>
      <p:sp>
        <p:nvSpPr>
          <p:cNvPr id="9" name="Shape 7"/>
          <p:cNvSpPr/>
          <p:nvPr/>
        </p:nvSpPr>
        <p:spPr>
          <a:xfrm>
            <a:off x="4606442" y="2683764"/>
            <a:ext cx="384048" cy="384048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10" name="Text 8"/>
          <p:cNvSpPr/>
          <p:nvPr/>
        </p:nvSpPr>
        <p:spPr>
          <a:xfrm>
            <a:off x="4606442" y="26837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118506" y="2665476"/>
            <a:ext cx="24667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緊急避難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Necessity — Penal Code Art. 37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24730" y="3415284"/>
            <a:ext cx="294223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現在の危難を避けるための行為。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生じた害が、避けようとした害を超えないこと。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越えると：過剰避難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 to avert a present danger — provided the harm caused does not exceed the harm avoided. Beyond it: excessive necessity.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97317" y="2446020"/>
            <a:ext cx="3454298" cy="2971800"/>
          </a:xfrm>
          <a:prstGeom prst="roundRect">
            <a:avLst>
              <a:gd name="adj" fmla="val 1538"/>
            </a:avLst>
          </a:prstGeom>
          <a:solidFill>
            <a:srgbClr val="EFF4F8"/>
          </a:solidFill>
          <a:ln/>
        </p:spPr>
      </p:sp>
      <p:sp>
        <p:nvSpPr>
          <p:cNvPr id="14" name="Shape 12"/>
          <p:cNvSpPr/>
          <p:nvPr/>
        </p:nvSpPr>
        <p:spPr>
          <a:xfrm>
            <a:off x="8335061" y="2683764"/>
            <a:ext cx="384048" cy="384048"/>
          </a:xfrm>
          <a:prstGeom prst="ellipse">
            <a:avLst/>
          </a:prstGeom>
          <a:solidFill>
            <a:srgbClr val="0F2D52"/>
          </a:solidFill>
          <a:ln/>
        </p:spPr>
      </p:sp>
      <p:sp>
        <p:nvSpPr>
          <p:cNvPr id="15" name="Text 13"/>
          <p:cNvSpPr/>
          <p:nvPr/>
        </p:nvSpPr>
        <p:spPr>
          <a:xfrm>
            <a:off x="8335061" y="26837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47125" y="2665476"/>
            <a:ext cx="24667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自救行為</a:t>
            </a:r>
            <a:endParaRPr lang="en-US" sz="16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00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Self-help — no statutory basis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53349" y="3415284"/>
            <a:ext cx="2942234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明文の規定はありません。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原則として認められません。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盗まれた物を実力で取り返さないこと。</a:t>
            </a:r>
            <a:endParaRPr lang="en-US" sz="12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statutory basis and, as a rule, not permitted. Do not recover stolen property by force.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有形力の行使 ― どこからが暴行か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of Force — where assault begins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説得は有形力ではありません。境界は「相手の身体の自由に干渉した瞬間」です。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Persuasion is not force. The line is crossed the moment you interfere with another person's physical freedom.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声をかける ― 有形力ではない。いくらでもできる。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 to someone — not force. Always available to you.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立ち位置で示す ― まだ有形力ではない。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yourself to signal — still not force.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進路に立ちふさがる ― ここが境界。目的と必要性を説明できますか。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someone's path — this is the boundary. Can you justify the purpose and necessity?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7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触れる・つかむ ― 正当防衛か現行犯逮捕に伴う最小限のときだけ。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Touching or seizing — only as the minimum incidental to self-defence or a lawful arrest.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企業法務リスク ― カメラ画像と入退室ログ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Legal Risk — footage and access logs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53619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300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防犯カメラ画像も入退室ログも、個人情報になりえます。警備が最も日常的に触れる情報資産です。</a:t>
            </a:r>
            <a:endParaRPr lang="en-US" sz="130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10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footage and access logs can both constitute personal data — and they are the information assets security touches most often.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2519172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5191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99616" y="2395728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目的外に見ない。「気になったから」で再生しない。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view outside its purpose. Curiosity is not a reason to replay footage.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319272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3552444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3552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99616" y="3429000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持ち出さない・撮影しない・SNSに上げない。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remove it, photograph it, or post it.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352544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EFF4F8"/>
          </a:solidFill>
          <a:ln/>
        </p:spPr>
      </p:sp>
      <p:sp>
        <p:nvSpPr>
          <p:cNvPr id="13" name="Shape 11"/>
          <p:cNvSpPr/>
          <p:nvPr/>
        </p:nvSpPr>
        <p:spPr>
          <a:xfrm>
            <a:off x="896112" y="4585716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45857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99616" y="4462272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閲覧できる人を限る。閲覧した事実も記録する。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who may view it — and record the fact that it was viewed.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385816"/>
            <a:ext cx="10911535" cy="850392"/>
          </a:xfrm>
          <a:prstGeom prst="roundRect">
            <a:avLst>
              <a:gd name="adj" fmla="val 5376"/>
            </a:avLst>
          </a:prstGeom>
          <a:solidFill>
            <a:srgbClr val="F7FAFC"/>
          </a:solidFill>
          <a:ln/>
        </p:spPr>
      </p:sp>
      <p:sp>
        <p:nvSpPr>
          <p:cNvPr id="17" name="Shape 15"/>
          <p:cNvSpPr/>
          <p:nvPr/>
        </p:nvSpPr>
        <p:spPr>
          <a:xfrm>
            <a:off x="896112" y="5618988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56189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99616" y="5495544"/>
            <a:ext cx="9777679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社内規程は法令を超えられません。規程が権限を作ることはない。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rules cannot override the law. A company rule cannot create legal authority.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TTX① 社内の持ち出しを現認した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① — Witnessing an Internal Removal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627632"/>
            <a:ext cx="10911535" cy="1481328"/>
          </a:xfrm>
          <a:prstGeom prst="roundRect">
            <a:avLst>
              <a:gd name="adj" fmla="val 3086"/>
            </a:avLst>
          </a:prstGeom>
          <a:solidFill>
            <a:srgbClr val="0F2D52"/>
          </a:solidFill>
          <a:ln/>
        </p:spPr>
      </p:sp>
      <p:sp>
        <p:nvSpPr>
          <p:cNvPr id="4" name="Text 2"/>
          <p:cNvSpPr/>
          <p:nvPr/>
        </p:nvSpPr>
        <p:spPr>
          <a:xfrm>
            <a:off x="1024128" y="1810512"/>
            <a:ext cx="10143439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050" b="1" dirty="0">
                <a:solidFill>
                  <a:srgbClr val="17AF9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状況付与  </a:t>
            </a:r>
            <a:pPr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050" dirty="0"/>
          </a:p>
          <a:p>
            <a:pPr indent="0" marL="0">
              <a:lnSpc>
                <a:spcPct val="9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20時。退社しようとする従業員のバッグから、会社備品のノートPCが見えている。持ち出し許可証はない。声をかけると「部長の許可は取ってある」と言い、立ち止まらない。</a:t>
            </a:r>
            <a:endParaRPr lang="en-US" sz="1050" dirty="0"/>
          </a:p>
          <a:p>
            <a:pPr indent="0" marL="0">
              <a:lnSpc>
                <a:spcPct val="96000"/>
              </a:lnSpc>
              <a:buNone/>
            </a:pPr>
            <a:r>
              <a:rPr lang="en-US" sz="950" i="1" dirty="0">
                <a:solidFill>
                  <a:srgbClr val="9FD8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20:00. As an employee leaves, a company laptop is visible in their bag. There is no removal permit. When you speak to them they reply "I have the director's permission," and keep walking.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640080" y="3346704"/>
            <a:ext cx="10911535" cy="429768"/>
          </a:xfrm>
          <a:prstGeom prst="roundRect">
            <a:avLst>
              <a:gd name="adj" fmla="val 8511"/>
            </a:avLst>
          </a:prstGeom>
          <a:solidFill>
            <a:srgbClr val="EFF4F8"/>
          </a:solidFill>
          <a:ln/>
        </p:spPr>
      </p:sp>
      <p:sp>
        <p:nvSpPr>
          <p:cNvPr id="6" name="Shape 4"/>
          <p:cNvSpPr/>
          <p:nvPr/>
        </p:nvSpPr>
        <p:spPr>
          <a:xfrm>
            <a:off x="859536" y="3396996"/>
            <a:ext cx="329184" cy="329184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" y="33969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35024" y="3401568"/>
            <a:ext cx="99605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これは「犯罪」か、それとも「気になること」か。判断の根拠は。</a:t>
            </a:r>
            <a:endParaRPr lang="en-US" sz="13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crime, or merely a concern? On what basis do you decide?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867912"/>
            <a:ext cx="10911535" cy="429768"/>
          </a:xfrm>
          <a:prstGeom prst="roundRect">
            <a:avLst>
              <a:gd name="adj" fmla="val 8511"/>
            </a:avLst>
          </a:prstGeom>
          <a:solidFill>
            <a:srgbClr val="EFF4F8"/>
          </a:solidFill>
          <a:ln/>
        </p:spPr>
      </p:sp>
      <p:sp>
        <p:nvSpPr>
          <p:cNvPr id="10" name="Shape 8"/>
          <p:cNvSpPr/>
          <p:nvPr/>
        </p:nvSpPr>
        <p:spPr>
          <a:xfrm>
            <a:off x="859536" y="3918204"/>
            <a:ext cx="329184" cy="329184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9182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335024" y="3922776"/>
            <a:ext cx="99605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あなたはいま「私人」か「補助者」か。それぞれで何ができるか。</a:t>
            </a:r>
            <a:endParaRPr lang="en-US" sz="13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you acting as a citizen or as a delegated agent — and what does each allow?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911535" cy="429768"/>
          </a:xfrm>
          <a:prstGeom prst="roundRect">
            <a:avLst>
              <a:gd name="adj" fmla="val 8511"/>
            </a:avLst>
          </a:prstGeom>
          <a:solidFill>
            <a:srgbClr val="EFF4F8"/>
          </a:solidFill>
          <a:ln/>
        </p:spPr>
      </p:sp>
      <p:sp>
        <p:nvSpPr>
          <p:cNvPr id="14" name="Shape 12"/>
          <p:cNvSpPr/>
          <p:nvPr/>
        </p:nvSpPr>
        <p:spPr>
          <a:xfrm>
            <a:off x="859536" y="4439412"/>
            <a:ext cx="329184" cy="329184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5" name="Text 13"/>
          <p:cNvSpPr/>
          <p:nvPr/>
        </p:nvSpPr>
        <p:spPr>
          <a:xfrm>
            <a:off x="859536" y="44394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35024" y="4443984"/>
            <a:ext cx="99605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その場でできる最小限の手段は何か。できないことは何か。</a:t>
            </a:r>
            <a:endParaRPr lang="en-US" sz="13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minimum action available here — and what is off-limits?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910328"/>
            <a:ext cx="10911535" cy="429768"/>
          </a:xfrm>
          <a:prstGeom prst="roundRect">
            <a:avLst>
              <a:gd name="adj" fmla="val 8511"/>
            </a:avLst>
          </a:prstGeom>
          <a:solidFill>
            <a:srgbClr val="EFF4F8"/>
          </a:solidFill>
          <a:ln/>
        </p:spPr>
      </p:sp>
      <p:sp>
        <p:nvSpPr>
          <p:cNvPr id="18" name="Shape 16"/>
          <p:cNvSpPr/>
          <p:nvPr/>
        </p:nvSpPr>
        <p:spPr>
          <a:xfrm>
            <a:off x="859536" y="4960620"/>
            <a:ext cx="329184" cy="329184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9" name="Text 17"/>
          <p:cNvSpPr/>
          <p:nvPr/>
        </p:nvSpPr>
        <p:spPr>
          <a:xfrm>
            <a:off x="859536" y="49606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35024" y="4965192"/>
            <a:ext cx="996055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誰に、何分以内に、何を報告するか。</a:t>
            </a:r>
            <a:endParaRPr lang="en-US" sz="13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 you report to, within what time, and with what content?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486400"/>
            <a:ext cx="10911535" cy="749808"/>
          </a:xfrm>
          <a:prstGeom prst="roundRect">
            <a:avLst>
              <a:gd name="adj" fmla="val 4878"/>
            </a:avLst>
          </a:prstGeom>
          <a:solidFill>
            <a:srgbClr val="E4F4F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5559552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000" b="1" dirty="0">
                <a:solidFill>
                  <a:srgbClr val="0E8C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追加付与  </a:t>
            </a:r>
            <a:pPr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0E8C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  </a:t>
            </a:r>
            <a:pPr indent="0" marL="0">
              <a:lnSpc>
                <a:spcPct val="90000"/>
              </a:lnSpc>
              <a:buNone/>
            </a:pPr>
            <a:r>
              <a:rPr lang="en-US" sz="12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相手はそのまま出口へ向かった。追うか、追わないか。</a:t>
            </a:r>
            <a:endParaRPr lang="en-US" sz="10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90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head straight for the exit. Do you follow, or not?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98051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4000"/>
              </a:lnSpc>
              <a:buNone/>
            </a:pPr>
            <a:r>
              <a:rPr lang="en-US" sz="2700" b="1" dirty="0">
                <a:solidFill>
                  <a:srgbClr val="0F2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TTX① 講評 ― 警備が結論を出さない</a:t>
            </a:r>
            <a:endParaRPr lang="en-US" sz="2700" dirty="0"/>
          </a:p>
          <a:p>
            <a:pPr indent="0" marL="0">
              <a:lnSpc>
                <a:spcPct val="94000"/>
              </a:lnSpc>
              <a:buNone/>
            </a:pPr>
            <a:r>
              <a:rPr lang="en-US" sz="1250" i="1" dirty="0">
                <a:solidFill>
                  <a:srgbClr val="17A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TTX ① Debrief — security does not deliver the verdict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627632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EFF4F8"/>
          </a:solidFill>
          <a:ln/>
        </p:spPr>
      </p:sp>
      <p:sp>
        <p:nvSpPr>
          <p:cNvPr id="4" name="Shape 2"/>
          <p:cNvSpPr/>
          <p:nvPr/>
        </p:nvSpPr>
        <p:spPr>
          <a:xfrm>
            <a:off x="896112" y="1852574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18525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99616" y="1737360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相手が従業員だと、権利の所在が不明確。現行犯逮捕の「明白性」は満たしにくい。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person is an employee, ownership is unclear — the obviousness test for arrest is rarely met.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571293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F7FAFC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796235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279623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99616" y="2681021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できるのは委ねられた範囲：確認の依頼、記録、報告。強制はできない。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may request, record and report — within what was delegated. You may not compel.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514954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EFF4F8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112" y="3739896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3739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99616" y="3624682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追わない判断も正解になりうる。安全と Reputation を天秤にかける。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not to pursue can be the right call — weigh safety and reputation.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0080" y="4458614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F7FA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96112" y="4683557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17" name="Text 15"/>
          <p:cNvSpPr/>
          <p:nvPr/>
        </p:nvSpPr>
        <p:spPr>
          <a:xfrm>
            <a:off x="896112" y="468355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99616" y="4568342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最重要は記録。時刻・品目・会話内容を、事実として残す。</a:t>
            </a:r>
            <a:endParaRPr lang="en-US" sz="14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0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matters most: time, item, and what was said — as fact, not interpretation.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5402275"/>
            <a:ext cx="10911535" cy="833933"/>
          </a:xfrm>
          <a:prstGeom prst="roundRect">
            <a:avLst>
              <a:gd name="adj" fmla="val 5482"/>
            </a:avLst>
          </a:prstGeom>
          <a:solidFill>
            <a:srgbClr val="EFF4F8"/>
          </a:solidFill>
          <a:ln/>
        </p:spPr>
      </p:sp>
      <p:sp>
        <p:nvSpPr>
          <p:cNvPr id="20" name="Shape 18"/>
          <p:cNvSpPr/>
          <p:nvPr/>
        </p:nvSpPr>
        <p:spPr>
          <a:xfrm>
            <a:off x="896112" y="5627218"/>
            <a:ext cx="384048" cy="384048"/>
          </a:xfrm>
          <a:prstGeom prst="ellipse">
            <a:avLst/>
          </a:prstGeom>
          <a:solidFill>
            <a:srgbClr val="17AF98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56272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99616" y="5512003"/>
            <a:ext cx="9777679" cy="651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結論は人事・法務が出す。警備は事実を渡すところまで。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9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and Legal reach the conclusion. Security's job ends at handing over the facts.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6382512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第2時限｜基本教育2 警備業法その他警備業務の適正な実施に必要な法令  </a:t>
            </a:r>
            <a:pPr indent="0" marL="0">
              <a:buNone/>
            </a:pPr>
            <a:r>
              <a:rPr lang="en-US" sz="850" i="1" dirty="0">
                <a:solidFill>
                  <a:srgbClr val="D6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2 | Basic Training 2 — Applicable Law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637215" y="63825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第2時限｜基本教育2 警備業法その他警備業務の適正な実施に必要な法令</dc:title>
  <dc:subject>PptxGenJS Presentation</dc:subject>
  <dc:creator>警備員指導教育責任者</dc:creator>
  <cp:lastModifiedBy>警備員指導教育責任者</cp:lastModifiedBy>
  <cp:revision>1</cp:revision>
  <dcterms:created xsi:type="dcterms:W3CDTF">2026-08-10T11:51:05Z</dcterms:created>
  <dcterms:modified xsi:type="dcterms:W3CDTF">2026-08-10T11:51:05Z</dcterms:modified>
</cp:coreProperties>
</file>