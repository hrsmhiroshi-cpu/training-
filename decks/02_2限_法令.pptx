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417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　08:05 – 09:05　基本教育2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A9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— Basic Training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212848"/>
            <a:ext cx="9966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警備業法その他警備業務の</a:t>
            </a:r>
            <a:endParaRPr lang="en-US" sz="3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適正な実施に必要な法令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803904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Security Services Act and Other Applicable Law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828032"/>
            <a:ext cx="1371600" cy="32004"/>
          </a:xfrm>
          <a:prstGeom prst="rect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2026年8月11日（火）　施設警備 現任教育　コーポレートセキュリティ</a:t>
            </a: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2026 — In-Service Training, Facility Security / Corporate Security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第1時限の確認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of Period 1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0080" y="1627632"/>
            <a:ext cx="10911535" cy="1014984"/>
          </a:xfrm>
          <a:prstGeom prst="roundRect">
            <a:avLst>
              <a:gd name="adj" fmla="val 4505"/>
            </a:avLst>
          </a:prstGeom>
          <a:solidFill>
            <a:srgbClr val="EFF4F8"/>
          </a:solidFill>
          <a:ln/>
        </p:spPr>
      </p:sp>
      <p:sp>
        <p:nvSpPr>
          <p:cNvPr id="5" name="Shape 2"/>
          <p:cNvSpPr/>
          <p:nvPr/>
        </p:nvSpPr>
        <p:spPr>
          <a:xfrm>
            <a:off x="896112" y="1943100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6" name="Text 3"/>
          <p:cNvSpPr/>
          <p:nvPr/>
        </p:nvSpPr>
        <p:spPr>
          <a:xfrm>
            <a:off x="896112" y="19431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499616" y="1737360"/>
            <a:ext cx="9777679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守る対象は People / Asset / Reputation。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Assets, Reputation.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" y="2825496"/>
            <a:ext cx="10911535" cy="1014984"/>
          </a:xfrm>
          <a:prstGeom prst="roundRect">
            <a:avLst>
              <a:gd name="adj" fmla="val 4505"/>
            </a:avLst>
          </a:prstGeom>
          <a:solidFill>
            <a:srgbClr val="F7FAFC"/>
          </a:solidFill>
          <a:ln/>
        </p:spPr>
      </p:sp>
      <p:sp>
        <p:nvSpPr>
          <p:cNvPr id="9" name="Shape 6"/>
          <p:cNvSpPr/>
          <p:nvPr/>
        </p:nvSpPr>
        <p:spPr>
          <a:xfrm>
            <a:off x="896112" y="314096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0" name="Text 7"/>
          <p:cNvSpPr/>
          <p:nvPr/>
        </p:nvSpPr>
        <p:spPr>
          <a:xfrm>
            <a:off x="896112" y="31409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499616" y="2935224"/>
            <a:ext cx="9777679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警備業法15条 ― 特別な権限はない。立場は私人。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15 — no special authority. You act as a private citizen.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40080" y="4023360"/>
            <a:ext cx="10911535" cy="1014984"/>
          </a:xfrm>
          <a:prstGeom prst="roundRect">
            <a:avLst>
              <a:gd name="adj" fmla="val 4505"/>
            </a:avLst>
          </a:prstGeom>
          <a:solidFill>
            <a:srgbClr val="EFF4F8"/>
          </a:solidFill>
          <a:ln/>
        </p:spPr>
      </p:sp>
      <p:sp>
        <p:nvSpPr>
          <p:cNvPr id="13" name="Shape 10"/>
          <p:cNvSpPr/>
          <p:nvPr/>
        </p:nvSpPr>
        <p:spPr>
          <a:xfrm>
            <a:off x="896112" y="4338828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4" name="Text 11"/>
          <p:cNvSpPr/>
          <p:nvPr/>
        </p:nvSpPr>
        <p:spPr>
          <a:xfrm>
            <a:off x="896112" y="4338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499616" y="4133088"/>
            <a:ext cx="9777679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警察官にある権限（職務質問、保護、制止、立入等）は警備員にはない。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powers such as stop-and-question, custody, and entry do not apply to guards.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640080" y="5221224"/>
            <a:ext cx="10911535" cy="1014984"/>
          </a:xfrm>
          <a:prstGeom prst="roundRect">
            <a:avLst>
              <a:gd name="adj" fmla="val 4505"/>
            </a:avLst>
          </a:prstGeom>
          <a:solidFill>
            <a:srgbClr val="F7FAFC"/>
          </a:solidFill>
          <a:ln/>
        </p:spPr>
      </p:sp>
      <p:sp>
        <p:nvSpPr>
          <p:cNvPr id="17" name="Shape 14"/>
          <p:cNvSpPr/>
          <p:nvPr/>
        </p:nvSpPr>
        <p:spPr>
          <a:xfrm>
            <a:off x="896112" y="5536692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8" name="Text 15"/>
          <p:cNvSpPr/>
          <p:nvPr/>
        </p:nvSpPr>
        <p:spPr>
          <a:xfrm>
            <a:off x="896112" y="55366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499616" y="5330952"/>
            <a:ext cx="9777679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本コマでは、その限界を条文と罪名で確認します。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 sets out those limits, with statutes and offence names.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日本の法律用語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Legal Terms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49961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日本国内では日本の法律が適用されます。母国の制度と同じとは限りません。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law applies in Japan. It may differ from the system in your home country.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194560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248031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248031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43584" y="2267712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私人　shijin ― 警備員も法的には私人。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citizen. Your legal status, even in uniform.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33008" y="2194560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6415888" y="248031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1" name="Text 8"/>
          <p:cNvSpPr/>
          <p:nvPr/>
        </p:nvSpPr>
        <p:spPr>
          <a:xfrm>
            <a:off x="6415888" y="248031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36512" y="2267712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管理権者　kanri-kensha ― 施設を管理する権限をもつ者。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authority. Your powers come from them.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241548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22960" y="3527298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352729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43584" y="3314700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　genkōhan-taiho ― 明白かつ直後であること。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Flagrant-offender arrest. Must be obvious and immediate.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33008" y="3241548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6415888" y="3527298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9" name="Text 16"/>
          <p:cNvSpPr/>
          <p:nvPr/>
        </p:nvSpPr>
        <p:spPr>
          <a:xfrm>
            <a:off x="6415888" y="352729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836512" y="3314700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　seitō-bōei ― 侵害が終われば終わる。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Self-defence. It ends when the attack ends.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40080" y="4288536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822960" y="457428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457428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243584" y="4361688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緊急避難　kinkyū-hinan ― 害の釣り合いが必要。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Necessity. Harm caused must not exceed harm avoided.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233008" y="4288536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6415888" y="457428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6415888" y="457428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836512" y="4361688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自救行為　jikyū-kōi ― 日本では原則認められない。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Self-help. As a rule, not permitted in Japan.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40080" y="5335524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22960" y="562127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31" name="Text 28"/>
          <p:cNvSpPr/>
          <p:nvPr/>
        </p:nvSpPr>
        <p:spPr>
          <a:xfrm>
            <a:off x="822960" y="56212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1243584" y="5408676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有形力　yūkeiryoku ― 相手に触れた時点で有形力。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force. Touching the person is already force.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5335524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34" name="Shape 31"/>
          <p:cNvSpPr/>
          <p:nvPr/>
        </p:nvSpPr>
        <p:spPr>
          <a:xfrm>
            <a:off x="6415888" y="562127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35" name="Text 32"/>
          <p:cNvSpPr/>
          <p:nvPr/>
        </p:nvSpPr>
        <p:spPr>
          <a:xfrm>
            <a:off x="6415888" y="56212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836512" y="5408676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不退去　futaikyo ― 退去要請は管理権者の意思による。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Refusing to leave. The request must come from the authority.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権限と限界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and Its Limits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0080" y="1627632"/>
            <a:ext cx="5318608" cy="2176272"/>
          </a:xfrm>
          <a:prstGeom prst="roundRect">
            <a:avLst>
              <a:gd name="adj" fmla="val 2101"/>
            </a:avLst>
          </a:prstGeom>
          <a:solidFill>
            <a:srgbClr val="EFF4F8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" y="1865376"/>
            <a:ext cx="384048" cy="384048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" y="1865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389888" y="1847088"/>
            <a:ext cx="4331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誰でもできる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to any person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96112" y="2596896"/>
            <a:ext cx="4806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現行犯逮捕（刑訴法213条）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正当防衛（刑法36条）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緊急避難（刑法37条）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Citizen's arrest (CCP Art. 213). Self-defence (Penal Code Art. 36). Necessity (Art. 37).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33008" y="1627632"/>
            <a:ext cx="5318608" cy="2176272"/>
          </a:xfrm>
          <a:prstGeom prst="roundRect">
            <a:avLst>
              <a:gd name="adj" fmla="val 2101"/>
            </a:avLst>
          </a:prstGeom>
          <a:solidFill>
            <a:srgbClr val="E4F4F0"/>
          </a:solidFill>
          <a:ln/>
        </p:spPr>
      </p:sp>
      <p:sp>
        <p:nvSpPr>
          <p:cNvPr id="10" name="Shape 7"/>
          <p:cNvSpPr/>
          <p:nvPr/>
        </p:nvSpPr>
        <p:spPr>
          <a:xfrm>
            <a:off x="6470752" y="1865376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6470752" y="1865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982816" y="1847088"/>
            <a:ext cx="4331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委ねられてできる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Delegated by the site authority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89040" y="2596896"/>
            <a:ext cx="4806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入館の可否の判断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退去の要請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立入制限、記録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admission. Requesting a person to leave. Restricting access. Keeping records.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0080" y="4059936"/>
            <a:ext cx="5318608" cy="2176272"/>
          </a:xfrm>
          <a:prstGeom prst="roundRect">
            <a:avLst>
              <a:gd name="adj" fmla="val 2101"/>
            </a:avLst>
          </a:prstGeom>
          <a:solidFill>
            <a:srgbClr val="EFF4F8"/>
          </a:solidFill>
          <a:ln/>
        </p:spPr>
      </p:sp>
      <p:sp>
        <p:nvSpPr>
          <p:cNvPr id="15" name="Shape 12"/>
          <p:cNvSpPr/>
          <p:nvPr/>
        </p:nvSpPr>
        <p:spPr>
          <a:xfrm>
            <a:off x="877824" y="4297680"/>
            <a:ext cx="384048" cy="384048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6" name="Text 13"/>
          <p:cNvSpPr/>
          <p:nvPr/>
        </p:nvSpPr>
        <p:spPr>
          <a:xfrm>
            <a:off x="877824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389888" y="4279392"/>
            <a:ext cx="4331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できない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available to you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96112" y="5029200"/>
            <a:ext cx="4806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所持品検査の強制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取り調べ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実力による取戻し（自救行為）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Forcing a bag search. Interrogation. Recovering property by force.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33008" y="4059936"/>
            <a:ext cx="5318608" cy="2176272"/>
          </a:xfrm>
          <a:prstGeom prst="roundRect">
            <a:avLst>
              <a:gd name="adj" fmla="val 2101"/>
            </a:avLst>
          </a:prstGeom>
          <a:solidFill>
            <a:srgbClr val="EFF4F8"/>
          </a:solidFill>
          <a:ln/>
        </p:spPr>
      </p:sp>
      <p:sp>
        <p:nvSpPr>
          <p:cNvPr id="20" name="Shape 17"/>
          <p:cNvSpPr/>
          <p:nvPr/>
        </p:nvSpPr>
        <p:spPr>
          <a:xfrm>
            <a:off x="6470752" y="4297680"/>
            <a:ext cx="384048" cy="384048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1" name="Text 18"/>
          <p:cNvSpPr/>
          <p:nvPr/>
        </p:nvSpPr>
        <p:spPr>
          <a:xfrm>
            <a:off x="6470752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982816" y="4279392"/>
            <a:ext cx="4331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越えた場合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exceed it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489040" y="5029200"/>
            <a:ext cx="4806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逮捕監禁罪、暴行罪、傷害罪、強要罪。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会社は Reputation を失います。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Unlawful confinement, assault, injury, coercion. The company also loses reputation.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Arrest of a Flagrant Offender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0080" y="1627632"/>
            <a:ext cx="10911535" cy="2395728"/>
          </a:xfrm>
          <a:prstGeom prst="roundRect">
            <a:avLst>
              <a:gd name="adj" fmla="val 1908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1097280" y="1938528"/>
            <a:ext cx="9997135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現行犯人は、何人でも、逮捕状なくしてこれを逮捕することができる。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1097280" y="2971800"/>
            <a:ext cx="9997135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person may arrest a flagrant offender without a warrant.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097280" y="3639312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刑事訴訟法 第213条 / Code of Criminal Procedure, Art. 213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40080" y="4937760"/>
            <a:ext cx="10911535" cy="1298448"/>
          </a:xfrm>
          <a:prstGeom prst="roundRect">
            <a:avLst>
              <a:gd name="adj" fmla="val 3521"/>
            </a:avLst>
          </a:prstGeom>
          <a:solidFill>
            <a:srgbClr val="E4F4F0"/>
          </a:solidFill>
          <a:ln/>
        </p:spPr>
      </p:sp>
      <p:sp>
        <p:nvSpPr>
          <p:cNvPr id="9" name="Shape 6"/>
          <p:cNvSpPr/>
          <p:nvPr/>
        </p:nvSpPr>
        <p:spPr>
          <a:xfrm>
            <a:off x="914400" y="5404104"/>
            <a:ext cx="365760" cy="365760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404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499616" y="5047488"/>
            <a:ext cx="972281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要件は、犯罪と犯人が明白であること、そして時間的に接着していることです。疑いだけでは足りません。越えた場合は逮捕監禁罪に当たります。</a:t>
            </a:r>
            <a:endParaRPr lang="en-US" sz="14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00" i="1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offence and the offender must be obvious, and the act immediate. Suspicion is not enough. Going beyond this is unlawful confinement.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逮捕後は直ちに引き渡す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an Arrest, Hand Over Immediately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刑事訴訟法第214条 ― 直ちに検察官または司法警察職員に引き渡さなければなりません。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CCP Art. 214 — the person must be handed to a prosecutor or judicial police official without delay.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7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事務所に留め置いて事情を聞くことはできません。取り調べる権限はありません。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hold the person in the office to question them. You have no power to interrogate.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書面へのサインを求めることはできません。強要に当たる場合があります。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ask them to sign a statement. This can amount to coercion.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私物の確認は、同意がなければできません。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examine their belongings without consent.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8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行うことは3つです。安全の確保、警察への引継ぎ、記録。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tasks: secure safety, hand over to police, keep a record.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所持品検査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 Checks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0080" y="1627632"/>
            <a:ext cx="10911535" cy="1014984"/>
          </a:xfrm>
          <a:prstGeom prst="roundRect">
            <a:avLst>
              <a:gd name="adj" fmla="val 4505"/>
            </a:avLst>
          </a:prstGeom>
          <a:solidFill>
            <a:srgbClr val="EFF4F8"/>
          </a:solidFill>
          <a:ln/>
        </p:spPr>
      </p:sp>
      <p:sp>
        <p:nvSpPr>
          <p:cNvPr id="5" name="Shape 2"/>
          <p:cNvSpPr/>
          <p:nvPr/>
        </p:nvSpPr>
        <p:spPr>
          <a:xfrm>
            <a:off x="896112" y="1943100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6" name="Text 3"/>
          <p:cNvSpPr/>
          <p:nvPr/>
        </p:nvSpPr>
        <p:spPr>
          <a:xfrm>
            <a:off x="896112" y="19431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499616" y="1737360"/>
            <a:ext cx="9777679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権限規定はありません。相手の任意の同意がある場合に限られます。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statutory power. It requires the person's voluntary consent.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" y="2825496"/>
            <a:ext cx="10911535" cy="1014984"/>
          </a:xfrm>
          <a:prstGeom prst="roundRect">
            <a:avLst>
              <a:gd name="adj" fmla="val 4505"/>
            </a:avLst>
          </a:prstGeom>
          <a:solidFill>
            <a:srgbClr val="F7FAFC"/>
          </a:solidFill>
          <a:ln/>
        </p:spPr>
      </p:sp>
      <p:sp>
        <p:nvSpPr>
          <p:cNvPr id="9" name="Shape 6"/>
          <p:cNvSpPr/>
          <p:nvPr/>
        </p:nvSpPr>
        <p:spPr>
          <a:xfrm>
            <a:off x="896112" y="314096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0" name="Text 7"/>
          <p:cNvSpPr/>
          <p:nvPr/>
        </p:nvSpPr>
        <p:spPr>
          <a:xfrm>
            <a:off x="896112" y="31409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499616" y="2935224"/>
            <a:ext cx="9777679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断ることができない状況での同意は、同意になりません。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given where refusal was not possible is not consent.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40080" y="4023360"/>
            <a:ext cx="10911535" cy="1014984"/>
          </a:xfrm>
          <a:prstGeom prst="roundRect">
            <a:avLst>
              <a:gd name="adj" fmla="val 4505"/>
            </a:avLst>
          </a:prstGeom>
          <a:solidFill>
            <a:srgbClr val="EFF4F8"/>
          </a:solidFill>
          <a:ln/>
        </p:spPr>
      </p:sp>
      <p:sp>
        <p:nvSpPr>
          <p:cNvPr id="13" name="Shape 10"/>
          <p:cNvSpPr/>
          <p:nvPr/>
        </p:nvSpPr>
        <p:spPr>
          <a:xfrm>
            <a:off x="896112" y="4338828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4" name="Text 11"/>
          <p:cNvSpPr/>
          <p:nvPr/>
        </p:nvSpPr>
        <p:spPr>
          <a:xfrm>
            <a:off x="896112" y="4338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499616" y="4133088"/>
            <a:ext cx="9777679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依頼の形で伝えます。「ご協力いただけますか」。命令にしません。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Ask, do not order: "Would you be willing to help us?"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640080" y="5221224"/>
            <a:ext cx="10911535" cy="1014984"/>
          </a:xfrm>
          <a:prstGeom prst="roundRect">
            <a:avLst>
              <a:gd name="adj" fmla="val 4505"/>
            </a:avLst>
          </a:prstGeom>
          <a:solidFill>
            <a:srgbClr val="F7FAFC"/>
          </a:solidFill>
          <a:ln/>
        </p:spPr>
      </p:sp>
      <p:sp>
        <p:nvSpPr>
          <p:cNvPr id="17" name="Shape 14"/>
          <p:cNvSpPr/>
          <p:nvPr/>
        </p:nvSpPr>
        <p:spPr>
          <a:xfrm>
            <a:off x="896112" y="5536692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8" name="Text 15"/>
          <p:cNvSpPr/>
          <p:nvPr/>
        </p:nvSpPr>
        <p:spPr>
          <a:xfrm>
            <a:off x="896112" y="55366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499616" y="5330952"/>
            <a:ext cx="9777679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拒否された場合は引き止めません。判断を警察または管理権者へ渡します。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refused, do not detain. Pass the decision to the police or the site authority.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正当防衛・緊急避難・自救行為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Self-Defence, Necessity, and Self-Help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0080" y="2446020"/>
            <a:ext cx="3454298" cy="2971800"/>
          </a:xfrm>
          <a:prstGeom prst="roundRect">
            <a:avLst>
              <a:gd name="adj" fmla="val 1538"/>
            </a:avLst>
          </a:prstGeom>
          <a:solidFill>
            <a:srgbClr val="EFF4F8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" y="2683764"/>
            <a:ext cx="384048" cy="384048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" y="26837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389888" y="2665476"/>
            <a:ext cx="24667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 — Penal Code Art. 36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96112" y="3415284"/>
            <a:ext cx="294223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急迫不正の侵害に対し、やむを得ずした行為。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侵害が終われば終わります。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越えた場合：過剰防衛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unavoidable act against an imminent unlawful attack. It ends when the attack ends. Beyond that: excessive defence.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68698" y="2446020"/>
            <a:ext cx="3454298" cy="2971800"/>
          </a:xfrm>
          <a:prstGeom prst="roundRect">
            <a:avLst>
              <a:gd name="adj" fmla="val 1538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4606442" y="2683764"/>
            <a:ext cx="384048" cy="384048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1" name="Text 8"/>
          <p:cNvSpPr/>
          <p:nvPr/>
        </p:nvSpPr>
        <p:spPr>
          <a:xfrm>
            <a:off x="4606442" y="26837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118506" y="2665476"/>
            <a:ext cx="24667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緊急避難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 — Penal Code Art. 37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624730" y="3415284"/>
            <a:ext cx="294223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現在の危難を避けるための行為。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生じた害が、避けようとした害を超えないこと。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越えた場合：過剰避難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 to avoid a present danger. The harm caused must not exceed the harm avoided. Beyond that: excessive necessity.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97317" y="2446020"/>
            <a:ext cx="3454298" cy="2971800"/>
          </a:xfrm>
          <a:prstGeom prst="roundRect">
            <a:avLst>
              <a:gd name="adj" fmla="val 1538"/>
            </a:avLst>
          </a:prstGeom>
          <a:solidFill>
            <a:srgbClr val="EFF4F8"/>
          </a:solidFill>
          <a:ln/>
        </p:spPr>
      </p:sp>
      <p:sp>
        <p:nvSpPr>
          <p:cNvPr id="15" name="Shape 12"/>
          <p:cNvSpPr/>
          <p:nvPr/>
        </p:nvSpPr>
        <p:spPr>
          <a:xfrm>
            <a:off x="8335061" y="2683764"/>
            <a:ext cx="384048" cy="384048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6" name="Text 13"/>
          <p:cNvSpPr/>
          <p:nvPr/>
        </p:nvSpPr>
        <p:spPr>
          <a:xfrm>
            <a:off x="8335061" y="26837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847125" y="2665476"/>
            <a:ext cx="24667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自救行為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Self-help — no statutory basis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353349" y="3415284"/>
            <a:ext cx="294223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明文の規定はありません。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原則として認められません。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盗まれた物を実力で取り返さないこと。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statutory basis. As a rule it is not permitted. Do not recover stolen property by force.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有形力の行使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Physical Force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説得は有形力ではありません。相手の身体の自由に干渉した時点から有形力です。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Persuasion is not force. Force begins when you interfere with the person's freedom of movement.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7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声をかける ― 有形力ではありません。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 to someone is not force.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立ち位置で示す ― 有形力ではありません。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yourself is not force.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進路に立ちふさがる ― ここが境界です。目的と必要性を説明できますか。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the path is the boundary. Can you explain the purpose and the need?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8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触れる、つかむ ― 正当防衛か現行犯逮捕に伴う場合に限られます。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Touching or seizing is limited to self-defence or a lawful arrest.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カメラ画像と入退室ログ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Footage and Access Logs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カメラ画像も入退室ログも、個人情報になりえます。警備が最も日常的に扱う情報資産です。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footage and access logs can be personal data. They are the information assets guards handle most often.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7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目的外に見ません。関心があるという理由で再生しません。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view them outside their purpose. Curiosity is not a reason.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持ち出さない、撮影しない、投稿しない。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remove, photograph, or post them.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閲覧できる者を限ります。閲覧した事実も記録します。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who may view them. Record that a viewing took place.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8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社内規程は法令を超えられません。規程が権限を作ることはありません。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rules cannot override the law. A rule cannot create legal authority.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TTX① 社内の持ち出しを現認した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① — Witnessing an Internal Removal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0080" y="1627632"/>
            <a:ext cx="10911535" cy="1700784"/>
          </a:xfrm>
          <a:prstGeom prst="roundRect">
            <a:avLst>
              <a:gd name="adj" fmla="val 2688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1024128" y="1810512"/>
            <a:ext cx="10143439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状況付与  </a:t>
            </a:r>
            <a:pPr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050" dirty="0"/>
          </a:p>
          <a:p>
            <a:pPr indent="0" marL="0">
              <a:lnSpc>
                <a:spcPct val="9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時。退社しようとする従業員のバッグから、会社備品のノートPCが見えている。声をかけると「部長の許可は取ってある」と言い、立ち止まらない。持ち出し許可証の運用は先月変更されたばかりで、あなたは新しい様式を見たことがない。</a:t>
            </a:r>
            <a:endParaRPr lang="en-US" sz="1050" dirty="0"/>
          </a:p>
          <a:p>
            <a:pPr indent="0" marL="0">
              <a:lnSpc>
                <a:spcPct val="96000"/>
              </a:lnSpc>
              <a:buNone/>
            </a:pPr>
            <a:r>
              <a:rPr lang="en-US" sz="95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20:00. A company laptop is visible in the bag of an employee who is leaving. They say "I have the director's permission" and keep walking. The removal-permit procedure changed last month and you have not seen the new form.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40080" y="3566160"/>
            <a:ext cx="10911535" cy="374904"/>
          </a:xfrm>
          <a:prstGeom prst="roundRect">
            <a:avLst>
              <a:gd name="adj" fmla="val 9756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59536" y="3589020"/>
            <a:ext cx="329184" cy="329184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59536" y="35890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335024" y="3621024"/>
            <a:ext cx="9960559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これは犯罪か、それとも確認が必要な事象か。判断の根拠は何か。</a:t>
            </a:r>
            <a:endParaRPr lang="en-US" sz="13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crime, or something that needs checking? On what basis?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" y="4032504"/>
            <a:ext cx="10911535" cy="374904"/>
          </a:xfrm>
          <a:prstGeom prst="roundRect">
            <a:avLst>
              <a:gd name="adj" fmla="val 9756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4055364"/>
            <a:ext cx="329184" cy="329184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59536" y="40553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335024" y="4087368"/>
            <a:ext cx="9960559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いま「私人」か「補助者」か。それぞれで何ができるか。</a:t>
            </a:r>
            <a:endParaRPr lang="en-US" sz="13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you acting as a citizen or as a delegated agent? What does each allow?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0080" y="4498848"/>
            <a:ext cx="10911535" cy="374904"/>
          </a:xfrm>
          <a:prstGeom prst="roundRect">
            <a:avLst>
              <a:gd name="adj" fmla="val 9756"/>
            </a:avLst>
          </a:prstGeom>
          <a:solidFill>
            <a:srgbClr val="EFF4F8"/>
          </a:solidFill>
          <a:ln/>
        </p:spPr>
      </p:sp>
      <p:sp>
        <p:nvSpPr>
          <p:cNvPr id="15" name="Shape 12"/>
          <p:cNvSpPr/>
          <p:nvPr/>
        </p:nvSpPr>
        <p:spPr>
          <a:xfrm>
            <a:off x="859536" y="4521708"/>
            <a:ext cx="329184" cy="329184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59536" y="45217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335024" y="4553712"/>
            <a:ext cx="9960559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許可証の様式を知らないことは、判断にどう影響するか。</a:t>
            </a:r>
            <a:endParaRPr lang="en-US" sz="13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know the new form. How does that affect your decision?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40080" y="4965192"/>
            <a:ext cx="10911535" cy="374904"/>
          </a:xfrm>
          <a:prstGeom prst="roundRect">
            <a:avLst>
              <a:gd name="adj" fmla="val 9756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59536" y="4988052"/>
            <a:ext cx="329184" cy="329184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59536" y="49880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335024" y="5020056"/>
            <a:ext cx="9960559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誰に、何分以内に、何を報告するか。</a:t>
            </a:r>
            <a:endParaRPr lang="en-US" sz="13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 you report to, within what time, and with what content?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40080" y="5486400"/>
            <a:ext cx="10911535" cy="749808"/>
          </a:xfrm>
          <a:prstGeom prst="roundRect">
            <a:avLst>
              <a:gd name="adj" fmla="val 4878"/>
            </a:avLst>
          </a:prstGeom>
          <a:solidFill>
            <a:srgbClr val="E4F4F0"/>
          </a:solidFill>
          <a:ln/>
        </p:spPr>
      </p:sp>
      <p:sp>
        <p:nvSpPr>
          <p:cNvPr id="23" name="Text 20"/>
          <p:cNvSpPr/>
          <p:nvPr/>
        </p:nvSpPr>
        <p:spPr>
          <a:xfrm>
            <a:off x="914400" y="5559552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  </a:t>
            </a:r>
            <a:pPr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  </a:t>
            </a:r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相手はそのまま出口へ向かった。追うか、追わないか。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head for the exit. Do you follow, or not?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TTX① 講評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① — Debrief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0080" y="1627632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EFF4F8"/>
          </a:solidFill>
          <a:ln/>
        </p:spPr>
      </p:sp>
      <p:sp>
        <p:nvSpPr>
          <p:cNvPr id="5" name="Shape 2"/>
          <p:cNvSpPr/>
          <p:nvPr/>
        </p:nvSpPr>
        <p:spPr>
          <a:xfrm>
            <a:off x="896112" y="185257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6" name="Text 3"/>
          <p:cNvSpPr/>
          <p:nvPr/>
        </p:nvSpPr>
        <p:spPr>
          <a:xfrm>
            <a:off x="896112" y="18525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499616" y="1737360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相手が従業員の場合、権利の所在が不明確です。現行犯逮捕の明白性は満たしにくい。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person is an employee, ownership is unclear. The obviousness test is rarely met.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" y="2571293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F7FAFC"/>
          </a:solidFill>
          <a:ln/>
        </p:spPr>
      </p:sp>
      <p:sp>
        <p:nvSpPr>
          <p:cNvPr id="9" name="Shape 6"/>
          <p:cNvSpPr/>
          <p:nvPr/>
        </p:nvSpPr>
        <p:spPr>
          <a:xfrm>
            <a:off x="896112" y="2796235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0" name="Text 7"/>
          <p:cNvSpPr/>
          <p:nvPr/>
        </p:nvSpPr>
        <p:spPr>
          <a:xfrm>
            <a:off x="896112" y="279623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499616" y="2681021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できるのは委ねられた範囲です。確認の依頼、記録、報告。強制はできません。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may request, record and report, within what was delegated. You may not compel.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40080" y="3514954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EFF4F8"/>
          </a:solidFill>
          <a:ln/>
        </p:spPr>
      </p:sp>
      <p:sp>
        <p:nvSpPr>
          <p:cNvPr id="13" name="Shape 10"/>
          <p:cNvSpPr/>
          <p:nvPr/>
        </p:nvSpPr>
        <p:spPr>
          <a:xfrm>
            <a:off x="896112" y="3739896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4" name="Text 11"/>
          <p:cNvSpPr/>
          <p:nvPr/>
        </p:nvSpPr>
        <p:spPr>
          <a:xfrm>
            <a:off x="896112" y="3739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499616" y="3624682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追跡しない判断も成り立ちます。安全と信用への影響を考慮します。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not to follow is also valid. Consider the effect on safety and reputation.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640080" y="4458614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F7FAFC"/>
          </a:solidFill>
          <a:ln/>
        </p:spPr>
      </p:sp>
      <p:sp>
        <p:nvSpPr>
          <p:cNvPr id="17" name="Shape 14"/>
          <p:cNvSpPr/>
          <p:nvPr/>
        </p:nvSpPr>
        <p:spPr>
          <a:xfrm>
            <a:off x="896112" y="4683557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8" name="Text 15"/>
          <p:cNvSpPr/>
          <p:nvPr/>
        </p:nvSpPr>
        <p:spPr>
          <a:xfrm>
            <a:off x="896112" y="46835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499616" y="4568342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許可証の様式が不明なときは、断定せず、確認できる者に確認します。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do not know the form, do not conclude. Ask someone who can confirm.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640080" y="5402275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EFF4F8"/>
          </a:solidFill>
          <a:ln/>
        </p:spPr>
      </p:sp>
      <p:sp>
        <p:nvSpPr>
          <p:cNvPr id="21" name="Shape 18"/>
          <p:cNvSpPr/>
          <p:nvPr/>
        </p:nvSpPr>
        <p:spPr>
          <a:xfrm>
            <a:off x="896112" y="5627218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2" name="Text 19"/>
          <p:cNvSpPr/>
          <p:nvPr/>
        </p:nvSpPr>
        <p:spPr>
          <a:xfrm>
            <a:off x="896112" y="56272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499616" y="5512003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記録します。時刻、品目、型番、会話内容を事実として残します。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it: time, item, model number, and what was said, as fact.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第2時限｜基本教育2 警備業法その他警備業務の適正な実施に必要な法令</dc:title>
  <dc:subject>PptxGenJS Presentation</dc:subject>
  <dc:creator>警備員指導教育責任者</dc:creator>
  <cp:lastModifiedBy>警備員指導教育責任者</cp:lastModifiedBy>
  <cp:revision>1</cp:revision>
  <dcterms:created xsi:type="dcterms:W3CDTF">2026-08-10T13:22:24Z</dcterms:created>
  <dcterms:modified xsi:type="dcterms:W3CDTF">2026-08-10T13:22:24Z</dcterms:modified>
</cp:coreProperties>
</file>