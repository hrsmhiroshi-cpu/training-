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　08:05 – 09:05　基本教育2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— Basic Training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警備業法その他警備業務の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適正な実施に必要な法令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039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Services Act and Other Applicable Law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日本の法律用語（1/2）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Legal Terms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日本国内では日本の法律が適用されます。母国の制度と同じとは限りません。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law applies in Japan. It may differ from the system in your home country.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3209544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351129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3282696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私人　shijin ― 警備員も法的には私人。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citizen. Your legal status, even in uniform.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33008" y="3209544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351129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3282696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管理権者　kanri-kensha ― 施設を管理する権限をもつ者。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authority. Your powers come from them.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4288536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459028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4361688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　genkōhan-taiho ― 明白かつ直後であること。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Flagrant-offender arrest. Must be obvious and immediate.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233008" y="4288536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459028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4361688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　seitō-bōei ― 侵害が終われば終わる。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Self-defence. It ends when the attack ends.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日本の法律用語（2/2）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Legal Terms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292608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22960" y="322783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243584" y="299923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　kinkyū-hinan ― 害の釣り合いが必要。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Necessity. Harm caused must not exceed harm avoided.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33008" y="292608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6415888" y="322783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6415888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36512" y="299923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　jikyū-kōi ― 日本では原則認められない。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Self-help. As a rule, not permitted in Japan.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00507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3" name="Shape 10"/>
          <p:cNvSpPr/>
          <p:nvPr/>
        </p:nvSpPr>
        <p:spPr>
          <a:xfrm>
            <a:off x="822960" y="430682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243584" y="407822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　yūkeiryoku ― 相手に触れた時点で有形力。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force. Touching the person is already force.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233008" y="400507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6415888" y="430682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8" name="Text 15"/>
          <p:cNvSpPr/>
          <p:nvPr/>
        </p:nvSpPr>
        <p:spPr>
          <a:xfrm>
            <a:off x="64158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36512" y="407822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不退去　futaikyo ― 退去要請は管理権者の意思による。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to leave. The request must come from the authority.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現行犯逮捕と、逮捕後の措置（1/2）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Arrest, and What Follows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現行犯逮捕の要件を述べ、逮捕後にしてよいこととしてはいけないことを区別できる。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the tests for a citizen's arrest, and separate what you may and may not do afterwards.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現行犯逮捕の要件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Tests for a Citizen's Arrest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・刑訴法213条。現行犯人は、何人でも逮捕状なしに逮捕できる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 Art. 213. Any person may arrest a flagrant offender without a warrant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・犯罪が明白であること。「疑い」では足りない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offence must be obvious. Suspicion is not enough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・犯人が明白であること。人違いのリスクは自分が負う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offender must be obvious. You carry the risk of misidentification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・時間的に接着していること。時間が空くと成立しない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be immediate. Once time has passed it no longer applies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準現行犯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Quasi-Flagrant Offenders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・刑訴法212条2項。犯行直後と明らかに認められる者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 Art. 212(2). A person clearly recognised as being just after the act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・贓物や凶器の所持、身体・衣服への犯罪の痕跡などが要件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include possession of stolen goods or a weapon, or traces on body or clothing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・「さっき出て行った人」を後から追うことには当たらない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"the person who left earlier" does not qualify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・判断に迷う場合は逮捕しない。追跡もしない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unsure, do not arrest. Do not pursue either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逮捕に至った場合の社内連絡順序と、クライアントへの報告方法は現場ごとに異なる。Site SOPに従う。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notification order and client reporting after an arrest differ by site. Follow the Site SOP.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現行犯逮捕と、逮捕後の措置（2/2）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Arrest, and What Follows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逮捕後にすること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Do After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・刑訴法214条。直ちに検察官または司法警察職員に引き渡す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 Art. 214. Hand the person to a prosecutor or judicial police official without delay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・相手と自分の安全を確保する。第三者を近づけない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the safety of both parties. Keep third parties away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・経過を記録する。時刻、場所、行為、発言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sequence: time, place, actions, and what was said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・上長へ即時報告する。判断が固まる前でよい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to your supervisor immediately. You do not need a conclusion first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逮捕後にしてはいけないこと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Must Not Do After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・事務所に留め置いて事情を聞く。取り調べる権限はない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the person to question them. You have no power to interrogate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・書面へのサインを求める。強要に当たりうる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them to sign a statement. This can amount to coercion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・同意なく私物を確認する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Examining their belongings without consent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・写真を撮る、SNSに上げる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Photographing them, or posting anything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逮捕に至った場合の社内連絡順序と、クライアントへの報告方法は現場ごとに異なる。Site SOPに従う。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notification order and client reporting after an arrest differ by site. Follow the Site SOP.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正当防衛・緊急避難・自救行為・有形力（1/2）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Self-Defence, Necessity, Self-Help, and Force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自分の行為がどこまで許され、どこから罪になるかの境界を説明できる。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how far your action is permitted, and where it becomes an offence.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正当防衛（刑法36条）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・急迫不正の侵害に対し、やむを得ずした行為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unavoidable act against an imminent and unlawful attack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・侵害が終われば権利も終わる。倒れた相手を押さえ続けない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ends with the attack. Do not keep holding someone already down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・逃げられる場合に逃げることは、弱さではなく正しい選択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Withdrawing when you can is the correct choice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・越えた場合は過剰防衛（36条2項）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that it is excessive defence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緊急避難（刑法37条）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・現在の危難を避けるため、やむを得ずした行為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unavoidable act to escape a present danger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・生じた害が、避けようとした害を超えないこと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 caused must not exceed the harm avoided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・避難のために他人の物を壊す場合は、釣り合いを検討する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break property to escape, weigh the balance first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・越えた場合は過剰避難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that it is excessive necessity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護身用具の有無と使用基準は現場ごとに異なる。配備がない現場では使用を前提としない。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protective equipment is issued, and the rules for it, differ by site.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正当防衛・緊急避難・自救行為・有形力（2/2）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Self-Defence, Necessity, Self-Help, and Force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・明文の規定がなく、原則として認められない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statutory basis, and it is not permitted as a rule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・盗まれた物を実力で取り返さない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recover stolen property by force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・相手の持ち物を取り上げて確認しない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take someone's possessions to inspect them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・取り返すのではなく、記録して警察に渡す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recover it. Record it and hand the matter to the police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有形力の段階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of Physical Force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・声をかける。有形力ではない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 to someone. Not force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・立ち位置で示す。まだ有形力ではない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yourself. Still not force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・進路に立ちふさがる。ここが境界。目的と必要性を説明できるか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the path. This is the boundary. Can you justify it?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・触れる、つかむ。正当防衛か現行犯逮捕に伴う場合に限る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or seizing. Only incidental to self-defence or a lawful arrest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護身用具の有無と使用基準は現場ごとに異なる。配備がない現場では使用を前提としない。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protective equipment is issued, and the rules for it, differ by site.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企業法務リスク（1/2）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Legal Risk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警備が日常的に扱う情報が、どの法律に触れうるかを説明できる。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which laws apply to the information security handles every day.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カメラ画像と入退室ログ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and Access Logs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・個人を識別できるものは個人情報になりうる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person can be identified, it can be personal data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・目的外に見ない。関心があるという理由で再生しない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view outside the purpose. Curiosity is not a reason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・持ち出さない、撮影しない、投稿しない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remove, photograph, or post it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・閲覧した事実そのものを記録する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fact that a viewing took place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開示を求められたとき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Asks for Disclosure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・警備員は開示の可否を判断する立場にない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is not in a position to decide on disclosure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・社員から求められても、その場で見せない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show it on the spot, even to an employee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・警察官から求められた場合も、まず上長とクライアントに取り次ぐ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for a police officer, refer first to your supervisor and the client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・身分証の提示を求めることは失礼ではない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to see identification is not rude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カメラ画像の保存期間、閲覧権限、開示手続は現場ごとに異なる。Site SOPと契約による。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Retention, viewing rights and disclosure procedures for footage differ by site.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企業法務リスク（2/2）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Legal Risk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不正競争防止法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Competition Prevention Act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・営業秘密は、秘密管理性・有用性・非公知性の3要件で判断される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 secret is judged by three tests: managed as secret, useful, and not publicly known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・侵害すると刑事罰の対象になりうる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Infringement can carry criminal penalties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・警備員が接する書類・端末・会話も対象になりうる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devices and conversations a guard encounters can fall within it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・「見ただけ」でも、持ち出せば問題になる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you only looked, carrying it out is a problem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社内規程と法令の関係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Rules and the Law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・社内規程は法令を超えられない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rules cannot override the law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・規程が警備員に新しい権限を与えることはない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cannot create new legal authority for a guard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・規程と法令が矛盾する場合は、法令が優先する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conflict, the law prevails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・矛盾に気づいたら、実行せずに上長へ報告する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notice a conflict, report it rather than acting on it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カメラ画像の保存期間、閲覧権限、開示手続は現場ごとに異なる。Site SOPと契約による。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Retention, viewing rights and disclosure procedures for footage differ by site.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　社内の持ち出しを現認した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Witnessing an Internal Removal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243584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時。退社しようとする社員のバッグから、会社備品のノートPCが見えている。声をかけると「部長の許可は取ってある」と言い、立ち止まらない。持ち出し許可証の運用は先月変更されたばかりで、あなたは新しい様式を見たことがない。</a:t>
            </a:r>
            <a:endParaRPr lang="en-US" sz="1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20:00. A company laptop is visible in the bag of an employee who is leaving. They say "I have the director's permission" and keep walking. The removal-permit procedure changed last month and you have not seen the new form.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386584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これは犯罪か、確認が必要な事象か。判断の根拠は何か。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crime, or something that needs checking? On what basis?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許可証の様式を知らないことは、判断にどう影響するか。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know the new form. How does that affect your decision?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その場でできる最小限の手段は何か。できないことは何か。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minimum action available, and what is off-limits?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3864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誰に、何分以内に、何を報告するか。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you report to, within what time, and with what content?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0080" y="497433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00176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無線が入る。「こちら警備長。出口で止めろ。行かせるな。」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Radio: "Security chief here. Stop them at the exit. Do not let them leave."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77256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相手はそのまま出口へ向かった。追うか、追わないか。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head straight for the exit. Do you follow, or not?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持ち出し許可の運用と、確認を求める相手は現場ごとに異なる。Site SOPを確認する。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Removal-permit procedures and who to verify with differ by site. Check the Site SOP.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警備業法、刑法、刑事訴訟法、警察官職務執行法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2-A 模範解答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2-A — Model Answers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715518"/>
          </a:xfrm>
          <a:prstGeom prst="roundRect">
            <a:avLst>
              <a:gd name="adj" fmla="val 5112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29959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29959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179576"/>
            <a:ext cx="10033711" cy="58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犯罪か、確認事項か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確認が必要な事象。社員が会社備品を持つこと自体は犯罪ではなく、明白性を満たさない。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matter to verify. An employee holding company property is not itself a crime, and the obviousness test is not met.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1931670"/>
            <a:ext cx="10911535" cy="715518"/>
          </a:xfrm>
          <a:prstGeom prst="roundRect">
            <a:avLst>
              <a:gd name="adj" fmla="val 5112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115693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11569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1995678"/>
            <a:ext cx="10033711" cy="58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様式を知らないことの影響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判断の根拠にしない。知らないなら確認できる者に確認する。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basis for a decision. If you do not know, ask someone who can confirm.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2747772"/>
            <a:ext cx="10911535" cy="715518"/>
          </a:xfrm>
          <a:prstGeom prst="roundRect">
            <a:avLst>
              <a:gd name="adj" fmla="val 5112"/>
            </a:avLst>
          </a:prstGeom>
          <a:solidFill>
            <a:srgbClr val="E4F4F0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293179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293179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2811780"/>
            <a:ext cx="10033711" cy="58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できること／できないこと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できるのは確認の依頼、記録、報告。強制、取り上げ、進路をふさぐことはできない。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request, record and report. You may not compel, seize, or block their path.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0080" y="3563874"/>
            <a:ext cx="10911535" cy="715518"/>
          </a:xfrm>
          <a:prstGeom prst="roundRect">
            <a:avLst>
              <a:gd name="adj" fmla="val 5112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374789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374789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3627882"/>
            <a:ext cx="10033711" cy="58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誰に何分以内に報告するか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警備責任者へ即時。品目、型番、時刻、会話をそのまま伝える。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supervisor, immediately: item, model, time, and what was said.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438912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416552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無線「出口で止めろ」　→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上位者の指示でも権限は増えない。「実力での制止はできません。記録と報告を行います」と代替案を返す。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from above does not expand your powers. Reply: "I cannot physically stop them. I will record and report."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40080" y="488289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4910328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そのまま出口へ向かった　→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追わない。追跡は有形力に発展しやすく、安全と信用を同時に損なう。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follow. Pursuit escalates into force, and risks both safety and reputation.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5413248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859536" y="5440680"/>
            <a:ext cx="104726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割れる論点　</a:t>
            </a:r>
            <a:pPr indent="0" marL="0">
              <a:lnSpc>
                <a:spcPct val="8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指示に従うか。従うと答えた班には「何をもって止めるのか」を問う。無言で従わないのが最も悪い。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0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obey? Ask those who say yes: by what means? Silent non-compliance is the worst outcome.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注記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模範解答は判断の型を示すものです。実際の手順は各現場のSite SOPと警備指令書が優先します。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answers show a pattern of reasoning. The Site SOP and post orders always take precedence.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警備業法、刑法、刑事訴訟法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　警察官を名乗る人物が来訪者情報を求める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A Person Claiming to Be Police Asks for Visitor Records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243584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午前11時、私服の人物が受付に来る。警察手帳らしきものを示し「捜査中の事案がある。昨日の来訪者名簿と、正面入口のカメラ画像を確認したい」と述べる。上長は外出中で電話に出ない。相手は「急ぐ」と繰り返す。</a:t>
            </a:r>
            <a:endParaRPr lang="en-US" sz="1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11:00. A person in plain clothes comes to reception, shows what appears to be a police ID, and says they need yesterday's visitor list and the front-entrance footage for an ongoing investigation. Your supervisor is out and not answering. The person keeps saying it is urgent.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386584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警察官であることは、その場で開示してよい根拠になるか。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being a police officer make immediate disclosure permissible?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警備員に、開示の可否を判断する権限はあるか。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guard have authority to decide on disclosure?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上長に連絡がつかない場合、何をして、何をしないか。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your supervisor unreachable, what do you do and not do?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3864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相手の身分をどう確認するか。確認を求めてよいか。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verify their identity? May you ask?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0080" y="497433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00176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相手が「令状がなくても任意で協力できるはずだ」と述べた。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"you can cooperate voluntarily, even without a warrant."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77256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相手が「名簿は見せなくていい。ある名前があったかどうかだけ教えてほしい」と述べた。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say: "Then do not show me the list. Just tell me whether a certain name appears."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捜査関係事項照会への対応は、クライアントと自社の法務が決める。警備員は取り次ぐ。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to investigative enquiries are decided by the client and legal. The guard refers, and does not decide.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個人情報保護法、不正競争防止法、経済産業省「営業秘密管理指針」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2-B 模範解答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2-B — Model Answers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4F4F0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37045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37045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179576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警察官であることは根拠になるか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ならない。情報の管理権はクライアントにある。警察官であることは開示の根拠ではない。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The client controls the information. Being a police officer is not a basis for disclosure.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073402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32829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32829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37410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警備員に判断する権限はあるか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ない。取り次ぐところまでが役割。開示の可否は契約とクライアントが決める。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Your role ends at referral. The contract and the client decide.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031236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28612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28612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095244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上長に連絡がつかない場合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緊急連絡体制の次順位者へ。不在を理由に自分で判断しない。待たせることは失礼ではない。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next person on the call-out list. Absence is not authority to decide. Asking them to wait is not rude.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0080" y="3989070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24395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24395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053078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身分をどう確認するか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求めてよい。所属、階級、氏名、連絡先を控える。確認は手続きであり失礼ではない。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Ask. Note the unit, rank, name and contact. Verifying is procedure, not discourtesy.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4956048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983480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「令状がなくても任意で」　→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任意であるからこそ、応じるか否かはクライアントが決める。警備員は応じられない。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 because it is voluntary, the client decides. A guard cannot agree on their behalf.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547725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「名前があったかだけ教えて」　→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同じこと。有無を答えるのも開示。第10時限10-Bと同じ構造。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thing. Confirming yes or no is still disclosure — the same structure as case 10-B.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注記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模範解答は判断の型を示すものです。実際の手順は各現場のSite SOPと警備指令書が優先します。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answers show a pattern of reasoning. The Site SOP and post orders always take precedence.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個人情報保護法、刑事訴訟法、警察官職務執行法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第2時限｜基本教育2 警備業法その他警備業務の適正な実施に必要な法令</dc:title>
  <dc:subject>PptxGenJS Presentation</dc:subject>
  <dc:creator>警備員指導教育責任者</dc:creator>
  <cp:lastModifiedBy>警備員指導教育責任者</cp:lastModifiedBy>
  <cp:revision>1</cp:revision>
  <dcterms:created xsi:type="dcterms:W3CDTF">2026-08-10T22:31:17Z</dcterms:created>
  <dcterms:modified xsi:type="dcterms:W3CDTF">2026-08-10T22:31:17Z</dcterms:modified>
</cp:coreProperties>
</file>