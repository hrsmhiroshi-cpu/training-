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3259"/>
        </a:solidFill>
      </p:bgPr>
    </p:bg>
    <p:spTree>
      <p:nvGrpSpPr>
        <p:cNvPr id="1" name=""/>
        <p:cNvGrpSpPr/>
        <p:nvPr/>
      </p:nvGrpSpPr>
      <p:grpSpPr>
        <a:xfrm>
          <a:off x="0" y="0"/>
          <a:ext cx="0" cy="0"/>
          <a:chOff x="0" y="0"/>
          <a:chExt cx="0" cy="0"/>
        </a:xfrm>
      </p:grpSpPr>
      <p:sp>
        <p:nvSpPr>
          <p:cNvPr id="2" name="Shape 0"/>
          <p:cNvSpPr/>
          <p:nvPr/>
        </p:nvSpPr>
        <p:spPr>
          <a:xfrm>
            <a:off x="10637215" y="219456"/>
            <a:ext cx="1042416" cy="969264"/>
          </a:xfrm>
          <a:prstGeom prst="roundRect">
            <a:avLst>
              <a:gd name="adj" fmla="val 5660"/>
            </a:avLst>
          </a:prstGeom>
          <a:solidFill>
            <a:srgbClr val="FFFFFF"/>
          </a:solidFill>
          <a:ln/>
        </p:spPr>
      </p:sp>
      <p:pic>
        <p:nvPicPr>
          <p:cNvPr id="3"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4" name="Text 1"/>
          <p:cNvSpPr/>
          <p:nvPr/>
        </p:nvSpPr>
        <p:spPr>
          <a:xfrm>
            <a:off x="640080" y="1417320"/>
            <a:ext cx="9692640" cy="640080"/>
          </a:xfrm>
          <a:prstGeom prst="rect">
            <a:avLst/>
          </a:prstGeom>
          <a:noFill/>
          <a:ln/>
        </p:spPr>
        <p:txBody>
          <a:bodyPr wrap="square" lIns="0" tIns="0" rIns="0" bIns="0" rtlCol="0" anchor="t"/>
          <a:lstStyle/>
          <a:p>
            <a:pPr indent="0" marL="0">
              <a:buNone/>
            </a:pPr>
            <a:r>
              <a:rPr lang="en-US" sz="1300" b="1" dirty="0">
                <a:solidFill>
                  <a:srgbClr val="12B198"/>
                </a:solidFill>
                <a:latin typeface="Yu Gothic" pitchFamily="34" charset="0"/>
                <a:ea typeface="Yu Gothic" pitchFamily="34" charset="-122"/>
                <a:cs typeface="Yu Gothic" pitchFamily="34" charset="-120"/>
              </a:rPr>
              <a:t>第9時限　16:55 – 17:55　基本教育4</a:t>
            </a:r>
            <a:endParaRPr lang="en-US" sz="1300" dirty="0"/>
          </a:p>
          <a:p>
            <a:pPr indent="0" marL="0">
              <a:buNone/>
            </a:pPr>
            <a:r>
              <a:rPr lang="en-US" sz="1050" dirty="0">
                <a:solidFill>
                  <a:srgbClr val="A9BCCE"/>
                </a:solidFill>
                <a:latin typeface="Calibri" pitchFamily="34" charset="0"/>
                <a:ea typeface="Calibri" pitchFamily="34" charset="-122"/>
                <a:cs typeface="Calibri" pitchFamily="34" charset="-120"/>
              </a:rPr>
              <a:t>Period 9 — Basic Training 4</a:t>
            </a:r>
            <a:endParaRPr lang="en-US" sz="1300" dirty="0"/>
          </a:p>
        </p:txBody>
      </p:sp>
      <p:sp>
        <p:nvSpPr>
          <p:cNvPr id="5" name="Text 2"/>
          <p:cNvSpPr/>
          <p:nvPr/>
        </p:nvSpPr>
        <p:spPr>
          <a:xfrm>
            <a:off x="640080" y="2212848"/>
            <a:ext cx="9966960" cy="1481328"/>
          </a:xfrm>
          <a:prstGeom prst="rect">
            <a:avLst/>
          </a:prstGeom>
          <a:noFill/>
          <a:ln/>
        </p:spPr>
        <p:txBody>
          <a:bodyPr wrap="square" lIns="0" tIns="0" rIns="0" bIns="0" rtlCol="0" anchor="t"/>
          <a:lstStyle/>
          <a:p>
            <a:pPr indent="0" marL="0">
              <a:lnSpc>
                <a:spcPct val="98000"/>
              </a:lnSpc>
              <a:buNone/>
            </a:pPr>
            <a:r>
              <a:rPr lang="en-US" sz="3600" b="1" dirty="0">
                <a:solidFill>
                  <a:srgbClr val="FFFFFF"/>
                </a:solidFill>
                <a:latin typeface="Yu Gothic" pitchFamily="34" charset="0"/>
                <a:ea typeface="Yu Gothic" pitchFamily="34" charset="-122"/>
                <a:cs typeface="Yu Gothic" pitchFamily="34" charset="-120"/>
              </a:rPr>
              <a:t>事故発生時の警察機関への連絡</a:t>
            </a:r>
            <a:endParaRPr lang="en-US" sz="3600" dirty="0"/>
          </a:p>
          <a:p>
            <a:pPr indent="0" marL="0">
              <a:lnSpc>
                <a:spcPct val="98000"/>
              </a:lnSpc>
              <a:buNone/>
            </a:pPr>
            <a:r>
              <a:rPr lang="en-US" sz="3600" b="1" dirty="0">
                <a:solidFill>
                  <a:srgbClr val="FFFFFF"/>
                </a:solidFill>
                <a:latin typeface="Yu Gothic" pitchFamily="34" charset="0"/>
                <a:ea typeface="Yu Gothic" pitchFamily="34" charset="-122"/>
                <a:cs typeface="Yu Gothic" pitchFamily="34" charset="-120"/>
              </a:rPr>
              <a:t>その他応急の措置</a:t>
            </a:r>
            <a:endParaRPr lang="en-US" sz="3600" dirty="0"/>
          </a:p>
        </p:txBody>
      </p:sp>
      <p:sp>
        <p:nvSpPr>
          <p:cNvPr id="6" name="Text 3"/>
          <p:cNvSpPr/>
          <p:nvPr/>
        </p:nvSpPr>
        <p:spPr>
          <a:xfrm>
            <a:off x="640080" y="3803904"/>
            <a:ext cx="9966960" cy="777240"/>
          </a:xfrm>
          <a:prstGeom prst="rect">
            <a:avLst/>
          </a:prstGeom>
          <a:noFill/>
          <a:ln/>
        </p:spPr>
        <p:txBody>
          <a:bodyPr wrap="square" lIns="0" tIns="0" rIns="0" bIns="0" rtlCol="0" anchor="t"/>
          <a:lstStyle/>
          <a:p>
            <a:pPr indent="0" marL="0">
              <a:buNone/>
            </a:pPr>
            <a:r>
              <a:rPr lang="en-US" sz="1600" i="1" dirty="0">
                <a:solidFill>
                  <a:srgbClr val="9FD8CD"/>
                </a:solidFill>
                <a:latin typeface="Calibri" pitchFamily="34" charset="0"/>
                <a:ea typeface="Calibri" pitchFamily="34" charset="-122"/>
                <a:cs typeface="Calibri" pitchFamily="34" charset="-120"/>
              </a:rPr>
              <a:t>Emergency Reporting and Scene Preservation</a:t>
            </a:r>
            <a:endParaRPr lang="en-US" sz="1600" dirty="0"/>
          </a:p>
        </p:txBody>
      </p:sp>
      <p:sp>
        <p:nvSpPr>
          <p:cNvPr id="7" name="Shape 4"/>
          <p:cNvSpPr/>
          <p:nvPr/>
        </p:nvSpPr>
        <p:spPr>
          <a:xfrm>
            <a:off x="640080" y="4828032"/>
            <a:ext cx="1371600" cy="32004"/>
          </a:xfrm>
          <a:prstGeom prst="rect">
            <a:avLst/>
          </a:prstGeom>
          <a:solidFill>
            <a:srgbClr val="12B198"/>
          </a:solidFill>
          <a:ln/>
        </p:spPr>
      </p:sp>
      <p:sp>
        <p:nvSpPr>
          <p:cNvPr id="8" name="Text 5"/>
          <p:cNvSpPr/>
          <p:nvPr/>
        </p:nvSpPr>
        <p:spPr>
          <a:xfrm>
            <a:off x="640080" y="5120640"/>
            <a:ext cx="9966960" cy="822960"/>
          </a:xfrm>
          <a:prstGeom prst="rect">
            <a:avLst/>
          </a:prstGeom>
          <a:noFill/>
          <a:ln/>
        </p:spPr>
        <p:txBody>
          <a:bodyPr wrap="square" lIns="0" tIns="0" rIns="0" bIns="0" rtlCol="0" anchor="t"/>
          <a:lstStyle/>
          <a:p>
            <a:pPr indent="0" marL="0">
              <a:buNone/>
            </a:pPr>
            <a:r>
              <a:rPr lang="en-US" sz="1200" dirty="0">
                <a:solidFill>
                  <a:srgbClr val="C9D6E2"/>
                </a:solidFill>
                <a:latin typeface="Yu Gothic" pitchFamily="34" charset="0"/>
                <a:ea typeface="Yu Gothic" pitchFamily="34" charset="-122"/>
                <a:cs typeface="Yu Gothic" pitchFamily="34" charset="-120"/>
              </a:rPr>
              <a:t>2026年8月11日（火）　施設警備 現任教育　コーポレートセキュリティ</a:t>
            </a:r>
            <a:endParaRPr lang="en-US" sz="1200" dirty="0"/>
          </a:p>
          <a:p>
            <a:pPr indent="0" marL="0">
              <a:buNone/>
            </a:pPr>
            <a:r>
              <a:rPr lang="en-US" sz="1000" dirty="0">
                <a:solidFill>
                  <a:srgbClr val="8EA3B7"/>
                </a:solidFill>
                <a:latin typeface="Calibri" pitchFamily="34" charset="0"/>
                <a:ea typeface="Calibri" pitchFamily="34" charset="-122"/>
                <a:cs typeface="Calibri" pitchFamily="34" charset="-120"/>
              </a:rPr>
              <a:t>11 Aug 2026 — In-Service Training, Facility Security / Corporate Security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第3時限との役割分担</a:t>
            </a:r>
            <a:endParaRPr lang="en-US" sz="2700" dirty="0"/>
          </a:p>
          <a:p>
            <a:pPr indent="0" marL="0">
              <a:lnSpc>
                <a:spcPct val="94000"/>
              </a:lnSpc>
              <a:buNone/>
            </a:pPr>
            <a:r>
              <a:rPr lang="en-US" sz="1350" dirty="0">
                <a:solidFill>
                  <a:srgbClr val="12B198"/>
                </a:solidFill>
                <a:latin typeface="Calibri" pitchFamily="34" charset="0"/>
                <a:ea typeface="Calibri" pitchFamily="34" charset="-122"/>
                <a:cs typeface="Calibri" pitchFamily="34" charset="-120"/>
              </a:rPr>
              <a:t>How This Session Differs from Period 3</a:t>
            </a:r>
            <a:endParaRPr lang="en-US" sz="2700" dirty="0"/>
          </a:p>
        </p:txBody>
      </p:sp>
      <p:sp>
        <p:nvSpPr>
          <p:cNvPr id="4" name="Text 1"/>
          <p:cNvSpPr/>
          <p:nvPr/>
        </p:nvSpPr>
        <p:spPr>
          <a:xfrm>
            <a:off x="640080" y="1517904"/>
            <a:ext cx="10911535" cy="530352"/>
          </a:xfrm>
          <a:prstGeom prst="rect">
            <a:avLst/>
          </a:prstGeom>
          <a:noFill/>
          <a:ln/>
        </p:spPr>
        <p:txBody>
          <a:bodyPr wrap="square" lIns="0" tIns="0" rIns="0" bIns="0" rtlCol="0" anchor="t"/>
          <a:lstStyle/>
          <a:p>
            <a:pPr algn="l" indent="0" marL="0">
              <a:lnSpc>
                <a:spcPct val="92000"/>
              </a:lnSpc>
              <a:buNone/>
            </a:pPr>
            <a:r>
              <a:rPr lang="en-US" sz="1300" dirty="0">
                <a:solidFill>
                  <a:srgbClr val="093259"/>
                </a:solidFill>
                <a:latin typeface="Yu Gothic" pitchFamily="34" charset="0"/>
                <a:ea typeface="Yu Gothic" pitchFamily="34" charset="-122"/>
                <a:cs typeface="Yu Gothic" pitchFamily="34" charset="-120"/>
              </a:rPr>
              <a:t>同じ法定科目を、実技と講義に分けています。内容は重複させません。</a:t>
            </a:r>
            <a:endParaRPr lang="en-US" sz="1300" dirty="0"/>
          </a:p>
          <a:p>
            <a:pPr algn="l" indent="0" marL="0">
              <a:lnSpc>
                <a:spcPct val="92000"/>
              </a:lnSpc>
              <a:buNone/>
            </a:pPr>
            <a:r>
              <a:rPr lang="en-US" sz="1000" dirty="0">
                <a:solidFill>
                  <a:srgbClr val="1B2733"/>
                </a:solidFill>
                <a:latin typeface="Calibri" pitchFamily="34" charset="0"/>
                <a:ea typeface="Calibri" pitchFamily="34" charset="-122"/>
                <a:cs typeface="Calibri" pitchFamily="34" charset="-120"/>
              </a:rPr>
              <a:t>The same statutory subject, split between practical and classroom sessions. We do not repeat it.</a:t>
            </a:r>
            <a:endParaRPr lang="en-US" sz="1300" dirty="0"/>
          </a:p>
        </p:txBody>
      </p:sp>
      <p:sp>
        <p:nvSpPr>
          <p:cNvPr id="5" name="Shape 2"/>
          <p:cNvSpPr/>
          <p:nvPr/>
        </p:nvSpPr>
        <p:spPr>
          <a:xfrm>
            <a:off x="640080" y="2231136"/>
            <a:ext cx="5300320" cy="3163824"/>
          </a:xfrm>
          <a:prstGeom prst="roundRect">
            <a:avLst>
              <a:gd name="adj" fmla="val 1445"/>
            </a:avLst>
          </a:prstGeom>
          <a:solidFill>
            <a:srgbClr val="EFF4F8"/>
          </a:solidFill>
          <a:ln/>
        </p:spPr>
      </p:sp>
      <p:sp>
        <p:nvSpPr>
          <p:cNvPr id="6" name="Text 3"/>
          <p:cNvSpPr/>
          <p:nvPr/>
        </p:nvSpPr>
        <p:spPr>
          <a:xfrm>
            <a:off x="914400"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93259"/>
                </a:solidFill>
                <a:latin typeface="Yu Gothic" pitchFamily="34" charset="0"/>
                <a:ea typeface="Yu Gothic" pitchFamily="34" charset="-122"/>
                <a:cs typeface="Yu Gothic" pitchFamily="34" charset="-120"/>
              </a:rPr>
              <a:t>第3時限（実技）― 実施済</a:t>
            </a:r>
            <a:endParaRPr lang="en-US" sz="1600" dirty="0"/>
          </a:p>
          <a:p>
            <a:pPr indent="0" marL="0">
              <a:lnSpc>
                <a:spcPct val="90000"/>
              </a:lnSpc>
              <a:buNone/>
            </a:pPr>
            <a:r>
              <a:rPr lang="en-US" sz="1100" dirty="0">
                <a:solidFill>
                  <a:srgbClr val="1B2733"/>
                </a:solidFill>
                <a:latin typeface="Calibri" pitchFamily="34" charset="0"/>
                <a:ea typeface="Calibri" pitchFamily="34" charset="-122"/>
                <a:cs typeface="Calibri" pitchFamily="34" charset="-120"/>
              </a:rPr>
              <a:t>Period 3 (practical) — already delivered</a:t>
            </a:r>
            <a:endParaRPr lang="en-US" sz="1600" dirty="0"/>
          </a:p>
        </p:txBody>
      </p:sp>
      <p:sp>
        <p:nvSpPr>
          <p:cNvPr id="7" name="Text 4"/>
          <p:cNvSpPr/>
          <p:nvPr/>
        </p:nvSpPr>
        <p:spPr>
          <a:xfrm>
            <a:off x="914400"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・応急手当</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First aid</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・胸骨圧迫</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Chest compressions</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・AEDの使用</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Use of an AED</a:t>
            </a:r>
            <a:endParaRPr lang="en-US" sz="1250" dirty="0"/>
          </a:p>
        </p:txBody>
      </p:sp>
      <p:sp>
        <p:nvSpPr>
          <p:cNvPr id="8" name="Shape 5"/>
          <p:cNvSpPr/>
          <p:nvPr/>
        </p:nvSpPr>
        <p:spPr>
          <a:xfrm>
            <a:off x="6251296" y="2231136"/>
            <a:ext cx="5300320" cy="3163824"/>
          </a:xfrm>
          <a:prstGeom prst="roundRect">
            <a:avLst>
              <a:gd name="adj" fmla="val 1445"/>
            </a:avLst>
          </a:prstGeom>
          <a:solidFill>
            <a:srgbClr val="E4F4F0"/>
          </a:solidFill>
          <a:ln/>
        </p:spPr>
      </p:sp>
      <p:sp>
        <p:nvSpPr>
          <p:cNvPr id="9" name="Text 6"/>
          <p:cNvSpPr/>
          <p:nvPr/>
        </p:nvSpPr>
        <p:spPr>
          <a:xfrm>
            <a:off x="6525616"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D8A76"/>
                </a:solidFill>
                <a:latin typeface="Yu Gothic" pitchFamily="34" charset="0"/>
                <a:ea typeface="Yu Gothic" pitchFamily="34" charset="-122"/>
                <a:cs typeface="Yu Gothic" pitchFamily="34" charset="-120"/>
              </a:rPr>
              <a:t>第9時限（本コマ）</a:t>
            </a:r>
            <a:endParaRPr lang="en-US" sz="1600" dirty="0"/>
          </a:p>
          <a:p>
            <a:pPr indent="0" marL="0">
              <a:lnSpc>
                <a:spcPct val="90000"/>
              </a:lnSpc>
              <a:buNone/>
            </a:pPr>
            <a:r>
              <a:rPr lang="en-US" sz="1100" dirty="0">
                <a:solidFill>
                  <a:srgbClr val="1B2733"/>
                </a:solidFill>
                <a:latin typeface="Calibri" pitchFamily="34" charset="0"/>
                <a:ea typeface="Calibri" pitchFamily="34" charset="-122"/>
                <a:cs typeface="Calibri" pitchFamily="34" charset="-120"/>
              </a:rPr>
              <a:t>Period 9 — this session</a:t>
            </a:r>
            <a:endParaRPr lang="en-US" sz="1600" dirty="0"/>
          </a:p>
        </p:txBody>
      </p:sp>
      <p:sp>
        <p:nvSpPr>
          <p:cNvPr id="10" name="Text 7"/>
          <p:cNvSpPr/>
          <p:nvPr/>
        </p:nvSpPr>
        <p:spPr>
          <a:xfrm>
            <a:off x="6525616"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・通報 ― 110番、119番</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Emergency calls</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・通報練習（全員が声を出します）</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Call practice. Everyone speaks</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・現場保存</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Scene preservation</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・社内エスカレーション</a:t>
            </a:r>
            <a:endParaRPr lang="en-US" sz="1250" dirty="0"/>
          </a:p>
          <a:p>
            <a:pPr indent="0" marL="0">
              <a:lnSpc>
                <a:spcPct val="94000"/>
              </a:lnSpc>
              <a:spcAft>
                <a:spcPts val="300"/>
              </a:spcAft>
              <a:buNone/>
            </a:pPr>
            <a:r>
              <a:rPr lang="en-US" sz="1150" dirty="0">
                <a:solidFill>
                  <a:srgbClr val="1B2733"/>
                </a:solidFill>
                <a:latin typeface="Calibri" pitchFamily="34" charset="0"/>
                <a:ea typeface="Calibri" pitchFamily="34" charset="-122"/>
                <a:cs typeface="Calibri" pitchFamily="34" charset="-120"/>
              </a:rPr>
              <a:t>    Internal escalation</a:t>
            </a:r>
            <a:endParaRPr lang="en-US" sz="1250" dirty="0"/>
          </a:p>
        </p:txBody>
      </p:sp>
      <p:sp>
        <p:nvSpPr>
          <p:cNvPr id="11" name="Text 8"/>
          <p:cNvSpPr/>
          <p:nvPr/>
        </p:nvSpPr>
        <p:spPr>
          <a:xfrm>
            <a:off x="640080" y="5614416"/>
            <a:ext cx="10911535" cy="621792"/>
          </a:xfrm>
          <a:prstGeom prst="rect">
            <a:avLst/>
          </a:prstGeom>
          <a:noFill/>
          <a:ln/>
        </p:spPr>
        <p:txBody>
          <a:bodyPr wrap="square" lIns="0" tIns="0" rIns="0" bIns="0" rtlCol="0" anchor="t"/>
          <a:lstStyle/>
          <a:p>
            <a:pPr algn="l" indent="0" marL="0">
              <a:lnSpc>
                <a:spcPct val="92000"/>
              </a:lnSpc>
              <a:buNone/>
            </a:pPr>
            <a:r>
              <a:rPr lang="en-US" sz="1300" b="1" dirty="0">
                <a:solidFill>
                  <a:srgbClr val="0D8A76"/>
                </a:solidFill>
                <a:latin typeface="Yu Gothic" pitchFamily="34" charset="0"/>
                <a:ea typeface="Yu Gothic" pitchFamily="34" charset="-122"/>
                <a:cs typeface="Yu Gothic" pitchFamily="34" charset="-120"/>
              </a:rPr>
              <a:t>本コマではAEDと胸骨圧迫は扱いません。第3時限の内容を前提とします。</a:t>
            </a:r>
            <a:endParaRPr lang="en-US" sz="1300" dirty="0"/>
          </a:p>
          <a:p>
            <a:pPr algn="l" indent="0" marL="0">
              <a:lnSpc>
                <a:spcPct val="92000"/>
              </a:lnSpc>
              <a:buNone/>
            </a:pPr>
            <a:r>
              <a:rPr lang="en-US" sz="1000" dirty="0">
                <a:solidFill>
                  <a:srgbClr val="1B2733"/>
                </a:solidFill>
                <a:latin typeface="Calibri" pitchFamily="34" charset="0"/>
                <a:ea typeface="Calibri" pitchFamily="34" charset="-122"/>
                <a:cs typeface="Calibri" pitchFamily="34" charset="-120"/>
              </a:rPr>
              <a:t>AED and compressions are not covered here. Period 3 is assumed.</a:t>
            </a:r>
            <a:endParaRPr lang="en-US" sz="1300" dirty="0"/>
          </a:p>
        </p:txBody>
      </p:sp>
      <p:sp>
        <p:nvSpPr>
          <p:cNvPr id="12" name="Text 9"/>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13" name="Text 10"/>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報告の原則</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Principles of Reporting</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a:t>
            </a:r>
            <a:endParaRPr lang="en-US" sz="1100" dirty="0"/>
          </a:p>
        </p:txBody>
      </p:sp>
      <p:sp>
        <p:nvSpPr>
          <p:cNvPr id="6" name="Shape 3"/>
          <p:cNvSpPr/>
          <p:nvPr/>
        </p:nvSpPr>
        <p:spPr>
          <a:xfrm>
            <a:off x="640080" y="1115568"/>
            <a:ext cx="10911535" cy="585216"/>
          </a:xfrm>
          <a:prstGeom prst="roundRect">
            <a:avLst>
              <a:gd name="adj" fmla="val 6250"/>
            </a:avLst>
          </a:prstGeom>
          <a:solidFill>
            <a:srgbClr val="E4F4F0"/>
          </a:solidFill>
          <a:ln/>
        </p:spPr>
      </p:sp>
      <p:sp>
        <p:nvSpPr>
          <p:cNvPr id="7" name="Text 4"/>
          <p:cNvSpPr/>
          <p:nvPr/>
        </p:nvSpPr>
        <p:spPr>
          <a:xfrm>
            <a:off x="877824" y="1161288"/>
            <a:ext cx="10436047" cy="493776"/>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9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事実と評価を分けて報告でき、一次報告に何を入れるかを言える。</a:t>
            </a:r>
            <a:endParaRPr lang="en-US" sz="9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You can report with fact and assessment separated, and say what belongs in an initial report.</a:t>
            </a:r>
            <a:endParaRPr lang="en-US" sz="950" dirty="0"/>
          </a:p>
        </p:txBody>
      </p:sp>
      <p:sp>
        <p:nvSpPr>
          <p:cNvPr id="8" name="Shape 5"/>
          <p:cNvSpPr/>
          <p:nvPr/>
        </p:nvSpPr>
        <p:spPr>
          <a:xfrm>
            <a:off x="640080" y="1773936"/>
            <a:ext cx="5327752" cy="1965960"/>
          </a:xfrm>
          <a:prstGeom prst="roundRect">
            <a:avLst>
              <a:gd name="adj" fmla="val 1860"/>
            </a:avLst>
          </a:prstGeom>
          <a:solidFill>
            <a:srgbClr val="EFF4F8"/>
          </a:solidFill>
          <a:ln/>
        </p:spPr>
      </p:sp>
      <p:sp>
        <p:nvSpPr>
          <p:cNvPr id="9" name="Shape 6"/>
          <p:cNvSpPr/>
          <p:nvPr/>
        </p:nvSpPr>
        <p:spPr>
          <a:xfrm>
            <a:off x="822960" y="1938528"/>
            <a:ext cx="310896" cy="310896"/>
          </a:xfrm>
          <a:prstGeom prst="ellipse">
            <a:avLst/>
          </a:prstGeom>
          <a:solidFill>
            <a:srgbClr val="093259"/>
          </a:solidFill>
          <a:ln/>
        </p:spPr>
      </p:sp>
      <p:sp>
        <p:nvSpPr>
          <p:cNvPr id="10" name="Text 7"/>
          <p:cNvSpPr/>
          <p:nvPr/>
        </p:nvSpPr>
        <p:spPr>
          <a:xfrm>
            <a:off x="822960"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事実と評価を分ける</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Separate Fact from Assessment</a:t>
            </a:r>
            <a:endParaRPr lang="en-US" sz="1200" dirty="0"/>
          </a:p>
        </p:txBody>
      </p:sp>
      <p:sp>
        <p:nvSpPr>
          <p:cNvPr id="12" name="Text 9"/>
          <p:cNvSpPr/>
          <p:nvPr/>
        </p:nvSpPr>
        <p:spPr>
          <a:xfrm>
            <a:off x="859536"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・事実：「20時15分、B1東側非常口が15cmほど開いていた」</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Fact: "At 20:15 the B1 east emergency door was about 15 cm open"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・評価：「侵入者がいるかもしれない」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Assessment: "There may be an intruder"</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・誤り：「不審者が非常口から入りました」。見ていないことを断定している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Wrong: "An intruder came in through the exit." You are asserting what you did not see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・事実を先に。評価は「〜と思われます」と明示して後に</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Fact first. Mark assessment clearly, and place it second</a:t>
            </a:r>
            <a:endParaRPr lang="en-US" sz="950" dirty="0"/>
          </a:p>
        </p:txBody>
      </p:sp>
      <p:sp>
        <p:nvSpPr>
          <p:cNvPr id="13" name="Shape 10"/>
          <p:cNvSpPr/>
          <p:nvPr/>
        </p:nvSpPr>
        <p:spPr>
          <a:xfrm>
            <a:off x="6223864" y="1773936"/>
            <a:ext cx="5327752" cy="1965960"/>
          </a:xfrm>
          <a:prstGeom prst="roundRect">
            <a:avLst>
              <a:gd name="adj" fmla="val 1860"/>
            </a:avLst>
          </a:prstGeom>
          <a:solidFill>
            <a:srgbClr val="F7FAFC"/>
          </a:solidFill>
          <a:ln/>
        </p:spPr>
      </p:sp>
      <p:sp>
        <p:nvSpPr>
          <p:cNvPr id="14" name="Shape 11"/>
          <p:cNvSpPr/>
          <p:nvPr/>
        </p:nvSpPr>
        <p:spPr>
          <a:xfrm>
            <a:off x="6406744" y="1938528"/>
            <a:ext cx="310896" cy="310896"/>
          </a:xfrm>
          <a:prstGeom prst="ellipse">
            <a:avLst/>
          </a:prstGeom>
          <a:solidFill>
            <a:srgbClr val="093259"/>
          </a:solidFill>
          <a:ln/>
        </p:spPr>
      </p:sp>
      <p:sp>
        <p:nvSpPr>
          <p:cNvPr id="15" name="Text 12"/>
          <p:cNvSpPr/>
          <p:nvPr/>
        </p:nvSpPr>
        <p:spPr>
          <a:xfrm>
            <a:off x="6406744"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報告の3段階</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Three Stages</a:t>
            </a:r>
            <a:endParaRPr lang="en-US" sz="1200" dirty="0"/>
          </a:p>
        </p:txBody>
      </p:sp>
      <p:sp>
        <p:nvSpPr>
          <p:cNvPr id="17" name="Text 14"/>
          <p:cNvSpPr/>
          <p:nvPr/>
        </p:nvSpPr>
        <p:spPr>
          <a:xfrm>
            <a:off x="6443320"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・一次報告：覚知後ただちに。完全でなくてよい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Initial: immediately on becoming aware. It need not be complete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・続報：状況が変わるたびに、変化した点だけ</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Updates: each time the situation changes, the change only</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・「変化なし」も報告する。無音は「異常なし」と読まれない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Report "no change" too. Silence is not read as "all clear"</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・確定報：事案終了後。経過、対応、引継事項</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Final: after it ends. Sequence, actions taken, handover items</a:t>
            </a:r>
            <a:endParaRPr lang="en-US" sz="950" dirty="0"/>
          </a:p>
        </p:txBody>
      </p:sp>
      <p:sp>
        <p:nvSpPr>
          <p:cNvPr id="18" name="Shape 15"/>
          <p:cNvSpPr/>
          <p:nvPr/>
        </p:nvSpPr>
        <p:spPr>
          <a:xfrm>
            <a:off x="640080" y="3941064"/>
            <a:ext cx="5327752" cy="1965960"/>
          </a:xfrm>
          <a:prstGeom prst="roundRect">
            <a:avLst>
              <a:gd name="adj" fmla="val 1860"/>
            </a:avLst>
          </a:prstGeom>
          <a:solidFill>
            <a:srgbClr val="EFF4F8"/>
          </a:solidFill>
          <a:ln/>
        </p:spPr>
      </p:sp>
      <p:sp>
        <p:nvSpPr>
          <p:cNvPr id="19" name="Shape 16"/>
          <p:cNvSpPr/>
          <p:nvPr/>
        </p:nvSpPr>
        <p:spPr>
          <a:xfrm>
            <a:off x="822960" y="4105656"/>
            <a:ext cx="310896" cy="310896"/>
          </a:xfrm>
          <a:prstGeom prst="ellipse">
            <a:avLst/>
          </a:prstGeom>
          <a:solidFill>
            <a:srgbClr val="093259"/>
          </a:solidFill>
          <a:ln/>
        </p:spPr>
      </p:sp>
      <p:sp>
        <p:nvSpPr>
          <p:cNvPr id="20" name="Text 17"/>
          <p:cNvSpPr/>
          <p:nvPr/>
        </p:nvSpPr>
        <p:spPr>
          <a:xfrm>
            <a:off x="822960"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一次報告に入れること</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What Goes in the Initial Report</a:t>
            </a:r>
            <a:endParaRPr lang="en-US" sz="1200" dirty="0"/>
          </a:p>
        </p:txBody>
      </p:sp>
      <p:sp>
        <p:nvSpPr>
          <p:cNvPr id="22" name="Text 19"/>
          <p:cNvSpPr/>
          <p:nvPr/>
        </p:nvSpPr>
        <p:spPr>
          <a:xfrm>
            <a:off x="859536"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・何が起きたか。いつ、どこで</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What happened, when, and where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・いま安全か。負傷者はいるか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Is it safe now? Are there casualties?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・自分がいまどこにいて、何をしているか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Where you are, and what you are doing</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・何を要請するか。応援か、指示か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What you are asking for: backup, or a decision</a:t>
            </a:r>
            <a:endParaRPr lang="en-US" sz="950" dirty="0"/>
          </a:p>
        </p:txBody>
      </p:sp>
      <p:sp>
        <p:nvSpPr>
          <p:cNvPr id="23" name="Shape 20"/>
          <p:cNvSpPr/>
          <p:nvPr/>
        </p:nvSpPr>
        <p:spPr>
          <a:xfrm>
            <a:off x="6223864" y="3941064"/>
            <a:ext cx="5327752" cy="1965960"/>
          </a:xfrm>
          <a:prstGeom prst="roundRect">
            <a:avLst>
              <a:gd name="adj" fmla="val 1860"/>
            </a:avLst>
          </a:prstGeom>
          <a:solidFill>
            <a:srgbClr val="F7FAFC"/>
          </a:solidFill>
          <a:ln/>
        </p:spPr>
      </p:sp>
      <p:sp>
        <p:nvSpPr>
          <p:cNvPr id="24" name="Shape 21"/>
          <p:cNvSpPr/>
          <p:nvPr/>
        </p:nvSpPr>
        <p:spPr>
          <a:xfrm>
            <a:off x="6406744" y="4105656"/>
            <a:ext cx="310896" cy="310896"/>
          </a:xfrm>
          <a:prstGeom prst="ellipse">
            <a:avLst/>
          </a:prstGeom>
          <a:solidFill>
            <a:srgbClr val="093259"/>
          </a:solidFill>
          <a:ln/>
        </p:spPr>
      </p:sp>
      <p:sp>
        <p:nvSpPr>
          <p:cNvPr id="25" name="Text 22"/>
          <p:cNvSpPr/>
          <p:nvPr/>
        </p:nvSpPr>
        <p:spPr>
          <a:xfrm>
            <a:off x="6406744"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記録</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Records</a:t>
            </a:r>
            <a:endParaRPr lang="en-US" sz="1200" dirty="0"/>
          </a:p>
        </p:txBody>
      </p:sp>
      <p:sp>
        <p:nvSpPr>
          <p:cNvPr id="27" name="Text 24"/>
          <p:cNvSpPr/>
          <p:nvPr/>
        </p:nvSpPr>
        <p:spPr>
          <a:xfrm>
            <a:off x="6443320"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・その場で書く。時間が経つと正確性が下がる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Write on the spot. Accuracy drops as time passes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・時刻は推定でもよい。推定であることを明記する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An estimated time is acceptable if you mark it as an estimate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・発言はそのまま残す。要約すると意味が変わる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Record words as spoken. Summarising changes the meaning</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・分からないことは「不明」と書く</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Write "unknown" where you do not know</a:t>
            </a:r>
            <a:endParaRPr lang="en-US" sz="950" dirty="0"/>
          </a:p>
        </p:txBody>
      </p:sp>
      <p:sp>
        <p:nvSpPr>
          <p:cNvPr id="28" name="Text 25"/>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一次報告の宛先、様式、時限は現場ごとに異なる。Site SOPと緊急連絡体制による。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Who receives the initial report, in what form and by when, differ by site.</a:t>
            </a:r>
            <a:endParaRPr lang="en-US" sz="900" dirty="0"/>
          </a:p>
        </p:txBody>
      </p:sp>
      <p:sp>
        <p:nvSpPr>
          <p:cNvPr id="29" name="Text 26"/>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消防法、警察庁「警備員教育」、総務省消防庁「救急車の適正利用」</a:t>
            </a:r>
            <a:endParaRPr lang="en-US" sz="750" dirty="0"/>
          </a:p>
        </p:txBody>
      </p:sp>
      <p:sp>
        <p:nvSpPr>
          <p:cNvPr id="30" name="Text 27"/>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1" name="Text 28"/>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110番・119番 ― 必ず伝える事項</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Emergency Calls — What You Must Say</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a:t>
            </a:r>
            <a:endParaRPr lang="en-US" sz="1100" dirty="0"/>
          </a:p>
        </p:txBody>
      </p:sp>
      <p:sp>
        <p:nvSpPr>
          <p:cNvPr id="6" name="Shape 3"/>
          <p:cNvSpPr/>
          <p:nvPr/>
        </p:nvSpPr>
        <p:spPr>
          <a:xfrm>
            <a:off x="640080" y="1115568"/>
            <a:ext cx="10911535" cy="585216"/>
          </a:xfrm>
          <a:prstGeom prst="roundRect">
            <a:avLst>
              <a:gd name="adj" fmla="val 6250"/>
            </a:avLst>
          </a:prstGeom>
          <a:solidFill>
            <a:srgbClr val="E4F4F0"/>
          </a:solidFill>
          <a:ln/>
        </p:spPr>
      </p:sp>
      <p:sp>
        <p:nvSpPr>
          <p:cNvPr id="7" name="Text 4"/>
          <p:cNvSpPr/>
          <p:nvPr/>
        </p:nvSpPr>
        <p:spPr>
          <a:xfrm>
            <a:off x="877824" y="1161288"/>
            <a:ext cx="10436047" cy="493776"/>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9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110番と119番で伝える事項を、見ずに言える。</a:t>
            </a:r>
            <a:endParaRPr lang="en-US" sz="9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You can state the required items for both emergency numbers without notes.</a:t>
            </a:r>
            <a:endParaRPr lang="en-US" sz="950" dirty="0"/>
          </a:p>
        </p:txBody>
      </p:sp>
      <p:sp>
        <p:nvSpPr>
          <p:cNvPr id="8" name="Shape 5"/>
          <p:cNvSpPr/>
          <p:nvPr/>
        </p:nvSpPr>
        <p:spPr>
          <a:xfrm>
            <a:off x="640080" y="1773936"/>
            <a:ext cx="5327752" cy="1965960"/>
          </a:xfrm>
          <a:prstGeom prst="roundRect">
            <a:avLst>
              <a:gd name="adj" fmla="val 1860"/>
            </a:avLst>
          </a:prstGeom>
          <a:solidFill>
            <a:srgbClr val="EFF4F8"/>
          </a:solidFill>
          <a:ln/>
        </p:spPr>
      </p:sp>
      <p:sp>
        <p:nvSpPr>
          <p:cNvPr id="9" name="Shape 6"/>
          <p:cNvSpPr/>
          <p:nvPr/>
        </p:nvSpPr>
        <p:spPr>
          <a:xfrm>
            <a:off x="822960" y="1938528"/>
            <a:ext cx="310896" cy="310896"/>
          </a:xfrm>
          <a:prstGeom prst="ellipse">
            <a:avLst/>
          </a:prstGeom>
          <a:solidFill>
            <a:srgbClr val="093259"/>
          </a:solidFill>
          <a:ln/>
        </p:spPr>
      </p:sp>
      <p:sp>
        <p:nvSpPr>
          <p:cNvPr id="10" name="Text 7"/>
          <p:cNvSpPr/>
          <p:nvPr/>
        </p:nvSpPr>
        <p:spPr>
          <a:xfrm>
            <a:off x="822960"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110番</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Police</a:t>
            </a:r>
            <a:endParaRPr lang="en-US" sz="1200" dirty="0"/>
          </a:p>
        </p:txBody>
      </p:sp>
      <p:sp>
        <p:nvSpPr>
          <p:cNvPr id="12" name="Text 9"/>
          <p:cNvSpPr/>
          <p:nvPr/>
        </p:nvSpPr>
        <p:spPr>
          <a:xfrm>
            <a:off x="859536"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・冒頭で何が起きたかを伝える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Open with what has happened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・場所 ― 住所、目標物、建物名、階、区画</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Location: address, landmark, building, floor, zone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・相手 ― 人相、着衣、逃走方向、車両とナンバー</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The person: appearance, clothing, direction of escape, vehicle and plate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・自分 ― 氏名、折り返しの電話番号、現在地</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Yourself: name, call-back number, where you are</a:t>
            </a:r>
            <a:endParaRPr lang="en-US" sz="950" dirty="0"/>
          </a:p>
        </p:txBody>
      </p:sp>
      <p:sp>
        <p:nvSpPr>
          <p:cNvPr id="13" name="Shape 10"/>
          <p:cNvSpPr/>
          <p:nvPr/>
        </p:nvSpPr>
        <p:spPr>
          <a:xfrm>
            <a:off x="6223864" y="1773936"/>
            <a:ext cx="5327752" cy="1965960"/>
          </a:xfrm>
          <a:prstGeom prst="roundRect">
            <a:avLst>
              <a:gd name="adj" fmla="val 1860"/>
            </a:avLst>
          </a:prstGeom>
          <a:solidFill>
            <a:srgbClr val="F7FAFC"/>
          </a:solidFill>
          <a:ln/>
        </p:spPr>
      </p:sp>
      <p:sp>
        <p:nvSpPr>
          <p:cNvPr id="14" name="Shape 11"/>
          <p:cNvSpPr/>
          <p:nvPr/>
        </p:nvSpPr>
        <p:spPr>
          <a:xfrm>
            <a:off x="6406744" y="1938528"/>
            <a:ext cx="310896" cy="310896"/>
          </a:xfrm>
          <a:prstGeom prst="ellipse">
            <a:avLst/>
          </a:prstGeom>
          <a:solidFill>
            <a:srgbClr val="093259"/>
          </a:solidFill>
          <a:ln/>
        </p:spPr>
      </p:sp>
      <p:sp>
        <p:nvSpPr>
          <p:cNvPr id="15" name="Text 12"/>
          <p:cNvSpPr/>
          <p:nvPr/>
        </p:nvSpPr>
        <p:spPr>
          <a:xfrm>
            <a:off x="6406744"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119番</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Fire and Ambulance</a:t>
            </a:r>
            <a:endParaRPr lang="en-US" sz="1200" dirty="0"/>
          </a:p>
        </p:txBody>
      </p:sp>
      <p:sp>
        <p:nvSpPr>
          <p:cNvPr id="17" name="Text 14"/>
          <p:cNvSpPr/>
          <p:nvPr/>
        </p:nvSpPr>
        <p:spPr>
          <a:xfrm>
            <a:off x="6443320"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・冒頭で種別。「火事です」か「救急です」</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Open with the type: fire, or ambulance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・場所 ― 住所、目標物、進入口、使用するエレベーター</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Location: address, landmark, which entrance, which lift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・状況 ― 症状、負傷者数、意識と呼吸の有無</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Condition: symptoms, number of casualties, consciousness and breathing</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・到着時の誘導者を、通報と同時に決める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Decide who will meet them, at the same time as the call</a:t>
            </a:r>
            <a:endParaRPr lang="en-US" sz="950" dirty="0"/>
          </a:p>
        </p:txBody>
      </p:sp>
      <p:sp>
        <p:nvSpPr>
          <p:cNvPr id="18" name="Shape 15"/>
          <p:cNvSpPr/>
          <p:nvPr/>
        </p:nvSpPr>
        <p:spPr>
          <a:xfrm>
            <a:off x="640080" y="3941064"/>
            <a:ext cx="5327752" cy="1965960"/>
          </a:xfrm>
          <a:prstGeom prst="roundRect">
            <a:avLst>
              <a:gd name="adj" fmla="val 1860"/>
            </a:avLst>
          </a:prstGeom>
          <a:solidFill>
            <a:srgbClr val="EFF4F8"/>
          </a:solidFill>
          <a:ln/>
        </p:spPr>
      </p:sp>
      <p:sp>
        <p:nvSpPr>
          <p:cNvPr id="19" name="Shape 16"/>
          <p:cNvSpPr/>
          <p:nvPr/>
        </p:nvSpPr>
        <p:spPr>
          <a:xfrm>
            <a:off x="822960" y="4105656"/>
            <a:ext cx="310896" cy="310896"/>
          </a:xfrm>
          <a:prstGeom prst="ellipse">
            <a:avLst/>
          </a:prstGeom>
          <a:solidFill>
            <a:srgbClr val="093259"/>
          </a:solidFill>
          <a:ln/>
        </p:spPr>
      </p:sp>
      <p:sp>
        <p:nvSpPr>
          <p:cNvPr id="20" name="Text 17"/>
          <p:cNvSpPr/>
          <p:nvPr/>
        </p:nvSpPr>
        <p:spPr>
          <a:xfrm>
            <a:off x="822960"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共通の原則</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Common Rules</a:t>
            </a:r>
            <a:endParaRPr lang="en-US" sz="1200" dirty="0"/>
          </a:p>
        </p:txBody>
      </p:sp>
      <p:sp>
        <p:nvSpPr>
          <p:cNvPr id="22" name="Text 19"/>
          <p:cNvSpPr/>
          <p:nvPr/>
        </p:nvSpPr>
        <p:spPr>
          <a:xfrm>
            <a:off x="859536"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・相手が終話するまで切らない。質問に答え切る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Do not hang up first. Answer all their questions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・推測を事実として伝えない。「〜と思われます」と言う</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Do not report a guess as fact. Say "it appears that"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・日本語が通じない当事者がいる場合は、その旨を伝える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If someone involved does not speak Japanese, say so on the call</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・通報した事実と時刻を、必ず記録する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Always record that you called, and when</a:t>
            </a:r>
            <a:endParaRPr lang="en-US" sz="950" dirty="0"/>
          </a:p>
        </p:txBody>
      </p:sp>
      <p:sp>
        <p:nvSpPr>
          <p:cNvPr id="23" name="Shape 20"/>
          <p:cNvSpPr/>
          <p:nvPr/>
        </p:nvSpPr>
        <p:spPr>
          <a:xfrm>
            <a:off x="6223864" y="3941064"/>
            <a:ext cx="5327752" cy="1965960"/>
          </a:xfrm>
          <a:prstGeom prst="roundRect">
            <a:avLst>
              <a:gd name="adj" fmla="val 1860"/>
            </a:avLst>
          </a:prstGeom>
          <a:solidFill>
            <a:srgbClr val="F7FAFC"/>
          </a:solidFill>
          <a:ln/>
        </p:spPr>
      </p:sp>
      <p:sp>
        <p:nvSpPr>
          <p:cNvPr id="24" name="Shape 21"/>
          <p:cNvSpPr/>
          <p:nvPr/>
        </p:nvSpPr>
        <p:spPr>
          <a:xfrm>
            <a:off x="6406744" y="4105656"/>
            <a:ext cx="310896" cy="310896"/>
          </a:xfrm>
          <a:prstGeom prst="ellipse">
            <a:avLst/>
          </a:prstGeom>
          <a:solidFill>
            <a:srgbClr val="093259"/>
          </a:solidFill>
          <a:ln/>
        </p:spPr>
      </p:sp>
      <p:sp>
        <p:nvSpPr>
          <p:cNvPr id="25" name="Text 22"/>
          <p:cNvSpPr/>
          <p:nvPr/>
        </p:nvSpPr>
        <p:spPr>
          <a:xfrm>
            <a:off x="6406744"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通報後にすること</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After the Call</a:t>
            </a:r>
            <a:endParaRPr lang="en-US" sz="1200" dirty="0"/>
          </a:p>
        </p:txBody>
      </p:sp>
      <p:sp>
        <p:nvSpPr>
          <p:cNvPr id="27" name="Text 24"/>
          <p:cNvSpPr/>
          <p:nvPr/>
        </p:nvSpPr>
        <p:spPr>
          <a:xfrm>
            <a:off x="6443320"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・誘導者を配置する。到着口を空けておく</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Post someone to guide them. Keep the arrival point clear</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・エレベーターを確保する。階段誘導が必要か確認する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Secure a lift. Check whether stair guidance is needed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・社内へ報告する。外部通報とは別に行う</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Report internally. This is separate from the emergency call</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・現場を保存する。人命に関わる場合を除き動かさない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Preserve the scene. Change nothing except where life is at stake</a:t>
            </a:r>
            <a:endParaRPr lang="en-US" sz="950" dirty="0"/>
          </a:p>
        </p:txBody>
      </p:sp>
      <p:sp>
        <p:nvSpPr>
          <p:cNvPr id="28" name="Text 25"/>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通報の前に社内へ一報を入れるか否かは現場ごとに異なる。人命に関わる場合は通報を優先する。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Whether to notify internally before calling differs by site. Where life is at risk, call first.</a:t>
            </a:r>
            <a:endParaRPr lang="en-US" sz="900" dirty="0"/>
          </a:p>
        </p:txBody>
      </p:sp>
      <p:sp>
        <p:nvSpPr>
          <p:cNvPr id="29" name="Text 26"/>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消防法、警察庁「警備員教育」、総務省消防庁「救急車の適正利用」</a:t>
            </a:r>
            <a:endParaRPr lang="en-US" sz="750" dirty="0"/>
          </a:p>
        </p:txBody>
      </p:sp>
      <p:sp>
        <p:nvSpPr>
          <p:cNvPr id="30" name="Text 27"/>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1" name="Text 28"/>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通報で使う日本語</a:t>
            </a:r>
            <a:endParaRPr lang="en-US" sz="2700" dirty="0"/>
          </a:p>
          <a:p>
            <a:pPr indent="0" marL="0">
              <a:lnSpc>
                <a:spcPct val="94000"/>
              </a:lnSpc>
              <a:buNone/>
            </a:pPr>
            <a:r>
              <a:rPr lang="en-US" sz="1350" dirty="0">
                <a:solidFill>
                  <a:srgbClr val="12B198"/>
                </a:solidFill>
                <a:latin typeface="Calibri" pitchFamily="34" charset="0"/>
                <a:ea typeface="Calibri" pitchFamily="34" charset="-122"/>
                <a:cs typeface="Calibri" pitchFamily="34" charset="-120"/>
              </a:rPr>
              <a:t>Japanese for Emergency Calls</a:t>
            </a:r>
            <a:endParaRPr lang="en-US" sz="2700" dirty="0"/>
          </a:p>
        </p:txBody>
      </p:sp>
      <p:sp>
        <p:nvSpPr>
          <p:cNvPr id="4" name="Text 1"/>
          <p:cNvSpPr/>
          <p:nvPr/>
        </p:nvSpPr>
        <p:spPr>
          <a:xfrm>
            <a:off x="640080" y="1499616"/>
            <a:ext cx="10911535" cy="512064"/>
          </a:xfrm>
          <a:prstGeom prst="rect">
            <a:avLst/>
          </a:prstGeom>
          <a:noFill/>
          <a:ln/>
        </p:spPr>
        <p:txBody>
          <a:bodyPr wrap="square" lIns="0" tIns="0" rIns="0" bIns="0" rtlCol="0" anchor="t"/>
          <a:lstStyle/>
          <a:p>
            <a:pPr algn="l" indent="0" marL="0">
              <a:lnSpc>
                <a:spcPct val="92000"/>
              </a:lnSpc>
              <a:buNone/>
            </a:pPr>
            <a:r>
              <a:rPr lang="en-US" sz="1300" dirty="0">
                <a:solidFill>
                  <a:srgbClr val="093259"/>
                </a:solidFill>
                <a:latin typeface="Yu Gothic" pitchFamily="34" charset="0"/>
                <a:ea typeface="Yu Gothic" pitchFamily="34" charset="-122"/>
                <a:cs typeface="Yu Gothic" pitchFamily="34" charset="-120"/>
              </a:rPr>
              <a:t>この8つは全員が言えるようにしてください。</a:t>
            </a:r>
            <a:endParaRPr lang="en-US" sz="1300" dirty="0"/>
          </a:p>
          <a:p>
            <a:pPr algn="l" indent="0" marL="0">
              <a:lnSpc>
                <a:spcPct val="92000"/>
              </a:lnSpc>
              <a:buNone/>
            </a:pPr>
            <a:r>
              <a:rPr lang="en-US" sz="1000" dirty="0">
                <a:solidFill>
                  <a:srgbClr val="1B2733"/>
                </a:solidFill>
                <a:latin typeface="Calibri" pitchFamily="34" charset="0"/>
                <a:ea typeface="Calibri" pitchFamily="34" charset="-122"/>
                <a:cs typeface="Calibri" pitchFamily="34" charset="-120"/>
              </a:rPr>
              <a:t>Everyone must be able to say these eight lines.</a:t>
            </a:r>
            <a:endParaRPr lang="en-US" sz="1300" dirty="0"/>
          </a:p>
        </p:txBody>
      </p:sp>
      <p:sp>
        <p:nvSpPr>
          <p:cNvPr id="5" name="Shape 2"/>
          <p:cNvSpPr/>
          <p:nvPr/>
        </p:nvSpPr>
        <p:spPr>
          <a:xfrm>
            <a:off x="640080" y="2194560"/>
            <a:ext cx="5318608" cy="691286"/>
          </a:xfrm>
          <a:prstGeom prst="roundRect">
            <a:avLst>
              <a:gd name="adj" fmla="val 5291"/>
            </a:avLst>
          </a:prstGeom>
          <a:solidFill>
            <a:srgbClr val="EFF4F8"/>
          </a:solidFill>
          <a:ln/>
        </p:spPr>
      </p:sp>
      <p:sp>
        <p:nvSpPr>
          <p:cNvPr id="6" name="Shape 3"/>
          <p:cNvSpPr/>
          <p:nvPr/>
        </p:nvSpPr>
        <p:spPr>
          <a:xfrm>
            <a:off x="822960" y="2375611"/>
            <a:ext cx="329184" cy="329184"/>
          </a:xfrm>
          <a:prstGeom prst="ellipse">
            <a:avLst/>
          </a:prstGeom>
          <a:solidFill>
            <a:srgbClr val="093259"/>
          </a:solidFill>
          <a:ln/>
        </p:spPr>
      </p:sp>
      <p:sp>
        <p:nvSpPr>
          <p:cNvPr id="7" name="Text 4"/>
          <p:cNvSpPr/>
          <p:nvPr/>
        </p:nvSpPr>
        <p:spPr>
          <a:xfrm>
            <a:off x="822960" y="2375611"/>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1243584" y="2267712"/>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火事です　　kaji desu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There is a fire.</a:t>
            </a:r>
            <a:endParaRPr lang="en-US" sz="1150" dirty="0"/>
          </a:p>
        </p:txBody>
      </p:sp>
      <p:sp>
        <p:nvSpPr>
          <p:cNvPr id="9" name="Shape 6"/>
          <p:cNvSpPr/>
          <p:nvPr/>
        </p:nvSpPr>
        <p:spPr>
          <a:xfrm>
            <a:off x="6233008" y="2194560"/>
            <a:ext cx="5318608" cy="691286"/>
          </a:xfrm>
          <a:prstGeom prst="roundRect">
            <a:avLst>
              <a:gd name="adj" fmla="val 5291"/>
            </a:avLst>
          </a:prstGeom>
          <a:solidFill>
            <a:srgbClr val="EFF4F8"/>
          </a:solidFill>
          <a:ln/>
        </p:spPr>
      </p:sp>
      <p:sp>
        <p:nvSpPr>
          <p:cNvPr id="10" name="Shape 7"/>
          <p:cNvSpPr/>
          <p:nvPr/>
        </p:nvSpPr>
        <p:spPr>
          <a:xfrm>
            <a:off x="6415888" y="2375611"/>
            <a:ext cx="329184" cy="329184"/>
          </a:xfrm>
          <a:prstGeom prst="ellipse">
            <a:avLst/>
          </a:prstGeom>
          <a:solidFill>
            <a:srgbClr val="093259"/>
          </a:solidFill>
          <a:ln/>
        </p:spPr>
      </p:sp>
      <p:sp>
        <p:nvSpPr>
          <p:cNvPr id="11" name="Text 8"/>
          <p:cNvSpPr/>
          <p:nvPr/>
        </p:nvSpPr>
        <p:spPr>
          <a:xfrm>
            <a:off x="6415888" y="2375611"/>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836512" y="2267712"/>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救急です　　kyūkyū desu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We need an ambulance.</a:t>
            </a:r>
            <a:endParaRPr lang="en-US" sz="1150" dirty="0"/>
          </a:p>
        </p:txBody>
      </p:sp>
      <p:sp>
        <p:nvSpPr>
          <p:cNvPr id="13" name="Shape 10"/>
          <p:cNvSpPr/>
          <p:nvPr/>
        </p:nvSpPr>
        <p:spPr>
          <a:xfrm>
            <a:off x="640080" y="3032150"/>
            <a:ext cx="5318608" cy="691286"/>
          </a:xfrm>
          <a:prstGeom prst="roundRect">
            <a:avLst>
              <a:gd name="adj" fmla="val 5291"/>
            </a:avLst>
          </a:prstGeom>
          <a:solidFill>
            <a:srgbClr val="EFF4F8"/>
          </a:solidFill>
          <a:ln/>
        </p:spPr>
      </p:sp>
      <p:sp>
        <p:nvSpPr>
          <p:cNvPr id="14" name="Shape 11"/>
          <p:cNvSpPr/>
          <p:nvPr/>
        </p:nvSpPr>
        <p:spPr>
          <a:xfrm>
            <a:off x="822960" y="3213202"/>
            <a:ext cx="329184" cy="329184"/>
          </a:xfrm>
          <a:prstGeom prst="ellipse">
            <a:avLst/>
          </a:prstGeom>
          <a:solidFill>
            <a:srgbClr val="093259"/>
          </a:solidFill>
          <a:ln/>
        </p:spPr>
      </p:sp>
      <p:sp>
        <p:nvSpPr>
          <p:cNvPr id="15" name="Text 12"/>
          <p:cNvSpPr/>
          <p:nvPr/>
        </p:nvSpPr>
        <p:spPr>
          <a:xfrm>
            <a:off x="822960" y="321320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1243584" y="3105302"/>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事件です　　jiken desu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A crime has occurred.</a:t>
            </a:r>
            <a:endParaRPr lang="en-US" sz="1150" dirty="0"/>
          </a:p>
        </p:txBody>
      </p:sp>
      <p:sp>
        <p:nvSpPr>
          <p:cNvPr id="17" name="Shape 14"/>
          <p:cNvSpPr/>
          <p:nvPr/>
        </p:nvSpPr>
        <p:spPr>
          <a:xfrm>
            <a:off x="6233008" y="3032150"/>
            <a:ext cx="5318608" cy="691286"/>
          </a:xfrm>
          <a:prstGeom prst="roundRect">
            <a:avLst>
              <a:gd name="adj" fmla="val 5291"/>
            </a:avLst>
          </a:prstGeom>
          <a:solidFill>
            <a:srgbClr val="EFF4F8"/>
          </a:solidFill>
          <a:ln/>
        </p:spPr>
      </p:sp>
      <p:sp>
        <p:nvSpPr>
          <p:cNvPr id="18" name="Shape 15"/>
          <p:cNvSpPr/>
          <p:nvPr/>
        </p:nvSpPr>
        <p:spPr>
          <a:xfrm>
            <a:off x="6415888" y="3213202"/>
            <a:ext cx="329184" cy="329184"/>
          </a:xfrm>
          <a:prstGeom prst="ellipse">
            <a:avLst/>
          </a:prstGeom>
          <a:solidFill>
            <a:srgbClr val="093259"/>
          </a:solidFill>
          <a:ln/>
        </p:spPr>
      </p:sp>
      <p:sp>
        <p:nvSpPr>
          <p:cNvPr id="19" name="Text 16"/>
          <p:cNvSpPr/>
          <p:nvPr/>
        </p:nvSpPr>
        <p:spPr>
          <a:xfrm>
            <a:off x="6415888" y="321320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6836512" y="3105302"/>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場所は ◯◯ です　　basho wa ◯◯ desu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The location is [place].</a:t>
            </a:r>
            <a:endParaRPr lang="en-US" sz="1150" dirty="0"/>
          </a:p>
        </p:txBody>
      </p:sp>
      <p:sp>
        <p:nvSpPr>
          <p:cNvPr id="21" name="Shape 18"/>
          <p:cNvSpPr/>
          <p:nvPr/>
        </p:nvSpPr>
        <p:spPr>
          <a:xfrm>
            <a:off x="640080" y="3869741"/>
            <a:ext cx="5318608" cy="691286"/>
          </a:xfrm>
          <a:prstGeom prst="roundRect">
            <a:avLst>
              <a:gd name="adj" fmla="val 5291"/>
            </a:avLst>
          </a:prstGeom>
          <a:solidFill>
            <a:srgbClr val="EFF4F8"/>
          </a:solidFill>
          <a:ln/>
        </p:spPr>
      </p:sp>
      <p:sp>
        <p:nvSpPr>
          <p:cNvPr id="22" name="Shape 19"/>
          <p:cNvSpPr/>
          <p:nvPr/>
        </p:nvSpPr>
        <p:spPr>
          <a:xfrm>
            <a:off x="822960" y="4050792"/>
            <a:ext cx="329184" cy="329184"/>
          </a:xfrm>
          <a:prstGeom prst="ellipse">
            <a:avLst/>
          </a:prstGeom>
          <a:solidFill>
            <a:srgbClr val="093259"/>
          </a:solidFill>
          <a:ln/>
        </p:spPr>
      </p:sp>
      <p:sp>
        <p:nvSpPr>
          <p:cNvPr id="23" name="Text 20"/>
          <p:cNvSpPr/>
          <p:nvPr/>
        </p:nvSpPr>
        <p:spPr>
          <a:xfrm>
            <a:off x="822960" y="40507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1"/>
          <p:cNvSpPr/>
          <p:nvPr/>
        </p:nvSpPr>
        <p:spPr>
          <a:xfrm>
            <a:off x="1243584" y="3942893"/>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けが人が 1名 います　　keganin ga ichi-mei imasu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One person is injured.</a:t>
            </a:r>
            <a:endParaRPr lang="en-US" sz="1150" dirty="0"/>
          </a:p>
        </p:txBody>
      </p:sp>
      <p:sp>
        <p:nvSpPr>
          <p:cNvPr id="25" name="Shape 22"/>
          <p:cNvSpPr/>
          <p:nvPr/>
        </p:nvSpPr>
        <p:spPr>
          <a:xfrm>
            <a:off x="6233008" y="3869741"/>
            <a:ext cx="5318608" cy="691286"/>
          </a:xfrm>
          <a:prstGeom prst="roundRect">
            <a:avLst>
              <a:gd name="adj" fmla="val 5291"/>
            </a:avLst>
          </a:prstGeom>
          <a:solidFill>
            <a:srgbClr val="EFF4F8"/>
          </a:solidFill>
          <a:ln/>
        </p:spPr>
      </p:sp>
      <p:sp>
        <p:nvSpPr>
          <p:cNvPr id="26" name="Shape 23"/>
          <p:cNvSpPr/>
          <p:nvPr/>
        </p:nvSpPr>
        <p:spPr>
          <a:xfrm>
            <a:off x="6415888" y="4050792"/>
            <a:ext cx="329184" cy="329184"/>
          </a:xfrm>
          <a:prstGeom prst="ellipse">
            <a:avLst/>
          </a:prstGeom>
          <a:solidFill>
            <a:srgbClr val="093259"/>
          </a:solidFill>
          <a:ln/>
        </p:spPr>
      </p:sp>
      <p:sp>
        <p:nvSpPr>
          <p:cNvPr id="27" name="Text 24"/>
          <p:cNvSpPr/>
          <p:nvPr/>
        </p:nvSpPr>
        <p:spPr>
          <a:xfrm>
            <a:off x="6415888" y="40507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5"/>
          <p:cNvSpPr/>
          <p:nvPr/>
        </p:nvSpPr>
        <p:spPr>
          <a:xfrm>
            <a:off x="6836512" y="3942893"/>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意識が ありません　　ishiki ga arimasen</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The person is unconscious.</a:t>
            </a:r>
            <a:endParaRPr lang="en-US" sz="1150" dirty="0"/>
          </a:p>
        </p:txBody>
      </p:sp>
      <p:sp>
        <p:nvSpPr>
          <p:cNvPr id="29" name="Shape 26"/>
          <p:cNvSpPr/>
          <p:nvPr/>
        </p:nvSpPr>
        <p:spPr>
          <a:xfrm>
            <a:off x="640080" y="4707331"/>
            <a:ext cx="5318608" cy="691286"/>
          </a:xfrm>
          <a:prstGeom prst="roundRect">
            <a:avLst>
              <a:gd name="adj" fmla="val 5291"/>
            </a:avLst>
          </a:prstGeom>
          <a:solidFill>
            <a:srgbClr val="EFF4F8"/>
          </a:solidFill>
          <a:ln/>
        </p:spPr>
      </p:sp>
      <p:sp>
        <p:nvSpPr>
          <p:cNvPr id="30" name="Shape 27"/>
          <p:cNvSpPr/>
          <p:nvPr/>
        </p:nvSpPr>
        <p:spPr>
          <a:xfrm>
            <a:off x="822960" y="4888382"/>
            <a:ext cx="329184" cy="329184"/>
          </a:xfrm>
          <a:prstGeom prst="ellipse">
            <a:avLst/>
          </a:prstGeom>
          <a:solidFill>
            <a:srgbClr val="093259"/>
          </a:solidFill>
          <a:ln/>
        </p:spPr>
      </p:sp>
      <p:sp>
        <p:nvSpPr>
          <p:cNvPr id="31" name="Text 28"/>
          <p:cNvSpPr/>
          <p:nvPr/>
        </p:nvSpPr>
        <p:spPr>
          <a:xfrm>
            <a:off x="822960" y="488838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29"/>
          <p:cNvSpPr/>
          <p:nvPr/>
        </p:nvSpPr>
        <p:spPr>
          <a:xfrm>
            <a:off x="1243584" y="4780483"/>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息を していません　　iki o shite imasen</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The person is not breathing.</a:t>
            </a:r>
            <a:endParaRPr lang="en-US" sz="1150" dirty="0"/>
          </a:p>
        </p:txBody>
      </p:sp>
      <p:sp>
        <p:nvSpPr>
          <p:cNvPr id="33" name="Shape 30"/>
          <p:cNvSpPr/>
          <p:nvPr/>
        </p:nvSpPr>
        <p:spPr>
          <a:xfrm>
            <a:off x="6233008" y="4707331"/>
            <a:ext cx="5318608" cy="691286"/>
          </a:xfrm>
          <a:prstGeom prst="roundRect">
            <a:avLst>
              <a:gd name="adj" fmla="val 5291"/>
            </a:avLst>
          </a:prstGeom>
          <a:solidFill>
            <a:srgbClr val="EFF4F8"/>
          </a:solidFill>
          <a:ln/>
        </p:spPr>
      </p:sp>
      <p:sp>
        <p:nvSpPr>
          <p:cNvPr id="34" name="Shape 31"/>
          <p:cNvSpPr/>
          <p:nvPr/>
        </p:nvSpPr>
        <p:spPr>
          <a:xfrm>
            <a:off x="6415888" y="4888382"/>
            <a:ext cx="329184" cy="329184"/>
          </a:xfrm>
          <a:prstGeom prst="ellipse">
            <a:avLst/>
          </a:prstGeom>
          <a:solidFill>
            <a:srgbClr val="093259"/>
          </a:solidFill>
          <a:ln/>
        </p:spPr>
      </p:sp>
      <p:sp>
        <p:nvSpPr>
          <p:cNvPr id="35" name="Text 32"/>
          <p:cNvSpPr/>
          <p:nvPr/>
        </p:nvSpPr>
        <p:spPr>
          <a:xfrm>
            <a:off x="6415888" y="488838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3"/>
          <p:cNvSpPr/>
          <p:nvPr/>
        </p:nvSpPr>
        <p:spPr>
          <a:xfrm>
            <a:off x="6836512" y="4780483"/>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警備員の ◯◯ です　　keibiin no ◯◯ desu</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I am [name], a security guard.</a:t>
            </a:r>
            <a:endParaRPr lang="en-US" sz="1150" dirty="0"/>
          </a:p>
        </p:txBody>
      </p:sp>
      <p:sp>
        <p:nvSpPr>
          <p:cNvPr id="37" name="Shape 34"/>
          <p:cNvSpPr/>
          <p:nvPr/>
        </p:nvSpPr>
        <p:spPr>
          <a:xfrm>
            <a:off x="640080" y="5544922"/>
            <a:ext cx="5318608" cy="691286"/>
          </a:xfrm>
          <a:prstGeom prst="roundRect">
            <a:avLst>
              <a:gd name="adj" fmla="val 5291"/>
            </a:avLst>
          </a:prstGeom>
          <a:solidFill>
            <a:srgbClr val="EFF4F8"/>
          </a:solidFill>
          <a:ln/>
        </p:spPr>
      </p:sp>
      <p:sp>
        <p:nvSpPr>
          <p:cNvPr id="38" name="Shape 35"/>
          <p:cNvSpPr/>
          <p:nvPr/>
        </p:nvSpPr>
        <p:spPr>
          <a:xfrm>
            <a:off x="822960" y="5725973"/>
            <a:ext cx="329184" cy="329184"/>
          </a:xfrm>
          <a:prstGeom prst="ellipse">
            <a:avLst/>
          </a:prstGeom>
          <a:solidFill>
            <a:srgbClr val="093259"/>
          </a:solidFill>
          <a:ln/>
        </p:spPr>
      </p:sp>
      <p:sp>
        <p:nvSpPr>
          <p:cNvPr id="39" name="Text 36"/>
          <p:cNvSpPr/>
          <p:nvPr/>
        </p:nvSpPr>
        <p:spPr>
          <a:xfrm>
            <a:off x="822960" y="572597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0" name="Text 37"/>
          <p:cNvSpPr/>
          <p:nvPr/>
        </p:nvSpPr>
        <p:spPr>
          <a:xfrm>
            <a:off x="1243584" y="5618074"/>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通報が難しい場合は、できる者を指名します。</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If you cannot make the call, name someone who can.</a:t>
            </a:r>
            <a:endParaRPr lang="en-US" sz="1150" dirty="0"/>
          </a:p>
        </p:txBody>
      </p:sp>
      <p:sp>
        <p:nvSpPr>
          <p:cNvPr id="41" name="Shape 38"/>
          <p:cNvSpPr/>
          <p:nvPr/>
        </p:nvSpPr>
        <p:spPr>
          <a:xfrm>
            <a:off x="6233008" y="5544922"/>
            <a:ext cx="5318608" cy="691286"/>
          </a:xfrm>
          <a:prstGeom prst="roundRect">
            <a:avLst>
              <a:gd name="adj" fmla="val 5291"/>
            </a:avLst>
          </a:prstGeom>
          <a:solidFill>
            <a:srgbClr val="EFF4F8"/>
          </a:solidFill>
          <a:ln/>
        </p:spPr>
      </p:sp>
      <p:sp>
        <p:nvSpPr>
          <p:cNvPr id="42" name="Shape 39"/>
          <p:cNvSpPr/>
          <p:nvPr/>
        </p:nvSpPr>
        <p:spPr>
          <a:xfrm>
            <a:off x="6415888" y="5725973"/>
            <a:ext cx="329184" cy="329184"/>
          </a:xfrm>
          <a:prstGeom prst="ellipse">
            <a:avLst/>
          </a:prstGeom>
          <a:solidFill>
            <a:srgbClr val="093259"/>
          </a:solidFill>
          <a:ln/>
        </p:spPr>
      </p:sp>
      <p:sp>
        <p:nvSpPr>
          <p:cNvPr id="43" name="Text 40"/>
          <p:cNvSpPr/>
          <p:nvPr/>
        </p:nvSpPr>
        <p:spPr>
          <a:xfrm>
            <a:off x="6415888" y="572597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4" name="Text 41"/>
          <p:cNvSpPr/>
          <p:nvPr/>
        </p:nvSpPr>
        <p:spPr>
          <a:xfrm>
            <a:off x="6836512" y="5618074"/>
            <a:ext cx="4477360" cy="544982"/>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指名した場合でも、上記8つは全員が言えることとします。</a:t>
            </a:r>
            <a:endParaRPr lang="en-US" sz="11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Even then, everyone must know the eight lines above.</a:t>
            </a:r>
            <a:endParaRPr lang="en-US" sz="1150" dirty="0"/>
          </a:p>
        </p:txBody>
      </p:sp>
      <p:sp>
        <p:nvSpPr>
          <p:cNvPr id="45" name="Text 42"/>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46" name="Text 43"/>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現場保存と社内エスカレーション</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Scene Preservation and Internal Escalation</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a:t>
            </a:r>
            <a:endParaRPr lang="en-US" sz="1100" dirty="0"/>
          </a:p>
        </p:txBody>
      </p:sp>
      <p:sp>
        <p:nvSpPr>
          <p:cNvPr id="6" name="Shape 3"/>
          <p:cNvSpPr/>
          <p:nvPr/>
        </p:nvSpPr>
        <p:spPr>
          <a:xfrm>
            <a:off x="640080" y="1115568"/>
            <a:ext cx="10911535" cy="585216"/>
          </a:xfrm>
          <a:prstGeom prst="roundRect">
            <a:avLst>
              <a:gd name="adj" fmla="val 6250"/>
            </a:avLst>
          </a:prstGeom>
          <a:solidFill>
            <a:srgbClr val="E4F4F0"/>
          </a:solidFill>
          <a:ln/>
        </p:spPr>
      </p:sp>
      <p:sp>
        <p:nvSpPr>
          <p:cNvPr id="7" name="Text 4"/>
          <p:cNvSpPr/>
          <p:nvPr/>
        </p:nvSpPr>
        <p:spPr>
          <a:xfrm>
            <a:off x="877824" y="1161288"/>
            <a:ext cx="10436047" cy="493776"/>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9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現場を変えてよい場合を述べ、社内に上げる順序と時限を説明できる。</a:t>
            </a:r>
            <a:endParaRPr lang="en-US" sz="95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You can state when the scene may be altered, and explain the order and timing of internal escalation.</a:t>
            </a:r>
            <a:endParaRPr lang="en-US" sz="950" dirty="0"/>
          </a:p>
        </p:txBody>
      </p:sp>
      <p:sp>
        <p:nvSpPr>
          <p:cNvPr id="8" name="Shape 5"/>
          <p:cNvSpPr/>
          <p:nvPr/>
        </p:nvSpPr>
        <p:spPr>
          <a:xfrm>
            <a:off x="640080" y="1773936"/>
            <a:ext cx="5327752" cy="1965960"/>
          </a:xfrm>
          <a:prstGeom prst="roundRect">
            <a:avLst>
              <a:gd name="adj" fmla="val 1860"/>
            </a:avLst>
          </a:prstGeom>
          <a:solidFill>
            <a:srgbClr val="EFF4F8"/>
          </a:solidFill>
          <a:ln/>
        </p:spPr>
      </p:sp>
      <p:sp>
        <p:nvSpPr>
          <p:cNvPr id="9" name="Shape 6"/>
          <p:cNvSpPr/>
          <p:nvPr/>
        </p:nvSpPr>
        <p:spPr>
          <a:xfrm>
            <a:off x="822960" y="1938528"/>
            <a:ext cx="310896" cy="310896"/>
          </a:xfrm>
          <a:prstGeom prst="ellipse">
            <a:avLst/>
          </a:prstGeom>
          <a:solidFill>
            <a:srgbClr val="093259"/>
          </a:solidFill>
          <a:ln/>
        </p:spPr>
      </p:sp>
      <p:sp>
        <p:nvSpPr>
          <p:cNvPr id="10" name="Text 7"/>
          <p:cNvSpPr/>
          <p:nvPr/>
        </p:nvSpPr>
        <p:spPr>
          <a:xfrm>
            <a:off x="822960"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現場保存の原則</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Preserving the Scene</a:t>
            </a:r>
            <a:endParaRPr lang="en-US" sz="1200" dirty="0"/>
          </a:p>
        </p:txBody>
      </p:sp>
      <p:sp>
        <p:nvSpPr>
          <p:cNvPr id="12" name="Text 9"/>
          <p:cNvSpPr/>
          <p:nvPr/>
        </p:nvSpPr>
        <p:spPr>
          <a:xfrm>
            <a:off x="859536"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・人命が最優先。救助、救護のためなら変えてよい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Life comes first. You may alter it for rescue or first aid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・それ以外の理由では動かさない。片付けにより証拠が失われる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For any other reason, change nothing. Tidying destroys evidence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・変えた場合は記録する。何を、どこから、どこへ、誰が、何時に</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If you changed it, record what, from where, to where, by whom, when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・立入制限は広めに設定する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Set the cordon wider than you think is needed</a:t>
            </a:r>
            <a:endParaRPr lang="en-US" sz="950" dirty="0"/>
          </a:p>
        </p:txBody>
      </p:sp>
      <p:sp>
        <p:nvSpPr>
          <p:cNvPr id="13" name="Shape 10"/>
          <p:cNvSpPr/>
          <p:nvPr/>
        </p:nvSpPr>
        <p:spPr>
          <a:xfrm>
            <a:off x="6223864" y="1773936"/>
            <a:ext cx="5327752" cy="1965960"/>
          </a:xfrm>
          <a:prstGeom prst="roundRect">
            <a:avLst>
              <a:gd name="adj" fmla="val 1860"/>
            </a:avLst>
          </a:prstGeom>
          <a:solidFill>
            <a:srgbClr val="F7FAFC"/>
          </a:solidFill>
          <a:ln/>
        </p:spPr>
      </p:sp>
      <p:sp>
        <p:nvSpPr>
          <p:cNvPr id="14" name="Shape 11"/>
          <p:cNvSpPr/>
          <p:nvPr/>
        </p:nvSpPr>
        <p:spPr>
          <a:xfrm>
            <a:off x="6406744" y="1938528"/>
            <a:ext cx="310896" cy="310896"/>
          </a:xfrm>
          <a:prstGeom prst="ellipse">
            <a:avLst/>
          </a:prstGeom>
          <a:solidFill>
            <a:srgbClr val="093259"/>
          </a:solidFill>
          <a:ln/>
        </p:spPr>
      </p:sp>
      <p:sp>
        <p:nvSpPr>
          <p:cNvPr id="15" name="Text 12"/>
          <p:cNvSpPr/>
          <p:nvPr/>
        </p:nvSpPr>
        <p:spPr>
          <a:xfrm>
            <a:off x="6406744"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01952"/>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第三者を止める</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Stopping Other People</a:t>
            </a:r>
            <a:endParaRPr lang="en-US" sz="1200" dirty="0"/>
          </a:p>
        </p:txBody>
      </p:sp>
      <p:sp>
        <p:nvSpPr>
          <p:cNvPr id="17" name="Text 14"/>
          <p:cNvSpPr/>
          <p:nvPr/>
        </p:nvSpPr>
        <p:spPr>
          <a:xfrm>
            <a:off x="6443320" y="2450592"/>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・善意で片付ける人が必ず現れる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Someone will always start tidying, with good intentions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・「そのままにしてください」と理由を添えて止める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Say "please leave it as it is", and give the reason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・責める言い方をしない。善意の行動である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Do not phrase it as blame. The intention was good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・止められなかった場合は、何が動いたかを記録する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If you could not stop it, record what was moved</a:t>
            </a:r>
            <a:endParaRPr lang="en-US" sz="950" dirty="0"/>
          </a:p>
        </p:txBody>
      </p:sp>
      <p:sp>
        <p:nvSpPr>
          <p:cNvPr id="18" name="Shape 15"/>
          <p:cNvSpPr/>
          <p:nvPr/>
        </p:nvSpPr>
        <p:spPr>
          <a:xfrm>
            <a:off x="640080" y="3941064"/>
            <a:ext cx="5327752" cy="1965960"/>
          </a:xfrm>
          <a:prstGeom prst="roundRect">
            <a:avLst>
              <a:gd name="adj" fmla="val 1860"/>
            </a:avLst>
          </a:prstGeom>
          <a:solidFill>
            <a:srgbClr val="EFF4F8"/>
          </a:solidFill>
          <a:ln/>
        </p:spPr>
      </p:sp>
      <p:sp>
        <p:nvSpPr>
          <p:cNvPr id="19" name="Shape 16"/>
          <p:cNvSpPr/>
          <p:nvPr/>
        </p:nvSpPr>
        <p:spPr>
          <a:xfrm>
            <a:off x="822960" y="4105656"/>
            <a:ext cx="310896" cy="310896"/>
          </a:xfrm>
          <a:prstGeom prst="ellipse">
            <a:avLst/>
          </a:prstGeom>
          <a:solidFill>
            <a:srgbClr val="093259"/>
          </a:solidFill>
          <a:ln/>
        </p:spPr>
      </p:sp>
      <p:sp>
        <p:nvSpPr>
          <p:cNvPr id="20" name="Text 17"/>
          <p:cNvSpPr/>
          <p:nvPr/>
        </p:nvSpPr>
        <p:spPr>
          <a:xfrm>
            <a:off x="822960"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エスカレーションの順序</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Escalation Order</a:t>
            </a:r>
            <a:endParaRPr lang="en-US" sz="1200" dirty="0"/>
          </a:p>
        </p:txBody>
      </p:sp>
      <p:sp>
        <p:nvSpPr>
          <p:cNvPr id="22" name="Text 19"/>
          <p:cNvSpPr/>
          <p:nvPr/>
        </p:nvSpPr>
        <p:spPr>
          <a:xfrm>
            <a:off x="859536"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・一次 ― 警備責任者へ即時。判断が固まる前でよい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First: the security supervisor, immediately. No conclusion needed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・二次 ― 施設管理、総務へ。事案の継続が見込まれる場合</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Second: facilities and general affairs, if it will continue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・三次 ― 経営層、広報、法務へ。人身、報道、情報漏えいが関わる場合</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Third: executives, communications, legal, where injury, media or data loss is involved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・判断に迷う場合は、上位者へ報告する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If you are unsure, escalate</a:t>
            </a:r>
            <a:endParaRPr lang="en-US" sz="950" dirty="0"/>
          </a:p>
        </p:txBody>
      </p:sp>
      <p:sp>
        <p:nvSpPr>
          <p:cNvPr id="23" name="Shape 20"/>
          <p:cNvSpPr/>
          <p:nvPr/>
        </p:nvSpPr>
        <p:spPr>
          <a:xfrm>
            <a:off x="6223864" y="3941064"/>
            <a:ext cx="5327752" cy="1965960"/>
          </a:xfrm>
          <a:prstGeom prst="roundRect">
            <a:avLst>
              <a:gd name="adj" fmla="val 1860"/>
            </a:avLst>
          </a:prstGeom>
          <a:solidFill>
            <a:srgbClr val="F7FAFC"/>
          </a:solidFill>
          <a:ln/>
        </p:spPr>
      </p:sp>
      <p:sp>
        <p:nvSpPr>
          <p:cNvPr id="24" name="Shape 21"/>
          <p:cNvSpPr/>
          <p:nvPr/>
        </p:nvSpPr>
        <p:spPr>
          <a:xfrm>
            <a:off x="6406744" y="4105656"/>
            <a:ext cx="310896" cy="310896"/>
          </a:xfrm>
          <a:prstGeom prst="ellipse">
            <a:avLst/>
          </a:prstGeom>
          <a:solidFill>
            <a:srgbClr val="093259"/>
          </a:solidFill>
          <a:ln/>
        </p:spPr>
      </p:sp>
      <p:sp>
        <p:nvSpPr>
          <p:cNvPr id="25" name="Text 22"/>
          <p:cNvSpPr/>
          <p:nvPr/>
        </p:nvSpPr>
        <p:spPr>
          <a:xfrm>
            <a:off x="6406744"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69080"/>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外部通報との関係</a:t>
            </a:r>
            <a:endParaRPr lang="en-US" sz="1200" dirty="0"/>
          </a:p>
          <a:p>
            <a:pPr indent="0" marL="0">
              <a:lnSpc>
                <a:spcPct val="88000"/>
              </a:lnSpc>
              <a:buNone/>
            </a:pPr>
            <a:r>
              <a:rPr lang="en-US" sz="1050" dirty="0">
                <a:solidFill>
                  <a:srgbClr val="12B198"/>
                </a:solidFill>
                <a:latin typeface="Calibri" pitchFamily="34" charset="0"/>
                <a:ea typeface="Calibri" pitchFamily="34" charset="-122"/>
                <a:cs typeface="Calibri" pitchFamily="34" charset="-120"/>
              </a:rPr>
              <a:t>Relation to the Emergency Call</a:t>
            </a:r>
            <a:endParaRPr lang="en-US" sz="1200" dirty="0"/>
          </a:p>
        </p:txBody>
      </p:sp>
      <p:sp>
        <p:nvSpPr>
          <p:cNvPr id="27" name="Text 24"/>
          <p:cNvSpPr/>
          <p:nvPr/>
        </p:nvSpPr>
        <p:spPr>
          <a:xfrm>
            <a:off x="6443320" y="4617720"/>
            <a:ext cx="4888840" cy="114300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・外部への通報と社内への報告は別に行う</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The emergency call and the internal report are separate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・どちらも遅らせない。人命に関わる場合は通報が先</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Delay neither. Where life is at risk, the emergency call comes first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・社内の承認を待って通報を遅らせない</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Do not delay an emergency call to wait for internal approval</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・通報した事実は、社内報告にも必ず含める</a:t>
            </a:r>
            <a:endParaRPr lang="en-US" sz="950" dirty="0"/>
          </a:p>
          <a:p>
            <a:pPr indent="0" marL="0">
              <a:lnSpc>
                <a:spcPct val="90000"/>
              </a:lnSpc>
              <a:spcAft>
                <a:spcPts val="200"/>
              </a:spcAft>
              <a:buNone/>
            </a:pPr>
            <a:r>
              <a:rPr lang="en-US" sz="950" dirty="0">
                <a:solidFill>
                  <a:srgbClr val="1B2733"/>
                </a:solidFill>
                <a:latin typeface="Calibri" pitchFamily="34" charset="0"/>
                <a:ea typeface="Calibri" pitchFamily="34" charset="-122"/>
                <a:cs typeface="Calibri" pitchFamily="34" charset="-120"/>
              </a:rPr>
              <a:t>  Always include the fact that you called in the internal report</a:t>
            </a:r>
            <a:endParaRPr lang="en-US" sz="950" dirty="0"/>
          </a:p>
        </p:txBody>
      </p:sp>
      <p:sp>
        <p:nvSpPr>
          <p:cNvPr id="28" name="Text 25"/>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連絡先、時限、クライアントへの通知の要否は現場ごとに異なる。緊急連絡体制表による。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Contacts, time limits and whether the client is notified differ by site.</a:t>
            </a:r>
            <a:endParaRPr lang="en-US" sz="900" dirty="0"/>
          </a:p>
        </p:txBody>
      </p:sp>
      <p:sp>
        <p:nvSpPr>
          <p:cNvPr id="29" name="Text 26"/>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消防法、警察庁「警備員教育」、総務省消防庁「救急車の適正利用」</a:t>
            </a:r>
            <a:endParaRPr lang="en-US" sz="750" dirty="0"/>
          </a:p>
        </p:txBody>
      </p:sp>
      <p:sp>
        <p:nvSpPr>
          <p:cNvPr id="30" name="Text 27"/>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1" name="Text 28"/>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9-A　執務フロアで人が倒れている</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TTX 9-A — A Person Is Down on the Office Floor</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CASE 9-A</a:t>
            </a:r>
            <a:endParaRPr lang="en-US" sz="1100" dirty="0"/>
          </a:p>
        </p:txBody>
      </p:sp>
      <p:sp>
        <p:nvSpPr>
          <p:cNvPr id="6" name="Shape 3"/>
          <p:cNvSpPr/>
          <p:nvPr/>
        </p:nvSpPr>
        <p:spPr>
          <a:xfrm>
            <a:off x="640080" y="1115568"/>
            <a:ext cx="10911535" cy="1124712"/>
          </a:xfrm>
          <a:prstGeom prst="roundRect">
            <a:avLst>
              <a:gd name="adj" fmla="val 3252"/>
            </a:avLst>
          </a:prstGeom>
          <a:solidFill>
            <a:srgbClr val="093259"/>
          </a:solidFill>
          <a:ln/>
        </p:spPr>
      </p:sp>
      <p:sp>
        <p:nvSpPr>
          <p:cNvPr id="7" name="Text 4"/>
          <p:cNvSpPr/>
          <p:nvPr/>
        </p:nvSpPr>
        <p:spPr>
          <a:xfrm>
            <a:off x="950976" y="1243584"/>
            <a:ext cx="10289743" cy="868680"/>
          </a:xfrm>
          <a:prstGeom prst="rect">
            <a:avLst/>
          </a:prstGeom>
          <a:noFill/>
          <a:ln/>
        </p:spPr>
        <p:txBody>
          <a:bodyPr wrap="square" lIns="0" tIns="0" rIns="0" bIns="0" rtlCol="0" anchor="t"/>
          <a:lstStyle/>
          <a:p>
            <a:pPr indent="0" marL="0">
              <a:lnSpc>
                <a:spcPct val="92000"/>
              </a:lnSpc>
              <a:buNone/>
            </a:pPr>
            <a:r>
              <a:rPr lang="en-US" sz="950" b="1" dirty="0">
                <a:solidFill>
                  <a:srgbClr val="12B198"/>
                </a:solidFill>
                <a:latin typeface="Yu Gothic" pitchFamily="34" charset="0"/>
                <a:ea typeface="Yu Gothic" pitchFamily="34" charset="-122"/>
                <a:cs typeface="Yu Gothic" pitchFamily="34" charset="-120"/>
              </a:rPr>
              <a:t>シナリオ　</a:t>
            </a:r>
            <a:pPr indent="0" marL="0">
              <a:lnSpc>
                <a:spcPct val="92000"/>
              </a:lnSpc>
              <a:buNone/>
            </a:pPr>
            <a:r>
              <a:rPr lang="en-US" sz="800" dirty="0">
                <a:solidFill>
                  <a:srgbClr val="12B198"/>
                </a:solidFill>
                <a:latin typeface="Calibri" pitchFamily="34" charset="0"/>
                <a:ea typeface="Calibri" pitchFamily="34" charset="-122"/>
                <a:cs typeface="Calibri" pitchFamily="34" charset="-120"/>
              </a:rPr>
              <a:t>SCENARIO</a:t>
            </a:r>
            <a:endParaRPr lang="en-US" sz="950" dirty="0"/>
          </a:p>
          <a:p>
            <a:pPr indent="0" marL="0">
              <a:lnSpc>
                <a:spcPct val="92000"/>
              </a:lnSpc>
              <a:buNone/>
            </a:pPr>
            <a:r>
              <a:rPr lang="en-US" sz="1150" b="1" dirty="0">
                <a:solidFill>
                  <a:srgbClr val="FFFFFF"/>
                </a:solidFill>
                <a:latin typeface="Yu Gothic" pitchFamily="34" charset="0"/>
                <a:ea typeface="Yu Gothic" pitchFamily="34" charset="-122"/>
                <a:cs typeface="Yu Gothic" pitchFamily="34" charset="-120"/>
              </a:rPr>
              <a:t>17時40分、執務フロアで人が1名倒れている。社員証も来訪者バッジも見当たらない。近くに割れたガラスと、開いたままのキャビネット。周囲の社員3名は「見たことがない人だ」と言う。呼びかけても日本語が通じない。</a:t>
            </a:r>
            <a:endParaRPr lang="en-US" sz="950" dirty="0"/>
          </a:p>
          <a:p>
            <a:pPr indent="0" marL="0">
              <a:lnSpc>
                <a:spcPct val="92000"/>
              </a:lnSpc>
              <a:buNone/>
            </a:pPr>
            <a:r>
              <a:rPr lang="en-US" sz="1000" dirty="0">
                <a:solidFill>
                  <a:srgbClr val="DCEFEB"/>
                </a:solidFill>
                <a:latin typeface="Calibri" pitchFamily="34" charset="0"/>
                <a:ea typeface="Calibri" pitchFamily="34" charset="-122"/>
                <a:cs typeface="Calibri" pitchFamily="34" charset="-120"/>
              </a:rPr>
              <a:t>17:40. A person is lying on the office floor. No employee ID or visitor badge is visible. Nearby: broken glass and an open cabinet. Three employees say they have never seen the person. When you speak to them, Japanese does not work.</a:t>
            </a:r>
            <a:endParaRPr lang="en-US" sz="950" dirty="0"/>
          </a:p>
        </p:txBody>
      </p:sp>
      <p:sp>
        <p:nvSpPr>
          <p:cNvPr id="8" name="Text 5"/>
          <p:cNvSpPr/>
          <p:nvPr/>
        </p:nvSpPr>
        <p:spPr>
          <a:xfrm>
            <a:off x="640080" y="2386584"/>
            <a:ext cx="10911535" cy="566928"/>
          </a:xfrm>
          <a:prstGeom prst="rect">
            <a:avLst/>
          </a:prstGeom>
          <a:noFill/>
          <a:ln/>
        </p:spPr>
        <p:txBody>
          <a:bodyPr wrap="square" lIns="0" tIns="0" rIns="0" bIns="0" rtlCol="0" anchor="t"/>
          <a:lstStyle/>
          <a:p>
            <a:pPr indent="0" marL="0">
              <a:lnSpc>
                <a:spcPct val="90000"/>
              </a:lnSpc>
              <a:buNone/>
            </a:pPr>
            <a:r>
              <a:rPr lang="en-US" sz="1000" b="1" dirty="0">
                <a:solidFill>
                  <a:srgbClr val="0D8A76"/>
                </a:solidFill>
                <a:latin typeface="Yu Gothic" pitchFamily="34" charset="0"/>
                <a:ea typeface="Yu Gothic" pitchFamily="34" charset="-122"/>
                <a:cs typeface="Yu Gothic" pitchFamily="34" charset="-120"/>
              </a:rPr>
              <a:t>問い　</a:t>
            </a:r>
            <a:pPr indent="0" marL="0">
              <a:lnSpc>
                <a:spcPct val="90000"/>
              </a:lnSpc>
              <a:buNone/>
            </a:pPr>
            <a:r>
              <a:rPr lang="en-US" sz="1250" b="1" dirty="0">
                <a:solidFill>
                  <a:srgbClr val="093259"/>
                </a:solidFill>
                <a:latin typeface="Yu Gothic" pitchFamily="34" charset="0"/>
                <a:ea typeface="Yu Gothic" pitchFamily="34" charset="-122"/>
                <a:cs typeface="Yu Gothic" pitchFamily="34" charset="-120"/>
              </a:rPr>
              <a:t>あなたなら次の60秒、何をどう動きますか。</a:t>
            </a:r>
            <a:endParaRPr lang="en-US" sz="100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What do you do in the next sixty seconds?</a:t>
            </a:r>
            <a:endParaRPr lang="en-US" sz="1000" dirty="0"/>
          </a:p>
        </p:txBody>
      </p:sp>
      <p:sp>
        <p:nvSpPr>
          <p:cNvPr id="9" name="Shape 6"/>
          <p:cNvSpPr/>
          <p:nvPr/>
        </p:nvSpPr>
        <p:spPr>
          <a:xfrm>
            <a:off x="640080" y="3008376"/>
            <a:ext cx="5327752" cy="900684"/>
          </a:xfrm>
          <a:prstGeom prst="roundRect">
            <a:avLst>
              <a:gd name="adj" fmla="val 4061"/>
            </a:avLst>
          </a:prstGeom>
          <a:solidFill>
            <a:srgbClr val="EFF4F8"/>
          </a:solidFill>
          <a:ln/>
        </p:spPr>
      </p:sp>
      <p:sp>
        <p:nvSpPr>
          <p:cNvPr id="10" name="Shape 7"/>
          <p:cNvSpPr/>
          <p:nvPr/>
        </p:nvSpPr>
        <p:spPr>
          <a:xfrm>
            <a:off x="804672" y="3312414"/>
            <a:ext cx="292608" cy="292608"/>
          </a:xfrm>
          <a:prstGeom prst="ellipse">
            <a:avLst/>
          </a:prstGeom>
          <a:solidFill>
            <a:srgbClr val="12B198"/>
          </a:solidFill>
          <a:ln/>
        </p:spPr>
      </p:sp>
      <p:sp>
        <p:nvSpPr>
          <p:cNvPr id="11" name="Text 8"/>
          <p:cNvSpPr/>
          <p:nvPr/>
        </p:nvSpPr>
        <p:spPr>
          <a:xfrm>
            <a:off x="804672" y="331241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9"/>
          <p:cNvSpPr/>
          <p:nvPr/>
        </p:nvSpPr>
        <p:spPr>
          <a:xfrm>
            <a:off x="1188720" y="3063240"/>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最初の30秒に、何を、どの順序で行うか。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In the first thirty seconds, what do you do, and in what order?</a:t>
            </a:r>
            <a:endParaRPr lang="en-US" sz="1050" dirty="0"/>
          </a:p>
        </p:txBody>
      </p:sp>
      <p:sp>
        <p:nvSpPr>
          <p:cNvPr id="13" name="Shape 10"/>
          <p:cNvSpPr/>
          <p:nvPr/>
        </p:nvSpPr>
        <p:spPr>
          <a:xfrm>
            <a:off x="6223864" y="3008376"/>
            <a:ext cx="5327752" cy="900684"/>
          </a:xfrm>
          <a:prstGeom prst="roundRect">
            <a:avLst>
              <a:gd name="adj" fmla="val 4061"/>
            </a:avLst>
          </a:prstGeom>
          <a:solidFill>
            <a:srgbClr val="EFF4F8"/>
          </a:solidFill>
          <a:ln/>
        </p:spPr>
      </p:sp>
      <p:sp>
        <p:nvSpPr>
          <p:cNvPr id="14" name="Shape 11"/>
          <p:cNvSpPr/>
          <p:nvPr/>
        </p:nvSpPr>
        <p:spPr>
          <a:xfrm>
            <a:off x="6388456" y="3312414"/>
            <a:ext cx="292608" cy="292608"/>
          </a:xfrm>
          <a:prstGeom prst="ellipse">
            <a:avLst/>
          </a:prstGeom>
          <a:solidFill>
            <a:srgbClr val="12B198"/>
          </a:solidFill>
          <a:ln/>
        </p:spPr>
      </p:sp>
      <p:sp>
        <p:nvSpPr>
          <p:cNvPr id="15" name="Text 12"/>
          <p:cNvSpPr/>
          <p:nvPr/>
        </p:nvSpPr>
        <p:spPr>
          <a:xfrm>
            <a:off x="6388456" y="331241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72504" y="3063240"/>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通報は110番か119番か、両方か。根拠は何か。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Police, ambulance, or both? On what basis?</a:t>
            </a:r>
            <a:endParaRPr lang="en-US" sz="1050" dirty="0"/>
          </a:p>
        </p:txBody>
      </p:sp>
      <p:sp>
        <p:nvSpPr>
          <p:cNvPr id="17" name="Shape 14"/>
          <p:cNvSpPr/>
          <p:nvPr/>
        </p:nvSpPr>
        <p:spPr>
          <a:xfrm>
            <a:off x="640080" y="4018788"/>
            <a:ext cx="5327752" cy="900684"/>
          </a:xfrm>
          <a:prstGeom prst="roundRect">
            <a:avLst>
              <a:gd name="adj" fmla="val 4061"/>
            </a:avLst>
          </a:prstGeom>
          <a:solidFill>
            <a:srgbClr val="EFF4F8"/>
          </a:solidFill>
          <a:ln/>
        </p:spPr>
      </p:sp>
      <p:sp>
        <p:nvSpPr>
          <p:cNvPr id="18" name="Shape 15"/>
          <p:cNvSpPr/>
          <p:nvPr/>
        </p:nvSpPr>
        <p:spPr>
          <a:xfrm>
            <a:off x="804672" y="4322826"/>
            <a:ext cx="292608" cy="292608"/>
          </a:xfrm>
          <a:prstGeom prst="ellipse">
            <a:avLst/>
          </a:prstGeom>
          <a:solidFill>
            <a:srgbClr val="12B198"/>
          </a:solidFill>
          <a:ln/>
        </p:spPr>
      </p:sp>
      <p:sp>
        <p:nvSpPr>
          <p:cNvPr id="19" name="Text 16"/>
          <p:cNvSpPr/>
          <p:nvPr/>
        </p:nvSpPr>
        <p:spPr>
          <a:xfrm>
            <a:off x="804672" y="432282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1188720" y="4073652"/>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身元を確認するため、所持品を見てよいか。根拠は何か。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May you look through their belongings to identify them? On what basis?</a:t>
            </a:r>
            <a:endParaRPr lang="en-US" sz="1050" dirty="0"/>
          </a:p>
        </p:txBody>
      </p:sp>
      <p:sp>
        <p:nvSpPr>
          <p:cNvPr id="21" name="Shape 18"/>
          <p:cNvSpPr/>
          <p:nvPr/>
        </p:nvSpPr>
        <p:spPr>
          <a:xfrm>
            <a:off x="6223864" y="4018788"/>
            <a:ext cx="5327752" cy="900684"/>
          </a:xfrm>
          <a:prstGeom prst="roundRect">
            <a:avLst>
              <a:gd name="adj" fmla="val 4061"/>
            </a:avLst>
          </a:prstGeom>
          <a:solidFill>
            <a:srgbClr val="EFF4F8"/>
          </a:solidFill>
          <a:ln/>
        </p:spPr>
      </p:sp>
      <p:sp>
        <p:nvSpPr>
          <p:cNvPr id="22" name="Shape 19"/>
          <p:cNvSpPr/>
          <p:nvPr/>
        </p:nvSpPr>
        <p:spPr>
          <a:xfrm>
            <a:off x="6388456" y="4322826"/>
            <a:ext cx="292608" cy="292608"/>
          </a:xfrm>
          <a:prstGeom prst="ellipse">
            <a:avLst/>
          </a:prstGeom>
          <a:solidFill>
            <a:srgbClr val="12B198"/>
          </a:solidFill>
          <a:ln/>
        </p:spPr>
      </p:sp>
      <p:sp>
        <p:nvSpPr>
          <p:cNvPr id="23" name="Text 20"/>
          <p:cNvSpPr/>
          <p:nvPr/>
        </p:nvSpPr>
        <p:spPr>
          <a:xfrm>
            <a:off x="6388456" y="432282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6772504" y="4073652"/>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現場をどこまで保存するか。社内には誰に、何分以内に上げるか。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How far do you preserve the scene? Who do you escalate to, and by when?</a:t>
            </a:r>
            <a:endParaRPr lang="en-US" sz="1050" dirty="0"/>
          </a:p>
        </p:txBody>
      </p:sp>
      <p:sp>
        <p:nvSpPr>
          <p:cNvPr id="25" name="Shape 22"/>
          <p:cNvSpPr/>
          <p:nvPr/>
        </p:nvSpPr>
        <p:spPr>
          <a:xfrm>
            <a:off x="640080" y="4974336"/>
            <a:ext cx="10911535" cy="420624"/>
          </a:xfrm>
          <a:prstGeom prst="roundRect">
            <a:avLst>
              <a:gd name="adj" fmla="val 8696"/>
            </a:avLst>
          </a:prstGeom>
          <a:solidFill>
            <a:srgbClr val="E4F4F0"/>
          </a:solidFill>
          <a:ln/>
        </p:spPr>
      </p:sp>
      <p:sp>
        <p:nvSpPr>
          <p:cNvPr id="26" name="Text 23"/>
          <p:cNvSpPr/>
          <p:nvPr/>
        </p:nvSpPr>
        <p:spPr>
          <a:xfrm>
            <a:off x="877824" y="5001768"/>
            <a:ext cx="10436047"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別の社員が「早く片付けよう」と、割れたガラスを拾い始めた。</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Another employee says "let us clear this up" and starts picking up the broken glass.</a:t>
            </a:r>
            <a:endParaRPr lang="en-US" sz="850" dirty="0"/>
          </a:p>
        </p:txBody>
      </p:sp>
      <p:sp>
        <p:nvSpPr>
          <p:cNvPr id="27" name="Shape 24"/>
          <p:cNvSpPr/>
          <p:nvPr/>
        </p:nvSpPr>
        <p:spPr>
          <a:xfrm>
            <a:off x="640080" y="5449824"/>
            <a:ext cx="10911535" cy="420624"/>
          </a:xfrm>
          <a:prstGeom prst="roundRect">
            <a:avLst>
              <a:gd name="adj" fmla="val 8696"/>
            </a:avLst>
          </a:prstGeom>
          <a:solidFill>
            <a:srgbClr val="E4F4F0"/>
          </a:solidFill>
          <a:ln/>
        </p:spPr>
      </p:sp>
      <p:sp>
        <p:nvSpPr>
          <p:cNvPr id="28" name="Text 25"/>
          <p:cNvSpPr/>
          <p:nvPr/>
        </p:nvSpPr>
        <p:spPr>
          <a:xfrm>
            <a:off x="877824" y="5477256"/>
            <a:ext cx="10436047"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救急隊から「本人の名前と生年月日は分かりますか」と聞かれた。</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The ambulance crew asks: "Do you know their name and date of birth?"</a:t>
            </a:r>
            <a:endParaRPr lang="en-US" sz="850" dirty="0"/>
          </a:p>
        </p:txBody>
      </p:sp>
      <p:sp>
        <p:nvSpPr>
          <p:cNvPr id="29" name="Text 26"/>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救急要請の判断者、クライアントへの通知、身元不明者の扱いは現場ごとに異なる。Site SOPによる。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Who decides on an ambulance, client notification, and handling of unidentified persons differ by site.</a:t>
            </a:r>
            <a:endParaRPr lang="en-US" sz="900" dirty="0"/>
          </a:p>
        </p:txBody>
      </p:sp>
      <p:sp>
        <p:nvSpPr>
          <p:cNvPr id="30" name="Text 27"/>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消防法、警察庁「警備員教育」、総務省消防庁「救急車の適正利用」</a:t>
            </a:r>
            <a:endParaRPr lang="en-US" sz="750" dirty="0"/>
          </a:p>
        </p:txBody>
      </p:sp>
      <p:sp>
        <p:nvSpPr>
          <p:cNvPr id="31" name="Text 28"/>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2" name="Text 29"/>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9-A 模範解答</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TTX 9-A — Model Answers</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DEBRIEF</a:t>
            </a:r>
            <a:endParaRPr lang="en-US" sz="1100" dirty="0"/>
          </a:p>
        </p:txBody>
      </p:sp>
      <p:sp>
        <p:nvSpPr>
          <p:cNvPr id="6" name="Shape 3"/>
          <p:cNvSpPr/>
          <p:nvPr/>
        </p:nvSpPr>
        <p:spPr>
          <a:xfrm>
            <a:off x="640080" y="1115568"/>
            <a:ext cx="10911535" cy="715518"/>
          </a:xfrm>
          <a:prstGeom prst="roundRect">
            <a:avLst>
              <a:gd name="adj" fmla="val 5112"/>
            </a:avLst>
          </a:prstGeom>
          <a:solidFill>
            <a:srgbClr val="E4F4F0"/>
          </a:solidFill>
          <a:ln/>
        </p:spPr>
      </p:sp>
      <p:sp>
        <p:nvSpPr>
          <p:cNvPr id="7" name="Shape 4"/>
          <p:cNvSpPr/>
          <p:nvPr/>
        </p:nvSpPr>
        <p:spPr>
          <a:xfrm>
            <a:off x="841248" y="1299591"/>
            <a:ext cx="347472" cy="347472"/>
          </a:xfrm>
          <a:prstGeom prst="ellipse">
            <a:avLst/>
          </a:prstGeom>
          <a:solidFill>
            <a:srgbClr val="12B198"/>
          </a:solidFill>
          <a:ln/>
        </p:spPr>
      </p:sp>
      <p:sp>
        <p:nvSpPr>
          <p:cNvPr id="8" name="Text 5"/>
          <p:cNvSpPr/>
          <p:nvPr/>
        </p:nvSpPr>
        <p:spPr>
          <a:xfrm>
            <a:off x="841248" y="1299591"/>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280160" y="1179576"/>
            <a:ext cx="10033711" cy="587502"/>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問1　最初の30秒に何をするか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①周囲の安全 ②反応の確認 ③人を指名して119番と応援を依頼。「誰か」では動かない。</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1) Make the area safe 2) check responsiveness 3) name a person to call and to fetch help. "Someone" does not move.</a:t>
            </a:r>
            <a:endParaRPr lang="en-US" sz="950" dirty="0"/>
          </a:p>
        </p:txBody>
      </p:sp>
      <p:sp>
        <p:nvSpPr>
          <p:cNvPr id="10" name="Shape 7"/>
          <p:cNvSpPr/>
          <p:nvPr/>
        </p:nvSpPr>
        <p:spPr>
          <a:xfrm>
            <a:off x="640080" y="1931670"/>
            <a:ext cx="10911535" cy="715518"/>
          </a:xfrm>
          <a:prstGeom prst="roundRect">
            <a:avLst>
              <a:gd name="adj" fmla="val 5112"/>
            </a:avLst>
          </a:prstGeom>
          <a:solidFill>
            <a:srgbClr val="EFF4F8"/>
          </a:solidFill>
          <a:ln/>
        </p:spPr>
      </p:sp>
      <p:sp>
        <p:nvSpPr>
          <p:cNvPr id="11" name="Shape 8"/>
          <p:cNvSpPr/>
          <p:nvPr/>
        </p:nvSpPr>
        <p:spPr>
          <a:xfrm>
            <a:off x="841248" y="2115693"/>
            <a:ext cx="347472" cy="347472"/>
          </a:xfrm>
          <a:prstGeom prst="ellipse">
            <a:avLst/>
          </a:prstGeom>
          <a:solidFill>
            <a:srgbClr val="12B198"/>
          </a:solidFill>
          <a:ln/>
        </p:spPr>
      </p:sp>
      <p:sp>
        <p:nvSpPr>
          <p:cNvPr id="12" name="Text 9"/>
          <p:cNvSpPr/>
          <p:nvPr/>
        </p:nvSpPr>
        <p:spPr>
          <a:xfrm>
            <a:off x="841248" y="2115693"/>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280160" y="1995678"/>
            <a:ext cx="10033711" cy="587502"/>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問2　110番か119番か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まず119番。人命が先。事件性の判断は後からできるが、命は戻らない。</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Ambulance first. Life comes first — the criminal question can wait, a life cannot.</a:t>
            </a:r>
            <a:endParaRPr lang="en-US" sz="950" dirty="0"/>
          </a:p>
        </p:txBody>
      </p:sp>
      <p:sp>
        <p:nvSpPr>
          <p:cNvPr id="14" name="Shape 11"/>
          <p:cNvSpPr/>
          <p:nvPr/>
        </p:nvSpPr>
        <p:spPr>
          <a:xfrm>
            <a:off x="640080" y="2747772"/>
            <a:ext cx="10911535" cy="715518"/>
          </a:xfrm>
          <a:prstGeom prst="roundRect">
            <a:avLst>
              <a:gd name="adj" fmla="val 5112"/>
            </a:avLst>
          </a:prstGeom>
          <a:solidFill>
            <a:srgbClr val="E4F4F0"/>
          </a:solidFill>
          <a:ln/>
        </p:spPr>
      </p:sp>
      <p:sp>
        <p:nvSpPr>
          <p:cNvPr id="15" name="Shape 12"/>
          <p:cNvSpPr/>
          <p:nvPr/>
        </p:nvSpPr>
        <p:spPr>
          <a:xfrm>
            <a:off x="841248" y="2931795"/>
            <a:ext cx="347472" cy="347472"/>
          </a:xfrm>
          <a:prstGeom prst="ellipse">
            <a:avLst/>
          </a:prstGeom>
          <a:solidFill>
            <a:srgbClr val="12B198"/>
          </a:solidFill>
          <a:ln/>
        </p:spPr>
      </p:sp>
      <p:sp>
        <p:nvSpPr>
          <p:cNvPr id="16" name="Text 13"/>
          <p:cNvSpPr/>
          <p:nvPr/>
        </p:nvSpPr>
        <p:spPr>
          <a:xfrm>
            <a:off x="841248" y="2931795"/>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280160" y="2811780"/>
            <a:ext cx="10033711" cy="587502"/>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問3　所持品を見てよいか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単独では見ない。救急隊または警察の面前で行う。実施したら面前者・時刻・対象を記録。</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Not alone. Do it in front of the ambulance crew or the police, and record who was present, when, and what.</a:t>
            </a:r>
            <a:endParaRPr lang="en-US" sz="950" dirty="0"/>
          </a:p>
        </p:txBody>
      </p:sp>
      <p:sp>
        <p:nvSpPr>
          <p:cNvPr id="18" name="Shape 15"/>
          <p:cNvSpPr/>
          <p:nvPr/>
        </p:nvSpPr>
        <p:spPr>
          <a:xfrm>
            <a:off x="640080" y="3563874"/>
            <a:ext cx="10911535" cy="715518"/>
          </a:xfrm>
          <a:prstGeom prst="roundRect">
            <a:avLst>
              <a:gd name="adj" fmla="val 5112"/>
            </a:avLst>
          </a:prstGeom>
          <a:solidFill>
            <a:srgbClr val="EFF4F8"/>
          </a:solidFill>
          <a:ln/>
        </p:spPr>
      </p:sp>
      <p:sp>
        <p:nvSpPr>
          <p:cNvPr id="19" name="Shape 16"/>
          <p:cNvSpPr/>
          <p:nvPr/>
        </p:nvSpPr>
        <p:spPr>
          <a:xfrm>
            <a:off x="841248" y="3747897"/>
            <a:ext cx="347472" cy="347472"/>
          </a:xfrm>
          <a:prstGeom prst="ellipse">
            <a:avLst/>
          </a:prstGeom>
          <a:solidFill>
            <a:srgbClr val="12B198"/>
          </a:solidFill>
          <a:ln/>
        </p:spPr>
      </p:sp>
      <p:sp>
        <p:nvSpPr>
          <p:cNvPr id="20" name="Text 17"/>
          <p:cNvSpPr/>
          <p:nvPr/>
        </p:nvSpPr>
        <p:spPr>
          <a:xfrm>
            <a:off x="841248" y="374789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280160" y="3627882"/>
            <a:ext cx="10033711" cy="587502"/>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問4　保存範囲と社内報告</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ガラスとキャビネットに触れない。範囲は広めに。警備責任者へ即時、人身事故のため三次まで想定。</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Do not touch the glass or cabinet. Cordon wide. Supervisor immediately; with an injury, expect it to reach executives.</a:t>
            </a:r>
            <a:endParaRPr lang="en-US" sz="950" dirty="0"/>
          </a:p>
        </p:txBody>
      </p:sp>
      <p:sp>
        <p:nvSpPr>
          <p:cNvPr id="22" name="Shape 19"/>
          <p:cNvSpPr/>
          <p:nvPr/>
        </p:nvSpPr>
        <p:spPr>
          <a:xfrm>
            <a:off x="640080" y="4389120"/>
            <a:ext cx="10911535" cy="420624"/>
          </a:xfrm>
          <a:prstGeom prst="roundRect">
            <a:avLst>
              <a:gd name="adj" fmla="val 8696"/>
            </a:avLst>
          </a:prstGeom>
          <a:solidFill>
            <a:srgbClr val="EEF6FA"/>
          </a:solidFill>
          <a:ln/>
        </p:spPr>
      </p:sp>
      <p:sp>
        <p:nvSpPr>
          <p:cNvPr id="23" name="Text 20"/>
          <p:cNvSpPr/>
          <p:nvPr/>
        </p:nvSpPr>
        <p:spPr>
          <a:xfrm>
            <a:off x="859536" y="4416552"/>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社員がガラスを拾い始めた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止める。「そのままにしてください」と理由を添える。善意なので責める言い方をしない。</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Stop them: "please leave it as it is," with the reason. It was well meant — do not phrase it as blame.</a:t>
            </a:r>
            <a:endParaRPr lang="en-US" sz="850" dirty="0"/>
          </a:p>
        </p:txBody>
      </p:sp>
      <p:sp>
        <p:nvSpPr>
          <p:cNvPr id="24" name="Shape 21"/>
          <p:cNvSpPr/>
          <p:nvPr/>
        </p:nvSpPr>
        <p:spPr>
          <a:xfrm>
            <a:off x="640080" y="4882896"/>
            <a:ext cx="10911535" cy="420624"/>
          </a:xfrm>
          <a:prstGeom prst="roundRect">
            <a:avLst>
              <a:gd name="adj" fmla="val 8696"/>
            </a:avLst>
          </a:prstGeom>
          <a:solidFill>
            <a:srgbClr val="EEF6FA"/>
          </a:solidFill>
          <a:ln/>
        </p:spPr>
      </p:sp>
      <p:sp>
        <p:nvSpPr>
          <p:cNvPr id="25" name="Text 22"/>
          <p:cNvSpPr/>
          <p:nvPr/>
        </p:nvSpPr>
        <p:spPr>
          <a:xfrm>
            <a:off x="859536" y="4910328"/>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救急隊「名前と生年月日は？」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「分かりません」と答える。推測で答えない。日本語が通じないことも併せて伝える。</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Say you do not know. Never guess. Also tell them the person does not speak Japanese.</a:t>
            </a:r>
            <a:endParaRPr lang="en-US" sz="850" dirty="0"/>
          </a:p>
        </p:txBody>
      </p:sp>
      <p:sp>
        <p:nvSpPr>
          <p:cNvPr id="26" name="Shape 23"/>
          <p:cNvSpPr/>
          <p:nvPr/>
        </p:nvSpPr>
        <p:spPr>
          <a:xfrm>
            <a:off x="640080" y="5413248"/>
            <a:ext cx="10911535" cy="457200"/>
          </a:xfrm>
          <a:prstGeom prst="roundRect">
            <a:avLst>
              <a:gd name="adj" fmla="val 8000"/>
            </a:avLst>
          </a:prstGeom>
          <a:solidFill>
            <a:srgbClr val="093259"/>
          </a:solidFill>
          <a:ln/>
        </p:spPr>
      </p:sp>
      <p:sp>
        <p:nvSpPr>
          <p:cNvPr id="27" name="Text 24"/>
          <p:cNvSpPr/>
          <p:nvPr/>
        </p:nvSpPr>
        <p:spPr>
          <a:xfrm>
            <a:off x="859536" y="5440680"/>
            <a:ext cx="10472623" cy="402336"/>
          </a:xfrm>
          <a:prstGeom prst="rect">
            <a:avLst/>
          </a:prstGeom>
          <a:noFill/>
          <a:ln/>
        </p:spPr>
        <p:txBody>
          <a:bodyPr wrap="square" lIns="0" tIns="0" rIns="0" bIns="0" rtlCol="0" anchor="ctr"/>
          <a:lstStyle/>
          <a:p>
            <a:pPr indent="0" marL="0">
              <a:lnSpc>
                <a:spcPct val="86000"/>
              </a:lnSpc>
              <a:buNone/>
            </a:pPr>
            <a:r>
              <a:rPr lang="en-US" sz="900" b="1" dirty="0">
                <a:solidFill>
                  <a:srgbClr val="12B198"/>
                </a:solidFill>
                <a:latin typeface="Yu Gothic" pitchFamily="34" charset="0"/>
                <a:ea typeface="Yu Gothic" pitchFamily="34" charset="-122"/>
                <a:cs typeface="Yu Gothic" pitchFamily="34" charset="-120"/>
              </a:rPr>
              <a:t>割れる論点　</a:t>
            </a:r>
            <a:pPr indent="0" marL="0">
              <a:lnSpc>
                <a:spcPct val="86000"/>
              </a:lnSpc>
              <a:buNone/>
            </a:pPr>
            <a:r>
              <a:rPr lang="en-US" sz="1050" b="1" dirty="0">
                <a:solidFill>
                  <a:srgbClr val="FFFFFF"/>
                </a:solidFill>
                <a:latin typeface="Yu Gothic" pitchFamily="34" charset="0"/>
                <a:ea typeface="Yu Gothic" pitchFamily="34" charset="-122"/>
                <a:cs typeface="Yu Gothic" pitchFamily="34" charset="-120"/>
              </a:rPr>
              <a:t>所持品を見てよいか。「見てよい」派には根拠を、「見ない」派には救急隊への答え方を問う。</a:t>
            </a:r>
            <a:endParaRPr lang="en-US" sz="900" dirty="0"/>
          </a:p>
          <a:p>
            <a:pPr indent="0" marL="0">
              <a:lnSpc>
                <a:spcPct val="86000"/>
              </a:lnSpc>
              <a:buNone/>
            </a:pPr>
            <a:r>
              <a:rPr lang="en-US" sz="950" dirty="0">
                <a:solidFill>
                  <a:srgbClr val="DCEFEB"/>
                </a:solidFill>
                <a:latin typeface="Calibri" pitchFamily="34" charset="0"/>
                <a:ea typeface="Calibri" pitchFamily="34" charset="-122"/>
                <a:cs typeface="Calibri" pitchFamily="34" charset="-120"/>
              </a:rPr>
              <a:t>May you search? Ask the "yes" group for their basis, and the "no" group what they tell the crew.</a:t>
            </a:r>
            <a:endParaRPr lang="en-US" sz="900" dirty="0"/>
          </a:p>
        </p:txBody>
      </p:sp>
      <p:sp>
        <p:nvSpPr>
          <p:cNvPr id="28" name="Text 25"/>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救急要請の判断者、身元不明者の扱い、クライアントへの通知は現場ごとに異なる。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Who calls the ambulance, how unidentified persons are handled, and client notification differ by site.</a:t>
            </a:r>
            <a:endParaRPr lang="en-US" sz="900" dirty="0"/>
          </a:p>
        </p:txBody>
      </p:sp>
      <p:sp>
        <p:nvSpPr>
          <p:cNvPr id="29" name="Text 26"/>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消防法、刑法、警察庁「警備員教育」</a:t>
            </a:r>
            <a:endParaRPr lang="en-US" sz="750" dirty="0"/>
          </a:p>
        </p:txBody>
      </p:sp>
      <p:sp>
        <p:nvSpPr>
          <p:cNvPr id="30" name="Text 27"/>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1" name="Text 28"/>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9-B　執務室から煙が出ている</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TTX 9-B — Smoke Coming from an Office</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CASE 9-B</a:t>
            </a:r>
            <a:endParaRPr lang="en-US" sz="1100" dirty="0"/>
          </a:p>
        </p:txBody>
      </p:sp>
      <p:sp>
        <p:nvSpPr>
          <p:cNvPr id="6" name="Shape 3"/>
          <p:cNvSpPr/>
          <p:nvPr/>
        </p:nvSpPr>
        <p:spPr>
          <a:xfrm>
            <a:off x="640080" y="1115568"/>
            <a:ext cx="10911535" cy="1124712"/>
          </a:xfrm>
          <a:prstGeom prst="roundRect">
            <a:avLst>
              <a:gd name="adj" fmla="val 3252"/>
            </a:avLst>
          </a:prstGeom>
          <a:solidFill>
            <a:srgbClr val="093259"/>
          </a:solidFill>
          <a:ln/>
        </p:spPr>
      </p:sp>
      <p:sp>
        <p:nvSpPr>
          <p:cNvPr id="7" name="Text 4"/>
          <p:cNvSpPr/>
          <p:nvPr/>
        </p:nvSpPr>
        <p:spPr>
          <a:xfrm>
            <a:off x="950976" y="1243584"/>
            <a:ext cx="10289743" cy="868680"/>
          </a:xfrm>
          <a:prstGeom prst="rect">
            <a:avLst/>
          </a:prstGeom>
          <a:noFill/>
          <a:ln/>
        </p:spPr>
        <p:txBody>
          <a:bodyPr wrap="square" lIns="0" tIns="0" rIns="0" bIns="0" rtlCol="0" anchor="t"/>
          <a:lstStyle/>
          <a:p>
            <a:pPr indent="0" marL="0">
              <a:lnSpc>
                <a:spcPct val="92000"/>
              </a:lnSpc>
              <a:buNone/>
            </a:pPr>
            <a:r>
              <a:rPr lang="en-US" sz="950" b="1" dirty="0">
                <a:solidFill>
                  <a:srgbClr val="12B198"/>
                </a:solidFill>
                <a:latin typeface="Yu Gothic" pitchFamily="34" charset="0"/>
                <a:ea typeface="Yu Gothic" pitchFamily="34" charset="-122"/>
                <a:cs typeface="Yu Gothic" pitchFamily="34" charset="-120"/>
              </a:rPr>
              <a:t>シナリオ　</a:t>
            </a:r>
            <a:pPr indent="0" marL="0">
              <a:lnSpc>
                <a:spcPct val="92000"/>
              </a:lnSpc>
              <a:buNone/>
            </a:pPr>
            <a:r>
              <a:rPr lang="en-US" sz="800" dirty="0">
                <a:solidFill>
                  <a:srgbClr val="12B198"/>
                </a:solidFill>
                <a:latin typeface="Calibri" pitchFamily="34" charset="0"/>
                <a:ea typeface="Calibri" pitchFamily="34" charset="-122"/>
                <a:cs typeface="Calibri" pitchFamily="34" charset="-120"/>
              </a:rPr>
              <a:t>SCENARIO</a:t>
            </a:r>
            <a:endParaRPr lang="en-US" sz="950" dirty="0"/>
          </a:p>
          <a:p>
            <a:pPr indent="0" marL="0">
              <a:lnSpc>
                <a:spcPct val="92000"/>
              </a:lnSpc>
              <a:buNone/>
            </a:pPr>
            <a:r>
              <a:rPr lang="en-US" sz="1150" b="1" dirty="0">
                <a:solidFill>
                  <a:srgbClr val="FFFFFF"/>
                </a:solidFill>
                <a:latin typeface="Yu Gothic" pitchFamily="34" charset="0"/>
                <a:ea typeface="Yu Gothic" pitchFamily="34" charset="-122"/>
                <a:cs typeface="Yu Gothic" pitchFamily="34" charset="-120"/>
              </a:rPr>
              <a:t>18時20分、5階の会議室から白い煙が出ている。扉は閉まっており、中の状況は見えない。自動火災報知設備はまだ発報していない。フロアには社員が20名ほど残っている。あなたは1名で、応援は3分かかる。</a:t>
            </a:r>
            <a:endParaRPr lang="en-US" sz="950" dirty="0"/>
          </a:p>
          <a:p>
            <a:pPr indent="0" marL="0">
              <a:lnSpc>
                <a:spcPct val="92000"/>
              </a:lnSpc>
              <a:buNone/>
            </a:pPr>
            <a:r>
              <a:rPr lang="en-US" sz="1000" dirty="0">
                <a:solidFill>
                  <a:srgbClr val="DCEFEB"/>
                </a:solidFill>
                <a:latin typeface="Calibri" pitchFamily="34" charset="0"/>
                <a:ea typeface="Calibri" pitchFamily="34" charset="-122"/>
                <a:cs typeface="Calibri" pitchFamily="34" charset="-120"/>
              </a:rPr>
              <a:t>18:20. White smoke is coming from a fifth-floor meeting room. The door is shut and you cannot see inside. The fire alarm has not activated. About twenty employees are still on the floor. You are alone, and backup is three minutes away.</a:t>
            </a:r>
            <a:endParaRPr lang="en-US" sz="950" dirty="0"/>
          </a:p>
        </p:txBody>
      </p:sp>
      <p:sp>
        <p:nvSpPr>
          <p:cNvPr id="8" name="Text 5"/>
          <p:cNvSpPr/>
          <p:nvPr/>
        </p:nvSpPr>
        <p:spPr>
          <a:xfrm>
            <a:off x="640080" y="2386584"/>
            <a:ext cx="10911535" cy="566928"/>
          </a:xfrm>
          <a:prstGeom prst="rect">
            <a:avLst/>
          </a:prstGeom>
          <a:noFill/>
          <a:ln/>
        </p:spPr>
        <p:txBody>
          <a:bodyPr wrap="square" lIns="0" tIns="0" rIns="0" bIns="0" rtlCol="0" anchor="t"/>
          <a:lstStyle/>
          <a:p>
            <a:pPr indent="0" marL="0">
              <a:lnSpc>
                <a:spcPct val="90000"/>
              </a:lnSpc>
              <a:buNone/>
            </a:pPr>
            <a:r>
              <a:rPr lang="en-US" sz="1000" b="1" dirty="0">
                <a:solidFill>
                  <a:srgbClr val="0D8A76"/>
                </a:solidFill>
                <a:latin typeface="Yu Gothic" pitchFamily="34" charset="0"/>
                <a:ea typeface="Yu Gothic" pitchFamily="34" charset="-122"/>
                <a:cs typeface="Yu Gothic" pitchFamily="34" charset="-120"/>
              </a:rPr>
              <a:t>問い　</a:t>
            </a:r>
            <a:pPr indent="0" marL="0">
              <a:lnSpc>
                <a:spcPct val="90000"/>
              </a:lnSpc>
              <a:buNone/>
            </a:pPr>
            <a:r>
              <a:rPr lang="en-US" sz="1250" b="1" dirty="0">
                <a:solidFill>
                  <a:srgbClr val="093259"/>
                </a:solidFill>
                <a:latin typeface="Yu Gothic" pitchFamily="34" charset="0"/>
                <a:ea typeface="Yu Gothic" pitchFamily="34" charset="-122"/>
                <a:cs typeface="Yu Gothic" pitchFamily="34" charset="-120"/>
              </a:rPr>
              <a:t>あなたなら次の60秒、何をどう動きますか。</a:t>
            </a:r>
            <a:endParaRPr lang="en-US" sz="1000" dirty="0"/>
          </a:p>
          <a:p>
            <a:pPr indent="0" marL="0">
              <a:lnSpc>
                <a:spcPct val="90000"/>
              </a:lnSpc>
              <a:buNone/>
            </a:pPr>
            <a:r>
              <a:rPr lang="en-US" sz="1050" dirty="0">
                <a:solidFill>
                  <a:srgbClr val="1B2733"/>
                </a:solidFill>
                <a:latin typeface="Calibri" pitchFamily="34" charset="0"/>
                <a:ea typeface="Calibri" pitchFamily="34" charset="-122"/>
                <a:cs typeface="Calibri" pitchFamily="34" charset="-120"/>
              </a:rPr>
              <a:t>What do you do in the next sixty seconds?</a:t>
            </a:r>
            <a:endParaRPr lang="en-US" sz="1000" dirty="0"/>
          </a:p>
        </p:txBody>
      </p:sp>
      <p:sp>
        <p:nvSpPr>
          <p:cNvPr id="9" name="Shape 6"/>
          <p:cNvSpPr/>
          <p:nvPr/>
        </p:nvSpPr>
        <p:spPr>
          <a:xfrm>
            <a:off x="640080" y="3008376"/>
            <a:ext cx="5327752" cy="900684"/>
          </a:xfrm>
          <a:prstGeom prst="roundRect">
            <a:avLst>
              <a:gd name="adj" fmla="val 4061"/>
            </a:avLst>
          </a:prstGeom>
          <a:solidFill>
            <a:srgbClr val="EFF4F8"/>
          </a:solidFill>
          <a:ln/>
        </p:spPr>
      </p:sp>
      <p:sp>
        <p:nvSpPr>
          <p:cNvPr id="10" name="Shape 7"/>
          <p:cNvSpPr/>
          <p:nvPr/>
        </p:nvSpPr>
        <p:spPr>
          <a:xfrm>
            <a:off x="804672" y="3312414"/>
            <a:ext cx="292608" cy="292608"/>
          </a:xfrm>
          <a:prstGeom prst="ellipse">
            <a:avLst/>
          </a:prstGeom>
          <a:solidFill>
            <a:srgbClr val="12B198"/>
          </a:solidFill>
          <a:ln/>
        </p:spPr>
      </p:sp>
      <p:sp>
        <p:nvSpPr>
          <p:cNvPr id="11" name="Text 8"/>
          <p:cNvSpPr/>
          <p:nvPr/>
        </p:nvSpPr>
        <p:spPr>
          <a:xfrm>
            <a:off x="804672" y="331241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9"/>
          <p:cNvSpPr/>
          <p:nvPr/>
        </p:nvSpPr>
        <p:spPr>
          <a:xfrm>
            <a:off x="1188720" y="3063240"/>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扉を開けて確認するか。開けない場合、何で判断するか。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Do you open the door? If not, what do you judge on?</a:t>
            </a:r>
            <a:endParaRPr lang="en-US" sz="1050" dirty="0"/>
          </a:p>
        </p:txBody>
      </p:sp>
      <p:sp>
        <p:nvSpPr>
          <p:cNvPr id="13" name="Shape 10"/>
          <p:cNvSpPr/>
          <p:nvPr/>
        </p:nvSpPr>
        <p:spPr>
          <a:xfrm>
            <a:off x="6223864" y="3008376"/>
            <a:ext cx="5327752" cy="900684"/>
          </a:xfrm>
          <a:prstGeom prst="roundRect">
            <a:avLst>
              <a:gd name="adj" fmla="val 4061"/>
            </a:avLst>
          </a:prstGeom>
          <a:solidFill>
            <a:srgbClr val="EFF4F8"/>
          </a:solidFill>
          <a:ln/>
        </p:spPr>
      </p:sp>
      <p:sp>
        <p:nvSpPr>
          <p:cNvPr id="14" name="Shape 11"/>
          <p:cNvSpPr/>
          <p:nvPr/>
        </p:nvSpPr>
        <p:spPr>
          <a:xfrm>
            <a:off x="6388456" y="3312414"/>
            <a:ext cx="292608" cy="292608"/>
          </a:xfrm>
          <a:prstGeom prst="ellipse">
            <a:avLst/>
          </a:prstGeom>
          <a:solidFill>
            <a:srgbClr val="12B198"/>
          </a:solidFill>
          <a:ln/>
        </p:spPr>
      </p:sp>
      <p:sp>
        <p:nvSpPr>
          <p:cNvPr id="15" name="Text 12"/>
          <p:cNvSpPr/>
          <p:nvPr/>
        </p:nvSpPr>
        <p:spPr>
          <a:xfrm>
            <a:off x="6388456" y="331241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72504" y="3063240"/>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初期消火と避難誘導、どちらを先に行うか。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Which comes first: initial firefighting, or evacuation?</a:t>
            </a:r>
            <a:endParaRPr lang="en-US" sz="1050" dirty="0"/>
          </a:p>
        </p:txBody>
      </p:sp>
      <p:sp>
        <p:nvSpPr>
          <p:cNvPr id="17" name="Shape 14"/>
          <p:cNvSpPr/>
          <p:nvPr/>
        </p:nvSpPr>
        <p:spPr>
          <a:xfrm>
            <a:off x="640080" y="4018788"/>
            <a:ext cx="5327752" cy="900684"/>
          </a:xfrm>
          <a:prstGeom prst="roundRect">
            <a:avLst>
              <a:gd name="adj" fmla="val 4061"/>
            </a:avLst>
          </a:prstGeom>
          <a:solidFill>
            <a:srgbClr val="EFF4F8"/>
          </a:solidFill>
          <a:ln/>
        </p:spPr>
      </p:sp>
      <p:sp>
        <p:nvSpPr>
          <p:cNvPr id="18" name="Shape 15"/>
          <p:cNvSpPr/>
          <p:nvPr/>
        </p:nvSpPr>
        <p:spPr>
          <a:xfrm>
            <a:off x="804672" y="4322826"/>
            <a:ext cx="292608" cy="292608"/>
          </a:xfrm>
          <a:prstGeom prst="ellipse">
            <a:avLst/>
          </a:prstGeom>
          <a:solidFill>
            <a:srgbClr val="12B198"/>
          </a:solidFill>
          <a:ln/>
        </p:spPr>
      </p:sp>
      <p:sp>
        <p:nvSpPr>
          <p:cNvPr id="19" name="Text 16"/>
          <p:cNvSpPr/>
          <p:nvPr/>
        </p:nvSpPr>
        <p:spPr>
          <a:xfrm>
            <a:off x="804672" y="432282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1188720" y="4073652"/>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1名でできることの限界はどこか。何を諦めるか。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What are the limits of what one person can do? What do you give up?</a:t>
            </a:r>
            <a:endParaRPr lang="en-US" sz="1050" dirty="0"/>
          </a:p>
        </p:txBody>
      </p:sp>
      <p:sp>
        <p:nvSpPr>
          <p:cNvPr id="21" name="Shape 18"/>
          <p:cNvSpPr/>
          <p:nvPr/>
        </p:nvSpPr>
        <p:spPr>
          <a:xfrm>
            <a:off x="6223864" y="4018788"/>
            <a:ext cx="5327752" cy="900684"/>
          </a:xfrm>
          <a:prstGeom prst="roundRect">
            <a:avLst>
              <a:gd name="adj" fmla="val 4061"/>
            </a:avLst>
          </a:prstGeom>
          <a:solidFill>
            <a:srgbClr val="EFF4F8"/>
          </a:solidFill>
          <a:ln/>
        </p:spPr>
      </p:sp>
      <p:sp>
        <p:nvSpPr>
          <p:cNvPr id="22" name="Shape 19"/>
          <p:cNvSpPr/>
          <p:nvPr/>
        </p:nvSpPr>
        <p:spPr>
          <a:xfrm>
            <a:off x="6388456" y="4322826"/>
            <a:ext cx="292608" cy="292608"/>
          </a:xfrm>
          <a:prstGeom prst="ellipse">
            <a:avLst/>
          </a:prstGeom>
          <a:solidFill>
            <a:srgbClr val="12B198"/>
          </a:solidFill>
          <a:ln/>
        </p:spPr>
      </p:sp>
      <p:sp>
        <p:nvSpPr>
          <p:cNvPr id="23" name="Text 20"/>
          <p:cNvSpPr/>
          <p:nvPr/>
        </p:nvSpPr>
        <p:spPr>
          <a:xfrm>
            <a:off x="6388456" y="432282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6772504" y="4073652"/>
            <a:ext cx="4596232" cy="790956"/>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発報前に119番通報してよいか。根拠は何か。</a:t>
            </a:r>
            <a:endParaRPr lang="en-US" sz="1050" dirty="0"/>
          </a:p>
          <a:p>
            <a:pPr indent="0" marL="0">
              <a:lnSpc>
                <a:spcPct val="88000"/>
              </a:lnSpc>
              <a:buNone/>
            </a:pPr>
            <a:r>
              <a:rPr lang="en-US" sz="1050" dirty="0">
                <a:solidFill>
                  <a:srgbClr val="1B2733"/>
                </a:solidFill>
                <a:latin typeface="Calibri" pitchFamily="34" charset="0"/>
                <a:ea typeface="Calibri" pitchFamily="34" charset="-122"/>
                <a:cs typeface="Calibri" pitchFamily="34" charset="-120"/>
              </a:rPr>
              <a:t>May you call the fire service before the alarm activates? On what basis?</a:t>
            </a:r>
            <a:endParaRPr lang="en-US" sz="1050" dirty="0"/>
          </a:p>
        </p:txBody>
      </p:sp>
      <p:sp>
        <p:nvSpPr>
          <p:cNvPr id="25" name="Shape 22"/>
          <p:cNvSpPr/>
          <p:nvPr/>
        </p:nvSpPr>
        <p:spPr>
          <a:xfrm>
            <a:off x="640080" y="4974336"/>
            <a:ext cx="10911535" cy="420624"/>
          </a:xfrm>
          <a:prstGeom prst="roundRect">
            <a:avLst>
              <a:gd name="adj" fmla="val 8696"/>
            </a:avLst>
          </a:prstGeom>
          <a:solidFill>
            <a:srgbClr val="E4F4F0"/>
          </a:solidFill>
          <a:ln/>
        </p:spPr>
      </p:sp>
      <p:sp>
        <p:nvSpPr>
          <p:cNvPr id="26" name="Text 23"/>
          <p:cNvSpPr/>
          <p:nvPr/>
        </p:nvSpPr>
        <p:spPr>
          <a:xfrm>
            <a:off x="877824" y="5001768"/>
            <a:ext cx="10436047"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社員の1人が「消火器を持ってくる」と言って走り出した。</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One of the employees runs off saying they will fetch an extinguisher.</a:t>
            </a:r>
            <a:endParaRPr lang="en-US" sz="850" dirty="0"/>
          </a:p>
        </p:txBody>
      </p:sp>
      <p:sp>
        <p:nvSpPr>
          <p:cNvPr id="27" name="Shape 24"/>
          <p:cNvSpPr/>
          <p:nvPr/>
        </p:nvSpPr>
        <p:spPr>
          <a:xfrm>
            <a:off x="640080" y="5449824"/>
            <a:ext cx="10911535" cy="420624"/>
          </a:xfrm>
          <a:prstGeom prst="roundRect">
            <a:avLst>
              <a:gd name="adj" fmla="val 8696"/>
            </a:avLst>
          </a:prstGeom>
          <a:solidFill>
            <a:srgbClr val="E4F4F0"/>
          </a:solidFill>
          <a:ln/>
        </p:spPr>
      </p:sp>
      <p:sp>
        <p:nvSpPr>
          <p:cNvPr id="28" name="Text 25"/>
          <p:cNvSpPr/>
          <p:nvPr/>
        </p:nvSpPr>
        <p:spPr>
          <a:xfrm>
            <a:off x="877824" y="5477256"/>
            <a:ext cx="10436047"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発報した。同じ5階の別区画。</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The alarm activates — a different zone on the same fifth floor.</a:t>
            </a:r>
            <a:endParaRPr lang="en-US" sz="850" dirty="0"/>
          </a:p>
        </p:txBody>
      </p:sp>
      <p:sp>
        <p:nvSpPr>
          <p:cNvPr id="29" name="Text 26"/>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初期消火の実施可否、自衛消防組織での役割、通報の判断者は現場ごとに定められている。Site SOPによる。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Whether guards perform initial firefighting, their role in the fire brigade, and who decides on the call are set per site.</a:t>
            </a:r>
            <a:endParaRPr lang="en-US" sz="900" dirty="0"/>
          </a:p>
        </p:txBody>
      </p:sp>
      <p:sp>
        <p:nvSpPr>
          <p:cNvPr id="30" name="Text 27"/>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消防法、警察庁「警備員教育」、総務省消防庁「救急車の適正利用」</a:t>
            </a:r>
            <a:endParaRPr lang="en-US" sz="750" dirty="0"/>
          </a:p>
        </p:txBody>
      </p:sp>
      <p:sp>
        <p:nvSpPr>
          <p:cNvPr id="31" name="Text 28"/>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32" name="Text 29"/>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65760"/>
            <a:ext cx="8982151" cy="749808"/>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9-B 模範解答</a:t>
            </a:r>
            <a:endParaRPr lang="en-US" sz="2300" dirty="0"/>
          </a:p>
          <a:p>
            <a:pPr indent="0" marL="0">
              <a:lnSpc>
                <a:spcPct val="94000"/>
              </a:lnSpc>
              <a:buNone/>
            </a:pPr>
            <a:r>
              <a:rPr lang="en-US" sz="1100" dirty="0">
                <a:solidFill>
                  <a:srgbClr val="12B198"/>
                </a:solidFill>
                <a:latin typeface="Calibri" pitchFamily="34" charset="0"/>
                <a:ea typeface="Calibri" pitchFamily="34" charset="-122"/>
                <a:cs typeface="Calibri" pitchFamily="34" charset="-120"/>
              </a:rPr>
              <a:t>TTX 9-B — Model Answers</a:t>
            </a:r>
            <a:endParaRPr lang="en-US" sz="2300" dirty="0"/>
          </a:p>
        </p:txBody>
      </p:sp>
      <p:sp>
        <p:nvSpPr>
          <p:cNvPr id="4" name="Shape 1"/>
          <p:cNvSpPr/>
          <p:nvPr/>
        </p:nvSpPr>
        <p:spPr>
          <a:xfrm>
            <a:off x="9686239" y="420624"/>
            <a:ext cx="932688" cy="310896"/>
          </a:xfrm>
          <a:prstGeom prst="roundRect">
            <a:avLst>
              <a:gd name="adj" fmla="val 14706"/>
            </a:avLst>
          </a:prstGeom>
          <a:solidFill>
            <a:srgbClr val="093259"/>
          </a:solidFill>
          <a:ln/>
        </p:spPr>
      </p:sp>
      <p:sp>
        <p:nvSpPr>
          <p:cNvPr id="5" name="Text 2"/>
          <p:cNvSpPr/>
          <p:nvPr/>
        </p:nvSpPr>
        <p:spPr>
          <a:xfrm>
            <a:off x="9686239" y="420624"/>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DEBRIEF</a:t>
            </a:r>
            <a:endParaRPr lang="en-US" sz="1100" dirty="0"/>
          </a:p>
        </p:txBody>
      </p:sp>
      <p:sp>
        <p:nvSpPr>
          <p:cNvPr id="6" name="Shape 3"/>
          <p:cNvSpPr/>
          <p:nvPr/>
        </p:nvSpPr>
        <p:spPr>
          <a:xfrm>
            <a:off x="640080" y="1115568"/>
            <a:ext cx="10911535" cy="857250"/>
          </a:xfrm>
          <a:prstGeom prst="roundRect">
            <a:avLst>
              <a:gd name="adj" fmla="val 4267"/>
            </a:avLst>
          </a:prstGeom>
          <a:solidFill>
            <a:srgbClr val="E4F4F0"/>
          </a:solidFill>
          <a:ln/>
        </p:spPr>
      </p:sp>
      <p:sp>
        <p:nvSpPr>
          <p:cNvPr id="7" name="Shape 4"/>
          <p:cNvSpPr/>
          <p:nvPr/>
        </p:nvSpPr>
        <p:spPr>
          <a:xfrm>
            <a:off x="841248" y="1370457"/>
            <a:ext cx="347472" cy="347472"/>
          </a:xfrm>
          <a:prstGeom prst="ellipse">
            <a:avLst/>
          </a:prstGeom>
          <a:solidFill>
            <a:srgbClr val="12B198"/>
          </a:solidFill>
          <a:ln/>
        </p:spPr>
      </p:sp>
      <p:sp>
        <p:nvSpPr>
          <p:cNvPr id="8" name="Text 5"/>
          <p:cNvSpPr/>
          <p:nvPr/>
        </p:nvSpPr>
        <p:spPr>
          <a:xfrm>
            <a:off x="841248" y="137045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280160" y="1179576"/>
            <a:ext cx="10033711" cy="729234"/>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問1　扉を開けるか。何で判断するか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開けない。扉に触れて熱を確認する。煙の色と量、臭気、音でも判断できる。</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Do not open it. Feel the door for heat. Smoke colour and volume, smell and sound also tell you.</a:t>
            </a:r>
            <a:endParaRPr lang="en-US" sz="950" dirty="0"/>
          </a:p>
        </p:txBody>
      </p:sp>
      <p:sp>
        <p:nvSpPr>
          <p:cNvPr id="10" name="Shape 7"/>
          <p:cNvSpPr/>
          <p:nvPr/>
        </p:nvSpPr>
        <p:spPr>
          <a:xfrm>
            <a:off x="640080" y="2073402"/>
            <a:ext cx="10911535" cy="857250"/>
          </a:xfrm>
          <a:prstGeom prst="roundRect">
            <a:avLst>
              <a:gd name="adj" fmla="val 4267"/>
            </a:avLst>
          </a:prstGeom>
          <a:solidFill>
            <a:srgbClr val="E4F4F0"/>
          </a:solidFill>
          <a:ln/>
        </p:spPr>
      </p:sp>
      <p:sp>
        <p:nvSpPr>
          <p:cNvPr id="11" name="Shape 8"/>
          <p:cNvSpPr/>
          <p:nvPr/>
        </p:nvSpPr>
        <p:spPr>
          <a:xfrm>
            <a:off x="841248" y="2328291"/>
            <a:ext cx="347472" cy="347472"/>
          </a:xfrm>
          <a:prstGeom prst="ellipse">
            <a:avLst/>
          </a:prstGeom>
          <a:solidFill>
            <a:srgbClr val="12B198"/>
          </a:solidFill>
          <a:ln/>
        </p:spPr>
      </p:sp>
      <p:sp>
        <p:nvSpPr>
          <p:cNvPr id="12" name="Text 9"/>
          <p:cNvSpPr/>
          <p:nvPr/>
        </p:nvSpPr>
        <p:spPr>
          <a:xfrm>
            <a:off x="841248" y="2328291"/>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280160" y="2137410"/>
            <a:ext cx="10033711" cy="729234"/>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問2　初期消火か避難誘導か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1名なら避難誘導。初期消火は複数名と退路の確保が前提。</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Alone, guide the evacuation. Firefighting needs numbers and a secured way out.</a:t>
            </a:r>
            <a:endParaRPr lang="en-US" sz="950" dirty="0"/>
          </a:p>
        </p:txBody>
      </p:sp>
      <p:sp>
        <p:nvSpPr>
          <p:cNvPr id="14" name="Shape 11"/>
          <p:cNvSpPr/>
          <p:nvPr/>
        </p:nvSpPr>
        <p:spPr>
          <a:xfrm>
            <a:off x="640080" y="3031236"/>
            <a:ext cx="10911535" cy="857250"/>
          </a:xfrm>
          <a:prstGeom prst="roundRect">
            <a:avLst>
              <a:gd name="adj" fmla="val 4267"/>
            </a:avLst>
          </a:prstGeom>
          <a:solidFill>
            <a:srgbClr val="EFF4F8"/>
          </a:solidFill>
          <a:ln/>
        </p:spPr>
      </p:sp>
      <p:sp>
        <p:nvSpPr>
          <p:cNvPr id="15" name="Shape 12"/>
          <p:cNvSpPr/>
          <p:nvPr/>
        </p:nvSpPr>
        <p:spPr>
          <a:xfrm>
            <a:off x="841248" y="3286125"/>
            <a:ext cx="347472" cy="347472"/>
          </a:xfrm>
          <a:prstGeom prst="ellipse">
            <a:avLst/>
          </a:prstGeom>
          <a:solidFill>
            <a:srgbClr val="12B198"/>
          </a:solidFill>
          <a:ln/>
        </p:spPr>
      </p:sp>
      <p:sp>
        <p:nvSpPr>
          <p:cNvPr id="16" name="Text 13"/>
          <p:cNvSpPr/>
          <p:nvPr/>
        </p:nvSpPr>
        <p:spPr>
          <a:xfrm>
            <a:off x="841248" y="3286125"/>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280160" y="3095244"/>
            <a:ext cx="10033711" cy="729234"/>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問3　1名の限界。何を諦めるか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初期消火、原因の特定、私物の持ち出しを諦める。20名の避難を優先する。</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Give up firefighting, finding the cause, and retrieving belongings. Twenty people come first.</a:t>
            </a:r>
            <a:endParaRPr lang="en-US" sz="950" dirty="0"/>
          </a:p>
        </p:txBody>
      </p:sp>
      <p:sp>
        <p:nvSpPr>
          <p:cNvPr id="18" name="Shape 15"/>
          <p:cNvSpPr/>
          <p:nvPr/>
        </p:nvSpPr>
        <p:spPr>
          <a:xfrm>
            <a:off x="640080" y="3989070"/>
            <a:ext cx="10911535" cy="857250"/>
          </a:xfrm>
          <a:prstGeom prst="roundRect">
            <a:avLst>
              <a:gd name="adj" fmla="val 4267"/>
            </a:avLst>
          </a:prstGeom>
          <a:solidFill>
            <a:srgbClr val="EFF4F8"/>
          </a:solidFill>
          <a:ln/>
        </p:spPr>
      </p:sp>
      <p:sp>
        <p:nvSpPr>
          <p:cNvPr id="19" name="Shape 16"/>
          <p:cNvSpPr/>
          <p:nvPr/>
        </p:nvSpPr>
        <p:spPr>
          <a:xfrm>
            <a:off x="841248" y="4243959"/>
            <a:ext cx="347472" cy="347472"/>
          </a:xfrm>
          <a:prstGeom prst="ellipse">
            <a:avLst/>
          </a:prstGeom>
          <a:solidFill>
            <a:srgbClr val="12B198"/>
          </a:solidFill>
          <a:ln/>
        </p:spPr>
      </p:sp>
      <p:sp>
        <p:nvSpPr>
          <p:cNvPr id="20" name="Text 17"/>
          <p:cNvSpPr/>
          <p:nvPr/>
        </p:nvSpPr>
        <p:spPr>
          <a:xfrm>
            <a:off x="841248" y="4243959"/>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280160" y="4053078"/>
            <a:ext cx="10033711" cy="729234"/>
          </a:xfrm>
          <a:prstGeom prst="rect">
            <a:avLst/>
          </a:prstGeom>
          <a:noFill/>
          <a:ln/>
        </p:spPr>
        <p:txBody>
          <a:bodyPr wrap="square" lIns="0" tIns="0" rIns="0" bIns="0" rtlCol="0" anchor="ctr"/>
          <a:lstStyle/>
          <a:p>
            <a:pPr indent="0" marL="0">
              <a:lnSpc>
                <a:spcPct val="88000"/>
              </a:lnSpc>
              <a:buNone/>
            </a:pPr>
            <a:r>
              <a:rPr lang="en-US" sz="950" dirty="0">
                <a:solidFill>
                  <a:srgbClr val="5F7183"/>
                </a:solidFill>
                <a:latin typeface="Yu Gothic" pitchFamily="34" charset="0"/>
                <a:ea typeface="Yu Gothic" pitchFamily="34" charset="-122"/>
                <a:cs typeface="Yu Gothic" pitchFamily="34" charset="-120"/>
              </a:rPr>
              <a:t>問4　発報前に通報してよいか</a:t>
            </a:r>
            <a:endParaRPr lang="en-US" sz="95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してよい。発報を待つ理由はない。人が煙を確認している事実で足りる。</a:t>
            </a:r>
            <a:endParaRPr lang="en-US" sz="950" dirty="0"/>
          </a:p>
          <a:p>
            <a:pPr indent="0" marL="0">
              <a:lnSpc>
                <a:spcPct val="88000"/>
              </a:lnSpc>
              <a:buNone/>
            </a:pPr>
            <a:r>
              <a:rPr lang="en-US" sz="1100" dirty="0">
                <a:solidFill>
                  <a:srgbClr val="1B2733"/>
                </a:solidFill>
                <a:latin typeface="Calibri" pitchFamily="34" charset="0"/>
                <a:ea typeface="Calibri" pitchFamily="34" charset="-122"/>
                <a:cs typeface="Calibri" pitchFamily="34" charset="-120"/>
              </a:rPr>
              <a:t>Yes. There is no reason to wait for the alarm — a person has seen smoke, and that is enough.</a:t>
            </a:r>
            <a:endParaRPr lang="en-US" sz="950" dirty="0"/>
          </a:p>
        </p:txBody>
      </p:sp>
      <p:sp>
        <p:nvSpPr>
          <p:cNvPr id="22" name="Shape 19"/>
          <p:cNvSpPr/>
          <p:nvPr/>
        </p:nvSpPr>
        <p:spPr>
          <a:xfrm>
            <a:off x="640080" y="4956048"/>
            <a:ext cx="10911535" cy="420624"/>
          </a:xfrm>
          <a:prstGeom prst="roundRect">
            <a:avLst>
              <a:gd name="adj" fmla="val 8696"/>
            </a:avLst>
          </a:prstGeom>
          <a:solidFill>
            <a:srgbClr val="EEF6FA"/>
          </a:solidFill>
          <a:ln/>
        </p:spPr>
      </p:sp>
      <p:sp>
        <p:nvSpPr>
          <p:cNvPr id="23" name="Text 20"/>
          <p:cNvSpPr/>
          <p:nvPr/>
        </p:nvSpPr>
        <p:spPr>
          <a:xfrm>
            <a:off x="859536" y="4983480"/>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社員が消火器を取りに走る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追わない。止めに行くと避難誘導が止まる。損失が大きいのはそちら。</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Do not chase them. Going after them halts the evacuation, and that costs more.</a:t>
            </a:r>
            <a:endParaRPr lang="en-US" sz="850" dirty="0"/>
          </a:p>
        </p:txBody>
      </p:sp>
      <p:sp>
        <p:nvSpPr>
          <p:cNvPr id="24" name="Shape 21"/>
          <p:cNvSpPr/>
          <p:nvPr/>
        </p:nvSpPr>
        <p:spPr>
          <a:xfrm>
            <a:off x="640080" y="5449824"/>
            <a:ext cx="10911535" cy="420624"/>
          </a:xfrm>
          <a:prstGeom prst="roundRect">
            <a:avLst>
              <a:gd name="adj" fmla="val 8696"/>
            </a:avLst>
          </a:prstGeom>
          <a:solidFill>
            <a:srgbClr val="EEF6FA"/>
          </a:solidFill>
          <a:ln/>
        </p:spPr>
      </p:sp>
      <p:sp>
        <p:nvSpPr>
          <p:cNvPr id="25" name="Text 22"/>
          <p:cNvSpPr/>
          <p:nvPr/>
        </p:nvSpPr>
        <p:spPr>
          <a:xfrm>
            <a:off x="859536" y="5477256"/>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同じ5階の別区画が発報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火災の可能性が上がる。全館避難の判断へ切り替える。通報済みなら続報を入れる。</a:t>
            </a:r>
            <a:endParaRPr lang="en-US" sz="850" dirty="0"/>
          </a:p>
          <a:p>
            <a:pPr indent="0" marL="0">
              <a:lnSpc>
                <a:spcPct val="86000"/>
              </a:lnSpc>
              <a:buNone/>
            </a:pPr>
            <a:r>
              <a:rPr lang="en-US" sz="950" dirty="0">
                <a:solidFill>
                  <a:srgbClr val="1B2733"/>
                </a:solidFill>
                <a:latin typeface="Calibri" pitchFamily="34" charset="0"/>
                <a:ea typeface="Calibri" pitchFamily="34" charset="-122"/>
                <a:cs typeface="Calibri" pitchFamily="34" charset="-120"/>
              </a:rPr>
              <a:t>A fire is now more likely. Switch to a building-wide evacuation, and update the fire service.</a:t>
            </a:r>
            <a:endParaRPr lang="en-US" sz="850" dirty="0"/>
          </a:p>
        </p:txBody>
      </p:sp>
      <p:sp>
        <p:nvSpPr>
          <p:cNvPr id="26" name="Text 23"/>
          <p:cNvSpPr/>
          <p:nvPr/>
        </p:nvSpPr>
        <p:spPr>
          <a:xfrm>
            <a:off x="640080" y="5961888"/>
            <a:ext cx="10911535" cy="292608"/>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初期消火の実施可否、自衛消防組織での役割、通報の判断者は現場ごとに定められている。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Whether guards fight fires, their role in the fire brigade, and who calls are set per site.</a:t>
            </a:r>
            <a:endParaRPr lang="en-US" sz="900" dirty="0"/>
          </a:p>
        </p:txBody>
      </p:sp>
      <p:sp>
        <p:nvSpPr>
          <p:cNvPr id="27" name="Text 24"/>
          <p:cNvSpPr/>
          <p:nvPr/>
        </p:nvSpPr>
        <p:spPr>
          <a:xfrm>
            <a:off x="640080" y="6272784"/>
            <a:ext cx="9905695" cy="219456"/>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消防法、総務省消防庁、警察庁「警備員教育」</a:t>
            </a:r>
            <a:endParaRPr lang="en-US" sz="750" dirty="0"/>
          </a:p>
        </p:txBody>
      </p:sp>
      <p:sp>
        <p:nvSpPr>
          <p:cNvPr id="28" name="Text 25"/>
          <p:cNvSpPr/>
          <p:nvPr/>
        </p:nvSpPr>
        <p:spPr>
          <a:xfrm>
            <a:off x="640080" y="6492240"/>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第9時限｜基本教育4 事故の発生時における警察機関への連絡その他応急の措置  </a:t>
            </a:r>
            <a:pPr indent="0" marL="0">
              <a:buNone/>
            </a:pPr>
            <a:r>
              <a:rPr lang="en-US" sz="850" i="1" dirty="0">
                <a:solidFill>
                  <a:srgbClr val="D6E0E9"/>
                </a:solidFill>
                <a:latin typeface="Calibri" pitchFamily="34" charset="0"/>
                <a:ea typeface="Calibri" pitchFamily="34" charset="-122"/>
                <a:cs typeface="Calibri" pitchFamily="34" charset="-120"/>
              </a:rPr>
              <a:t>Period 9 | Basic Training 4 — Emergency Reporting and Scene Preservation</a:t>
            </a:r>
            <a:endParaRPr lang="en-US" sz="900" dirty="0"/>
          </a:p>
        </p:txBody>
      </p:sp>
      <p:sp>
        <p:nvSpPr>
          <p:cNvPr id="29" name="Text 26"/>
          <p:cNvSpPr/>
          <p:nvPr/>
        </p:nvSpPr>
        <p:spPr>
          <a:xfrm>
            <a:off x="10637215" y="6492240"/>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第9時限｜基本教育4 事故の発生時における警察機関への連絡その他応急の措置</dc:title>
  <dc:subject>PptxGenJS Presentation</dc:subject>
  <dc:creator>警備員指導教育責任者</dc:creator>
  <cp:lastModifiedBy>警備員指導教育責任者</cp:lastModifiedBy>
  <cp:revision>1</cp:revision>
  <dcterms:created xsi:type="dcterms:W3CDTF">2026-08-10T22:25:58Z</dcterms:created>
  <dcterms:modified xsi:type="dcterms:W3CDTF">2026-08-10T22:25:58Z</dcterms:modified>
</cp:coreProperties>
</file>