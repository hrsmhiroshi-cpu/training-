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219456"/>
            <a:ext cx="104241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</p:spPr>
      </p:sp>
      <p:pic>
        <p:nvPicPr>
          <p:cNvPr id="3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4173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　16:55 – 17:55　基本教育4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A9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— Basic Training 4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212848"/>
            <a:ext cx="9966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事故発生時の警察機関への連絡</a:t>
            </a:r>
            <a:endParaRPr lang="en-US" sz="3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その他応急の措置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803904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Reporting and Scene Preservation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4828032"/>
            <a:ext cx="1371600" cy="32004"/>
          </a:xfrm>
          <a:prstGeom prst="rect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51206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2026年8月11日（火）　施設警備 現任教育　コーポレートセキュリティ</a:t>
            </a: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8E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Aug 2026 — In-Service Training, Facility Security / Corporate Security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第3時限との役割分担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Session Differs from Period 3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517904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同じ法定科目を、実技と講義に分けています。内容は重複させません。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statutory subject, split between practical and classroom sessions. We do not repeat it.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231136"/>
            <a:ext cx="5300320" cy="3163824"/>
          </a:xfrm>
          <a:prstGeom prst="roundRect">
            <a:avLst>
              <a:gd name="adj" fmla="val 1445"/>
            </a:avLst>
          </a:prstGeom>
          <a:solidFill>
            <a:srgbClr val="EFF4F8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2450592"/>
            <a:ext cx="475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第3時限（実技）― 実施済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3 (practical) — already delivered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3218688"/>
            <a:ext cx="475168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・応急手当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First aid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・胸骨圧迫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Chest compressions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・AEDの使用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Use of an AED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51296" y="2231136"/>
            <a:ext cx="5300320" cy="3163824"/>
          </a:xfrm>
          <a:prstGeom prst="roundRect">
            <a:avLst>
              <a:gd name="adj" fmla="val 1445"/>
            </a:avLst>
          </a:prstGeom>
          <a:solidFill>
            <a:srgbClr val="E4F4F0"/>
          </a:solidFill>
          <a:ln/>
        </p:spPr>
      </p:sp>
      <p:sp>
        <p:nvSpPr>
          <p:cNvPr id="9" name="Text 6"/>
          <p:cNvSpPr/>
          <p:nvPr/>
        </p:nvSpPr>
        <p:spPr>
          <a:xfrm>
            <a:off x="6525616" y="2450592"/>
            <a:ext cx="4751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第9時限（本コマ）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— this session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525616" y="3218688"/>
            <a:ext cx="4751680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・通報 ― 110番、119番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Emergency calls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・通報練習（全員が声を出します）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Call practice. Everyone speaks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・現場保存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Scene preservation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・社内エスカレーション</a:t>
            </a:r>
            <a:endParaRPr lang="en-US" sz="1250" dirty="0"/>
          </a:p>
          <a:p>
            <a:pPr indent="0" marL="0">
              <a:lnSpc>
                <a:spcPct val="94000"/>
              </a:lnSpc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 Internal escalation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0080" y="5614416"/>
            <a:ext cx="1091153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本コマではAEDと胸骨圧迫は扱いません。第3時限の内容を前提とします。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and compressions are not covered here. Period 3 is assumed.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第9時限｜基本教育4 事故の発生時における警察機関への連絡その他応急の措置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| Basic Training 4 — Emergency Reporting and Scene Preservation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事実と評価を分ける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Fact from Assessment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事故対応では、判断の誤りよりも、報告の誤りによる問題が多く生じます。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incident response, errors in reporting cause more problems than errors in judgement.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96112" y="2519172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7" name="Text 4"/>
          <p:cNvSpPr/>
          <p:nvPr/>
        </p:nvSpPr>
        <p:spPr>
          <a:xfrm>
            <a:off x="896112" y="25191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99616" y="2395728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事実（見た、聞いた）：「20時15分、B1東側非常口が15cmほど開いていた」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Fact, what you saw or heard: "At 20:15 the B1 east emergency door was about 15 cm open."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3319272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55244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3552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499616" y="3429000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評価（思った、推測した）：「侵入者がいるかもしれない」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Assessment, what you concluded: "There may be an intruder."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640080" y="4352544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96112" y="4585716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896112" y="45857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99616" y="4462272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誤り（混ざっている）：「不審者が非常口から入りました」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Wrong, the two combined: "An intruder came in through the emergency exit."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40080" y="5385816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8" name="Shape 15"/>
          <p:cNvSpPr/>
          <p:nvPr/>
        </p:nvSpPr>
        <p:spPr>
          <a:xfrm>
            <a:off x="896112" y="5618988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96112" y="56189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499616" y="5495544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事実を先に述べます。評価は「〜と思われます」と明示して後に述べます。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fact first. State assessment after, and mark it clearly as your view.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第9時限｜基本教育4 事故の発生時における警察機関への連絡その他応急の措置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| Basic Training 4 — Emergency Reporting and Scene Preservation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報告の3段階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Stages of Reporting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40080" y="2446020"/>
            <a:ext cx="3454298" cy="2971800"/>
          </a:xfrm>
          <a:prstGeom prst="roundRect">
            <a:avLst>
              <a:gd name="adj" fmla="val 1538"/>
            </a:avLst>
          </a:prstGeom>
          <a:solidFill>
            <a:srgbClr val="EFF4F8"/>
          </a:solidFill>
          <a:ln/>
        </p:spPr>
      </p:sp>
      <p:sp>
        <p:nvSpPr>
          <p:cNvPr id="5" name="Shape 2"/>
          <p:cNvSpPr/>
          <p:nvPr/>
        </p:nvSpPr>
        <p:spPr>
          <a:xfrm>
            <a:off x="877824" y="2683764"/>
            <a:ext cx="384048" cy="384048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6" name="Text 3"/>
          <p:cNvSpPr/>
          <p:nvPr/>
        </p:nvSpPr>
        <p:spPr>
          <a:xfrm>
            <a:off x="877824" y="26837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389888" y="2665476"/>
            <a:ext cx="24667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一次報告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report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96112" y="3415284"/>
            <a:ext cx="2942234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覚知後ただちに行います。完全でなくてかまいません。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何が、どこで、いま安全か。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 when you become aware. It does not need to be complete. What, where, and is it safe now.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68698" y="2446020"/>
            <a:ext cx="3454298" cy="2971800"/>
          </a:xfrm>
          <a:prstGeom prst="roundRect">
            <a:avLst>
              <a:gd name="adj" fmla="val 1538"/>
            </a:avLst>
          </a:prstGeom>
          <a:solidFill>
            <a:srgbClr val="E4F4F0"/>
          </a:solidFill>
          <a:ln/>
        </p:spPr>
      </p:sp>
      <p:sp>
        <p:nvSpPr>
          <p:cNvPr id="10" name="Shape 7"/>
          <p:cNvSpPr/>
          <p:nvPr/>
        </p:nvSpPr>
        <p:spPr>
          <a:xfrm>
            <a:off x="4606442" y="268376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4606442" y="26837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118506" y="2665476"/>
            <a:ext cx="24667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続報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624730" y="3415284"/>
            <a:ext cx="2942234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状況が変わるたびに、変化した点だけを報告します。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「変化なし」も報告します。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time the situation changes, report the change only. "No change" is also reported.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97317" y="2446020"/>
            <a:ext cx="3454298" cy="2971800"/>
          </a:xfrm>
          <a:prstGeom prst="roundRect">
            <a:avLst>
              <a:gd name="adj" fmla="val 1538"/>
            </a:avLst>
          </a:prstGeom>
          <a:solidFill>
            <a:srgbClr val="EFF4F8"/>
          </a:solidFill>
          <a:ln/>
        </p:spPr>
      </p:sp>
      <p:sp>
        <p:nvSpPr>
          <p:cNvPr id="15" name="Shape 12"/>
          <p:cNvSpPr/>
          <p:nvPr/>
        </p:nvSpPr>
        <p:spPr>
          <a:xfrm>
            <a:off x="8335061" y="2683764"/>
            <a:ext cx="384048" cy="384048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6" name="Text 13"/>
          <p:cNvSpPr/>
          <p:nvPr/>
        </p:nvSpPr>
        <p:spPr>
          <a:xfrm>
            <a:off x="8335061" y="26837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847125" y="2665476"/>
            <a:ext cx="24667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確定報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report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353349" y="3415284"/>
            <a:ext cx="2942234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事案終了後に行います。経過、対応、引継事項。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記録として残ります。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incident ends: sequence, actions taken, handover items. This becomes the record.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第9時限｜基本教育4 事故の発生時における警察機関への連絡その他応急の措置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| Basic Training 4 — Emergency Reporting and Scene Preservation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110番 ― 必ず伝える事項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Call — What You Must Say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40080" y="1627632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EFF4F8"/>
          </a:solidFill>
          <a:ln/>
        </p:spPr>
      </p:sp>
      <p:sp>
        <p:nvSpPr>
          <p:cNvPr id="5" name="Shape 2"/>
          <p:cNvSpPr/>
          <p:nvPr/>
        </p:nvSpPr>
        <p:spPr>
          <a:xfrm>
            <a:off x="896112" y="185257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6" name="Text 3"/>
          <p:cNvSpPr/>
          <p:nvPr/>
        </p:nvSpPr>
        <p:spPr>
          <a:xfrm>
            <a:off x="896112" y="18525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499616" y="1737360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冒頭で「事件です」。何が起きたのかを最初に伝えます。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with what happened. Say it first.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" y="2571293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F7FAFC"/>
          </a:solidFill>
          <a:ln/>
        </p:spPr>
      </p:sp>
      <p:sp>
        <p:nvSpPr>
          <p:cNvPr id="9" name="Shape 6"/>
          <p:cNvSpPr/>
          <p:nvPr/>
        </p:nvSpPr>
        <p:spPr>
          <a:xfrm>
            <a:off x="896112" y="2796235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0" name="Text 7"/>
          <p:cNvSpPr/>
          <p:nvPr/>
        </p:nvSpPr>
        <p:spPr>
          <a:xfrm>
            <a:off x="896112" y="279623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499616" y="2681021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場所 ― 住所、目標物、建物名、階、区画。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Location: address, landmark, building, floor, zone.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40080" y="3514954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EFF4F8"/>
          </a:solidFill>
          <a:ln/>
        </p:spPr>
      </p:sp>
      <p:sp>
        <p:nvSpPr>
          <p:cNvPr id="13" name="Shape 10"/>
          <p:cNvSpPr/>
          <p:nvPr/>
        </p:nvSpPr>
        <p:spPr>
          <a:xfrm>
            <a:off x="896112" y="3739896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4" name="Text 11"/>
          <p:cNvSpPr/>
          <p:nvPr/>
        </p:nvSpPr>
        <p:spPr>
          <a:xfrm>
            <a:off x="896112" y="3739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499616" y="3624682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 ― 人相、着衣、逃走方向、車両とナンバー。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person: appearance, clothing, direction of escape, vehicle and plate number.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640080" y="4458614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F7FAFC"/>
          </a:solidFill>
          <a:ln/>
        </p:spPr>
      </p:sp>
      <p:sp>
        <p:nvSpPr>
          <p:cNvPr id="17" name="Shape 14"/>
          <p:cNvSpPr/>
          <p:nvPr/>
        </p:nvSpPr>
        <p:spPr>
          <a:xfrm>
            <a:off x="896112" y="4683557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8" name="Text 15"/>
          <p:cNvSpPr/>
          <p:nvPr/>
        </p:nvSpPr>
        <p:spPr>
          <a:xfrm>
            <a:off x="896112" y="468355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499616" y="4568342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 ― 氏名、折り返しの電話番号、現在地。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Yourself: name, call-back number, where you are.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640080" y="5402275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EFF4F8"/>
          </a:solidFill>
          <a:ln/>
        </p:spPr>
      </p:sp>
      <p:sp>
        <p:nvSpPr>
          <p:cNvPr id="21" name="Shape 18"/>
          <p:cNvSpPr/>
          <p:nvPr/>
        </p:nvSpPr>
        <p:spPr>
          <a:xfrm>
            <a:off x="896112" y="5627218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2" name="Text 19"/>
          <p:cNvSpPr/>
          <p:nvPr/>
        </p:nvSpPr>
        <p:spPr>
          <a:xfrm>
            <a:off x="896112" y="562721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499616" y="5512003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相手が終話するまで切りません。質問に答え切ります。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hang up first. Answer all their questions.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第9時限｜基本教育4 事故の発生時における警察機関への連絡その他応急の措置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| Basic Training 4 — Emergency Reporting and Scene Preservation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119番 ― 必ず伝える事項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and Ambulance Call — What You Must Say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40080" y="1627632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EFF4F8"/>
          </a:solidFill>
          <a:ln/>
        </p:spPr>
      </p:sp>
      <p:sp>
        <p:nvSpPr>
          <p:cNvPr id="5" name="Shape 2"/>
          <p:cNvSpPr/>
          <p:nvPr/>
        </p:nvSpPr>
        <p:spPr>
          <a:xfrm>
            <a:off x="896112" y="185257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6" name="Text 3"/>
          <p:cNvSpPr/>
          <p:nvPr/>
        </p:nvSpPr>
        <p:spPr>
          <a:xfrm>
            <a:off x="896112" y="18525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499616" y="1737360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冒頭で種別。「火事です」か「救急です」を最初に伝えます。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with the type: fire, or ambulance. Say it first.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40080" y="2571293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F7FAFC"/>
          </a:solidFill>
          <a:ln/>
        </p:spPr>
      </p:sp>
      <p:sp>
        <p:nvSpPr>
          <p:cNvPr id="9" name="Shape 6"/>
          <p:cNvSpPr/>
          <p:nvPr/>
        </p:nvSpPr>
        <p:spPr>
          <a:xfrm>
            <a:off x="896112" y="2796235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0" name="Text 7"/>
          <p:cNvSpPr/>
          <p:nvPr/>
        </p:nvSpPr>
        <p:spPr>
          <a:xfrm>
            <a:off x="896112" y="279623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499616" y="2681021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場所 ― 住所、目標物、進入口、使用するエレベーター。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Location: address, landmark, which entrance to use, which lift.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40080" y="3514954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EFF4F8"/>
          </a:solidFill>
          <a:ln/>
        </p:spPr>
      </p:sp>
      <p:sp>
        <p:nvSpPr>
          <p:cNvPr id="13" name="Shape 10"/>
          <p:cNvSpPr/>
          <p:nvPr/>
        </p:nvSpPr>
        <p:spPr>
          <a:xfrm>
            <a:off x="896112" y="3739896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4" name="Text 11"/>
          <p:cNvSpPr/>
          <p:nvPr/>
        </p:nvSpPr>
        <p:spPr>
          <a:xfrm>
            <a:off x="896112" y="3739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499616" y="3624682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状況 ― 症状、負傷者数、意識と呼吸の有無。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Condition: symptoms, number of casualties, whether conscious and breathing.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640080" y="4458614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F7FAFC"/>
          </a:solidFill>
          <a:ln/>
        </p:spPr>
      </p:sp>
      <p:sp>
        <p:nvSpPr>
          <p:cNvPr id="17" name="Shape 14"/>
          <p:cNvSpPr/>
          <p:nvPr/>
        </p:nvSpPr>
        <p:spPr>
          <a:xfrm>
            <a:off x="896112" y="4683557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8" name="Text 15"/>
          <p:cNvSpPr/>
          <p:nvPr/>
        </p:nvSpPr>
        <p:spPr>
          <a:xfrm>
            <a:off x="896112" y="468355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499616" y="4568342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 ― 氏名、折り返しの電話番号。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Yourself: name and call-back number.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640080" y="5402275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EFF4F8"/>
          </a:solidFill>
          <a:ln/>
        </p:spPr>
      </p:sp>
      <p:sp>
        <p:nvSpPr>
          <p:cNvPr id="21" name="Shape 18"/>
          <p:cNvSpPr/>
          <p:nvPr/>
        </p:nvSpPr>
        <p:spPr>
          <a:xfrm>
            <a:off x="896112" y="5627218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2" name="Text 19"/>
          <p:cNvSpPr/>
          <p:nvPr/>
        </p:nvSpPr>
        <p:spPr>
          <a:xfrm>
            <a:off x="896112" y="562721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499616" y="5512003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到着時の誘導者を、通報と同時に決めます。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who will meet and guide them, at the same time as the call.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第9時限｜基本教育4 事故の発生時における警察機関への連絡その他応急の措置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| Basic Training 4 — Emergency Reporting and Scene Preservation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通報で使う日本語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for Emergency Calls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49961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この8つは全員が言えるようにしてください。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must be able to say these eight lines.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194560"/>
            <a:ext cx="5318608" cy="691286"/>
          </a:xfrm>
          <a:prstGeom prst="roundRect">
            <a:avLst>
              <a:gd name="adj" fmla="val 5291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22960" y="2375611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2375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43584" y="2267712"/>
            <a:ext cx="4477360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火事です　　kaji desu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fire.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33008" y="2194560"/>
            <a:ext cx="5318608" cy="691286"/>
          </a:xfrm>
          <a:prstGeom prst="roundRect">
            <a:avLst>
              <a:gd name="adj" fmla="val 5291"/>
            </a:avLst>
          </a:prstGeom>
          <a:solidFill>
            <a:srgbClr val="EFF4F8"/>
          </a:solidFill>
          <a:ln/>
        </p:spPr>
      </p:sp>
      <p:sp>
        <p:nvSpPr>
          <p:cNvPr id="10" name="Shape 7"/>
          <p:cNvSpPr/>
          <p:nvPr/>
        </p:nvSpPr>
        <p:spPr>
          <a:xfrm>
            <a:off x="6415888" y="2375611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1" name="Text 8"/>
          <p:cNvSpPr/>
          <p:nvPr/>
        </p:nvSpPr>
        <p:spPr>
          <a:xfrm>
            <a:off x="6415888" y="2375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36512" y="2267712"/>
            <a:ext cx="4477360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救急です　　kyūkyū desu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an ambulance.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3032150"/>
            <a:ext cx="5318608" cy="691286"/>
          </a:xfrm>
          <a:prstGeom prst="roundRect">
            <a:avLst>
              <a:gd name="adj" fmla="val 5291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22960" y="321320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321320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43584" y="3105302"/>
            <a:ext cx="4477360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事件です　　jiken desu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crime has occurred.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33008" y="3032150"/>
            <a:ext cx="5318608" cy="691286"/>
          </a:xfrm>
          <a:prstGeom prst="roundRect">
            <a:avLst>
              <a:gd name="adj" fmla="val 5291"/>
            </a:avLst>
          </a:prstGeom>
          <a:solidFill>
            <a:srgbClr val="EFF4F8"/>
          </a:solidFill>
          <a:ln/>
        </p:spPr>
      </p:sp>
      <p:sp>
        <p:nvSpPr>
          <p:cNvPr id="18" name="Shape 15"/>
          <p:cNvSpPr/>
          <p:nvPr/>
        </p:nvSpPr>
        <p:spPr>
          <a:xfrm>
            <a:off x="6415888" y="321320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9" name="Text 16"/>
          <p:cNvSpPr/>
          <p:nvPr/>
        </p:nvSpPr>
        <p:spPr>
          <a:xfrm>
            <a:off x="6415888" y="321320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836512" y="3105302"/>
            <a:ext cx="4477360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場所は ◯◯ です　　basho wa ◯◯ desu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location is ◯◯.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40080" y="3869741"/>
            <a:ext cx="5318608" cy="691286"/>
          </a:xfrm>
          <a:prstGeom prst="roundRect">
            <a:avLst>
              <a:gd name="adj" fmla="val 5291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822960" y="405079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3" name="Text 20"/>
          <p:cNvSpPr/>
          <p:nvPr/>
        </p:nvSpPr>
        <p:spPr>
          <a:xfrm>
            <a:off x="822960" y="4050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243584" y="3942893"/>
            <a:ext cx="4477360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けが人が 1名 います　　keganin ga ichi-mei imasu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 is injured.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233008" y="3869741"/>
            <a:ext cx="5318608" cy="691286"/>
          </a:xfrm>
          <a:prstGeom prst="roundRect">
            <a:avLst>
              <a:gd name="adj" fmla="val 5291"/>
            </a:avLst>
          </a:prstGeom>
          <a:solidFill>
            <a:srgbClr val="EF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6415888" y="405079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7" name="Text 24"/>
          <p:cNvSpPr/>
          <p:nvPr/>
        </p:nvSpPr>
        <p:spPr>
          <a:xfrm>
            <a:off x="6415888" y="4050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836512" y="3942893"/>
            <a:ext cx="4477360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意識が ありません　　ishiki ga arimasen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is unconscious.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40080" y="4707331"/>
            <a:ext cx="5318608" cy="691286"/>
          </a:xfrm>
          <a:prstGeom prst="roundRect">
            <a:avLst>
              <a:gd name="adj" fmla="val 5291"/>
            </a:avLst>
          </a:prstGeom>
          <a:solidFill>
            <a:srgbClr val="EFF4F8"/>
          </a:solidFill>
          <a:ln/>
        </p:spPr>
      </p:sp>
      <p:sp>
        <p:nvSpPr>
          <p:cNvPr id="30" name="Shape 27"/>
          <p:cNvSpPr/>
          <p:nvPr/>
        </p:nvSpPr>
        <p:spPr>
          <a:xfrm>
            <a:off x="822960" y="488838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31" name="Text 28"/>
          <p:cNvSpPr/>
          <p:nvPr/>
        </p:nvSpPr>
        <p:spPr>
          <a:xfrm>
            <a:off x="822960" y="488838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1243584" y="4780483"/>
            <a:ext cx="4477360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息を していません　　iki o shite imasen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is not breathing.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4707331"/>
            <a:ext cx="5318608" cy="691286"/>
          </a:xfrm>
          <a:prstGeom prst="roundRect">
            <a:avLst>
              <a:gd name="adj" fmla="val 5291"/>
            </a:avLst>
          </a:prstGeom>
          <a:solidFill>
            <a:srgbClr val="EFF4F8"/>
          </a:solidFill>
          <a:ln/>
        </p:spPr>
      </p:sp>
      <p:sp>
        <p:nvSpPr>
          <p:cNvPr id="34" name="Shape 31"/>
          <p:cNvSpPr/>
          <p:nvPr/>
        </p:nvSpPr>
        <p:spPr>
          <a:xfrm>
            <a:off x="6415888" y="488838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35" name="Text 32"/>
          <p:cNvSpPr/>
          <p:nvPr/>
        </p:nvSpPr>
        <p:spPr>
          <a:xfrm>
            <a:off x="6415888" y="488838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836512" y="4780483"/>
            <a:ext cx="4477360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警備員の ◯◯ です　　keibiin no ◯◯ desu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am ◯◯, a security guard.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40080" y="5544922"/>
            <a:ext cx="5318608" cy="691286"/>
          </a:xfrm>
          <a:prstGeom prst="roundRect">
            <a:avLst>
              <a:gd name="adj" fmla="val 5291"/>
            </a:avLst>
          </a:prstGeom>
          <a:solidFill>
            <a:srgbClr val="EFF4F8"/>
          </a:solidFill>
          <a:ln/>
        </p:spPr>
      </p:sp>
      <p:sp>
        <p:nvSpPr>
          <p:cNvPr id="38" name="Shape 35"/>
          <p:cNvSpPr/>
          <p:nvPr/>
        </p:nvSpPr>
        <p:spPr>
          <a:xfrm>
            <a:off x="822960" y="5725973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72597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1243584" y="5618074"/>
            <a:ext cx="4477360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通報が難しい場合は、できる者を指名します。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cannot make the call, name someone who can.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233008" y="5544922"/>
            <a:ext cx="5318608" cy="691286"/>
          </a:xfrm>
          <a:prstGeom prst="roundRect">
            <a:avLst>
              <a:gd name="adj" fmla="val 5291"/>
            </a:avLst>
          </a:prstGeom>
          <a:solidFill>
            <a:srgbClr val="EFF4F8"/>
          </a:solidFill>
          <a:ln/>
        </p:spPr>
      </p:sp>
      <p:sp>
        <p:nvSpPr>
          <p:cNvPr id="42" name="Shape 39"/>
          <p:cNvSpPr/>
          <p:nvPr/>
        </p:nvSpPr>
        <p:spPr>
          <a:xfrm>
            <a:off x="6415888" y="5725973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43" name="Text 40"/>
          <p:cNvSpPr/>
          <p:nvPr/>
        </p:nvSpPr>
        <p:spPr>
          <a:xfrm>
            <a:off x="6415888" y="572597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6836512" y="5618074"/>
            <a:ext cx="4477360" cy="544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指名した場合でも、上記8つは全員が言えることとします。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then, everyone must know the eight lines above.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第9時限｜基本教育4 事故の発生時における警察機関への連絡その他応急の措置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| Basic Training 4 — Emergency Reporting and Scene Preservation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通報練習の進め方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Practice — How We Run It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2人1組で行います。通報者役と受令者役を交代します。全員が声を出します。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pairs. Swap between caller and receiver. Everyone speaks.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96112" y="2519172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7" name="Text 4"/>
          <p:cNvSpPr/>
          <p:nvPr/>
        </p:nvSpPr>
        <p:spPr>
          <a:xfrm>
            <a:off x="896112" y="25191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99616" y="2395728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受令者役は3つを聞き返します。「場所は？」「けが人は？」「お名前は？」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receiver asks three things: location, casualties, and your name.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3319272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55244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3552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499616" y="3429000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通報者役はメモを見ずに言います。詰まった場合は言い直します。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caller speaks without notes. If you stop, say the sentence again.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640080" y="4352544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96112" y="4585716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896112" y="45857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99616" y="4462272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評価するのは流暢さではありません。必要事項が漏れないことです。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assessing fluency. We are checking that nothing essential is missed.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40080" y="5385816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8" name="Shape 15"/>
          <p:cNvSpPr/>
          <p:nvPr/>
        </p:nvSpPr>
        <p:spPr>
          <a:xfrm>
            <a:off x="896112" y="5618988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96112" y="56189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499616" y="5495544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2巡目は、相手が興奮している設定で行います。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second round, the caller plays someone who is agitated.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第9時限｜基本教育4 事故の発生時における警察機関への連絡その他応急の措置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| Basic Training 4 — Emergency Reporting and Scene Preservation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社内エスカレーション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Escalation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外部への通報と社内への報告は、別に行います。どちらも遅らせません。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emergency call and the internal report are separate. Do not delay either.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10911535" cy="702259"/>
          </a:xfrm>
          <a:prstGeom prst="roundRect">
            <a:avLst>
              <a:gd name="adj" fmla="val 6510"/>
            </a:avLst>
          </a:prstGeom>
          <a:solidFill>
            <a:srgbClr val="EFF4F8"/>
          </a:solidFill>
          <a:ln/>
        </p:spPr>
      </p:sp>
      <p:sp>
        <p:nvSpPr>
          <p:cNvPr id="6" name="Shape 3"/>
          <p:cNvSpPr/>
          <p:nvPr/>
        </p:nvSpPr>
        <p:spPr>
          <a:xfrm>
            <a:off x="896112" y="2445106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7" name="Text 4"/>
          <p:cNvSpPr/>
          <p:nvPr/>
        </p:nvSpPr>
        <p:spPr>
          <a:xfrm>
            <a:off x="896112" y="24451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99616" y="2395728"/>
            <a:ext cx="9777679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一次 ― 警備責任者へ即時。判断が固まる前に一報を入れます。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First: the security supervisor, immediately. Report before you have a conclusion.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3097987"/>
            <a:ext cx="10911535" cy="702259"/>
          </a:xfrm>
          <a:prstGeom prst="roundRect">
            <a:avLst>
              <a:gd name="adj" fmla="val 6510"/>
            </a:avLst>
          </a:prstGeom>
          <a:solidFill>
            <a:srgbClr val="F7FAFC"/>
          </a:solidFill>
          <a:ln/>
        </p:spPr>
      </p:sp>
      <p:sp>
        <p:nvSpPr>
          <p:cNvPr id="10" name="Shape 7"/>
          <p:cNvSpPr/>
          <p:nvPr/>
        </p:nvSpPr>
        <p:spPr>
          <a:xfrm>
            <a:off x="896112" y="3257093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1" name="Text 8"/>
          <p:cNvSpPr/>
          <p:nvPr/>
        </p:nvSpPr>
        <p:spPr>
          <a:xfrm>
            <a:off x="896112" y="325709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499616" y="3207715"/>
            <a:ext cx="9777679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二次 ― 施設管理、総務へ。事案の継続が見込まれる場合。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Second: facilities and general affairs, if the incident will continue.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640080" y="3909974"/>
            <a:ext cx="10911535" cy="702259"/>
          </a:xfrm>
          <a:prstGeom prst="roundRect">
            <a:avLst>
              <a:gd name="adj" fmla="val 6510"/>
            </a:avLst>
          </a:prstGeom>
          <a:solidFill>
            <a:srgbClr val="EF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896112" y="4069080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5" name="Text 12"/>
          <p:cNvSpPr/>
          <p:nvPr/>
        </p:nvSpPr>
        <p:spPr>
          <a:xfrm>
            <a:off x="896112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499616" y="4019702"/>
            <a:ext cx="9777679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三次 ― 経営層、広報、法務へ。人身、報道、情報漏えいが関わる場合。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Third: executives, communications and legal, where injury, media or data loss is involved.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40080" y="4721962"/>
            <a:ext cx="10911535" cy="702259"/>
          </a:xfrm>
          <a:prstGeom prst="roundRect">
            <a:avLst>
              <a:gd name="adj" fmla="val 6510"/>
            </a:avLst>
          </a:prstGeom>
          <a:solidFill>
            <a:srgbClr val="F7FAFC"/>
          </a:solidFill>
          <a:ln/>
        </p:spPr>
      </p:sp>
      <p:sp>
        <p:nvSpPr>
          <p:cNvPr id="18" name="Shape 15"/>
          <p:cNvSpPr/>
          <p:nvPr/>
        </p:nvSpPr>
        <p:spPr>
          <a:xfrm>
            <a:off x="896112" y="4881067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9" name="Text 16"/>
          <p:cNvSpPr/>
          <p:nvPr/>
        </p:nvSpPr>
        <p:spPr>
          <a:xfrm>
            <a:off x="896112" y="488106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499616" y="4831690"/>
            <a:ext cx="9777679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判断に迷う場合は、上位者へ報告します。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are unsure, escalate.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640080" y="5533949"/>
            <a:ext cx="10911535" cy="702259"/>
          </a:xfrm>
          <a:prstGeom prst="roundRect">
            <a:avLst>
              <a:gd name="adj" fmla="val 6510"/>
            </a:avLst>
          </a:prstGeom>
          <a:solidFill>
            <a:srgbClr val="EFF4F8"/>
          </a:solidFill>
          <a:ln/>
        </p:spPr>
      </p:sp>
      <p:sp>
        <p:nvSpPr>
          <p:cNvPr id="22" name="Shape 19"/>
          <p:cNvSpPr/>
          <p:nvPr/>
        </p:nvSpPr>
        <p:spPr>
          <a:xfrm>
            <a:off x="896112" y="5693054"/>
            <a:ext cx="384048" cy="384048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3" name="Text 20"/>
          <p:cNvSpPr/>
          <p:nvPr/>
        </p:nvSpPr>
        <p:spPr>
          <a:xfrm>
            <a:off x="896112" y="569305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499616" y="5643677"/>
            <a:ext cx="9777679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実際の連絡先と時限は、各サイトの緊急連絡体制によります。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contacts and time limits are set by each site's emergency call-out structure.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第9時限｜基本教育4 事故の発生時における警察機関への連絡その他応急の措置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| Basic Training 4 — Emergency Reporting and Scene Preservation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現場保存の5原則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Principles of Scene Preservation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40080" y="1627632"/>
            <a:ext cx="10911535" cy="804672"/>
          </a:xfrm>
          <a:prstGeom prst="roundRect">
            <a:avLst>
              <a:gd name="adj" fmla="val 4545"/>
            </a:avLst>
          </a:prstGeom>
          <a:solidFill>
            <a:srgbClr val="EFF4F8"/>
          </a:solidFill>
          <a:ln/>
        </p:spPr>
      </p:sp>
      <p:sp>
        <p:nvSpPr>
          <p:cNvPr id="5" name="Shape 2"/>
          <p:cNvSpPr/>
          <p:nvPr/>
        </p:nvSpPr>
        <p:spPr>
          <a:xfrm>
            <a:off x="822960" y="1865376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18653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243584" y="1700784"/>
            <a:ext cx="1007028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人命が最優先です。救助、救護のためであれば、現場を変えてかまいません。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comes first. You may alter the scene for rescue or first aid.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40080" y="2578608"/>
            <a:ext cx="10911535" cy="804672"/>
          </a:xfrm>
          <a:prstGeom prst="roundRect">
            <a:avLst>
              <a:gd name="adj" fmla="val 4545"/>
            </a:avLst>
          </a:prstGeom>
          <a:solidFill>
            <a:srgbClr val="EFF4F8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2816352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2816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243584" y="2651760"/>
            <a:ext cx="1007028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それ以外の理由では動かしません。片付けにより証拠が失われます。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 other reason, change nothing. Tidying destroys evidence.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529584"/>
            <a:ext cx="10911535" cy="804672"/>
          </a:xfrm>
          <a:prstGeom prst="roundRect">
            <a:avLst>
              <a:gd name="adj" fmla="val 4545"/>
            </a:avLst>
          </a:prstGeom>
          <a:solidFill>
            <a:srgbClr val="EFF4F8"/>
          </a:solidFill>
          <a:ln/>
        </p:spPr>
      </p:sp>
      <p:sp>
        <p:nvSpPr>
          <p:cNvPr id="13" name="Shape 10"/>
          <p:cNvSpPr/>
          <p:nvPr/>
        </p:nvSpPr>
        <p:spPr>
          <a:xfrm>
            <a:off x="822960" y="3767328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3767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243584" y="3602736"/>
            <a:ext cx="1007028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変えた場合は記録します。何を、どこから、どこへ、誰が、何時に。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did change it, record what, from where, to where, by whom, and at what time.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4480560"/>
            <a:ext cx="10911535" cy="804672"/>
          </a:xfrm>
          <a:prstGeom prst="roundRect">
            <a:avLst>
              <a:gd name="adj" fmla="val 4545"/>
            </a:avLst>
          </a:prstGeom>
          <a:solidFill>
            <a:srgbClr val="EFF4F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2960" y="4718304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" y="4718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243584" y="4553712"/>
            <a:ext cx="1007028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立入制限は広めに設定します。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cordon wider than you think is needed.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40080" y="5431536"/>
            <a:ext cx="10911535" cy="804672"/>
          </a:xfrm>
          <a:prstGeom prst="roundRect">
            <a:avLst>
              <a:gd name="adj" fmla="val 4545"/>
            </a:avLst>
          </a:prstGeom>
          <a:solidFill>
            <a:srgbClr val="EFF4F8"/>
          </a:solidFill>
          <a:ln/>
        </p:spPr>
      </p:sp>
      <p:sp>
        <p:nvSpPr>
          <p:cNvPr id="21" name="Shape 18"/>
          <p:cNvSpPr/>
          <p:nvPr/>
        </p:nvSpPr>
        <p:spPr>
          <a:xfrm>
            <a:off x="822960" y="5669280"/>
            <a:ext cx="329184" cy="329184"/>
          </a:xfrm>
          <a:prstGeom prst="ellipse">
            <a:avLst/>
          </a:prstGeom>
          <a:solidFill>
            <a:srgbClr val="093259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5669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243584" y="5504688"/>
            <a:ext cx="1007028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1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記録はその場で行います。時間が経つと正確性が下がります。</a:t>
            </a:r>
            <a:endParaRPr lang="en-US" sz="115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on the spot. Accuracy drops as time passes.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第9時限｜基本教育4 事故の発生時における警察機関への連絡その他応急の措置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| Basic Training 4 — Emergency Reporting and Scene Preservation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raining-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65231" y="332912"/>
            <a:ext cx="786384" cy="74235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9325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TTX④ 執務フロアで人が倒れている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④ — A Person Is Down on the Office Floor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640080" y="1627632"/>
            <a:ext cx="10911535" cy="1700784"/>
          </a:xfrm>
          <a:prstGeom prst="roundRect">
            <a:avLst>
              <a:gd name="adj" fmla="val 2688"/>
            </a:avLst>
          </a:prstGeom>
          <a:solidFill>
            <a:srgbClr val="093259"/>
          </a:solidFill>
          <a:ln/>
        </p:spPr>
      </p:sp>
      <p:sp>
        <p:nvSpPr>
          <p:cNvPr id="5" name="Text 2"/>
          <p:cNvSpPr/>
          <p:nvPr/>
        </p:nvSpPr>
        <p:spPr>
          <a:xfrm>
            <a:off x="1024128" y="1810512"/>
            <a:ext cx="10143439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12B1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状況付与  </a:t>
            </a:r>
            <a:pPr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12B1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1050" dirty="0"/>
          </a:p>
          <a:p>
            <a:pPr indent="0" marL="0">
              <a:lnSpc>
                <a:spcPct val="96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時40分、執務フロアで人が1名倒れている。社員証も来訪者バッジも見当たらない。近くに割れたガラスと、開いたままのキャビネット。周囲の従業員3名は「見たことがない人だ」と言う。呼びかけても日本語が通じない。</a:t>
            </a:r>
            <a:endParaRPr lang="en-US" sz="1050" dirty="0"/>
          </a:p>
          <a:p>
            <a:pPr indent="0" marL="0">
              <a:lnSpc>
                <a:spcPct val="96000"/>
              </a:lnSpc>
              <a:buNone/>
            </a:pPr>
            <a:r>
              <a:rPr lang="en-US" sz="95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17:40. A person is lying on the office floor. No employee ID or visitor badge is visible. Nearby: broken glass and an open cabinet. Three employees say they have never seen the person. When you speak to them, Japanese does not work.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40080" y="3566160"/>
            <a:ext cx="10911535" cy="374904"/>
          </a:xfrm>
          <a:prstGeom prst="roundRect">
            <a:avLst>
              <a:gd name="adj" fmla="val 9756"/>
            </a:avLst>
          </a:prstGeom>
          <a:solidFill>
            <a:srgbClr val="EFF4F8"/>
          </a:solidFill>
          <a:ln/>
        </p:spPr>
      </p:sp>
      <p:sp>
        <p:nvSpPr>
          <p:cNvPr id="7" name="Shape 4"/>
          <p:cNvSpPr/>
          <p:nvPr/>
        </p:nvSpPr>
        <p:spPr>
          <a:xfrm>
            <a:off x="859536" y="3589020"/>
            <a:ext cx="329184" cy="329184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8" name="Text 5"/>
          <p:cNvSpPr/>
          <p:nvPr/>
        </p:nvSpPr>
        <p:spPr>
          <a:xfrm>
            <a:off x="859536" y="35890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335024" y="3621024"/>
            <a:ext cx="9960559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最初の30秒に、何を、どの順序で行うか。</a:t>
            </a:r>
            <a:endParaRPr lang="en-US" sz="13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first thirty seconds, what do you do, and in what order?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" y="4032504"/>
            <a:ext cx="10911535" cy="374904"/>
          </a:xfrm>
          <a:prstGeom prst="roundRect">
            <a:avLst>
              <a:gd name="adj" fmla="val 9756"/>
            </a:avLst>
          </a:prstGeom>
          <a:solidFill>
            <a:srgbClr val="EFF4F8"/>
          </a:solidFill>
          <a:ln/>
        </p:spPr>
      </p:sp>
      <p:sp>
        <p:nvSpPr>
          <p:cNvPr id="11" name="Shape 8"/>
          <p:cNvSpPr/>
          <p:nvPr/>
        </p:nvSpPr>
        <p:spPr>
          <a:xfrm>
            <a:off x="859536" y="4055364"/>
            <a:ext cx="329184" cy="329184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2" name="Text 9"/>
          <p:cNvSpPr/>
          <p:nvPr/>
        </p:nvSpPr>
        <p:spPr>
          <a:xfrm>
            <a:off x="859536" y="40553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335024" y="4087368"/>
            <a:ext cx="9960559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通報は110番か119番か、両方か。根拠は何か。</a:t>
            </a:r>
            <a:endParaRPr lang="en-US" sz="13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Police, ambulance, or both? On what basis?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0080" y="4498848"/>
            <a:ext cx="10911535" cy="374904"/>
          </a:xfrm>
          <a:prstGeom prst="roundRect">
            <a:avLst>
              <a:gd name="adj" fmla="val 9756"/>
            </a:avLst>
          </a:prstGeom>
          <a:solidFill>
            <a:srgbClr val="EFF4F8"/>
          </a:solidFill>
          <a:ln/>
        </p:spPr>
      </p:sp>
      <p:sp>
        <p:nvSpPr>
          <p:cNvPr id="15" name="Shape 12"/>
          <p:cNvSpPr/>
          <p:nvPr/>
        </p:nvSpPr>
        <p:spPr>
          <a:xfrm>
            <a:off x="859536" y="4521708"/>
            <a:ext cx="329184" cy="329184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16" name="Text 13"/>
          <p:cNvSpPr/>
          <p:nvPr/>
        </p:nvSpPr>
        <p:spPr>
          <a:xfrm>
            <a:off x="859536" y="45217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335024" y="4553712"/>
            <a:ext cx="9960559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身元を確認するため、所持品を見てよいか。根拠は何か。</a:t>
            </a:r>
            <a:endParaRPr lang="en-US" sz="13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you look through their belongings to identify them? On what basis?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40080" y="4965192"/>
            <a:ext cx="10911535" cy="374904"/>
          </a:xfrm>
          <a:prstGeom prst="roundRect">
            <a:avLst>
              <a:gd name="adj" fmla="val 9756"/>
            </a:avLst>
          </a:prstGeom>
          <a:solidFill>
            <a:srgbClr val="EFF4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59536" y="4988052"/>
            <a:ext cx="329184" cy="329184"/>
          </a:xfrm>
          <a:prstGeom prst="ellipse">
            <a:avLst/>
          </a:prstGeom>
          <a:solidFill>
            <a:srgbClr val="12B198"/>
          </a:solidFill>
          <a:ln/>
        </p:spPr>
      </p:sp>
      <p:sp>
        <p:nvSpPr>
          <p:cNvPr id="20" name="Text 17"/>
          <p:cNvSpPr/>
          <p:nvPr/>
        </p:nvSpPr>
        <p:spPr>
          <a:xfrm>
            <a:off x="859536" y="49880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335024" y="5020056"/>
            <a:ext cx="9960559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現場をどこまで保存するか。社内には誰に、何分以内に上げるか。</a:t>
            </a:r>
            <a:endParaRPr lang="en-US" sz="13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do you preserve the scene? Who do you escalate to, and within what time?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40080" y="5486400"/>
            <a:ext cx="10911535" cy="749808"/>
          </a:xfrm>
          <a:prstGeom prst="roundRect">
            <a:avLst>
              <a:gd name="adj" fmla="val 4878"/>
            </a:avLst>
          </a:prstGeom>
          <a:solidFill>
            <a:srgbClr val="E4F4F0"/>
          </a:solidFill>
          <a:ln/>
        </p:spPr>
      </p:sp>
      <p:sp>
        <p:nvSpPr>
          <p:cNvPr id="23" name="Text 20"/>
          <p:cNvSpPr/>
          <p:nvPr/>
        </p:nvSpPr>
        <p:spPr>
          <a:xfrm>
            <a:off x="914400" y="5559552"/>
            <a:ext cx="10362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D8A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  </a:t>
            </a:r>
            <a:pPr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0D8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  </a:t>
            </a:r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別の従業員が「早く片付けよう」と、割れたガラスを拾い始めた。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employee says "let us clear this up" and starts picking up the broken glass.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第9時限｜基本教育4 事故の発生時における警察機関への連絡その他応急の措置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9 | Basic Training 4 — Emergency Reporting and Scene Preservation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第9時限｜基本教育4 事故の発生時における警察機関への連絡その他応急の措置</dc:title>
  <dc:subject>PptxGenJS Presentation</dc:subject>
  <dc:creator>警備員指導教育責任者</dc:creator>
  <cp:lastModifiedBy>警備員指導教育責任者</cp:lastModifiedBy>
  <cp:revision>1</cp:revision>
  <dcterms:created xsi:type="dcterms:W3CDTF">2026-08-10T13:22:24Z</dcterms:created>
  <dcterms:modified xsi:type="dcterms:W3CDTF">2026-08-10T13:22:24Z</dcterms:modified>
</cp:coreProperties>
</file>