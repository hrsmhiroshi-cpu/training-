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第3時限（実技）― 実施済</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3 (practical) — already delivered</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・応急手当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First aid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・胸骨圧迫</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Chest compressions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・AEDの使用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Use of an AED</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第9時限（本コマ）</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9 — this session</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 ― 110番、119番</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Emergency calls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・通報練習（全員が声を出します）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Call practice. Everyone speaks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・現場保存</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Scene preservation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・社内エスカレーション</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Internal escalation</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報告の原則</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Principles of Reporting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report with fact and assessment separated, and say what belongs in an initial report.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事実と評価を分ける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Separate Fact from Assessment</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"At 20:15 the B1 east emergency door was about 15 cm open"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・評価：「侵入者がいるかもしれない」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Assessment: "There may be an intruder"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Wrong: "An intruder came in through the exit." You are asserting what you did not see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first. Mark assessment clearly, and place it second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報告の3段階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Stages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Initial: immediately on becoming aware. It need not be complete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Updates: each time the situation changes, the change only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"no change" too. Silence is not read as "all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・確定報：事案終了後。経過、対応、引継事項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Final: after it ends. Sequence, actions taken, handover items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一次報告に入れること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Goes in the Initial Report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・何が起きたか。いつ、どこで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happened, when, and where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・いま安全か。負傷者はいるか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it safe now? Are there casualties?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・自分がいまどこにいて、何をしているか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Where you are, and what you are doing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・何を要請するか。応援か、指示か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you are asking for: backup, or a decision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記録</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Records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on the spot. Accuracy drops as time passes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estimated time is acceptable if you mark it as an estimate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words as spoken. Summarising changes the meaning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・分からないことは「不明」と書く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"unknown" where you do not know</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110番・119番 ― 必ず伝える事項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Emergency Calls — What You Must Say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required items for both emergency numbers without notes.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110番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Police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・冒頭で何が起きたかを伝える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what has happened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住所、目標物、建物名、階、区画</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building, floor,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person: appearance, clothing, direction of escape, vehicle and plate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 ― 氏名、折り返しの電話番号、現在地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Yourself: name, call-back number, where you are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119番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and Ambulance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・冒頭で種別。「火事です」か「救急です」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the type: fire, or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which entrance, which lift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・状況 ― 症状、負傷者数、意識と呼吸の有無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Condition: symptoms, number of casualties, consciousness and breathing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・到着時の誘導者を、通報と同時に決める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who will meet them, at the same time as the call</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Rules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hang up first. Answer all their questions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report a guess as fact. Say "it appears that"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someone involved does not speak Japanese, say so on the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・通報した事実と時刻を、必ず記録する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record that you called, and when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通報後にすること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After the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・誘導者を配置する。到着口を空けておく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Post someone to guide them. Keep the arrival point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Secure a lift. Check whether stair guidance is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・社内へ報告する。外部通報とは別に行う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internally. This is separate from the emergency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Preserve the scene. Change nothing except where life is at stake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194560"/>
            <a:ext cx="5318608"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火事です　　kaji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There is a fire.</a:t>
            </a:r>
            <a:endParaRPr lang="en-US" sz="1150" dirty="0"/>
          </a:p>
        </p:txBody>
      </p:sp>
      <p:sp>
        <p:nvSpPr>
          <p:cNvPr id="9" name="Shape 6"/>
          <p:cNvSpPr/>
          <p:nvPr/>
        </p:nvSpPr>
        <p:spPr>
          <a:xfrm>
            <a:off x="6233008" y="2194560"/>
            <a:ext cx="5318608" cy="691286"/>
          </a:xfrm>
          <a:prstGeom prst="roundRect">
            <a:avLst>
              <a:gd name="adj" fmla="val 5291"/>
            </a:avLst>
          </a:prstGeom>
          <a:solidFill>
            <a:srgbClr val="EFF4F8"/>
          </a:solidFill>
          <a:ln/>
        </p:spPr>
      </p:sp>
      <p:sp>
        <p:nvSpPr>
          <p:cNvPr id="10" name="Shape 7"/>
          <p:cNvSpPr/>
          <p:nvPr/>
        </p:nvSpPr>
        <p:spPr>
          <a:xfrm>
            <a:off x="6415888" y="2375611"/>
            <a:ext cx="329184" cy="329184"/>
          </a:xfrm>
          <a:prstGeom prst="ellipse">
            <a:avLst/>
          </a:prstGeom>
          <a:solidFill>
            <a:srgbClr val="093259"/>
          </a:solidFill>
          <a:ln/>
        </p:spPr>
      </p:sp>
      <p:sp>
        <p:nvSpPr>
          <p:cNvPr id="11" name="Text 8"/>
          <p:cNvSpPr/>
          <p:nvPr/>
        </p:nvSpPr>
        <p:spPr>
          <a:xfrm>
            <a:off x="6415888"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救急です　　kyūkyū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We need an ambulance.</a:t>
            </a:r>
            <a:endParaRPr lang="en-US" sz="1150" dirty="0"/>
          </a:p>
        </p:txBody>
      </p:sp>
      <p:sp>
        <p:nvSpPr>
          <p:cNvPr id="13" name="Shape 10"/>
          <p:cNvSpPr/>
          <p:nvPr/>
        </p:nvSpPr>
        <p:spPr>
          <a:xfrm>
            <a:off x="640080" y="3032150"/>
            <a:ext cx="5318608" cy="691286"/>
          </a:xfrm>
          <a:prstGeom prst="roundRect">
            <a:avLst>
              <a:gd name="adj" fmla="val 5291"/>
            </a:avLst>
          </a:prstGeom>
          <a:solidFill>
            <a:srgbClr val="EFF4F8"/>
          </a:solidFill>
          <a:ln/>
        </p:spPr>
      </p:sp>
      <p:sp>
        <p:nvSpPr>
          <p:cNvPr id="14" name="Shape 11"/>
          <p:cNvSpPr/>
          <p:nvPr/>
        </p:nvSpPr>
        <p:spPr>
          <a:xfrm>
            <a:off x="822960" y="3213202"/>
            <a:ext cx="329184" cy="329184"/>
          </a:xfrm>
          <a:prstGeom prst="ellipse">
            <a:avLst/>
          </a:prstGeom>
          <a:solidFill>
            <a:srgbClr val="093259"/>
          </a:solidFill>
          <a:ln/>
        </p:spPr>
      </p:sp>
      <p:sp>
        <p:nvSpPr>
          <p:cNvPr id="15" name="Text 12"/>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事件です　　jiken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crime has occurred.</a:t>
            </a:r>
            <a:endParaRPr lang="en-US" sz="1150" dirty="0"/>
          </a:p>
        </p:txBody>
      </p:sp>
      <p:sp>
        <p:nvSpPr>
          <p:cNvPr id="17" name="Shape 14"/>
          <p:cNvSpPr/>
          <p:nvPr/>
        </p:nvSpPr>
        <p:spPr>
          <a:xfrm>
            <a:off x="6233008" y="3032150"/>
            <a:ext cx="5318608" cy="691286"/>
          </a:xfrm>
          <a:prstGeom prst="roundRect">
            <a:avLst>
              <a:gd name="adj" fmla="val 5291"/>
            </a:avLst>
          </a:prstGeom>
          <a:solidFill>
            <a:srgbClr val="EFF4F8"/>
          </a:solidFill>
          <a:ln/>
        </p:spPr>
      </p:sp>
      <p:sp>
        <p:nvSpPr>
          <p:cNvPr id="18" name="Shape 15"/>
          <p:cNvSpPr/>
          <p:nvPr/>
        </p:nvSpPr>
        <p:spPr>
          <a:xfrm>
            <a:off x="6415888" y="3213202"/>
            <a:ext cx="329184" cy="329184"/>
          </a:xfrm>
          <a:prstGeom prst="ellipse">
            <a:avLst/>
          </a:prstGeom>
          <a:solidFill>
            <a:srgbClr val="093259"/>
          </a:solidFill>
          <a:ln/>
        </p:spPr>
      </p:sp>
      <p:sp>
        <p:nvSpPr>
          <p:cNvPr id="19" name="Text 16"/>
          <p:cNvSpPr/>
          <p:nvPr/>
        </p:nvSpPr>
        <p:spPr>
          <a:xfrm>
            <a:off x="6415888"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場所は ◯◯ です　　basho wa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location is [place].</a:t>
            </a:r>
            <a:endParaRPr lang="en-US" sz="1150" dirty="0"/>
          </a:p>
        </p:txBody>
      </p:sp>
      <p:sp>
        <p:nvSpPr>
          <p:cNvPr id="21" name="Shape 18"/>
          <p:cNvSpPr/>
          <p:nvPr/>
        </p:nvSpPr>
        <p:spPr>
          <a:xfrm>
            <a:off x="640080" y="3869741"/>
            <a:ext cx="5318608" cy="691286"/>
          </a:xfrm>
          <a:prstGeom prst="roundRect">
            <a:avLst>
              <a:gd name="adj" fmla="val 5291"/>
            </a:avLst>
          </a:prstGeom>
          <a:solidFill>
            <a:srgbClr val="EFF4F8"/>
          </a:solidFill>
          <a:ln/>
        </p:spPr>
      </p:sp>
      <p:sp>
        <p:nvSpPr>
          <p:cNvPr id="22" name="Shape 19"/>
          <p:cNvSpPr/>
          <p:nvPr/>
        </p:nvSpPr>
        <p:spPr>
          <a:xfrm>
            <a:off x="822960" y="4050792"/>
            <a:ext cx="329184" cy="329184"/>
          </a:xfrm>
          <a:prstGeom prst="ellipse">
            <a:avLst/>
          </a:prstGeom>
          <a:solidFill>
            <a:srgbClr val="093259"/>
          </a:solidFill>
          <a:ln/>
        </p:spPr>
      </p:sp>
      <p:sp>
        <p:nvSpPr>
          <p:cNvPr id="23" name="Text 20"/>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person is injured.</a:t>
            </a:r>
            <a:endParaRPr lang="en-US" sz="1150" dirty="0"/>
          </a:p>
        </p:txBody>
      </p:sp>
      <p:sp>
        <p:nvSpPr>
          <p:cNvPr id="25" name="Shape 22"/>
          <p:cNvSpPr/>
          <p:nvPr/>
        </p:nvSpPr>
        <p:spPr>
          <a:xfrm>
            <a:off x="6233008" y="3869741"/>
            <a:ext cx="5318608" cy="691286"/>
          </a:xfrm>
          <a:prstGeom prst="roundRect">
            <a:avLst>
              <a:gd name="adj" fmla="val 5291"/>
            </a:avLst>
          </a:prstGeom>
          <a:solidFill>
            <a:srgbClr val="EFF4F8"/>
          </a:solidFill>
          <a:ln/>
        </p:spPr>
      </p:sp>
      <p:sp>
        <p:nvSpPr>
          <p:cNvPr id="26" name="Shape 23"/>
          <p:cNvSpPr/>
          <p:nvPr/>
        </p:nvSpPr>
        <p:spPr>
          <a:xfrm>
            <a:off x="6415888" y="4050792"/>
            <a:ext cx="329184" cy="329184"/>
          </a:xfrm>
          <a:prstGeom prst="ellipse">
            <a:avLst/>
          </a:prstGeom>
          <a:solidFill>
            <a:srgbClr val="093259"/>
          </a:solidFill>
          <a:ln/>
        </p:spPr>
      </p:sp>
      <p:sp>
        <p:nvSpPr>
          <p:cNvPr id="27" name="Text 24"/>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意識が ありません　　ishiki ga arimasen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unconscious.</a:t>
            </a:r>
            <a:endParaRPr lang="en-US" sz="1150" dirty="0"/>
          </a:p>
        </p:txBody>
      </p:sp>
      <p:sp>
        <p:nvSpPr>
          <p:cNvPr id="29" name="Shape 26"/>
          <p:cNvSpPr/>
          <p:nvPr/>
        </p:nvSpPr>
        <p:spPr>
          <a:xfrm>
            <a:off x="640080" y="4707331"/>
            <a:ext cx="5318608" cy="691286"/>
          </a:xfrm>
          <a:prstGeom prst="roundRect">
            <a:avLst>
              <a:gd name="adj" fmla="val 5291"/>
            </a:avLst>
          </a:prstGeom>
          <a:solidFill>
            <a:srgbClr val="EFF4F8"/>
          </a:solidFill>
          <a:ln/>
        </p:spPr>
      </p:sp>
      <p:sp>
        <p:nvSpPr>
          <p:cNvPr id="30" name="Shape 27"/>
          <p:cNvSpPr/>
          <p:nvPr/>
        </p:nvSpPr>
        <p:spPr>
          <a:xfrm>
            <a:off x="822960" y="4888382"/>
            <a:ext cx="329184" cy="329184"/>
          </a:xfrm>
          <a:prstGeom prst="ellipse">
            <a:avLst/>
          </a:prstGeom>
          <a:solidFill>
            <a:srgbClr val="093259"/>
          </a:solidFill>
          <a:ln/>
        </p:spPr>
      </p:sp>
      <p:sp>
        <p:nvSpPr>
          <p:cNvPr id="31" name="Text 28"/>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息を していません　　iki o shite 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not breathing.</a:t>
            </a:r>
            <a:endParaRPr lang="en-US" sz="1150" dirty="0"/>
          </a:p>
        </p:txBody>
      </p:sp>
      <p:sp>
        <p:nvSpPr>
          <p:cNvPr id="33" name="Shape 30"/>
          <p:cNvSpPr/>
          <p:nvPr/>
        </p:nvSpPr>
        <p:spPr>
          <a:xfrm>
            <a:off x="6233008" y="4707331"/>
            <a:ext cx="5318608" cy="691286"/>
          </a:xfrm>
          <a:prstGeom prst="roundRect">
            <a:avLst>
              <a:gd name="adj" fmla="val 5291"/>
            </a:avLst>
          </a:prstGeom>
          <a:solidFill>
            <a:srgbClr val="EFF4F8"/>
          </a:solidFill>
          <a:ln/>
        </p:spPr>
      </p:sp>
      <p:sp>
        <p:nvSpPr>
          <p:cNvPr id="34" name="Shape 31"/>
          <p:cNvSpPr/>
          <p:nvPr/>
        </p:nvSpPr>
        <p:spPr>
          <a:xfrm>
            <a:off x="6415888" y="4888382"/>
            <a:ext cx="329184" cy="329184"/>
          </a:xfrm>
          <a:prstGeom prst="ellipse">
            <a:avLst/>
          </a:prstGeom>
          <a:solidFill>
            <a:srgbClr val="093259"/>
          </a:solidFill>
          <a:ln/>
        </p:spPr>
      </p:sp>
      <p:sp>
        <p:nvSpPr>
          <p:cNvPr id="35" name="Text 32"/>
          <p:cNvSpPr/>
          <p:nvPr/>
        </p:nvSpPr>
        <p:spPr>
          <a:xfrm>
            <a:off x="6415888"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 ◯◯ です　　keibiin no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 am [name], a security guard.</a:t>
            </a:r>
            <a:endParaRPr lang="en-US" sz="1150" dirty="0"/>
          </a:p>
        </p:txBody>
      </p:sp>
      <p:sp>
        <p:nvSpPr>
          <p:cNvPr id="37" name="Shape 34"/>
          <p:cNvSpPr/>
          <p:nvPr/>
        </p:nvSpPr>
        <p:spPr>
          <a:xfrm>
            <a:off x="640080" y="5544922"/>
            <a:ext cx="5318608" cy="691286"/>
          </a:xfrm>
          <a:prstGeom prst="roundRect">
            <a:avLst>
              <a:gd name="adj" fmla="val 5291"/>
            </a:avLst>
          </a:prstGeom>
          <a:solidFill>
            <a:srgbClr val="EFF4F8"/>
          </a:solidFill>
          <a:ln/>
        </p:spPr>
      </p:sp>
      <p:sp>
        <p:nvSpPr>
          <p:cNvPr id="38" name="Shape 35"/>
          <p:cNvSpPr/>
          <p:nvPr/>
        </p:nvSpPr>
        <p:spPr>
          <a:xfrm>
            <a:off x="822960" y="5725973"/>
            <a:ext cx="329184" cy="329184"/>
          </a:xfrm>
          <a:prstGeom prst="ellipse">
            <a:avLst/>
          </a:prstGeom>
          <a:solidFill>
            <a:srgbClr val="093259"/>
          </a:solidFill>
          <a:ln/>
        </p:spPr>
      </p:sp>
      <p:sp>
        <p:nvSpPr>
          <p:cNvPr id="39" name="Text 36"/>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0" name="Text 37"/>
          <p:cNvSpPr/>
          <p:nvPr/>
        </p:nvSpPr>
        <p:spPr>
          <a:xfrm>
            <a:off x="1243584"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If you cannot make the call, name someone who can.</a:t>
            </a:r>
            <a:endParaRPr lang="en-US" sz="1150" dirty="0"/>
          </a:p>
        </p:txBody>
      </p:sp>
      <p:sp>
        <p:nvSpPr>
          <p:cNvPr id="41" name="Shape 38"/>
          <p:cNvSpPr/>
          <p:nvPr/>
        </p:nvSpPr>
        <p:spPr>
          <a:xfrm>
            <a:off x="6233008" y="5544922"/>
            <a:ext cx="5318608" cy="691286"/>
          </a:xfrm>
          <a:prstGeom prst="roundRect">
            <a:avLst>
              <a:gd name="adj" fmla="val 5291"/>
            </a:avLst>
          </a:prstGeom>
          <a:solidFill>
            <a:srgbClr val="EFF4F8"/>
          </a:solidFill>
          <a:ln/>
        </p:spPr>
      </p:sp>
      <p:sp>
        <p:nvSpPr>
          <p:cNvPr id="42" name="Shape 39"/>
          <p:cNvSpPr/>
          <p:nvPr/>
        </p:nvSpPr>
        <p:spPr>
          <a:xfrm>
            <a:off x="6415888" y="5725973"/>
            <a:ext cx="329184" cy="329184"/>
          </a:xfrm>
          <a:prstGeom prst="ellipse">
            <a:avLst/>
          </a:prstGeom>
          <a:solidFill>
            <a:srgbClr val="093259"/>
          </a:solidFill>
          <a:ln/>
        </p:spPr>
      </p:sp>
      <p:sp>
        <p:nvSpPr>
          <p:cNvPr id="43" name="Text 40"/>
          <p:cNvSpPr/>
          <p:nvPr/>
        </p:nvSpPr>
        <p:spPr>
          <a:xfrm>
            <a:off x="6415888"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4" name="Text 41"/>
          <p:cNvSpPr/>
          <p:nvPr/>
        </p:nvSpPr>
        <p:spPr>
          <a:xfrm>
            <a:off x="6836512"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Even then, everyone must know the eight lines above.</a:t>
            </a:r>
            <a:endParaRPr lang="en-US" sz="1150" dirty="0"/>
          </a:p>
        </p:txBody>
      </p:sp>
      <p:sp>
        <p:nvSpPr>
          <p:cNvPr id="45" name="Text 4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46" name="Text 4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現場保存と社内エスカレーション</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Scene Preservation and Internal 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現場保存の原則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Preserving the Scene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Life comes first. You may alter it for rescue or first aid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any other reason, change nothing. Tidying destroys evidence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changed it, record what, from where, to where, by whom,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・立入制限は広めに設定する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Set the cordon wider than you think is needed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第三者を止める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Stopping Other People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・善意で片付ける人が必ず現れる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Someone will always start tidying, with good intentions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 "please leave it as it is", and give the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phrase it as blame. The intention was good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could not stop it, record what was moved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エスカレーションの順序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Escalation Order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First: the security supervisor, immediately. No conclusion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Second: facilities and general affairs, if it will continue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Third: executives, communications, legal, where injury, media or data loss is involved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・判断に迷う場合は、上位者へ報告する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are unsure, escalate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外部通報との関係</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Relation to the Emergency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emergency call and the internal report are separate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Delay neither. Where life is at risk, the emergency call comes first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・社内の承認を待って通報を遅らせない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delay an emergency call to wait for internal approval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include the fact that you called in the internal report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執務フロアで人が倒れている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A Person Is Down on the Office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最初の30秒に、何を、どの順序で行うか。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 the first thirty seconds, what do you do, and in what order?</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Police, ambulance, or both? On what basis?</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look through their belongings to identify them? On what basis?</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far do you preserve the scene? Who do you escalate to, and by when?</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employee says "let us clear this up" and starts picking up the broken glass.</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救急隊から「本人の名前と生年月日は分かりますか」と聞かれた。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ambulance crew asks: "Do you know their name and date of birth?"</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最初の30秒に何をするか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③人を指名して119番と応援を依頼。「誰か」では動かない。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1) Make the area safe 2) check responsiveness 3) name a person to call and to fetch help. "Someone" does not move.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110番か119番か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まず119番。人命が先。事件性の判断は後からできるが、命は戻らない。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Ambulance first. Life comes first — the criminal question can wait, a life cannot.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所持品を見てよいか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単独では見ない。救急隊または警察の面前で行う。実施したら面前者・時刻・対象を記録。</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Not alone. Do it in front of the ambulance crew or the police, and record who was present, when, and what.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保存範囲と社内報告</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ガラスとキャビネットに触れない。範囲は広めに。警備責任者へ即時、人身事故のため三次まで想定。</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touch the glass or cabinet. Cordon wide. Supervisor immediately; with an injury, expect it to reach executives.</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社員がガラスを拾い始めた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止める。「そのままにしてください」と理由を添える。善意なので責める言い方をしない。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"please leave it as it is," with the reason. It was well meant — do not phrase it as blame.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救急隊「名前と生年月日は？」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「分かりません」と答える。推測で答えない。日本語が通じないことも併せて伝える。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Say you do not know. Never guess. Also tell them the person does not speak Japanese.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May you search? Ask the "yes" group for their basis, and the "no" group what they tell the crew.</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執務室から煙が出ている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Smoke Coming from an Office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open the door? If not, what do you judge 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comes first: initial firefighting, or evacuation?</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are the limits of what one person can do? What do you give up?</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call the fire service before the alarm activates? On what basis?</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One of the employees runs off saying they will fetch an extinguisher.</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発報した。同じ5階の別区画。</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alarm activates — a different zone on the same fifth floor.</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扉を開けるか。何で判断するか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開けない。扉に触れて熱を確認する。煙の色と量、臭気、音でも判断できる。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open it. Feel the door for heat. Smoke colour and volume, smell and sound also tell you.</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初期消火か避難誘導か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Alone, guide the evacuation. Firefighting needs numbers and a secured way out.</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1名の限界。何を諦めるか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初期消火、原因の特定、私物の持ち出しを諦める。20名の避難を優先する。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Give up firefighting, finding the cause, and retrieving belongings. Twenty people come first.</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発報前に通報してよいか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してよい。発報を待つ理由はない。人が煙を確認している事実で足りる。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There is no reason to wait for the alarm — a person has seen smoke, and that is enough.</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社員が消火器を取りに走る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追わない。止めに行くと避難誘導が止まる。損失が大きいのはそちら。</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chase them. Going after them halts the evacuation, and that costs more.</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同じ5階の別区画が発報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火災の可能性が上がる。全館避難の判断へ切り替える。通報済みなら続報を入れる。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 fire is now more likely. Switch to a building-wide evacuation, and update the fire service.</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2026-08-10T15:41:31Z</dcterms:created>
  <dcterms:modified xsi:type="dcterms:W3CDTF">2026-08-10T15:41:31Z</dcterms:modified>
</cp:coreProperties>
</file>