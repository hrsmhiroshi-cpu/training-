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第9時限　16:55 – 17:55　基本教育4</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9 — Basic Training 4</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事故発生時の警察機関への連絡</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その他応急の措置</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Emergency Reporting and Scene Preservation</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第3時限との役割分担</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How This Session Differs from Period 3</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同じ法定科目を、実技と講義に分けています。内容は重複させません。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The same statutory subject, split between practical and classroom sessions. We do not repeat it.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第3時限（実技）― 実施済</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3 (practical) — already delivered</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・応急手当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First aid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・胸骨圧迫</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Chest compressions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・AEDの使用</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Use of an AED</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第9時限（本コマ）</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9 — this session</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 ― 110番、119番</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Emergency calls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・通報練習（全員が声を出します）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Call practice. Everyone speaks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・現場保存</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Scene preservation</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・社内エスカレーション</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Internal escalation</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本コマではAEDと胸骨圧迫は扱いません。第3時限の内容を前提とします。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AED and compressions are not covered here. Period 3 is assumed.</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報告の原則</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Principles of Reporting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事実と評価を分けて報告でき、一次報告に何を入れるかを言える。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report with fact and assessment separated, and say what belongs in an initial report.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事実と評価を分ける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Separate Fact from Assessment</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・事実：「20時15分、B1東側非常口が15cmほど開いていた」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"At 20:15 the B1 east emergency door was about 15 cm open"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・評価：「侵入者がいるかもしれない」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Assessment: "There may be an intruder"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・誤り：「不審者が非常口から入りました」。見ていないことを断定している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Wrong: "An intruder came in through the exit." You are asserting what you did not see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・事実を先に。評価は「〜と思われます」と明示して後に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first. Mark assessment clearly, and place it second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報告の3段階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Stages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・一次報告：覚知後ただちに。完全でなくてよい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Initial: immediately on becoming aware. It need not be complete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・続報：状況が変わるたびに、変化した点だけ</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Updates: each time the situation changes, the change only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・「変化なし」も報告する。無音は「異常なし」と読まれない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"no change" too. Silence is not read as "all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・確定報：事案終了後。経過、対応、引継事項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Final: after it ends. Sequence, actions taken, handover items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一次報告に入れること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Goes in the Initial Report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・何が起きたか。いつ、どこで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happened, when, and where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・いま安全か。負傷者はいるか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it safe now? Are there casualties?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・自分がいまどこにいて、何をしているか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Where you are, and what you are doing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・何を要請するか。応援か、指示か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you are asking for: backup, or a decision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記録</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Records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・その場で書く。時間が経つと正確性が下がる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on the spot. Accuracy drops as time passes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・時刻は推定でもよい。推定であることを明記する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estimated time is acceptable if you mark it as an estimate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・発言はそのまま残す。要約すると意味が変わる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words as spoken. Summarising changes the meaning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・分からないことは「不明」と書く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"unknown" where you do not know</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110番・119番 ― 必ず伝える事項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Emergency Calls — What You Must Say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110番と119番で伝える事項を、見ずに言える。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required items for both emergency numbers without notes.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110番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Police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・冒頭で何が起きたかを伝える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what has happened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住所、目標物、建物名、階、区画</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building, floor,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 人相、着衣、逃走方向、車両とナンバー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person: appearance, clothing, direction of escape, vehicle and plate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 ― 氏名、折り返しの電話番号、現在地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Yourself: name, call-back number, where you are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119番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and Ambulance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・冒頭で種別。「火事です」か「救急です」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the type: fire, or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住所、目標物、進入口、使用するエレベーター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which entrance, which lift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・状況 ― 症状、負傷者数、意識と呼吸の有無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Condition: symptoms, number of casualties, consciousness and breathing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・到着時の誘導者を、通報と同時に決める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who will meet them, at the same time as the call</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Rules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・相手が終話するまで切らない。質問に答え切る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hang up first. Answer all their questions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・推測を事実として伝えない。「〜と思われます」と言う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report a guess as fact. Say "it appears that"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・日本語が通じない当事者がいる場合は、その旨を伝える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someone involved does not speak Japanese, say so on the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・通報した事実と時刻を、必ず記録する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record that you called, and when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通報後にすること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After the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・誘導者を配置する。到着口を空けておく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Post someone to guide them. Keep the arrival point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・エレベーターを確保する。階段誘導が必要か確認する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Secure a lift. Check whether stair guidance is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・社内へ報告する。外部通報とは別に行う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internally. This is separate from the emergency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・現場を保存する。人命に関わる場合を除き動かさない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Preserve the scene. Change nothing except where life is at stake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この8つは全員が言えるようにしてください。</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Everyone must be able to say these eight lines.</a:t>
            </a:r>
            <a:endParaRPr lang="en-US" sz="1300" dirty="0"/>
          </a:p>
        </p:txBody>
      </p:sp>
      <p:sp>
        <p:nvSpPr>
          <p:cNvPr id="5" name="Shape 2"/>
          <p:cNvSpPr/>
          <p:nvPr/>
        </p:nvSpPr>
        <p:spPr>
          <a:xfrm>
            <a:off x="640080" y="2194560"/>
            <a:ext cx="5318608"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火事です　　kaji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There is a fire.</a:t>
            </a:r>
            <a:endParaRPr lang="en-US" sz="1150" dirty="0"/>
          </a:p>
        </p:txBody>
      </p:sp>
      <p:sp>
        <p:nvSpPr>
          <p:cNvPr id="9" name="Shape 6"/>
          <p:cNvSpPr/>
          <p:nvPr/>
        </p:nvSpPr>
        <p:spPr>
          <a:xfrm>
            <a:off x="6233008" y="2194560"/>
            <a:ext cx="5318608" cy="691286"/>
          </a:xfrm>
          <a:prstGeom prst="roundRect">
            <a:avLst>
              <a:gd name="adj" fmla="val 5291"/>
            </a:avLst>
          </a:prstGeom>
          <a:solidFill>
            <a:srgbClr val="EFF4F8"/>
          </a:solidFill>
          <a:ln/>
        </p:spPr>
      </p:sp>
      <p:sp>
        <p:nvSpPr>
          <p:cNvPr id="10" name="Shape 7"/>
          <p:cNvSpPr/>
          <p:nvPr/>
        </p:nvSpPr>
        <p:spPr>
          <a:xfrm>
            <a:off x="6415888" y="2375611"/>
            <a:ext cx="329184" cy="329184"/>
          </a:xfrm>
          <a:prstGeom prst="ellipse">
            <a:avLst/>
          </a:prstGeom>
          <a:solidFill>
            <a:srgbClr val="093259"/>
          </a:solidFill>
          <a:ln/>
        </p:spPr>
      </p:sp>
      <p:sp>
        <p:nvSpPr>
          <p:cNvPr id="11" name="Text 8"/>
          <p:cNvSpPr/>
          <p:nvPr/>
        </p:nvSpPr>
        <p:spPr>
          <a:xfrm>
            <a:off x="6415888"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救急です　　kyūkyū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We need an ambulance.</a:t>
            </a:r>
            <a:endParaRPr lang="en-US" sz="1150" dirty="0"/>
          </a:p>
        </p:txBody>
      </p:sp>
      <p:sp>
        <p:nvSpPr>
          <p:cNvPr id="13" name="Shape 10"/>
          <p:cNvSpPr/>
          <p:nvPr/>
        </p:nvSpPr>
        <p:spPr>
          <a:xfrm>
            <a:off x="640080" y="3032150"/>
            <a:ext cx="5318608" cy="691286"/>
          </a:xfrm>
          <a:prstGeom prst="roundRect">
            <a:avLst>
              <a:gd name="adj" fmla="val 5291"/>
            </a:avLst>
          </a:prstGeom>
          <a:solidFill>
            <a:srgbClr val="EFF4F8"/>
          </a:solidFill>
          <a:ln/>
        </p:spPr>
      </p:sp>
      <p:sp>
        <p:nvSpPr>
          <p:cNvPr id="14" name="Shape 11"/>
          <p:cNvSpPr/>
          <p:nvPr/>
        </p:nvSpPr>
        <p:spPr>
          <a:xfrm>
            <a:off x="822960" y="3213202"/>
            <a:ext cx="329184" cy="329184"/>
          </a:xfrm>
          <a:prstGeom prst="ellipse">
            <a:avLst/>
          </a:prstGeom>
          <a:solidFill>
            <a:srgbClr val="093259"/>
          </a:solidFill>
          <a:ln/>
        </p:spPr>
      </p:sp>
      <p:sp>
        <p:nvSpPr>
          <p:cNvPr id="15" name="Text 12"/>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事件です　　jiken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 crime has occurred.</a:t>
            </a:r>
            <a:endParaRPr lang="en-US" sz="1150" dirty="0"/>
          </a:p>
        </p:txBody>
      </p:sp>
      <p:sp>
        <p:nvSpPr>
          <p:cNvPr id="17" name="Shape 14"/>
          <p:cNvSpPr/>
          <p:nvPr/>
        </p:nvSpPr>
        <p:spPr>
          <a:xfrm>
            <a:off x="6233008" y="3032150"/>
            <a:ext cx="5318608" cy="691286"/>
          </a:xfrm>
          <a:prstGeom prst="roundRect">
            <a:avLst>
              <a:gd name="adj" fmla="val 5291"/>
            </a:avLst>
          </a:prstGeom>
          <a:solidFill>
            <a:srgbClr val="EFF4F8"/>
          </a:solidFill>
          <a:ln/>
        </p:spPr>
      </p:sp>
      <p:sp>
        <p:nvSpPr>
          <p:cNvPr id="18" name="Shape 15"/>
          <p:cNvSpPr/>
          <p:nvPr/>
        </p:nvSpPr>
        <p:spPr>
          <a:xfrm>
            <a:off x="6415888" y="3213202"/>
            <a:ext cx="329184" cy="329184"/>
          </a:xfrm>
          <a:prstGeom prst="ellipse">
            <a:avLst/>
          </a:prstGeom>
          <a:solidFill>
            <a:srgbClr val="093259"/>
          </a:solidFill>
          <a:ln/>
        </p:spPr>
      </p:sp>
      <p:sp>
        <p:nvSpPr>
          <p:cNvPr id="19" name="Text 16"/>
          <p:cNvSpPr/>
          <p:nvPr/>
        </p:nvSpPr>
        <p:spPr>
          <a:xfrm>
            <a:off x="6415888"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場所は ◯◯ です　　basho wa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location is ◯◯.</a:t>
            </a:r>
            <a:endParaRPr lang="en-US" sz="1150" dirty="0"/>
          </a:p>
        </p:txBody>
      </p:sp>
      <p:sp>
        <p:nvSpPr>
          <p:cNvPr id="21" name="Shape 18"/>
          <p:cNvSpPr/>
          <p:nvPr/>
        </p:nvSpPr>
        <p:spPr>
          <a:xfrm>
            <a:off x="640080" y="3869741"/>
            <a:ext cx="5318608" cy="691286"/>
          </a:xfrm>
          <a:prstGeom prst="roundRect">
            <a:avLst>
              <a:gd name="adj" fmla="val 5291"/>
            </a:avLst>
          </a:prstGeom>
          <a:solidFill>
            <a:srgbClr val="EFF4F8"/>
          </a:solidFill>
          <a:ln/>
        </p:spPr>
      </p:sp>
      <p:sp>
        <p:nvSpPr>
          <p:cNvPr id="22" name="Shape 19"/>
          <p:cNvSpPr/>
          <p:nvPr/>
        </p:nvSpPr>
        <p:spPr>
          <a:xfrm>
            <a:off x="822960" y="4050792"/>
            <a:ext cx="329184" cy="329184"/>
          </a:xfrm>
          <a:prstGeom prst="ellipse">
            <a:avLst/>
          </a:prstGeom>
          <a:solidFill>
            <a:srgbClr val="093259"/>
          </a:solidFill>
          <a:ln/>
        </p:spPr>
      </p:sp>
      <p:sp>
        <p:nvSpPr>
          <p:cNvPr id="23" name="Text 20"/>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けが人が 1名 います　　keganin ga ichi-mei imasu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One person is injured.</a:t>
            </a:r>
            <a:endParaRPr lang="en-US" sz="1150" dirty="0"/>
          </a:p>
        </p:txBody>
      </p:sp>
      <p:sp>
        <p:nvSpPr>
          <p:cNvPr id="25" name="Shape 22"/>
          <p:cNvSpPr/>
          <p:nvPr/>
        </p:nvSpPr>
        <p:spPr>
          <a:xfrm>
            <a:off x="6233008" y="3869741"/>
            <a:ext cx="5318608" cy="691286"/>
          </a:xfrm>
          <a:prstGeom prst="roundRect">
            <a:avLst>
              <a:gd name="adj" fmla="val 5291"/>
            </a:avLst>
          </a:prstGeom>
          <a:solidFill>
            <a:srgbClr val="EFF4F8"/>
          </a:solidFill>
          <a:ln/>
        </p:spPr>
      </p:sp>
      <p:sp>
        <p:nvSpPr>
          <p:cNvPr id="26" name="Shape 23"/>
          <p:cNvSpPr/>
          <p:nvPr/>
        </p:nvSpPr>
        <p:spPr>
          <a:xfrm>
            <a:off x="6415888" y="4050792"/>
            <a:ext cx="329184" cy="329184"/>
          </a:xfrm>
          <a:prstGeom prst="ellipse">
            <a:avLst/>
          </a:prstGeom>
          <a:solidFill>
            <a:srgbClr val="093259"/>
          </a:solidFill>
          <a:ln/>
        </p:spPr>
      </p:sp>
      <p:sp>
        <p:nvSpPr>
          <p:cNvPr id="27" name="Text 24"/>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意識が ありません　　ishiki ga arimasen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unconscious.</a:t>
            </a:r>
            <a:endParaRPr lang="en-US" sz="1150" dirty="0"/>
          </a:p>
        </p:txBody>
      </p:sp>
      <p:sp>
        <p:nvSpPr>
          <p:cNvPr id="29" name="Shape 26"/>
          <p:cNvSpPr/>
          <p:nvPr/>
        </p:nvSpPr>
        <p:spPr>
          <a:xfrm>
            <a:off x="640080" y="4707331"/>
            <a:ext cx="5318608" cy="691286"/>
          </a:xfrm>
          <a:prstGeom prst="roundRect">
            <a:avLst>
              <a:gd name="adj" fmla="val 5291"/>
            </a:avLst>
          </a:prstGeom>
          <a:solidFill>
            <a:srgbClr val="EFF4F8"/>
          </a:solidFill>
          <a:ln/>
        </p:spPr>
      </p:sp>
      <p:sp>
        <p:nvSpPr>
          <p:cNvPr id="30" name="Shape 27"/>
          <p:cNvSpPr/>
          <p:nvPr/>
        </p:nvSpPr>
        <p:spPr>
          <a:xfrm>
            <a:off x="822960" y="4888382"/>
            <a:ext cx="329184" cy="329184"/>
          </a:xfrm>
          <a:prstGeom prst="ellipse">
            <a:avLst/>
          </a:prstGeom>
          <a:solidFill>
            <a:srgbClr val="093259"/>
          </a:solidFill>
          <a:ln/>
        </p:spPr>
      </p:sp>
      <p:sp>
        <p:nvSpPr>
          <p:cNvPr id="31" name="Text 28"/>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息を していません　　iki o shite 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not breathing.</a:t>
            </a:r>
            <a:endParaRPr lang="en-US" sz="1150" dirty="0"/>
          </a:p>
        </p:txBody>
      </p:sp>
      <p:sp>
        <p:nvSpPr>
          <p:cNvPr id="33" name="Shape 30"/>
          <p:cNvSpPr/>
          <p:nvPr/>
        </p:nvSpPr>
        <p:spPr>
          <a:xfrm>
            <a:off x="6233008" y="4707331"/>
            <a:ext cx="5318608" cy="691286"/>
          </a:xfrm>
          <a:prstGeom prst="roundRect">
            <a:avLst>
              <a:gd name="adj" fmla="val 5291"/>
            </a:avLst>
          </a:prstGeom>
          <a:solidFill>
            <a:srgbClr val="EFF4F8"/>
          </a:solidFill>
          <a:ln/>
        </p:spPr>
      </p:sp>
      <p:sp>
        <p:nvSpPr>
          <p:cNvPr id="34" name="Shape 31"/>
          <p:cNvSpPr/>
          <p:nvPr/>
        </p:nvSpPr>
        <p:spPr>
          <a:xfrm>
            <a:off x="6415888" y="4888382"/>
            <a:ext cx="329184" cy="329184"/>
          </a:xfrm>
          <a:prstGeom prst="ellipse">
            <a:avLst/>
          </a:prstGeom>
          <a:solidFill>
            <a:srgbClr val="093259"/>
          </a:solidFill>
          <a:ln/>
        </p:spPr>
      </p:sp>
      <p:sp>
        <p:nvSpPr>
          <p:cNvPr id="35" name="Text 32"/>
          <p:cNvSpPr/>
          <p:nvPr/>
        </p:nvSpPr>
        <p:spPr>
          <a:xfrm>
            <a:off x="6415888"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警備員の ◯◯ です　　keibiin no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 am ◯◯, a security guard.</a:t>
            </a:r>
            <a:endParaRPr lang="en-US" sz="1150" dirty="0"/>
          </a:p>
        </p:txBody>
      </p:sp>
      <p:sp>
        <p:nvSpPr>
          <p:cNvPr id="37" name="Shape 34"/>
          <p:cNvSpPr/>
          <p:nvPr/>
        </p:nvSpPr>
        <p:spPr>
          <a:xfrm>
            <a:off x="640080" y="5544922"/>
            <a:ext cx="5318608" cy="691286"/>
          </a:xfrm>
          <a:prstGeom prst="roundRect">
            <a:avLst>
              <a:gd name="adj" fmla="val 5291"/>
            </a:avLst>
          </a:prstGeom>
          <a:solidFill>
            <a:srgbClr val="EFF4F8"/>
          </a:solidFill>
          <a:ln/>
        </p:spPr>
      </p:sp>
      <p:sp>
        <p:nvSpPr>
          <p:cNvPr id="38" name="Shape 35"/>
          <p:cNvSpPr/>
          <p:nvPr/>
        </p:nvSpPr>
        <p:spPr>
          <a:xfrm>
            <a:off x="822960" y="5725973"/>
            <a:ext cx="329184" cy="329184"/>
          </a:xfrm>
          <a:prstGeom prst="ellipse">
            <a:avLst/>
          </a:prstGeom>
          <a:solidFill>
            <a:srgbClr val="093259"/>
          </a:solidFill>
          <a:ln/>
        </p:spPr>
      </p:sp>
      <p:sp>
        <p:nvSpPr>
          <p:cNvPr id="39" name="Text 36"/>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0" name="Text 37"/>
          <p:cNvSpPr/>
          <p:nvPr/>
        </p:nvSpPr>
        <p:spPr>
          <a:xfrm>
            <a:off x="1243584"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通報が難しい場合は、できる者を指名します。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If you cannot make the call, name someone who can.</a:t>
            </a:r>
            <a:endParaRPr lang="en-US" sz="1150" dirty="0"/>
          </a:p>
        </p:txBody>
      </p:sp>
      <p:sp>
        <p:nvSpPr>
          <p:cNvPr id="41" name="Shape 38"/>
          <p:cNvSpPr/>
          <p:nvPr/>
        </p:nvSpPr>
        <p:spPr>
          <a:xfrm>
            <a:off x="6233008" y="5544922"/>
            <a:ext cx="5318608" cy="691286"/>
          </a:xfrm>
          <a:prstGeom prst="roundRect">
            <a:avLst>
              <a:gd name="adj" fmla="val 5291"/>
            </a:avLst>
          </a:prstGeom>
          <a:solidFill>
            <a:srgbClr val="EFF4F8"/>
          </a:solidFill>
          <a:ln/>
        </p:spPr>
      </p:sp>
      <p:sp>
        <p:nvSpPr>
          <p:cNvPr id="42" name="Shape 39"/>
          <p:cNvSpPr/>
          <p:nvPr/>
        </p:nvSpPr>
        <p:spPr>
          <a:xfrm>
            <a:off x="6415888" y="5725973"/>
            <a:ext cx="329184" cy="329184"/>
          </a:xfrm>
          <a:prstGeom prst="ellipse">
            <a:avLst/>
          </a:prstGeom>
          <a:solidFill>
            <a:srgbClr val="093259"/>
          </a:solidFill>
          <a:ln/>
        </p:spPr>
      </p:sp>
      <p:sp>
        <p:nvSpPr>
          <p:cNvPr id="43" name="Text 40"/>
          <p:cNvSpPr/>
          <p:nvPr/>
        </p:nvSpPr>
        <p:spPr>
          <a:xfrm>
            <a:off x="6415888"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4" name="Text 41"/>
          <p:cNvSpPr/>
          <p:nvPr/>
        </p:nvSpPr>
        <p:spPr>
          <a:xfrm>
            <a:off x="6836512"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指名した場合でも、上記8つは全員が言えることとします。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Even then, everyone must know the eight lines above.</a:t>
            </a:r>
            <a:endParaRPr lang="en-US" sz="1150" dirty="0"/>
          </a:p>
        </p:txBody>
      </p:sp>
      <p:sp>
        <p:nvSpPr>
          <p:cNvPr id="45" name="Text 4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46" name="Text 4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現場保存と社内エスカレーション</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Scene Preservation and Internal 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現場を変えてよい場合を述べ、社内に上げる順序と時限を説明できる。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when the scene may be altered, and explain the order and timing of internal escalation.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現場保存の原則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Preserving the Scene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・人命が最優先。救助、救護のためなら変えてよい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Life comes first. You may alter it for rescue or first aid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・それ以外の理由では動かさない。片付けにより証拠が失われる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any other reason, change nothing. Tidying destroys evidence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・変えた場合は記録する。何を、どこから、どこへ、誰が、何時に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changed it, record what, from where, to where, by whom,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・立入制限は広めに設定する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Set the cordon wider than you think is needed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第三者を止める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Stopping Other People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・善意で片付ける人が必ず現れる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Someone will always start tidying, with good intentions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・「そのままにしてください」と理由を添えて止める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 "please leave it as it is", and give the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・責める言い方をしない。善意の行動である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phrase it as blame. The intention was good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・止められなかった場合は、何が動いたかを記録する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could not stop it, record what was moved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エスカレーションの順序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Escalation Order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 ― 警備責任者へ即時。判断が固まる前でよい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First: the security supervisor, immediately. No conclusion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・二次 ― 施設管理、総務へ。事案の継続が見込まれる場合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Second: facilities and general affairs, if it will continue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・三次 ― 経営層、広報、法務へ。人身、報道、情報漏えいが関わる場合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Third: executives, communications, legal, where injury, media or data loss is involved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・判断に迷う場合は、上位者へ報告する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are unsure, escalate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外部通報との関係</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Relation to the Emergency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・外部への通報と社内への報告は別に行う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emergency call and the internal report are separate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・どちらも遅らせない。人命に関わる場合は通報が先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Delay neither. Where life is at risk, the emergency call comes first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・社内の承認を待って通報を遅らせない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delay an emergency call to wait for internal approval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・通報した事実は、社内報告にも必ず含める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include the fact that you called in the internal report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執務フロアで人が倒れている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 A Person Is Down on the Office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40分、執務フロアで人が1名倒れている。社員証も来訪者バッジも見当たらない。近くに割れたガラスと、開いたままのキャビネット。周囲の社員3名は「見たことがない人だ」と言う。呼びかけても日本語が通じ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17:40. A person is lying on the office floor. No employee ID or visitor badge is visible. Nearby: broken glass and an open cabinet. Three employees say they have never seen the person. When you speak to them, Japanese does not work.</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最初の30秒に、何を、どの順序で行うか。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In the first thirty seconds, what do you do, and in what order?</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通報は110番か119番か、両方か。根拠は何か。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Police, ambulance, or both? On what basis?</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身元を確認するため、所持品を見てよいか。根拠は何か。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look through their belongings to identify them? On what basis?</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現場をどこまで保存するか。社内には誰に、何分以内に上げるか。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far do you preserve the scene? Who do you escalate to, and by when?</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別の社員が「早く片付けよう」と、割れたガラスを拾い始めた。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Another employee says "let us clear this up" and starts picking up the broken glass.</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救急要請の判断者、クライアントへの通知、身元不明者の扱いは現場ごとに異なる。Site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an ambulance, client notification, and handling of unidentified persons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執務室から煙が出ている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 Smoke Coming from an Office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18時20分、5階の会議室から白い煙が出ている。扉は閉まっており、中の状況は見えない。自動火災報知設備はまだ発報していない。フロアには社員が20名ほど残っている。あなたは1名で、応援は3分かかる。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18:20. White smoke is coming from a fifth-floor meeting room. The door is shut and you cannot see inside. The fire alarm has not activated. About twenty employees are still on the floor. You are alone, and backup is three minutes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扉を開けて確認するか。開けない場合、何で判断するか。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open the door? If not, what do you judge on?</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初期消火と避難誘導、どちらを先に行うか。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comes first: initial firefighting, or evacuation?</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1名でできることの限界はどこか。何を諦めるか。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are the limits of what one person can do? What do you give up?</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発報前に119番通報してよいか。根拠は何か。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call the fire service before the alarm activates? On what basis?</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社員の1人が「消火器を持ってくる」と言って走り出した。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One of the employees runs off saying they will fetch an extinguisher.</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perform initial firefighting, their role in the fire brigade, and who decides on the call are set per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第9時限｜基本教育4 事故の発生時における警察機関への連絡その他応急の措置</dc:title>
  <dc:subject>PptxGenJS Presentation</dc:subject>
  <dc:creator>警備員指導教育責任者</dc:creator>
  <cp:lastModifiedBy>警備員指導教育責任者</cp:lastModifiedBy>
  <cp:revision>1</cp:revision>
  <dcterms:created xsi:type="dcterms:W3CDTF">2026-08-10T14:54:46Z</dcterms:created>
  <dcterms:modified xsi:type="dcterms:W3CDTF">2026-08-10T14:54:46Z</dcterms:modified>
</cp:coreProperties>
</file>