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A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　16:55 – 17:55　基本教育4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— Basic Training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事故発生時の警察機関への連絡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その他応急の措置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Reporting and Scene Preservation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7AF9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第3時限との役割分担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Session Differs from Period 3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17904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同じ法定科目を、実技と講義に分けています。重複させません。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statutory subject, split between practical and classroom work. We will not repeat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31136"/>
            <a:ext cx="5300320" cy="3163824"/>
          </a:xfrm>
          <a:prstGeom prst="roundRect">
            <a:avLst>
              <a:gd name="adj" fmla="val 1445"/>
            </a:avLst>
          </a:prstGeom>
          <a:solidFill>
            <a:srgbClr val="EFF4F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50592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第3時限（実技）― 実施済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3 (practical) — already delivered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18688"/>
            <a:ext cx="475168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・応急手当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First aid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・胸骨圧迫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Chest compressions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・AEDの使用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Use of an AED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51296" y="2231136"/>
            <a:ext cx="5300320" cy="3163824"/>
          </a:xfrm>
          <a:prstGeom prst="roundRect">
            <a:avLst>
              <a:gd name="adj" fmla="val 1445"/>
            </a:avLst>
          </a:prstGeom>
          <a:solidFill>
            <a:srgbClr val="E4F4F0"/>
          </a:solidFill>
          <a:ln/>
        </p:spPr>
      </p:sp>
      <p:sp>
        <p:nvSpPr>
          <p:cNvPr id="8" name="Text 6"/>
          <p:cNvSpPr/>
          <p:nvPr/>
        </p:nvSpPr>
        <p:spPr>
          <a:xfrm>
            <a:off x="6525616" y="2450592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E8C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第9時限（本コマ）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— this session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25616" y="3218688"/>
            <a:ext cx="475168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・通報 ― 110番・119番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Reporting — emergency calls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・通報練習（全員が声を出します）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Call practice — everyone speaks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・現場保存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Scene preservation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・社内エスカレーション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Internal escalation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614416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0E8C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本コマではAEDと胸骨圧迫は扱いません。第3時限の内容を前提とします。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and compressions are not covered here — Period 3 is assumed.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事実と評価を分ける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from Assessment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事故対応の失敗は、判断ミスよりも報告の失敗で起きます。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go wrong through failures of reporting far more often than failures of judgement.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事実（見た・聞いた）：「20時15分、B1東側非常口が15cmほど開いていた」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— what you saw or heard: "At 20:15 the B1 east emergency door stood about 15 cm open."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評価（思った・推測した）：「侵入者がいるかもしれない」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what you concluded: "There may be an intruder."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NG（混ざっている）：「不審者が非常口から入りました」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the two fused: "An intruder came in through the emergency exit."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順序は、事実が先。評価は「〜と思われます」と明示して後に。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first. Flag assessment explicitly — "in my judgement…" — and put it second.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報告の3段階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Stages of Reporting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89888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覚知後ただちに。完全でなくてよい。速さが優先。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何が・どこで・いま安全か。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on becoming aware. It need not be complete — speed wins. What, where, and is it safe now.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8698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4F4F0"/>
          </a:solidFill>
          <a:ln/>
        </p:spPr>
      </p:sp>
      <p:sp>
        <p:nvSpPr>
          <p:cNvPr id="9" name="Shape 7"/>
          <p:cNvSpPr/>
          <p:nvPr/>
        </p:nvSpPr>
        <p:spPr>
          <a:xfrm>
            <a:off x="4606442" y="268376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4606442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18506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続報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4730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状況が動くたびに、変化点だけ。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「変化なし」も報告する。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time the situation moves — the change only. "No change" is also an update.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97317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5061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5" name="Text 13"/>
          <p:cNvSpPr/>
          <p:nvPr/>
        </p:nvSpPr>
        <p:spPr>
          <a:xfrm>
            <a:off x="8335061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47125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確定報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53349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事案終了後。経過・対応・引継事項。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記録として残る唯一のもの。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it ends: sequence, actions taken, handover items. This is the version that survives as record.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110番 ― 必ず言う事項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Emergency Call — what must be said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85257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852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99616" y="1737360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冒頭で「事件です」。何が起きたのかを最初に。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the nature of it: a crime is in progress or has occurred.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71293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796235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79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9616" y="2681021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 ― 住所＋目標物＋建物名・階・区画まで。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— address, landmark, building, floor, and zone.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51495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99616" y="362468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 ― 人相・着衣・逃走方向・車両とナンバー。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— appearance, clothing, direction of flight, vehicle and plate.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45861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" y="4683557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6835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99616" y="456834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 ― 氏名・折り返しの電話番号・現在地。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Yourself — name, call-back number, and where you are.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402275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562721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6272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5512003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切られるまで切らない。質問に答え切ってから終話する。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hang up first. Stay until their questions are finished.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119番 ― 必ず言う事項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and Ambulance Call — what must be said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85257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852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99616" y="1737360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冒頭で種別。「火事です」か「救急です」を最初に言う。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the type: fire, or ambulance. Say it first.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71293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796235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79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9616" y="2681021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 ― 住所＋目標物、そして進入口と使うエレベーター。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— address and landmark, plus the entrance to use and which lift.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51495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99616" y="362468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 ― 症状・負傷者数・意識と呼吸の有無。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— symptoms, number of casualties, whether conscious and breathing.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45861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" y="4683557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6835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99616" y="456834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 ― 氏名・折り返しの電話番号。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Yourself — name and call-back number.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402275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562721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6272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5512003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到着時の誘導者を、通報と同時に決めておく。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will meet and guide them, at the same time as you call.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通報練習の進め方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Practice — how we will run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2人1組。通報者役と受令者役を必ず交代します。全員が声を出します。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pairs. You will swap between caller and receiver — everyone speaks.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受令者役は、必ず3つを聞き返す：「場所は？」「けが人は？」「お名前は？」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receiver must always ask three things: location, casualties, and your name.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通報者役は、メモを見ずに言う。詰まったら言い直してよい。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speaks without notes. If you stall, start the sentence again.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評価するのは流暢さではなく、必要事項が漏れないこと。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grading fluency — only whether anything essential was missed.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2巡目は、相手が興奮している設定で行います。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second round, the caller will be playing someone agitated.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社内エスカレーション ― 誰に、何分以内に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Escalation — to whom, and how fast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外部通報と社内報告は別の回路です。どちらも止めないこと。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emergency call and the internal report are separate circuits. Neither may stall.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44510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4451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 ― 警備責任者へ即時。判断を待たずに一報を入れる。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— the security supervisor, immediately. Do not wait to have a conclusion.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97987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257093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25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207715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二次 ― 施設管理・総務へ。事案の継続が見込まれる場合。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— facilities and general affairs, where the incident will continue.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3909974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069080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019702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三次 ― 経営層・広報・法務へ。人身、報道、情報漏えいが絡むとき。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— executives, communications and legal, where injury, media or data loss is involved.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721962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4881067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8810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4831690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迷ったら上げる。上げすぎで叱られる会社は、強い会社です。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escalate. A company that tolerates over-escalation is a resilient one.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" y="5533949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96112" y="569305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6930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99616" y="5643677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※実際の連絡先・時限は、各サイトの緊急連絡体制によります。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contacts and time limits are defined by each site's emergency call-out structure.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現場保存の5原則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Principles of Scene Preservation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65376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65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43584" y="1700784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人命が最優先。救助・救護のためなら、現場を変えてよい。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comes first. If it serves rescue or first aid, you may alter the scene.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78608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816352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43584" y="2651760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それ以外の理由では動かさない。良かれと思った片付けが証拠を消す。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other reason, change nothing. Well-meant tidying destroys evidence.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3767328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43584" y="3602736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変えたら記録する ― 何を・どこから・どこへ・誰が・何時に。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did change it, record it: what, from where, to where, by whom, at what time.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480560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4718304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718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43584" y="4553712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立入制限は「ここまでだろう」より一回り広く取る。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Cordon wider than feels necessary — one step beyond your instinct.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431536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669280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69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43584" y="5504688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記録は早いほど正確。引き揚げてからではなく、その場でメモと写真。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are most accurate when immediate — note and photograph on the spot, not afterwards.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TTX④ 執務フロアで従業員が倒れている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④ — An Employee Is Down on the Office Floor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1481328"/>
          </a:xfrm>
          <a:prstGeom prst="roundRect">
            <a:avLst>
              <a:gd name="adj" fmla="val 3086"/>
            </a:avLst>
          </a:prstGeom>
          <a:solidFill>
            <a:srgbClr val="0F2D52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1810512"/>
            <a:ext cx="1014343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17A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状況付与  </a:t>
            </a:r>
            <a:pPr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17時40分、執務フロアで従業員1名が倒れている。近くに割れたガラスと、開いたままのキャビネット。周囲に3名の従業員がいるが、誰も通報していない。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9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17:40. An employee is lying on the office floor. Nearby: broken glass and an open cabinet. Three colleagues are present; nobody has called for help.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40080" y="3346704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3396996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33969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35024" y="3401568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最初の30秒に、何を、どの順序で行うか。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first thirty seconds — what do you do, and in what order?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867912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10" name="Shape 8"/>
          <p:cNvSpPr/>
          <p:nvPr/>
        </p:nvSpPr>
        <p:spPr>
          <a:xfrm>
            <a:off x="859536" y="3918204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9182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35024" y="3922776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通報は110番か119番か、それとも両方か。根拠は。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Police, ambulance, or both — and on what basis?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536" y="4439412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4394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35024" y="4443984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現場をどこまで保存するか。何に触れてはいけないか。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you preserve the scene, and what must not be touched?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910328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18" name="Shape 16"/>
          <p:cNvSpPr/>
          <p:nvPr/>
        </p:nvSpPr>
        <p:spPr>
          <a:xfrm>
            <a:off x="859536" y="4960620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" y="49606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35024" y="4965192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社内には、誰に、何分以内に、何を上げるか。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— who do you escalate to, within what time, and with what?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486400"/>
            <a:ext cx="10911535" cy="749808"/>
          </a:xfrm>
          <a:prstGeom prst="roundRect">
            <a:avLst>
              <a:gd name="adj" fmla="val 4878"/>
            </a:avLst>
          </a:prstGeom>
          <a:solidFill>
            <a:srgbClr val="E4F4F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559552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8C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  </a:t>
            </a:r>
            <a:pPr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0E8C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  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別の従業員が「早く片付けよう」と、割れたガラスを拾い始めた。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employee says "let's clear this up" and starts picking up the broken glass.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第9時限｜基本教育4 事故の発生時における警察機関への連絡その他応急の措置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2026-08-10T11:51:05Z</dcterms:created>
  <dcterms:modified xsi:type="dcterms:W3CDTF">2026-08-10T11:51:05Z</dcterms:modified>
</cp:coreProperties>
</file>