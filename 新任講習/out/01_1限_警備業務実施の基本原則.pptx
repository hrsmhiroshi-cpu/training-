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3259"/>
        </a:solidFill>
        <a:effectLst/>
      </p:bgPr>
    </p:bg>
    <p:spTree>
      <p:nvGrpSpPr>
        <p:cNvPr id="1" name=""/>
        <p:cNvGrpSpPr/>
        <p:nvPr/>
      </p:nvGrpSpPr>
      <p:grpSpPr/>
      <p:sp>
        <p:nvSpPr>
          <p:cNvPr id="2" name="Rounded Rectangle 1"/>
          <p:cNvSpPr/>
          <p:nvPr/>
        </p:nvSpPr>
        <p:spPr>
          <a:xfrm>
            <a:off x="10634472" y="219456"/>
            <a:ext cx="1042415" cy="969264"/>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10762488" y="329184"/>
            <a:ext cx="786384" cy="740664"/>
          </a:xfrm>
          <a:prstGeom prst="rect">
            <a:avLst/>
          </a:prstGeom>
        </p:spPr>
      </p:pic>
      <p:sp>
        <p:nvSpPr>
          <p:cNvPr id="4" name="TextBox 3"/>
          <p:cNvSpPr txBox="1"/>
          <p:nvPr/>
        </p:nvSpPr>
        <p:spPr>
          <a:xfrm>
            <a:off x="640080" y="1417320"/>
            <a:ext cx="9692640" cy="640080"/>
          </a:xfrm>
          <a:prstGeom prst="rect">
            <a:avLst/>
          </a:prstGeom>
          <a:noFill/>
        </p:spPr>
        <p:txBody>
          <a:bodyPr wrap="square" lIns="0" rIns="0" tIns="0" bIns="0" anchor="t">
            <a:spAutoFit/>
          </a:bodyPr>
          <a:lstStyle/>
          <a:p>
            <a:pPr algn="l"/>
            <a:r>
              <a:rPr sz="1300" b="1">
                <a:solidFill>
                  <a:srgbClr val="12B198"/>
                </a:solidFill>
                <a:latin typeface="Yu Gothic"/>
                <a:ea typeface="Yu Gothic"/>
                <a:cs typeface="Yu Gothic"/>
              </a:rPr>
              <a:t>第1時限　08:00 – 09:00　基本教育1</a:t>
            </a:r>
          </a:p>
          <a:p>
            <a:pPr algn="l">
              <a:spcBef>
                <a:spcPts val="200"/>
              </a:spcBef>
            </a:pPr>
            <a:r>
              <a:rPr sz="1050" b="0">
                <a:solidFill>
                  <a:srgbClr val="9FD8CD"/>
                </a:solidFill>
                <a:latin typeface="Calibri"/>
                <a:ea typeface="Calibri"/>
                <a:cs typeface="Calibri"/>
              </a:rPr>
              <a:t>Period 1 — Basic Training 1</a:t>
            </a:r>
          </a:p>
        </p:txBody>
      </p:sp>
      <p:sp>
        <p:nvSpPr>
          <p:cNvPr id="5" name="TextBox 4"/>
          <p:cNvSpPr txBox="1"/>
          <p:nvPr/>
        </p:nvSpPr>
        <p:spPr>
          <a:xfrm>
            <a:off x="640080" y="2212848"/>
            <a:ext cx="9966960" cy="896112"/>
          </a:xfrm>
          <a:prstGeom prst="rect">
            <a:avLst/>
          </a:prstGeom>
          <a:noFill/>
        </p:spPr>
        <p:txBody>
          <a:bodyPr wrap="square" lIns="0" rIns="0" tIns="0" bIns="0" anchor="t">
            <a:spAutoFit/>
          </a:bodyPr>
          <a:lstStyle/>
          <a:p>
            <a:pPr algn="l"/>
            <a:r>
              <a:rPr sz="3600" b="1">
                <a:solidFill>
                  <a:srgbClr val="FFFFFF"/>
                </a:solidFill>
                <a:latin typeface="Yu Gothic"/>
                <a:ea typeface="Yu Gothic"/>
                <a:cs typeface="Yu Gothic"/>
              </a:rPr>
              <a:t>警備業務実施の基本原則</a:t>
            </a:r>
          </a:p>
        </p:txBody>
      </p:sp>
      <p:sp>
        <p:nvSpPr>
          <p:cNvPr id="6" name="TextBox 5"/>
          <p:cNvSpPr txBox="1"/>
          <p:nvPr/>
        </p:nvSpPr>
        <p:spPr>
          <a:xfrm>
            <a:off x="640080" y="3236976"/>
            <a:ext cx="9966960" cy="777240"/>
          </a:xfrm>
          <a:prstGeom prst="rect">
            <a:avLst/>
          </a:prstGeom>
          <a:noFill/>
        </p:spPr>
        <p:txBody>
          <a:bodyPr wrap="square" lIns="0" rIns="0" tIns="0" bIns="0" anchor="t">
            <a:spAutoFit/>
          </a:bodyPr>
          <a:lstStyle/>
          <a:p>
            <a:pPr algn="l"/>
            <a:r>
              <a:rPr sz="1600" b="0">
                <a:solidFill>
                  <a:srgbClr val="9FD8CD"/>
                </a:solidFill>
                <a:latin typeface="Calibri"/>
                <a:ea typeface="Calibri"/>
                <a:cs typeface="Calibri"/>
              </a:rPr>
              <a:t>Fundamental Principles of Security Operations</a:t>
            </a:r>
          </a:p>
        </p:txBody>
      </p:sp>
      <p:sp>
        <p:nvSpPr>
          <p:cNvPr id="7" name="Rectangle 6"/>
          <p:cNvSpPr/>
          <p:nvPr/>
        </p:nvSpPr>
        <p:spPr>
          <a:xfrm>
            <a:off x="640080" y="4828032"/>
            <a:ext cx="1371600" cy="36576"/>
          </a:xfrm>
          <a:prstGeom prst="rect">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120640"/>
            <a:ext cx="9966960" cy="822960"/>
          </a:xfrm>
          <a:prstGeom prst="rect">
            <a:avLst/>
          </a:prstGeom>
          <a:noFill/>
        </p:spPr>
        <p:txBody>
          <a:bodyPr wrap="square" lIns="0" rIns="0" tIns="0" bIns="0" anchor="t">
            <a:spAutoFit/>
          </a:bodyPr>
          <a:lstStyle/>
          <a:p>
            <a:pPr algn="l"/>
            <a:r>
              <a:rPr sz="1200" b="0">
                <a:solidFill>
                  <a:srgbClr val="C9D6E2"/>
                </a:solidFill>
                <a:latin typeface="Yu Gothic"/>
                <a:ea typeface="Yu Gothic"/>
                <a:cs typeface="Yu Gothic"/>
              </a:rPr>
              <a:t>2026年◯月◯日　施設警備 新任教育　コーポレートセキュリティ</a:t>
            </a:r>
          </a:p>
          <a:p>
            <a:pPr algn="l">
              <a:spcBef>
                <a:spcPts val="200"/>
              </a:spcBef>
            </a:pPr>
            <a:r>
              <a:rPr sz="1000" b="0">
                <a:solidFill>
                  <a:srgbClr val="C9D6E2"/>
                </a:solidFill>
                <a:latin typeface="Calibri"/>
                <a:ea typeface="Calibri"/>
                <a:cs typeface="Calibri"/>
              </a:rPr>
              <a:t>New-Hire Training, Facility Security / Corporate Security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762488" y="329184"/>
            <a:ext cx="786384" cy="740664"/>
          </a:xfrm>
          <a:prstGeom prst="rect">
            <a:avLst/>
          </a:prstGeom>
        </p:spPr>
      </p:pic>
      <p:sp>
        <p:nvSpPr>
          <p:cNvPr id="3" name="TextBox 2"/>
          <p:cNvSpPr txBox="1"/>
          <p:nvPr/>
        </p:nvSpPr>
        <p:spPr>
          <a:xfrm>
            <a:off x="640080" y="384048"/>
            <a:ext cx="8979408" cy="768096"/>
          </a:xfrm>
          <a:prstGeom prst="rect">
            <a:avLst/>
          </a:prstGeom>
          <a:noFill/>
        </p:spPr>
        <p:txBody>
          <a:bodyPr wrap="square" lIns="0" rIns="0" tIns="0" bIns="0" anchor="t">
            <a:spAutoFit/>
          </a:bodyPr>
          <a:lstStyle/>
          <a:p>
            <a:pPr algn="l"/>
            <a:r>
              <a:rPr sz="2300" b="1">
                <a:solidFill>
                  <a:srgbClr val="093259"/>
                </a:solidFill>
                <a:latin typeface="Yu Gothic"/>
                <a:ea typeface="Yu Gothic"/>
                <a:cs typeface="Yu Gothic"/>
              </a:rPr>
              <a:t>警備業とは</a:t>
            </a:r>
          </a:p>
          <a:p>
            <a:pPr algn="l">
              <a:spcBef>
                <a:spcPts val="200"/>
              </a:spcBef>
            </a:pPr>
            <a:r>
              <a:rPr sz="1100" b="0">
                <a:solidFill>
                  <a:srgbClr val="12B198"/>
                </a:solidFill>
                <a:latin typeface="Calibri"/>
                <a:ea typeface="Calibri"/>
                <a:cs typeface="Calibri"/>
              </a:rPr>
              <a:t>What the Security Industry Is</a:t>
            </a:r>
          </a:p>
        </p:txBody>
      </p:sp>
      <p:sp>
        <p:nvSpPr>
          <p:cNvPr id="4" name="Rounded Rectangle 3"/>
          <p:cNvSpPr/>
          <p:nvPr/>
        </p:nvSpPr>
        <p:spPr>
          <a:xfrm>
            <a:off x="9683496" y="438912"/>
            <a:ext cx="932688" cy="310896"/>
          </a:xfrm>
          <a:prstGeom prst="roundRect">
            <a:avLst>
              <a:gd name="adj" fmla="val 14700"/>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83496" y="438912"/>
            <a:ext cx="932688" cy="310896"/>
          </a:xfrm>
          <a:prstGeom prst="rect">
            <a:avLst/>
          </a:prstGeom>
          <a:noFill/>
        </p:spPr>
        <p:txBody>
          <a:bodyPr wrap="square" lIns="0" rIns="0" tIns="0" bIns="0" anchor="ctr">
            <a:spAutoFit/>
          </a:bodyPr>
          <a:lstStyle/>
          <a:p>
            <a:pPr algn="ctr"/>
            <a:r>
              <a:rPr sz="1100" b="1">
                <a:solidFill>
                  <a:srgbClr val="FFFFFF"/>
                </a:solidFill>
                <a:latin typeface="Calibri"/>
                <a:ea typeface="Calibri"/>
                <a:cs typeface="Calibri"/>
              </a:rPr>
              <a:t>B1</a:t>
            </a:r>
          </a:p>
        </p:txBody>
      </p:sp>
      <p:sp>
        <p:nvSpPr>
          <p:cNvPr id="6" name="Rounded Rectangle 5"/>
          <p:cNvSpPr/>
          <p:nvPr/>
        </p:nvSpPr>
        <p:spPr>
          <a:xfrm>
            <a:off x="640080" y="1188720"/>
            <a:ext cx="10908792" cy="530352"/>
          </a:xfrm>
          <a:prstGeom prst="roundRect">
            <a:avLst>
              <a:gd name="adj" fmla="val 6900"/>
            </a:avLst>
          </a:prstGeom>
          <a:solidFill>
            <a:srgbClr val="E4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234440"/>
            <a:ext cx="10433304" cy="438912"/>
          </a:xfrm>
          <a:prstGeom prst="rect">
            <a:avLst/>
          </a:prstGeom>
          <a:noFill/>
        </p:spPr>
        <p:txBody>
          <a:bodyPr wrap="square" lIns="0" rIns="0" tIns="0" bIns="0" anchor="t">
            <a:spAutoFit/>
          </a:bodyPr>
          <a:lstStyle/>
          <a:p>
            <a:pPr algn="l"/>
            <a:r>
              <a:rPr sz="950" b="1">
                <a:solidFill>
                  <a:srgbClr val="0D8A76"/>
                </a:solidFill>
                <a:latin typeface="Yu Gothic"/>
                <a:ea typeface="Yu Gothic"/>
                <a:cs typeface="Yu Gothic"/>
              </a:rPr>
              <a:t>身につくこと　What You'll Learn　警備業が「他人の需要に応じて行う民間サービス業」であることを説明できる。</a:t>
            </a:r>
          </a:p>
          <a:p>
            <a:pPr algn="l"/>
            <a:r>
              <a:rPr sz="850" b="0">
                <a:solidFill>
                  <a:srgbClr val="5F7183"/>
                </a:solidFill>
                <a:latin typeface="Calibri"/>
                <a:ea typeface="Calibri"/>
                <a:cs typeface="Calibri"/>
              </a:rPr>
              <a:t>You can explain that security is a private service performed in response to the needs of others.</a:t>
            </a:r>
          </a:p>
        </p:txBody>
      </p:sp>
      <p:sp>
        <p:nvSpPr>
          <p:cNvPr id="8" name="Rounded Rectangle 7"/>
          <p:cNvSpPr/>
          <p:nvPr/>
        </p:nvSpPr>
        <p:spPr>
          <a:xfrm>
            <a:off x="640080" y="1810512"/>
            <a:ext cx="5330952" cy="1920240"/>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59" y="1975104"/>
            <a:ext cx="310896" cy="310896"/>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1</a:t>
            </a:r>
          </a:p>
        </p:txBody>
      </p:sp>
      <p:sp>
        <p:nvSpPr>
          <p:cNvPr id="10" name="TextBox 9"/>
          <p:cNvSpPr txBox="1"/>
          <p:nvPr/>
        </p:nvSpPr>
        <p:spPr>
          <a:xfrm>
            <a:off x="1207007" y="1938528"/>
            <a:ext cx="4562856" cy="512064"/>
          </a:xfrm>
          <a:prstGeom prst="rect">
            <a:avLst/>
          </a:prstGeom>
          <a:noFill/>
        </p:spPr>
        <p:txBody>
          <a:bodyPr wrap="square" lIns="0" rIns="0" tIns="0" bIns="0" anchor="t">
            <a:spAutoFit/>
          </a:bodyPr>
          <a:lstStyle/>
          <a:p>
            <a:pPr algn="l"/>
            <a:r>
              <a:rPr sz="1200" b="1">
                <a:solidFill>
                  <a:srgbClr val="093259"/>
                </a:solidFill>
                <a:latin typeface="Yu Gothic"/>
                <a:ea typeface="Yu Gothic"/>
                <a:cs typeface="Yu Gothic"/>
              </a:rPr>
              <a:t>警備業法 第2条の定義</a:t>
            </a:r>
          </a:p>
          <a:p>
            <a:pPr algn="l"/>
            <a:r>
              <a:rPr sz="800" b="0">
                <a:solidFill>
                  <a:srgbClr val="12B198"/>
                </a:solidFill>
                <a:latin typeface="Calibri"/>
                <a:ea typeface="Calibri"/>
                <a:cs typeface="Calibri"/>
              </a:rPr>
              <a:t>The Definition in Article 2</a:t>
            </a:r>
          </a:p>
        </p:txBody>
      </p:sp>
      <p:sp>
        <p:nvSpPr>
          <p:cNvPr id="11" name="TextBox 10"/>
          <p:cNvSpPr txBox="1"/>
          <p:nvPr/>
        </p:nvSpPr>
        <p:spPr>
          <a:xfrm>
            <a:off x="859536" y="2487168"/>
            <a:ext cx="4892040" cy="1097280"/>
          </a:xfrm>
          <a:prstGeom prst="rect">
            <a:avLst/>
          </a:prstGeom>
          <a:noFill/>
        </p:spPr>
        <p:txBody>
          <a:bodyPr wrap="square" lIns="0" rIns="0" tIns="0" bIns="0" anchor="t">
            <a:spAutoFit/>
          </a:bodyPr>
          <a:lstStyle/>
          <a:p>
            <a:pPr algn="l"/>
            <a:r>
              <a:rPr sz="950" b="0">
                <a:solidFill>
                  <a:srgbClr val="1B2733"/>
                </a:solidFill>
                <a:latin typeface="Yu Gothic"/>
                <a:ea typeface="Yu Gothic"/>
                <a:cs typeface="Yu Gothic"/>
              </a:rPr>
              <a:t>・警備業とは、警備業務を「他人の需要に応じて」行う営業をいう</a:t>
            </a:r>
          </a:p>
          <a:p>
            <a:pPr algn="l"/>
            <a:r>
              <a:rPr sz="750" b="0">
                <a:solidFill>
                  <a:srgbClr val="5F7183"/>
                </a:solidFill>
                <a:latin typeface="Calibri"/>
                <a:ea typeface="Calibri"/>
                <a:cs typeface="Calibri"/>
              </a:rPr>
              <a:t>  Security is the business of providing security services in response to the needs of others</a:t>
            </a:r>
          </a:p>
          <a:p>
            <a:pPr algn="l">
              <a:spcBef>
                <a:spcPts val="200"/>
              </a:spcBef>
            </a:pPr>
            <a:r>
              <a:rPr sz="950" b="0">
                <a:solidFill>
                  <a:srgbClr val="1B2733"/>
                </a:solidFill>
                <a:latin typeface="Yu Gothic"/>
                <a:ea typeface="Yu Gothic"/>
                <a:cs typeface="Yu Gothic"/>
              </a:rPr>
              <a:t>・自社の社員が自社を守るのは、警備業ではない</a:t>
            </a:r>
          </a:p>
          <a:p>
            <a:pPr algn="l"/>
            <a:r>
              <a:rPr sz="750" b="0">
                <a:solidFill>
                  <a:srgbClr val="5F7183"/>
                </a:solidFill>
                <a:latin typeface="Calibri"/>
                <a:ea typeface="Calibri"/>
                <a:cs typeface="Calibri"/>
              </a:rPr>
              <a:t>  A company's own staff guarding that same company is not the security industry</a:t>
            </a:r>
          </a:p>
          <a:p>
            <a:pPr algn="l">
              <a:spcBef>
                <a:spcPts val="200"/>
              </a:spcBef>
            </a:pPr>
            <a:r>
              <a:rPr sz="950" b="0">
                <a:solidFill>
                  <a:srgbClr val="1B2733"/>
                </a:solidFill>
                <a:latin typeface="Yu Gothic"/>
                <a:ea typeface="Yu Gothic"/>
                <a:cs typeface="Yu Gothic"/>
              </a:rPr>
              <a:t>・依頼主との契約に基づいて行う。契約の範囲が仕事の範囲になる</a:t>
            </a:r>
          </a:p>
          <a:p>
            <a:pPr algn="l"/>
            <a:r>
              <a:rPr sz="750" b="0">
                <a:solidFill>
                  <a:srgbClr val="5F7183"/>
                </a:solidFill>
                <a:latin typeface="Calibri"/>
                <a:ea typeface="Calibri"/>
                <a:cs typeface="Calibri"/>
              </a:rPr>
              <a:t>  It is done under contract. The contract sets the scope of the work</a:t>
            </a:r>
          </a:p>
          <a:p>
            <a:pPr algn="l">
              <a:spcBef>
                <a:spcPts val="200"/>
              </a:spcBef>
            </a:pPr>
            <a:r>
              <a:rPr sz="950" b="0">
                <a:solidFill>
                  <a:srgbClr val="1B2733"/>
                </a:solidFill>
                <a:latin typeface="Yu Gothic"/>
                <a:ea typeface="Yu Gothic"/>
                <a:cs typeface="Yu Gothic"/>
              </a:rPr>
              <a:t>・警備業を営むには、都道府県公安委員会の認定が必要</a:t>
            </a:r>
          </a:p>
          <a:p>
            <a:pPr algn="l"/>
            <a:r>
              <a:rPr sz="750" b="0">
                <a:solidFill>
                  <a:srgbClr val="5F7183"/>
                </a:solidFill>
                <a:latin typeface="Calibri"/>
                <a:ea typeface="Calibri"/>
                <a:cs typeface="Calibri"/>
              </a:rPr>
              <a:t>  Operating requires certification by the prefectural public safety commission</a:t>
            </a:r>
          </a:p>
        </p:txBody>
      </p:sp>
      <p:sp>
        <p:nvSpPr>
          <p:cNvPr id="12" name="Rounded Rectangle 11"/>
          <p:cNvSpPr/>
          <p:nvPr/>
        </p:nvSpPr>
        <p:spPr>
          <a:xfrm>
            <a:off x="6227064" y="1810512"/>
            <a:ext cx="5330952" cy="1920240"/>
          </a:xfrm>
          <a:prstGeom prst="roundRect">
            <a:avLst>
              <a:gd name="adj" fmla="val 1900"/>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09944" y="1975104"/>
            <a:ext cx="310896" cy="310896"/>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2</a:t>
            </a:r>
          </a:p>
        </p:txBody>
      </p:sp>
      <p:sp>
        <p:nvSpPr>
          <p:cNvPr id="14" name="TextBox 13"/>
          <p:cNvSpPr txBox="1"/>
          <p:nvPr/>
        </p:nvSpPr>
        <p:spPr>
          <a:xfrm>
            <a:off x="6793992" y="1938528"/>
            <a:ext cx="4562856" cy="512064"/>
          </a:xfrm>
          <a:prstGeom prst="rect">
            <a:avLst/>
          </a:prstGeom>
          <a:noFill/>
        </p:spPr>
        <p:txBody>
          <a:bodyPr wrap="square" lIns="0" rIns="0" tIns="0" bIns="0" anchor="t">
            <a:spAutoFit/>
          </a:bodyPr>
          <a:lstStyle/>
          <a:p>
            <a:pPr algn="l"/>
            <a:r>
              <a:rPr sz="1200" b="1">
                <a:solidFill>
                  <a:srgbClr val="093259"/>
                </a:solidFill>
                <a:latin typeface="Yu Gothic"/>
                <a:ea typeface="Yu Gothic"/>
                <a:cs typeface="Yu Gothic"/>
              </a:rPr>
              <a:t>警備業になるもの・ならないもの</a:t>
            </a:r>
          </a:p>
          <a:p>
            <a:pPr algn="l"/>
            <a:r>
              <a:rPr sz="800" b="0">
                <a:solidFill>
                  <a:srgbClr val="12B198"/>
                </a:solidFill>
                <a:latin typeface="Calibri"/>
                <a:ea typeface="Calibri"/>
                <a:cs typeface="Calibri"/>
              </a:rPr>
              <a:t>Where the Line Falls</a:t>
            </a:r>
          </a:p>
        </p:txBody>
      </p:sp>
      <p:sp>
        <p:nvSpPr>
          <p:cNvPr id="15" name="TextBox 14"/>
          <p:cNvSpPr txBox="1"/>
          <p:nvPr/>
        </p:nvSpPr>
        <p:spPr>
          <a:xfrm>
            <a:off x="6446520" y="2487168"/>
            <a:ext cx="4892040" cy="1097280"/>
          </a:xfrm>
          <a:prstGeom prst="rect">
            <a:avLst/>
          </a:prstGeom>
          <a:noFill/>
        </p:spPr>
        <p:txBody>
          <a:bodyPr wrap="square" lIns="0" rIns="0" tIns="0" bIns="0" anchor="t">
            <a:spAutoFit/>
          </a:bodyPr>
          <a:lstStyle/>
          <a:p>
            <a:pPr algn="l"/>
            <a:r>
              <a:rPr sz="950" b="0">
                <a:solidFill>
                  <a:srgbClr val="1B2733"/>
                </a:solidFill>
                <a:latin typeface="Yu Gothic"/>
                <a:ea typeface="Yu Gothic"/>
                <a:cs typeface="Yu Gothic"/>
              </a:rPr>
              <a:t>・A社がB警備会社に依頼し、B社の警備員が常駐する → 警備業</a:t>
            </a:r>
          </a:p>
          <a:p>
            <a:pPr algn="l"/>
            <a:r>
              <a:rPr sz="750" b="0">
                <a:solidFill>
                  <a:srgbClr val="5F7183"/>
                </a:solidFill>
                <a:latin typeface="Calibri"/>
                <a:ea typeface="Calibri"/>
                <a:cs typeface="Calibri"/>
              </a:rPr>
              <a:t>  Company A contracts Company B, whose officers are stationed there → security industry</a:t>
            </a:r>
          </a:p>
          <a:p>
            <a:pPr algn="l">
              <a:spcBef>
                <a:spcPts val="200"/>
              </a:spcBef>
            </a:pPr>
            <a:r>
              <a:rPr sz="950" b="0">
                <a:solidFill>
                  <a:srgbClr val="1B2733"/>
                </a:solidFill>
                <a:latin typeface="Yu Gothic"/>
                <a:ea typeface="Yu Gothic"/>
                <a:cs typeface="Yu Gothic"/>
              </a:rPr>
              <a:t>・C社の保安係が自社の店舗を見回る → 警備業ではない</a:t>
            </a:r>
          </a:p>
          <a:p>
            <a:pPr algn="l"/>
            <a:r>
              <a:rPr sz="750" b="0">
                <a:solidFill>
                  <a:srgbClr val="5F7183"/>
                </a:solidFill>
                <a:latin typeface="Calibri"/>
                <a:ea typeface="Calibri"/>
                <a:cs typeface="Calibri"/>
              </a:rPr>
              <a:t>  Company C's own loss-prevention staff patrol C's store → not the security industry</a:t>
            </a:r>
          </a:p>
          <a:p>
            <a:pPr algn="l">
              <a:spcBef>
                <a:spcPts val="200"/>
              </a:spcBef>
            </a:pPr>
            <a:r>
              <a:rPr sz="950" b="0">
                <a:solidFill>
                  <a:srgbClr val="1B2733"/>
                </a:solidFill>
                <a:latin typeface="Yu Gothic"/>
                <a:ea typeface="Yu Gothic"/>
                <a:cs typeface="Yu Gothic"/>
              </a:rPr>
              <a:t>・この区別は、適用される法令と教育義務の有無を分ける</a:t>
            </a:r>
          </a:p>
          <a:p>
            <a:pPr algn="l"/>
            <a:r>
              <a:rPr sz="750" b="0">
                <a:solidFill>
                  <a:srgbClr val="5F7183"/>
                </a:solidFill>
                <a:latin typeface="Calibri"/>
                <a:ea typeface="Calibri"/>
                <a:cs typeface="Calibri"/>
              </a:rPr>
              <a:t>  This distinction decides which laws and training duties apply</a:t>
            </a:r>
          </a:p>
          <a:p>
            <a:pPr algn="l">
              <a:spcBef>
                <a:spcPts val="200"/>
              </a:spcBef>
            </a:pPr>
            <a:r>
              <a:rPr sz="950" b="0">
                <a:solidFill>
                  <a:srgbClr val="1B2733"/>
                </a:solidFill>
                <a:latin typeface="Yu Gothic"/>
                <a:ea typeface="Yu Gothic"/>
                <a:cs typeface="Yu Gothic"/>
              </a:rPr>
              <a:t>・自分がどちらの立場で働いているかを、まず押さえる</a:t>
            </a:r>
          </a:p>
          <a:p>
            <a:pPr algn="l"/>
            <a:r>
              <a:rPr sz="750" b="0">
                <a:solidFill>
                  <a:srgbClr val="5F7183"/>
                </a:solidFill>
                <a:latin typeface="Calibri"/>
                <a:ea typeface="Calibri"/>
                <a:cs typeface="Calibri"/>
              </a:rPr>
              <a:t>  Start by knowing which of the two you are working under</a:t>
            </a:r>
          </a:p>
        </p:txBody>
      </p:sp>
      <p:sp>
        <p:nvSpPr>
          <p:cNvPr id="16" name="Rounded Rectangle 15"/>
          <p:cNvSpPr/>
          <p:nvPr/>
        </p:nvSpPr>
        <p:spPr>
          <a:xfrm>
            <a:off x="640080" y="3931920"/>
            <a:ext cx="5330952" cy="1920240"/>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59" y="4096511"/>
            <a:ext cx="310896" cy="310896"/>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3</a:t>
            </a:r>
          </a:p>
        </p:txBody>
      </p:sp>
      <p:sp>
        <p:nvSpPr>
          <p:cNvPr id="18" name="TextBox 17"/>
          <p:cNvSpPr txBox="1"/>
          <p:nvPr/>
        </p:nvSpPr>
        <p:spPr>
          <a:xfrm>
            <a:off x="1207007" y="4059935"/>
            <a:ext cx="4562856" cy="512064"/>
          </a:xfrm>
          <a:prstGeom prst="rect">
            <a:avLst/>
          </a:prstGeom>
          <a:noFill/>
        </p:spPr>
        <p:txBody>
          <a:bodyPr wrap="square" lIns="0" rIns="0" tIns="0" bIns="0" anchor="t">
            <a:spAutoFit/>
          </a:bodyPr>
          <a:lstStyle/>
          <a:p>
            <a:pPr algn="l"/>
            <a:r>
              <a:rPr sz="1200" b="1">
                <a:solidFill>
                  <a:srgbClr val="093259"/>
                </a:solidFill>
                <a:latin typeface="Yu Gothic"/>
                <a:ea typeface="Yu Gothic"/>
                <a:cs typeface="Yu Gothic"/>
              </a:rPr>
              <a:t>コーポレートセキュリティの位置づけ</a:t>
            </a:r>
          </a:p>
          <a:p>
            <a:pPr algn="l"/>
            <a:r>
              <a:rPr sz="800" b="0">
                <a:solidFill>
                  <a:srgbClr val="12B198"/>
                </a:solidFill>
                <a:latin typeface="Calibri"/>
                <a:ea typeface="Calibri"/>
                <a:cs typeface="Calibri"/>
              </a:rPr>
              <a:t>Where Corporate Security Sits</a:t>
            </a:r>
          </a:p>
        </p:txBody>
      </p:sp>
      <p:sp>
        <p:nvSpPr>
          <p:cNvPr id="19" name="TextBox 18"/>
          <p:cNvSpPr txBox="1"/>
          <p:nvPr/>
        </p:nvSpPr>
        <p:spPr>
          <a:xfrm>
            <a:off x="859536" y="4608576"/>
            <a:ext cx="4892040" cy="1097280"/>
          </a:xfrm>
          <a:prstGeom prst="rect">
            <a:avLst/>
          </a:prstGeom>
          <a:noFill/>
        </p:spPr>
        <p:txBody>
          <a:bodyPr wrap="square" lIns="0" rIns="0" tIns="0" bIns="0" anchor="t">
            <a:spAutoFit/>
          </a:bodyPr>
          <a:lstStyle/>
          <a:p>
            <a:pPr algn="l"/>
            <a:r>
              <a:rPr sz="950" b="0">
                <a:solidFill>
                  <a:srgbClr val="1B2733"/>
                </a:solidFill>
                <a:latin typeface="Yu Gothic"/>
                <a:ea typeface="Yu Gothic"/>
                <a:cs typeface="Yu Gothic"/>
              </a:rPr>
              <a:t>・1号警備（施設警備）のうち、企業オフィス常駐に特化した業務</a:t>
            </a:r>
          </a:p>
          <a:p>
            <a:pPr algn="l"/>
            <a:r>
              <a:rPr sz="750" b="0">
                <a:solidFill>
                  <a:srgbClr val="5F7183"/>
                </a:solidFill>
                <a:latin typeface="Calibri"/>
                <a:ea typeface="Calibri"/>
                <a:cs typeface="Calibri"/>
              </a:rPr>
              <a:t>  A form of Type-1 facility security, focused on stationed duty at corporate offices</a:t>
            </a:r>
          </a:p>
          <a:p>
            <a:pPr algn="l">
              <a:spcBef>
                <a:spcPts val="200"/>
              </a:spcBef>
            </a:pPr>
            <a:r>
              <a:rPr sz="950" b="0">
                <a:solidFill>
                  <a:srgbClr val="1B2733"/>
                </a:solidFill>
                <a:latin typeface="Yu Gothic"/>
                <a:ea typeface="Yu Gothic"/>
                <a:cs typeface="Yu Gothic"/>
              </a:rPr>
              <a:t>・商業施設・病院・ホテルとも違い、守る対象は企業活動そのもの</a:t>
            </a:r>
          </a:p>
          <a:p>
            <a:pPr algn="l"/>
            <a:r>
              <a:rPr sz="750" b="0">
                <a:solidFill>
                  <a:srgbClr val="5F7183"/>
                </a:solidFill>
                <a:latin typeface="Calibri"/>
                <a:ea typeface="Calibri"/>
                <a:cs typeface="Calibri"/>
              </a:rPr>
              <a:t>  Unlike retail, hospitals or hotels, what is protected is the client's business activity itself</a:t>
            </a:r>
          </a:p>
          <a:p>
            <a:pPr algn="l">
              <a:spcBef>
                <a:spcPts val="200"/>
              </a:spcBef>
            </a:pPr>
            <a:r>
              <a:rPr sz="950" b="0">
                <a:solidFill>
                  <a:srgbClr val="1B2733"/>
                </a:solidFill>
                <a:latin typeface="Yu Gothic"/>
                <a:ea typeface="Yu Gothic"/>
                <a:cs typeface="Yu Gothic"/>
              </a:rPr>
              <a:t>・接遇と情報秘匿が、警備の質そのものになる</a:t>
            </a:r>
          </a:p>
          <a:p>
            <a:pPr algn="l"/>
            <a:r>
              <a:rPr sz="750" b="0">
                <a:solidFill>
                  <a:srgbClr val="5F7183"/>
                </a:solidFill>
                <a:latin typeface="Calibri"/>
                <a:ea typeface="Calibri"/>
                <a:cs typeface="Calibri"/>
              </a:rPr>
              <a:t>  Conduct and confidentiality are themselves the quality of the service</a:t>
            </a:r>
          </a:p>
          <a:p>
            <a:pPr algn="l">
              <a:spcBef>
                <a:spcPts val="200"/>
              </a:spcBef>
            </a:pPr>
            <a:r>
              <a:rPr sz="950" b="0">
                <a:solidFill>
                  <a:srgbClr val="1B2733"/>
                </a:solidFill>
                <a:latin typeface="Yu Gothic"/>
                <a:ea typeface="Yu Gothic"/>
                <a:cs typeface="Yu Gothic"/>
              </a:rPr>
              <a:t>・詳細はDay 2で扱う。本日は全業務に共通する土台を固める</a:t>
            </a:r>
          </a:p>
          <a:p>
            <a:pPr algn="l"/>
            <a:r>
              <a:rPr sz="750" b="0">
                <a:solidFill>
                  <a:srgbClr val="5F7183"/>
                </a:solidFill>
                <a:latin typeface="Calibri"/>
                <a:ea typeface="Calibri"/>
                <a:cs typeface="Calibri"/>
              </a:rPr>
              <a:t>  Day 2 covers this in depth. Today we build the foundation common to all duties</a:t>
            </a:r>
          </a:p>
        </p:txBody>
      </p:sp>
      <p:sp>
        <p:nvSpPr>
          <p:cNvPr id="20" name="Rounded Rectangle 19"/>
          <p:cNvSpPr/>
          <p:nvPr/>
        </p:nvSpPr>
        <p:spPr>
          <a:xfrm>
            <a:off x="6227064" y="3931920"/>
            <a:ext cx="5330952" cy="1920240"/>
          </a:xfrm>
          <a:prstGeom prst="roundRect">
            <a:avLst>
              <a:gd name="adj" fmla="val 1900"/>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09944" y="4096511"/>
            <a:ext cx="310896" cy="310896"/>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4</a:t>
            </a:r>
          </a:p>
        </p:txBody>
      </p:sp>
      <p:sp>
        <p:nvSpPr>
          <p:cNvPr id="22" name="TextBox 21"/>
          <p:cNvSpPr txBox="1"/>
          <p:nvPr/>
        </p:nvSpPr>
        <p:spPr>
          <a:xfrm>
            <a:off x="6793992" y="4059935"/>
            <a:ext cx="4562856" cy="512064"/>
          </a:xfrm>
          <a:prstGeom prst="rect">
            <a:avLst/>
          </a:prstGeom>
          <a:noFill/>
        </p:spPr>
        <p:txBody>
          <a:bodyPr wrap="square" lIns="0" rIns="0" tIns="0" bIns="0" anchor="t">
            <a:spAutoFit/>
          </a:bodyPr>
          <a:lstStyle/>
          <a:p>
            <a:pPr algn="l"/>
            <a:r>
              <a:rPr sz="1200" b="1">
                <a:solidFill>
                  <a:srgbClr val="093259"/>
                </a:solidFill>
                <a:latin typeface="Yu Gothic"/>
                <a:ea typeface="Yu Gothic"/>
                <a:cs typeface="Yu Gothic"/>
              </a:rPr>
              <a:t>認定と教育の義務</a:t>
            </a:r>
          </a:p>
          <a:p>
            <a:pPr algn="l"/>
            <a:r>
              <a:rPr sz="800" b="0">
                <a:solidFill>
                  <a:srgbClr val="12B198"/>
                </a:solidFill>
                <a:latin typeface="Calibri"/>
                <a:ea typeface="Calibri"/>
                <a:cs typeface="Calibri"/>
              </a:rPr>
              <a:t>Certification and Training</a:t>
            </a:r>
          </a:p>
        </p:txBody>
      </p:sp>
      <p:sp>
        <p:nvSpPr>
          <p:cNvPr id="23" name="TextBox 22"/>
          <p:cNvSpPr txBox="1"/>
          <p:nvPr/>
        </p:nvSpPr>
        <p:spPr>
          <a:xfrm>
            <a:off x="6446520" y="4608576"/>
            <a:ext cx="4892040" cy="1097280"/>
          </a:xfrm>
          <a:prstGeom prst="rect">
            <a:avLst/>
          </a:prstGeom>
          <a:noFill/>
        </p:spPr>
        <p:txBody>
          <a:bodyPr wrap="square" lIns="0" rIns="0" tIns="0" bIns="0" anchor="t">
            <a:spAutoFit/>
          </a:bodyPr>
          <a:lstStyle/>
          <a:p>
            <a:pPr algn="l"/>
            <a:r>
              <a:rPr sz="950" b="0">
                <a:solidFill>
                  <a:srgbClr val="1B2733"/>
                </a:solidFill>
                <a:latin typeface="Yu Gothic"/>
                <a:ea typeface="Yu Gothic"/>
                <a:cs typeface="Yu Gothic"/>
              </a:rPr>
              <a:t>・警備会社には、警備員に教育を行う義務がある</a:t>
            </a:r>
          </a:p>
          <a:p>
            <a:pPr algn="l"/>
            <a:r>
              <a:rPr sz="750" b="0">
                <a:solidFill>
                  <a:srgbClr val="5F7183"/>
                </a:solidFill>
                <a:latin typeface="Calibri"/>
                <a:ea typeface="Calibri"/>
                <a:cs typeface="Calibri"/>
              </a:rPr>
              <a:t>  A security company has a legal duty to train its officers</a:t>
            </a:r>
          </a:p>
          <a:p>
            <a:pPr algn="l">
              <a:spcBef>
                <a:spcPts val="200"/>
              </a:spcBef>
            </a:pPr>
            <a:r>
              <a:rPr sz="950" b="0">
                <a:solidFill>
                  <a:srgbClr val="1B2733"/>
                </a:solidFill>
                <a:latin typeface="Yu Gothic"/>
                <a:ea typeface="Yu Gothic"/>
                <a:cs typeface="Yu Gothic"/>
              </a:rPr>
              <a:t>・本講習は、その法定教育として実施している</a:t>
            </a:r>
          </a:p>
          <a:p>
            <a:pPr algn="l"/>
            <a:r>
              <a:rPr sz="750" b="0">
                <a:solidFill>
                  <a:srgbClr val="5F7183"/>
                </a:solidFill>
                <a:latin typeface="Calibri"/>
                <a:ea typeface="Calibri"/>
                <a:cs typeface="Calibri"/>
              </a:rPr>
              <a:t>  This course is delivered as that statutory training</a:t>
            </a:r>
          </a:p>
          <a:p>
            <a:pPr algn="l">
              <a:spcBef>
                <a:spcPts val="200"/>
              </a:spcBef>
            </a:pPr>
            <a:r>
              <a:rPr sz="950" b="0">
                <a:solidFill>
                  <a:srgbClr val="1B2733"/>
                </a:solidFill>
                <a:latin typeface="Yu Gothic"/>
                <a:ea typeface="Yu Gothic"/>
                <a:cs typeface="Yu Gothic"/>
              </a:rPr>
              <a:t>・新任教育を修了しないと、警備業務に従事できない</a:t>
            </a:r>
          </a:p>
          <a:p>
            <a:pPr algn="l"/>
            <a:r>
              <a:rPr sz="750" b="0">
                <a:solidFill>
                  <a:srgbClr val="5F7183"/>
                </a:solidFill>
                <a:latin typeface="Calibri"/>
                <a:ea typeface="Calibri"/>
                <a:cs typeface="Calibri"/>
              </a:rPr>
              <a:t>  You cannot be assigned to duty until new-hire training is complete</a:t>
            </a:r>
          </a:p>
          <a:p>
            <a:pPr algn="l">
              <a:spcBef>
                <a:spcPts val="200"/>
              </a:spcBef>
            </a:pPr>
            <a:r>
              <a:rPr sz="950" b="0">
                <a:solidFill>
                  <a:srgbClr val="1B2733"/>
                </a:solidFill>
                <a:latin typeface="Yu Gothic"/>
                <a:ea typeface="Yu Gothic"/>
                <a:cs typeface="Yu Gothic"/>
              </a:rPr>
              <a:t>・受講記録は警備員指導教育責任者が作成し、所定の期間保存する</a:t>
            </a:r>
          </a:p>
          <a:p>
            <a:pPr algn="l"/>
            <a:r>
              <a:rPr sz="750" b="0">
                <a:solidFill>
                  <a:srgbClr val="5F7183"/>
                </a:solidFill>
                <a:latin typeface="Calibri"/>
                <a:ea typeface="Calibri"/>
                <a:cs typeface="Calibri"/>
              </a:rPr>
              <a:t>  The record is prepared by the instruction supervisor and retained for the prescribed period</a:t>
            </a:r>
          </a:p>
        </p:txBody>
      </p:sp>
      <p:sp>
        <p:nvSpPr>
          <p:cNvPr id="24" name="TextBox 23"/>
          <p:cNvSpPr txBox="1"/>
          <p:nvPr/>
        </p:nvSpPr>
        <p:spPr>
          <a:xfrm>
            <a:off x="640080" y="5907024"/>
            <a:ext cx="10908792" cy="310896"/>
          </a:xfrm>
          <a:prstGeom prst="rect">
            <a:avLst/>
          </a:prstGeom>
          <a:noFill/>
        </p:spPr>
        <p:txBody>
          <a:bodyPr wrap="square" lIns="0" rIns="0" tIns="0" bIns="0" anchor="t">
            <a:spAutoFit/>
          </a:bodyPr>
          <a:lstStyle/>
          <a:p>
            <a:pPr algn="l"/>
            <a:r>
              <a:rPr sz="900" b="1">
                <a:solidFill>
                  <a:srgbClr val="0D8A76"/>
                </a:solidFill>
                <a:latin typeface="Yu Gothic"/>
                <a:ea typeface="Yu Gothic"/>
                <a:cs typeface="Yu Gothic"/>
              </a:rPr>
              <a:t>Site SOP優先　配属先の契約範囲と業務内容はSite SOPと警備指令書に定められている。</a:t>
            </a:r>
          </a:p>
          <a:p>
            <a:pPr algn="l"/>
            <a:r>
              <a:rPr sz="750" b="0">
                <a:solidFill>
                  <a:srgbClr val="5F7183"/>
                </a:solidFill>
                <a:latin typeface="Calibri"/>
                <a:ea typeface="Calibri"/>
                <a:cs typeface="Calibri"/>
              </a:rPr>
              <a:t>The contracted scope and duties at your site are set out in the Site SOP and post orders.</a:t>
            </a:r>
          </a:p>
        </p:txBody>
      </p:sp>
      <p:sp>
        <p:nvSpPr>
          <p:cNvPr id="25" name="TextBox 24"/>
          <p:cNvSpPr txBox="1"/>
          <p:nvPr/>
        </p:nvSpPr>
        <p:spPr>
          <a:xfrm>
            <a:off x="640080" y="6199632"/>
            <a:ext cx="9902952" cy="237744"/>
          </a:xfrm>
          <a:prstGeom prst="rect">
            <a:avLst/>
          </a:prstGeom>
          <a:noFill/>
        </p:spPr>
        <p:txBody>
          <a:bodyPr wrap="square" lIns="0" rIns="0" tIns="0" bIns="0" anchor="t">
            <a:spAutoFit/>
          </a:bodyPr>
          <a:lstStyle/>
          <a:p>
            <a:pPr algn="l"/>
            <a:r>
              <a:rPr sz="750" b="1">
                <a:solidFill>
                  <a:srgbClr val="D6E0E9"/>
                </a:solidFill>
                <a:latin typeface="Yu Gothic"/>
                <a:ea typeface="Yu Gothic"/>
                <a:cs typeface="Yu Gothic"/>
              </a:rPr>
              <a:t>ソース　警備業法、警察庁「警備業法等の解釈運用基準」</a:t>
            </a:r>
          </a:p>
        </p:txBody>
      </p:sp>
      <p:sp>
        <p:nvSpPr>
          <p:cNvPr id="26" name="TextBox 25"/>
          <p:cNvSpPr txBox="1"/>
          <p:nvPr/>
        </p:nvSpPr>
        <p:spPr>
          <a:xfrm>
            <a:off x="640080" y="6382512"/>
            <a:ext cx="8778240" cy="292608"/>
          </a:xfrm>
          <a:prstGeom prst="rect">
            <a:avLst/>
          </a:prstGeom>
          <a:noFill/>
        </p:spPr>
        <p:txBody>
          <a:bodyPr wrap="square" lIns="0" rIns="0" tIns="0" bIns="0" anchor="t">
            <a:spAutoFit/>
          </a:bodyPr>
          <a:lstStyle/>
          <a:p>
            <a:pPr algn="l"/>
            <a:r>
              <a:rPr sz="900" b="0">
                <a:solidFill>
                  <a:srgbClr val="5F7183"/>
                </a:solidFill>
                <a:latin typeface="Yu Gothic"/>
                <a:ea typeface="Yu Gothic"/>
                <a:cs typeface="Yu Gothic"/>
              </a:rPr>
              <a:t>第1時限｜基本教育1 警備業務実施の基本原則  Period 1 | Basic Training 1 — Fundamental Principles</a:t>
            </a:r>
          </a:p>
        </p:txBody>
      </p:sp>
      <p:sp>
        <p:nvSpPr>
          <p:cNvPr id="27" name="TextBox 26"/>
          <p:cNvSpPr txBox="1"/>
          <p:nvPr/>
        </p:nvSpPr>
        <p:spPr>
          <a:xfrm>
            <a:off x="10634472" y="6382512"/>
            <a:ext cx="914400" cy="292608"/>
          </a:xfrm>
          <a:prstGeom prst="rect">
            <a:avLst/>
          </a:prstGeom>
          <a:noFill/>
        </p:spPr>
        <p:txBody>
          <a:bodyPr wrap="square" lIns="0" rIns="0" tIns="0" bIns="0" anchor="t">
            <a:spAutoFit/>
          </a:bodyPr>
          <a:lstStyle/>
          <a:p>
            <a:pPr algn="r"/>
            <a:r>
              <a:rPr sz="1000" b="0">
                <a:solidFill>
                  <a:srgbClr val="5F7183"/>
                </a:solidFill>
                <a:latin typeface="Calibri"/>
                <a:ea typeface="Calibri"/>
                <a:cs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762488" y="329184"/>
            <a:ext cx="786384" cy="740664"/>
          </a:xfrm>
          <a:prstGeom prst="rect">
            <a:avLst/>
          </a:prstGeom>
        </p:spPr>
      </p:pic>
      <p:sp>
        <p:nvSpPr>
          <p:cNvPr id="3" name="TextBox 2"/>
          <p:cNvSpPr txBox="1"/>
          <p:nvPr/>
        </p:nvSpPr>
        <p:spPr>
          <a:xfrm>
            <a:off x="640080" y="384048"/>
            <a:ext cx="8979408" cy="768096"/>
          </a:xfrm>
          <a:prstGeom prst="rect">
            <a:avLst/>
          </a:prstGeom>
          <a:noFill/>
        </p:spPr>
        <p:txBody>
          <a:bodyPr wrap="square" lIns="0" rIns="0" tIns="0" bIns="0" anchor="t">
            <a:spAutoFit/>
          </a:bodyPr>
          <a:lstStyle/>
          <a:p>
            <a:pPr algn="l"/>
            <a:r>
              <a:rPr sz="2300" b="1">
                <a:solidFill>
                  <a:srgbClr val="093259"/>
                </a:solidFill>
                <a:latin typeface="Yu Gothic"/>
                <a:ea typeface="Yu Gothic"/>
                <a:cs typeface="Yu Gothic"/>
              </a:rPr>
              <a:t>警備業務の4区分</a:t>
            </a:r>
          </a:p>
          <a:p>
            <a:pPr algn="l">
              <a:spcBef>
                <a:spcPts val="200"/>
              </a:spcBef>
            </a:pPr>
            <a:r>
              <a:rPr sz="1100" b="0">
                <a:solidFill>
                  <a:srgbClr val="12B198"/>
                </a:solidFill>
                <a:latin typeface="Calibri"/>
                <a:ea typeface="Calibri"/>
                <a:cs typeface="Calibri"/>
              </a:rPr>
              <a:t>The Four Categories of Security Services</a:t>
            </a:r>
          </a:p>
        </p:txBody>
      </p:sp>
      <p:sp>
        <p:nvSpPr>
          <p:cNvPr id="4" name="Rounded Rectangle 3"/>
          <p:cNvSpPr/>
          <p:nvPr/>
        </p:nvSpPr>
        <p:spPr>
          <a:xfrm>
            <a:off x="9683496" y="438912"/>
            <a:ext cx="932688" cy="310896"/>
          </a:xfrm>
          <a:prstGeom prst="roundRect">
            <a:avLst>
              <a:gd name="adj" fmla="val 14700"/>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83496" y="438912"/>
            <a:ext cx="932688" cy="310896"/>
          </a:xfrm>
          <a:prstGeom prst="rect">
            <a:avLst/>
          </a:prstGeom>
          <a:noFill/>
        </p:spPr>
        <p:txBody>
          <a:bodyPr wrap="square" lIns="0" rIns="0" tIns="0" bIns="0" anchor="ctr">
            <a:spAutoFit/>
          </a:bodyPr>
          <a:lstStyle/>
          <a:p>
            <a:pPr algn="ctr"/>
            <a:r>
              <a:rPr sz="1100" b="1">
                <a:solidFill>
                  <a:srgbClr val="FFFFFF"/>
                </a:solidFill>
                <a:latin typeface="Calibri"/>
                <a:ea typeface="Calibri"/>
                <a:cs typeface="Calibri"/>
              </a:rPr>
              <a:t>B1</a:t>
            </a:r>
          </a:p>
        </p:txBody>
      </p:sp>
      <p:sp>
        <p:nvSpPr>
          <p:cNvPr id="6" name="Rounded Rectangle 5"/>
          <p:cNvSpPr/>
          <p:nvPr/>
        </p:nvSpPr>
        <p:spPr>
          <a:xfrm>
            <a:off x="640080" y="1188720"/>
            <a:ext cx="10908792" cy="530352"/>
          </a:xfrm>
          <a:prstGeom prst="roundRect">
            <a:avLst>
              <a:gd name="adj" fmla="val 6900"/>
            </a:avLst>
          </a:prstGeom>
          <a:solidFill>
            <a:srgbClr val="E4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234440"/>
            <a:ext cx="10433304" cy="438912"/>
          </a:xfrm>
          <a:prstGeom prst="rect">
            <a:avLst/>
          </a:prstGeom>
          <a:noFill/>
        </p:spPr>
        <p:txBody>
          <a:bodyPr wrap="square" lIns="0" rIns="0" tIns="0" bIns="0" anchor="t">
            <a:spAutoFit/>
          </a:bodyPr>
          <a:lstStyle/>
          <a:p>
            <a:pPr algn="l"/>
            <a:r>
              <a:rPr sz="950" b="1">
                <a:solidFill>
                  <a:srgbClr val="0D8A76"/>
                </a:solidFill>
                <a:latin typeface="Yu Gothic"/>
                <a:ea typeface="Yu Gothic"/>
                <a:cs typeface="Yu Gothic"/>
              </a:rPr>
              <a:t>身につくこと　What You'll Learn　1号から4号までの区分を挙げ、自分がどれに従事するかを言える。</a:t>
            </a:r>
          </a:p>
          <a:p>
            <a:pPr algn="l"/>
            <a:r>
              <a:rPr sz="850" b="0">
                <a:solidFill>
                  <a:srgbClr val="5F7183"/>
                </a:solidFill>
                <a:latin typeface="Calibri"/>
                <a:ea typeface="Calibri"/>
                <a:cs typeface="Calibri"/>
              </a:rPr>
              <a:t>You can name the four categories and say which one you will be working in.</a:t>
            </a:r>
          </a:p>
        </p:txBody>
      </p:sp>
      <p:sp>
        <p:nvSpPr>
          <p:cNvPr id="8" name="Rounded Rectangle 7"/>
          <p:cNvSpPr/>
          <p:nvPr/>
        </p:nvSpPr>
        <p:spPr>
          <a:xfrm>
            <a:off x="640080" y="1810512"/>
            <a:ext cx="5330952" cy="1920240"/>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59" y="1975104"/>
            <a:ext cx="310896" cy="310896"/>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1</a:t>
            </a:r>
          </a:p>
        </p:txBody>
      </p:sp>
      <p:sp>
        <p:nvSpPr>
          <p:cNvPr id="10" name="TextBox 9"/>
          <p:cNvSpPr txBox="1"/>
          <p:nvPr/>
        </p:nvSpPr>
        <p:spPr>
          <a:xfrm>
            <a:off x="1207007" y="1938528"/>
            <a:ext cx="4562856" cy="512064"/>
          </a:xfrm>
          <a:prstGeom prst="rect">
            <a:avLst/>
          </a:prstGeom>
          <a:noFill/>
        </p:spPr>
        <p:txBody>
          <a:bodyPr wrap="square" lIns="0" rIns="0" tIns="0" bIns="0" anchor="t">
            <a:spAutoFit/>
          </a:bodyPr>
          <a:lstStyle/>
          <a:p>
            <a:pPr algn="l"/>
            <a:r>
              <a:rPr sz="1200" b="1">
                <a:solidFill>
                  <a:srgbClr val="093259"/>
                </a:solidFill>
                <a:latin typeface="Yu Gothic"/>
                <a:ea typeface="Yu Gothic"/>
                <a:cs typeface="Yu Gothic"/>
              </a:rPr>
              <a:t>1号　施設警備業務</a:t>
            </a:r>
          </a:p>
          <a:p>
            <a:pPr algn="l"/>
            <a:r>
              <a:rPr sz="800" b="0">
                <a:solidFill>
                  <a:srgbClr val="12B198"/>
                </a:solidFill>
                <a:latin typeface="Calibri"/>
                <a:ea typeface="Calibri"/>
                <a:cs typeface="Calibri"/>
              </a:rPr>
              <a:t>Type 1 — Facility Security</a:t>
            </a:r>
          </a:p>
        </p:txBody>
      </p:sp>
      <p:sp>
        <p:nvSpPr>
          <p:cNvPr id="11" name="TextBox 10"/>
          <p:cNvSpPr txBox="1"/>
          <p:nvPr/>
        </p:nvSpPr>
        <p:spPr>
          <a:xfrm>
            <a:off x="859536" y="2487168"/>
            <a:ext cx="4892040" cy="1097280"/>
          </a:xfrm>
          <a:prstGeom prst="rect">
            <a:avLst/>
          </a:prstGeom>
          <a:noFill/>
        </p:spPr>
        <p:txBody>
          <a:bodyPr wrap="square" lIns="0" rIns="0" tIns="0" bIns="0" anchor="t">
            <a:spAutoFit/>
          </a:bodyPr>
          <a:lstStyle/>
          <a:p>
            <a:pPr algn="l"/>
            <a:r>
              <a:rPr sz="950" b="0">
                <a:solidFill>
                  <a:srgbClr val="1B2733"/>
                </a:solidFill>
                <a:latin typeface="Yu Gothic"/>
                <a:ea typeface="Yu Gothic"/>
                <a:cs typeface="Yu Gothic"/>
              </a:rPr>
              <a:t>・事務所・住宅・興行場・駐車場・遊園地等における業務</a:t>
            </a:r>
          </a:p>
          <a:p>
            <a:pPr algn="l"/>
            <a:r>
              <a:rPr sz="750" b="0">
                <a:solidFill>
                  <a:srgbClr val="5F7183"/>
                </a:solidFill>
                <a:latin typeface="Calibri"/>
                <a:ea typeface="Calibri"/>
                <a:cs typeface="Calibri"/>
              </a:rPr>
              <a:t>  Offices, residences, venues, car parks, amusement facilities and the like</a:t>
            </a:r>
          </a:p>
          <a:p>
            <a:pPr algn="l">
              <a:spcBef>
                <a:spcPts val="200"/>
              </a:spcBef>
            </a:pPr>
            <a:r>
              <a:rPr sz="950" b="0">
                <a:solidFill>
                  <a:srgbClr val="1B2733"/>
                </a:solidFill>
                <a:latin typeface="Yu Gothic"/>
                <a:ea typeface="Yu Gothic"/>
                <a:cs typeface="Yu Gothic"/>
              </a:rPr>
              <a:t>・盗難等の事故の発生を警戒し、防止する</a:t>
            </a:r>
          </a:p>
          <a:p>
            <a:pPr algn="l"/>
            <a:r>
              <a:rPr sz="750" b="0">
                <a:solidFill>
                  <a:srgbClr val="5F7183"/>
                </a:solidFill>
                <a:latin typeface="Calibri"/>
                <a:ea typeface="Calibri"/>
                <a:cs typeface="Calibri"/>
              </a:rPr>
              <a:t>  Watching for and preventing theft and other incidents</a:t>
            </a:r>
          </a:p>
          <a:p>
            <a:pPr algn="l">
              <a:spcBef>
                <a:spcPts val="200"/>
              </a:spcBef>
            </a:pPr>
            <a:r>
              <a:rPr sz="950" b="0">
                <a:solidFill>
                  <a:srgbClr val="1B2733"/>
                </a:solidFill>
                <a:latin typeface="Yu Gothic"/>
                <a:ea typeface="Yu Gothic"/>
                <a:cs typeface="Yu Gothic"/>
              </a:rPr>
              <a:t>・常駐・巡回・出入管理・受付が中心</a:t>
            </a:r>
          </a:p>
          <a:p>
            <a:pPr algn="l"/>
            <a:r>
              <a:rPr sz="750" b="0">
                <a:solidFill>
                  <a:srgbClr val="5F7183"/>
                </a:solidFill>
                <a:latin typeface="Calibri"/>
                <a:ea typeface="Calibri"/>
                <a:cs typeface="Calibri"/>
              </a:rPr>
              <a:t>  Stationed duty, patrol, access control and reception</a:t>
            </a:r>
          </a:p>
          <a:p>
            <a:pPr algn="l">
              <a:spcBef>
                <a:spcPts val="200"/>
              </a:spcBef>
            </a:pPr>
            <a:r>
              <a:rPr sz="950" b="0">
                <a:solidFill>
                  <a:srgbClr val="1B2733"/>
                </a:solidFill>
                <a:latin typeface="Yu Gothic"/>
                <a:ea typeface="Yu Gothic"/>
                <a:cs typeface="Yu Gothic"/>
              </a:rPr>
              <a:t>・皆さんが従事するのは、この1号である</a:t>
            </a:r>
          </a:p>
          <a:p>
            <a:pPr algn="l"/>
            <a:r>
              <a:rPr sz="750" b="0">
                <a:solidFill>
                  <a:srgbClr val="5F7183"/>
                </a:solidFill>
                <a:latin typeface="Calibri"/>
                <a:ea typeface="Calibri"/>
                <a:cs typeface="Calibri"/>
              </a:rPr>
              <a:t>  This is the category you will be working in</a:t>
            </a:r>
          </a:p>
        </p:txBody>
      </p:sp>
      <p:sp>
        <p:nvSpPr>
          <p:cNvPr id="12" name="Rounded Rectangle 11"/>
          <p:cNvSpPr/>
          <p:nvPr/>
        </p:nvSpPr>
        <p:spPr>
          <a:xfrm>
            <a:off x="6227064" y="1810512"/>
            <a:ext cx="5330952" cy="1920240"/>
          </a:xfrm>
          <a:prstGeom prst="roundRect">
            <a:avLst>
              <a:gd name="adj" fmla="val 1900"/>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09944" y="1975104"/>
            <a:ext cx="310896" cy="310896"/>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2</a:t>
            </a:r>
          </a:p>
        </p:txBody>
      </p:sp>
      <p:sp>
        <p:nvSpPr>
          <p:cNvPr id="14" name="TextBox 13"/>
          <p:cNvSpPr txBox="1"/>
          <p:nvPr/>
        </p:nvSpPr>
        <p:spPr>
          <a:xfrm>
            <a:off x="6793992" y="1938528"/>
            <a:ext cx="4562856" cy="512064"/>
          </a:xfrm>
          <a:prstGeom prst="rect">
            <a:avLst/>
          </a:prstGeom>
          <a:noFill/>
        </p:spPr>
        <p:txBody>
          <a:bodyPr wrap="square" lIns="0" rIns="0" tIns="0" bIns="0" anchor="t">
            <a:spAutoFit/>
          </a:bodyPr>
          <a:lstStyle/>
          <a:p>
            <a:pPr algn="l"/>
            <a:r>
              <a:rPr sz="1200" b="1">
                <a:solidFill>
                  <a:srgbClr val="093259"/>
                </a:solidFill>
                <a:latin typeface="Yu Gothic"/>
                <a:ea typeface="Yu Gothic"/>
                <a:cs typeface="Yu Gothic"/>
              </a:rPr>
              <a:t>2号　交通誘導・雑踏警備業務</a:t>
            </a:r>
          </a:p>
          <a:p>
            <a:pPr algn="l"/>
            <a:r>
              <a:rPr sz="800" b="0">
                <a:solidFill>
                  <a:srgbClr val="12B198"/>
                </a:solidFill>
                <a:latin typeface="Calibri"/>
                <a:ea typeface="Calibri"/>
                <a:cs typeface="Calibri"/>
              </a:rPr>
              <a:t>Type 2 — Traffic and Crowd Control</a:t>
            </a:r>
          </a:p>
        </p:txBody>
      </p:sp>
      <p:sp>
        <p:nvSpPr>
          <p:cNvPr id="15" name="TextBox 14"/>
          <p:cNvSpPr txBox="1"/>
          <p:nvPr/>
        </p:nvSpPr>
        <p:spPr>
          <a:xfrm>
            <a:off x="6446520" y="2487168"/>
            <a:ext cx="4892040" cy="1097280"/>
          </a:xfrm>
          <a:prstGeom prst="rect">
            <a:avLst/>
          </a:prstGeom>
          <a:noFill/>
        </p:spPr>
        <p:txBody>
          <a:bodyPr wrap="square" lIns="0" rIns="0" tIns="0" bIns="0" anchor="t">
            <a:spAutoFit/>
          </a:bodyPr>
          <a:lstStyle/>
          <a:p>
            <a:pPr algn="l"/>
            <a:r>
              <a:rPr sz="950" b="0">
                <a:solidFill>
                  <a:srgbClr val="1B2733"/>
                </a:solidFill>
                <a:latin typeface="Yu Gothic"/>
                <a:ea typeface="Yu Gothic"/>
                <a:cs typeface="Yu Gothic"/>
              </a:rPr>
              <a:t>・人・車両の通行に係る場所、または人の雑踏する場所での業務</a:t>
            </a:r>
          </a:p>
          <a:p>
            <a:pPr algn="l"/>
            <a:r>
              <a:rPr sz="750" b="0">
                <a:solidFill>
                  <a:srgbClr val="5F7183"/>
                </a:solidFill>
                <a:latin typeface="Calibri"/>
                <a:ea typeface="Calibri"/>
                <a:cs typeface="Calibri"/>
              </a:rPr>
              <a:t>  Where people and vehicles pass, or where crowds gather</a:t>
            </a:r>
          </a:p>
          <a:p>
            <a:pPr algn="l">
              <a:spcBef>
                <a:spcPts val="200"/>
              </a:spcBef>
            </a:pPr>
            <a:r>
              <a:rPr sz="950" b="0">
                <a:solidFill>
                  <a:srgbClr val="1B2733"/>
                </a:solidFill>
                <a:latin typeface="Yu Gothic"/>
                <a:ea typeface="Yu Gothic"/>
                <a:cs typeface="Yu Gothic"/>
              </a:rPr>
              <a:t>・負傷等の事故の発生を警戒し、防止する</a:t>
            </a:r>
          </a:p>
          <a:p>
            <a:pPr algn="l"/>
            <a:r>
              <a:rPr sz="750" b="0">
                <a:solidFill>
                  <a:srgbClr val="5F7183"/>
                </a:solidFill>
                <a:latin typeface="Calibri"/>
                <a:ea typeface="Calibri"/>
                <a:cs typeface="Calibri"/>
              </a:rPr>
              <a:t>  Watching for and preventing injury and other incidents</a:t>
            </a:r>
          </a:p>
          <a:p>
            <a:pPr algn="l">
              <a:spcBef>
                <a:spcPts val="200"/>
              </a:spcBef>
            </a:pPr>
            <a:r>
              <a:rPr sz="950" b="0">
                <a:solidFill>
                  <a:srgbClr val="1B2733"/>
                </a:solidFill>
                <a:latin typeface="Yu Gothic"/>
                <a:ea typeface="Yu Gothic"/>
                <a:cs typeface="Yu Gothic"/>
              </a:rPr>
              <a:t>・工事現場、イベント会場、駐車場出入口など</a:t>
            </a:r>
          </a:p>
          <a:p>
            <a:pPr algn="l"/>
            <a:r>
              <a:rPr sz="750" b="0">
                <a:solidFill>
                  <a:srgbClr val="5F7183"/>
                </a:solidFill>
                <a:latin typeface="Calibri"/>
                <a:ea typeface="Calibri"/>
                <a:cs typeface="Calibri"/>
              </a:rPr>
              <a:t>  Construction sites, event venues, car park entrances</a:t>
            </a:r>
          </a:p>
          <a:p>
            <a:pPr algn="l">
              <a:spcBef>
                <a:spcPts val="200"/>
              </a:spcBef>
            </a:pPr>
            <a:r>
              <a:rPr sz="950" b="0">
                <a:solidFill>
                  <a:srgbClr val="1B2733"/>
                </a:solidFill>
                <a:latin typeface="Yu Gothic"/>
                <a:ea typeface="Yu Gothic"/>
                <a:cs typeface="Yu Gothic"/>
              </a:rPr>
              <a:t>・交通整理の権限はない。あくまで誘導である</a:t>
            </a:r>
          </a:p>
          <a:p>
            <a:pPr algn="l"/>
            <a:r>
              <a:rPr sz="750" b="0">
                <a:solidFill>
                  <a:srgbClr val="5F7183"/>
                </a:solidFill>
                <a:latin typeface="Calibri"/>
                <a:ea typeface="Calibri"/>
                <a:cs typeface="Calibri"/>
              </a:rPr>
              <a:t>  There is no power to direct traffic. It is guidance, not enforcement</a:t>
            </a:r>
          </a:p>
        </p:txBody>
      </p:sp>
      <p:sp>
        <p:nvSpPr>
          <p:cNvPr id="16" name="Rounded Rectangle 15"/>
          <p:cNvSpPr/>
          <p:nvPr/>
        </p:nvSpPr>
        <p:spPr>
          <a:xfrm>
            <a:off x="640080" y="3931920"/>
            <a:ext cx="5330952" cy="1920240"/>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59" y="4096511"/>
            <a:ext cx="310896" cy="310896"/>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3</a:t>
            </a:r>
          </a:p>
        </p:txBody>
      </p:sp>
      <p:sp>
        <p:nvSpPr>
          <p:cNvPr id="18" name="TextBox 17"/>
          <p:cNvSpPr txBox="1"/>
          <p:nvPr/>
        </p:nvSpPr>
        <p:spPr>
          <a:xfrm>
            <a:off x="1207007" y="4059935"/>
            <a:ext cx="4562856" cy="512064"/>
          </a:xfrm>
          <a:prstGeom prst="rect">
            <a:avLst/>
          </a:prstGeom>
          <a:noFill/>
        </p:spPr>
        <p:txBody>
          <a:bodyPr wrap="square" lIns="0" rIns="0" tIns="0" bIns="0" anchor="t">
            <a:spAutoFit/>
          </a:bodyPr>
          <a:lstStyle/>
          <a:p>
            <a:pPr algn="l"/>
            <a:r>
              <a:rPr sz="1200" b="1">
                <a:solidFill>
                  <a:srgbClr val="093259"/>
                </a:solidFill>
                <a:latin typeface="Yu Gothic"/>
                <a:ea typeface="Yu Gothic"/>
                <a:cs typeface="Yu Gothic"/>
              </a:rPr>
              <a:t>3号　運搬警備業務</a:t>
            </a:r>
          </a:p>
          <a:p>
            <a:pPr algn="l"/>
            <a:r>
              <a:rPr sz="800" b="0">
                <a:solidFill>
                  <a:srgbClr val="12B198"/>
                </a:solidFill>
                <a:latin typeface="Calibri"/>
                <a:ea typeface="Calibri"/>
                <a:cs typeface="Calibri"/>
              </a:rPr>
              <a:t>Type 3 — Valuables in Transit</a:t>
            </a:r>
          </a:p>
        </p:txBody>
      </p:sp>
      <p:sp>
        <p:nvSpPr>
          <p:cNvPr id="19" name="TextBox 18"/>
          <p:cNvSpPr txBox="1"/>
          <p:nvPr/>
        </p:nvSpPr>
        <p:spPr>
          <a:xfrm>
            <a:off x="859536" y="4608576"/>
            <a:ext cx="4892040" cy="1097280"/>
          </a:xfrm>
          <a:prstGeom prst="rect">
            <a:avLst/>
          </a:prstGeom>
          <a:noFill/>
        </p:spPr>
        <p:txBody>
          <a:bodyPr wrap="square" lIns="0" rIns="0" tIns="0" bIns="0" anchor="t">
            <a:spAutoFit/>
          </a:bodyPr>
          <a:lstStyle/>
          <a:p>
            <a:pPr algn="l"/>
            <a:r>
              <a:rPr sz="950" b="0">
                <a:solidFill>
                  <a:srgbClr val="1B2733"/>
                </a:solidFill>
                <a:latin typeface="Yu Gothic"/>
                <a:ea typeface="Yu Gothic"/>
                <a:cs typeface="Yu Gothic"/>
              </a:rPr>
              <a:t>・運搬中の現金・貴金属・美術品・核燃料物質等に係る業務</a:t>
            </a:r>
          </a:p>
          <a:p>
            <a:pPr algn="l"/>
            <a:r>
              <a:rPr sz="750" b="0">
                <a:solidFill>
                  <a:srgbClr val="5F7183"/>
                </a:solidFill>
                <a:latin typeface="Calibri"/>
                <a:ea typeface="Calibri"/>
                <a:cs typeface="Calibri"/>
              </a:rPr>
              <a:t>  Cash, precious metals, artworks and nuclear materials in transit</a:t>
            </a:r>
          </a:p>
          <a:p>
            <a:pPr algn="l">
              <a:spcBef>
                <a:spcPts val="200"/>
              </a:spcBef>
            </a:pPr>
            <a:r>
              <a:rPr sz="950" b="0">
                <a:solidFill>
                  <a:srgbClr val="1B2733"/>
                </a:solidFill>
                <a:latin typeface="Yu Gothic"/>
                <a:ea typeface="Yu Gothic"/>
                <a:cs typeface="Yu Gothic"/>
              </a:rPr>
              <a:t>・盗難等の事故の発生を警戒し、防止する</a:t>
            </a:r>
          </a:p>
          <a:p>
            <a:pPr algn="l"/>
            <a:r>
              <a:rPr sz="750" b="0">
                <a:solidFill>
                  <a:srgbClr val="5F7183"/>
                </a:solidFill>
                <a:latin typeface="Calibri"/>
                <a:ea typeface="Calibri"/>
                <a:cs typeface="Calibri"/>
              </a:rPr>
              <a:t>  Watching for and preventing theft and other incidents</a:t>
            </a:r>
          </a:p>
          <a:p>
            <a:pPr algn="l">
              <a:spcBef>
                <a:spcPts val="200"/>
              </a:spcBef>
            </a:pPr>
            <a:r>
              <a:rPr sz="950" b="0">
                <a:solidFill>
                  <a:srgbClr val="1B2733"/>
                </a:solidFill>
                <a:latin typeface="Yu Gothic"/>
                <a:ea typeface="Yu Gothic"/>
                <a:cs typeface="Yu Gothic"/>
              </a:rPr>
              <a:t>・現金輸送車の警乗が代表例</a:t>
            </a:r>
          </a:p>
          <a:p>
            <a:pPr algn="l"/>
            <a:r>
              <a:rPr sz="750" b="0">
                <a:solidFill>
                  <a:srgbClr val="5F7183"/>
                </a:solidFill>
                <a:latin typeface="Calibri"/>
                <a:ea typeface="Calibri"/>
                <a:cs typeface="Calibri"/>
              </a:rPr>
              <a:t>  Riding with an armoured cash-transport vehicle is the typical case</a:t>
            </a:r>
          </a:p>
          <a:p>
            <a:pPr algn="l">
              <a:spcBef>
                <a:spcPts val="200"/>
              </a:spcBef>
            </a:pPr>
            <a:r>
              <a:rPr sz="950" b="0">
                <a:solidFill>
                  <a:srgbClr val="1B2733"/>
                </a:solidFill>
                <a:latin typeface="Yu Gothic"/>
                <a:ea typeface="Yu Gothic"/>
                <a:cs typeface="Yu Gothic"/>
              </a:rPr>
              <a:t>・運搬物と経路の秘匿が重要になる</a:t>
            </a:r>
          </a:p>
          <a:p>
            <a:pPr algn="l"/>
            <a:r>
              <a:rPr sz="750" b="0">
                <a:solidFill>
                  <a:srgbClr val="5F7183"/>
                </a:solidFill>
                <a:latin typeface="Calibri"/>
                <a:ea typeface="Calibri"/>
                <a:cs typeface="Calibri"/>
              </a:rPr>
              <a:t>  Keeping the load and the route confidential is critical</a:t>
            </a:r>
          </a:p>
        </p:txBody>
      </p:sp>
      <p:sp>
        <p:nvSpPr>
          <p:cNvPr id="20" name="Rounded Rectangle 19"/>
          <p:cNvSpPr/>
          <p:nvPr/>
        </p:nvSpPr>
        <p:spPr>
          <a:xfrm>
            <a:off x="6227064" y="3931920"/>
            <a:ext cx="5330952" cy="1920240"/>
          </a:xfrm>
          <a:prstGeom prst="roundRect">
            <a:avLst>
              <a:gd name="adj" fmla="val 1900"/>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09944" y="4096511"/>
            <a:ext cx="310896" cy="310896"/>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4</a:t>
            </a:r>
          </a:p>
        </p:txBody>
      </p:sp>
      <p:sp>
        <p:nvSpPr>
          <p:cNvPr id="22" name="TextBox 21"/>
          <p:cNvSpPr txBox="1"/>
          <p:nvPr/>
        </p:nvSpPr>
        <p:spPr>
          <a:xfrm>
            <a:off x="6793992" y="4059935"/>
            <a:ext cx="4562856" cy="512064"/>
          </a:xfrm>
          <a:prstGeom prst="rect">
            <a:avLst/>
          </a:prstGeom>
          <a:noFill/>
        </p:spPr>
        <p:txBody>
          <a:bodyPr wrap="square" lIns="0" rIns="0" tIns="0" bIns="0" anchor="t">
            <a:spAutoFit/>
          </a:bodyPr>
          <a:lstStyle/>
          <a:p>
            <a:pPr algn="l"/>
            <a:r>
              <a:rPr sz="1200" b="1">
                <a:solidFill>
                  <a:srgbClr val="093259"/>
                </a:solidFill>
                <a:latin typeface="Yu Gothic"/>
                <a:ea typeface="Yu Gothic"/>
                <a:cs typeface="Yu Gothic"/>
              </a:rPr>
              <a:t>4号　身辺警備業務</a:t>
            </a:r>
          </a:p>
          <a:p>
            <a:pPr algn="l"/>
            <a:r>
              <a:rPr sz="800" b="0">
                <a:solidFill>
                  <a:srgbClr val="12B198"/>
                </a:solidFill>
                <a:latin typeface="Calibri"/>
                <a:ea typeface="Calibri"/>
                <a:cs typeface="Calibri"/>
              </a:rPr>
              <a:t>Type 4 — Personal Protection</a:t>
            </a:r>
          </a:p>
        </p:txBody>
      </p:sp>
      <p:sp>
        <p:nvSpPr>
          <p:cNvPr id="23" name="TextBox 22"/>
          <p:cNvSpPr txBox="1"/>
          <p:nvPr/>
        </p:nvSpPr>
        <p:spPr>
          <a:xfrm>
            <a:off x="6446520" y="4608576"/>
            <a:ext cx="4892040" cy="1097280"/>
          </a:xfrm>
          <a:prstGeom prst="rect">
            <a:avLst/>
          </a:prstGeom>
          <a:noFill/>
        </p:spPr>
        <p:txBody>
          <a:bodyPr wrap="square" lIns="0" rIns="0" tIns="0" bIns="0" anchor="t">
            <a:spAutoFit/>
          </a:bodyPr>
          <a:lstStyle/>
          <a:p>
            <a:pPr algn="l"/>
            <a:r>
              <a:rPr sz="950" b="0">
                <a:solidFill>
                  <a:srgbClr val="1B2733"/>
                </a:solidFill>
                <a:latin typeface="Yu Gothic"/>
                <a:ea typeface="Yu Gothic"/>
                <a:cs typeface="Yu Gothic"/>
              </a:rPr>
              <a:t>・人の身体に対する危害の発生を警戒し、防止する業務</a:t>
            </a:r>
          </a:p>
          <a:p>
            <a:pPr algn="l"/>
            <a:r>
              <a:rPr sz="750" b="0">
                <a:solidFill>
                  <a:srgbClr val="5F7183"/>
                </a:solidFill>
                <a:latin typeface="Calibri"/>
                <a:ea typeface="Calibri"/>
                <a:cs typeface="Calibri"/>
              </a:rPr>
              <a:t>  Watching for and preventing harm to a person's body</a:t>
            </a:r>
          </a:p>
          <a:p>
            <a:pPr algn="l">
              <a:spcBef>
                <a:spcPts val="200"/>
              </a:spcBef>
            </a:pPr>
            <a:r>
              <a:rPr sz="950" b="0">
                <a:solidFill>
                  <a:srgbClr val="1B2733"/>
                </a:solidFill>
                <a:latin typeface="Yu Gothic"/>
                <a:ea typeface="Yu Gothic"/>
                <a:cs typeface="Yu Gothic"/>
              </a:rPr>
              <a:t>・いわゆる要人警護・ボディガード</a:t>
            </a:r>
          </a:p>
          <a:p>
            <a:pPr algn="l"/>
            <a:r>
              <a:rPr sz="750" b="0">
                <a:solidFill>
                  <a:srgbClr val="5F7183"/>
                </a:solidFill>
                <a:latin typeface="Calibri"/>
                <a:ea typeface="Calibri"/>
                <a:cs typeface="Calibri"/>
              </a:rPr>
              <a:t>  Close protection, commonly called bodyguarding</a:t>
            </a:r>
          </a:p>
          <a:p>
            <a:pPr algn="l">
              <a:spcBef>
                <a:spcPts val="200"/>
              </a:spcBef>
            </a:pPr>
            <a:r>
              <a:rPr sz="950" b="0">
                <a:solidFill>
                  <a:srgbClr val="1B2733"/>
                </a:solidFill>
                <a:latin typeface="Yu Gothic"/>
                <a:ea typeface="Yu Gothic"/>
                <a:cs typeface="Yu Gothic"/>
              </a:rPr>
              <a:t>・警察の警護とは根拠法も権限も異なる</a:t>
            </a:r>
          </a:p>
          <a:p>
            <a:pPr algn="l"/>
            <a:r>
              <a:rPr sz="750" b="0">
                <a:solidFill>
                  <a:srgbClr val="5F7183"/>
                </a:solidFill>
                <a:latin typeface="Calibri"/>
                <a:ea typeface="Calibri"/>
                <a:cs typeface="Calibri"/>
              </a:rPr>
              <a:t>  The legal basis and the powers differ from police protection</a:t>
            </a:r>
          </a:p>
          <a:p>
            <a:pPr algn="l">
              <a:spcBef>
                <a:spcPts val="200"/>
              </a:spcBef>
            </a:pPr>
            <a:r>
              <a:rPr sz="950" b="0">
                <a:solidFill>
                  <a:srgbClr val="1B2733"/>
                </a:solidFill>
                <a:latin typeface="Yu Gothic"/>
                <a:ea typeface="Yu Gothic"/>
                <a:cs typeface="Yu Gothic"/>
              </a:rPr>
              <a:t>・私人としてできる範囲を超えられない点は、他の号と同じ</a:t>
            </a:r>
          </a:p>
          <a:p>
            <a:pPr algn="l"/>
            <a:r>
              <a:rPr sz="750" b="0">
                <a:solidFill>
                  <a:srgbClr val="5F7183"/>
                </a:solidFill>
                <a:latin typeface="Calibri"/>
                <a:ea typeface="Calibri"/>
                <a:cs typeface="Calibri"/>
              </a:rPr>
              <a:t>  Like the others, it cannot exceed what a private citizen may do</a:t>
            </a:r>
          </a:p>
        </p:txBody>
      </p:sp>
      <p:sp>
        <p:nvSpPr>
          <p:cNvPr id="24" name="TextBox 23"/>
          <p:cNvSpPr txBox="1"/>
          <p:nvPr/>
        </p:nvSpPr>
        <p:spPr>
          <a:xfrm>
            <a:off x="640080" y="5907024"/>
            <a:ext cx="10908792" cy="310896"/>
          </a:xfrm>
          <a:prstGeom prst="rect">
            <a:avLst/>
          </a:prstGeom>
          <a:noFill/>
        </p:spPr>
        <p:txBody>
          <a:bodyPr wrap="square" lIns="0" rIns="0" tIns="0" bIns="0" anchor="t">
            <a:spAutoFit/>
          </a:bodyPr>
          <a:lstStyle/>
          <a:p>
            <a:pPr algn="l"/>
            <a:r>
              <a:rPr sz="900" b="1">
                <a:solidFill>
                  <a:srgbClr val="0D8A76"/>
                </a:solidFill>
                <a:latin typeface="Yu Gothic"/>
                <a:ea typeface="Yu Gothic"/>
                <a:cs typeface="Yu Gothic"/>
              </a:rPr>
              <a:t>Site SOP優先　同じ1号でも、業務内容は現場ごとに大きく異なる。配属時にSite SOPを確認する。</a:t>
            </a:r>
          </a:p>
          <a:p>
            <a:pPr algn="l"/>
            <a:r>
              <a:rPr sz="750" b="0">
                <a:solidFill>
                  <a:srgbClr val="5F7183"/>
                </a:solidFill>
                <a:latin typeface="Calibri"/>
                <a:ea typeface="Calibri"/>
                <a:cs typeface="Calibri"/>
              </a:rPr>
              <a:t>Even within Type 1, duties differ greatly by site. Check the Site SOP on assignment.</a:t>
            </a:r>
          </a:p>
        </p:txBody>
      </p:sp>
      <p:sp>
        <p:nvSpPr>
          <p:cNvPr id="25" name="TextBox 24"/>
          <p:cNvSpPr txBox="1"/>
          <p:nvPr/>
        </p:nvSpPr>
        <p:spPr>
          <a:xfrm>
            <a:off x="640080" y="6199632"/>
            <a:ext cx="9902952" cy="237744"/>
          </a:xfrm>
          <a:prstGeom prst="rect">
            <a:avLst/>
          </a:prstGeom>
          <a:noFill/>
        </p:spPr>
        <p:txBody>
          <a:bodyPr wrap="square" lIns="0" rIns="0" tIns="0" bIns="0" anchor="t">
            <a:spAutoFit/>
          </a:bodyPr>
          <a:lstStyle/>
          <a:p>
            <a:pPr algn="l"/>
            <a:r>
              <a:rPr sz="750" b="1">
                <a:solidFill>
                  <a:srgbClr val="D6E0E9"/>
                </a:solidFill>
                <a:latin typeface="Yu Gothic"/>
                <a:ea typeface="Yu Gothic"/>
                <a:cs typeface="Yu Gothic"/>
              </a:rPr>
              <a:t>ソース　警備業法第2条第1項、警備業法施行規則</a:t>
            </a:r>
          </a:p>
        </p:txBody>
      </p:sp>
      <p:sp>
        <p:nvSpPr>
          <p:cNvPr id="26" name="TextBox 25"/>
          <p:cNvSpPr txBox="1"/>
          <p:nvPr/>
        </p:nvSpPr>
        <p:spPr>
          <a:xfrm>
            <a:off x="640080" y="6382512"/>
            <a:ext cx="8778240" cy="292608"/>
          </a:xfrm>
          <a:prstGeom prst="rect">
            <a:avLst/>
          </a:prstGeom>
          <a:noFill/>
        </p:spPr>
        <p:txBody>
          <a:bodyPr wrap="square" lIns="0" rIns="0" tIns="0" bIns="0" anchor="t">
            <a:spAutoFit/>
          </a:bodyPr>
          <a:lstStyle/>
          <a:p>
            <a:pPr algn="l"/>
            <a:r>
              <a:rPr sz="900" b="0">
                <a:solidFill>
                  <a:srgbClr val="5F7183"/>
                </a:solidFill>
                <a:latin typeface="Yu Gothic"/>
                <a:ea typeface="Yu Gothic"/>
                <a:cs typeface="Yu Gothic"/>
              </a:rPr>
              <a:t>第1時限｜基本教育1 警備業務実施の基本原則  Period 1 | Basic Training 1 — Fundamental Principles</a:t>
            </a:r>
          </a:p>
        </p:txBody>
      </p:sp>
      <p:sp>
        <p:nvSpPr>
          <p:cNvPr id="27" name="TextBox 26"/>
          <p:cNvSpPr txBox="1"/>
          <p:nvPr/>
        </p:nvSpPr>
        <p:spPr>
          <a:xfrm>
            <a:off x="10634472" y="6382512"/>
            <a:ext cx="914400" cy="292608"/>
          </a:xfrm>
          <a:prstGeom prst="rect">
            <a:avLst/>
          </a:prstGeom>
          <a:noFill/>
        </p:spPr>
        <p:txBody>
          <a:bodyPr wrap="square" lIns="0" rIns="0" tIns="0" bIns="0" anchor="t">
            <a:spAutoFit/>
          </a:bodyPr>
          <a:lstStyle/>
          <a:p>
            <a:pPr algn="r"/>
            <a:r>
              <a:rPr sz="1000" b="0">
                <a:solidFill>
                  <a:srgbClr val="5F7183"/>
                </a:solidFill>
                <a:latin typeface="Calibri"/>
                <a:ea typeface="Calibri"/>
                <a:cs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762488" y="329184"/>
            <a:ext cx="786384" cy="740664"/>
          </a:xfrm>
          <a:prstGeom prst="rect">
            <a:avLst/>
          </a:prstGeom>
        </p:spPr>
      </p:pic>
      <p:sp>
        <p:nvSpPr>
          <p:cNvPr id="3" name="TextBox 2"/>
          <p:cNvSpPr txBox="1"/>
          <p:nvPr/>
        </p:nvSpPr>
        <p:spPr>
          <a:xfrm>
            <a:off x="640080" y="384048"/>
            <a:ext cx="8979408" cy="768096"/>
          </a:xfrm>
          <a:prstGeom prst="rect">
            <a:avLst/>
          </a:prstGeom>
          <a:noFill/>
        </p:spPr>
        <p:txBody>
          <a:bodyPr wrap="square" lIns="0" rIns="0" tIns="0" bIns="0" anchor="t">
            <a:spAutoFit/>
          </a:bodyPr>
          <a:lstStyle/>
          <a:p>
            <a:pPr algn="l"/>
            <a:r>
              <a:rPr sz="2300" b="1">
                <a:solidFill>
                  <a:srgbClr val="093259"/>
                </a:solidFill>
                <a:latin typeface="Yu Gothic"/>
                <a:ea typeface="Yu Gothic"/>
                <a:cs typeface="Yu Gothic"/>
              </a:rPr>
              <a:t>警備業の沿革</a:t>
            </a:r>
          </a:p>
          <a:p>
            <a:pPr algn="l">
              <a:spcBef>
                <a:spcPts val="200"/>
              </a:spcBef>
            </a:pPr>
            <a:r>
              <a:rPr sz="1100" b="0">
                <a:solidFill>
                  <a:srgbClr val="12B198"/>
                </a:solidFill>
                <a:latin typeface="Calibri"/>
                <a:ea typeface="Calibri"/>
                <a:cs typeface="Calibri"/>
              </a:rPr>
              <a:t>How the Industry Developed</a:t>
            </a:r>
          </a:p>
        </p:txBody>
      </p:sp>
      <p:sp>
        <p:nvSpPr>
          <p:cNvPr id="4" name="Rounded Rectangle 3"/>
          <p:cNvSpPr/>
          <p:nvPr/>
        </p:nvSpPr>
        <p:spPr>
          <a:xfrm>
            <a:off x="9683496" y="438912"/>
            <a:ext cx="932688" cy="310896"/>
          </a:xfrm>
          <a:prstGeom prst="roundRect">
            <a:avLst>
              <a:gd name="adj" fmla="val 14700"/>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83496" y="438912"/>
            <a:ext cx="932688" cy="310896"/>
          </a:xfrm>
          <a:prstGeom prst="rect">
            <a:avLst/>
          </a:prstGeom>
          <a:noFill/>
        </p:spPr>
        <p:txBody>
          <a:bodyPr wrap="square" lIns="0" rIns="0" tIns="0" bIns="0" anchor="ctr">
            <a:spAutoFit/>
          </a:bodyPr>
          <a:lstStyle/>
          <a:p>
            <a:pPr algn="ctr"/>
            <a:r>
              <a:rPr sz="1100" b="1">
                <a:solidFill>
                  <a:srgbClr val="FFFFFF"/>
                </a:solidFill>
                <a:latin typeface="Calibri"/>
                <a:ea typeface="Calibri"/>
                <a:cs typeface="Calibri"/>
              </a:rPr>
              <a:t>B1</a:t>
            </a:r>
          </a:p>
        </p:txBody>
      </p:sp>
      <p:sp>
        <p:nvSpPr>
          <p:cNvPr id="6" name="Rounded Rectangle 5"/>
          <p:cNvSpPr/>
          <p:nvPr/>
        </p:nvSpPr>
        <p:spPr>
          <a:xfrm>
            <a:off x="640080" y="1188720"/>
            <a:ext cx="10908792" cy="530352"/>
          </a:xfrm>
          <a:prstGeom prst="roundRect">
            <a:avLst>
              <a:gd name="adj" fmla="val 6900"/>
            </a:avLst>
          </a:prstGeom>
          <a:solidFill>
            <a:srgbClr val="E4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234440"/>
            <a:ext cx="10433304" cy="438912"/>
          </a:xfrm>
          <a:prstGeom prst="rect">
            <a:avLst/>
          </a:prstGeom>
          <a:noFill/>
        </p:spPr>
        <p:txBody>
          <a:bodyPr wrap="square" lIns="0" rIns="0" tIns="0" bIns="0" anchor="t">
            <a:spAutoFit/>
          </a:bodyPr>
          <a:lstStyle/>
          <a:p>
            <a:pPr algn="l"/>
            <a:r>
              <a:rPr sz="950" b="1">
                <a:solidFill>
                  <a:srgbClr val="0D8A76"/>
                </a:solidFill>
                <a:latin typeface="Yu Gothic"/>
                <a:ea typeface="Yu Gothic"/>
                <a:cs typeface="Yu Gothic"/>
              </a:rPr>
              <a:t>身につくこと　What You'll Learn　警備業法がなぜ生まれたかを述べ、業務が法令で規律される理由を理解する。</a:t>
            </a:r>
          </a:p>
          <a:p>
            <a:pPr algn="l"/>
            <a:r>
              <a:rPr sz="850" b="0">
                <a:solidFill>
                  <a:srgbClr val="5F7183"/>
                </a:solidFill>
                <a:latin typeface="Calibri"/>
                <a:ea typeface="Calibri"/>
                <a:cs typeface="Calibri"/>
              </a:rPr>
              <a:t>You can say why the Act came about, and why the work is regulated by law.</a:t>
            </a:r>
          </a:p>
        </p:txBody>
      </p:sp>
      <p:sp>
        <p:nvSpPr>
          <p:cNvPr id="8" name="Rounded Rectangle 7"/>
          <p:cNvSpPr/>
          <p:nvPr/>
        </p:nvSpPr>
        <p:spPr>
          <a:xfrm>
            <a:off x="640080" y="1810512"/>
            <a:ext cx="5330952" cy="1920240"/>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59" y="1975104"/>
            <a:ext cx="310896" cy="310896"/>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1</a:t>
            </a:r>
          </a:p>
        </p:txBody>
      </p:sp>
      <p:sp>
        <p:nvSpPr>
          <p:cNvPr id="10" name="TextBox 9"/>
          <p:cNvSpPr txBox="1"/>
          <p:nvPr/>
        </p:nvSpPr>
        <p:spPr>
          <a:xfrm>
            <a:off x="1207007" y="1938528"/>
            <a:ext cx="4562856" cy="512064"/>
          </a:xfrm>
          <a:prstGeom prst="rect">
            <a:avLst/>
          </a:prstGeom>
          <a:noFill/>
        </p:spPr>
        <p:txBody>
          <a:bodyPr wrap="square" lIns="0" rIns="0" tIns="0" bIns="0" anchor="t">
            <a:spAutoFit/>
          </a:bodyPr>
          <a:lstStyle/>
          <a:p>
            <a:pPr algn="l"/>
            <a:r>
              <a:rPr sz="1200" b="1">
                <a:solidFill>
                  <a:srgbClr val="093259"/>
                </a:solidFill>
                <a:latin typeface="Yu Gothic"/>
                <a:ea typeface="Yu Gothic"/>
                <a:cs typeface="Yu Gothic"/>
              </a:rPr>
              <a:t>1962年　民間警備の登場</a:t>
            </a:r>
          </a:p>
          <a:p>
            <a:pPr algn="l"/>
            <a:r>
              <a:rPr sz="800" b="0">
                <a:solidFill>
                  <a:srgbClr val="12B198"/>
                </a:solidFill>
                <a:latin typeface="Calibri"/>
                <a:ea typeface="Calibri"/>
                <a:cs typeface="Calibri"/>
              </a:rPr>
              <a:t>1962 — Private Security Appears</a:t>
            </a:r>
          </a:p>
        </p:txBody>
      </p:sp>
      <p:sp>
        <p:nvSpPr>
          <p:cNvPr id="11" name="TextBox 10"/>
          <p:cNvSpPr txBox="1"/>
          <p:nvPr/>
        </p:nvSpPr>
        <p:spPr>
          <a:xfrm>
            <a:off x="859536" y="2487168"/>
            <a:ext cx="4892040" cy="1097280"/>
          </a:xfrm>
          <a:prstGeom prst="rect">
            <a:avLst/>
          </a:prstGeom>
          <a:noFill/>
        </p:spPr>
        <p:txBody>
          <a:bodyPr wrap="square" lIns="0" rIns="0" tIns="0" bIns="0" anchor="t">
            <a:spAutoFit/>
          </a:bodyPr>
          <a:lstStyle/>
          <a:p>
            <a:pPr algn="l"/>
            <a:r>
              <a:rPr sz="950" b="0">
                <a:solidFill>
                  <a:srgbClr val="1B2733"/>
                </a:solidFill>
                <a:latin typeface="Yu Gothic"/>
                <a:ea typeface="Yu Gothic"/>
                <a:cs typeface="Yu Gothic"/>
              </a:rPr>
              <a:t>・日本で最初の警備保障会社が設立される</a:t>
            </a:r>
          </a:p>
          <a:p>
            <a:pPr algn="l"/>
            <a:r>
              <a:rPr sz="750" b="0">
                <a:solidFill>
                  <a:srgbClr val="5F7183"/>
                </a:solidFill>
                <a:latin typeface="Calibri"/>
                <a:ea typeface="Calibri"/>
                <a:cs typeface="Calibri"/>
              </a:rPr>
              <a:t>  Japan's first security company is founded</a:t>
            </a:r>
          </a:p>
          <a:p>
            <a:pPr algn="l">
              <a:spcBef>
                <a:spcPts val="200"/>
              </a:spcBef>
            </a:pPr>
            <a:r>
              <a:rPr sz="950" b="0">
                <a:solidFill>
                  <a:srgbClr val="1B2733"/>
                </a:solidFill>
                <a:latin typeface="Yu Gothic"/>
                <a:ea typeface="Yu Gothic"/>
                <a:cs typeface="Yu Gothic"/>
              </a:rPr>
              <a:t>・戦後の経済成長にともない、警備需要が生まれた</a:t>
            </a:r>
          </a:p>
          <a:p>
            <a:pPr algn="l"/>
            <a:r>
              <a:rPr sz="750" b="0">
                <a:solidFill>
                  <a:srgbClr val="5F7183"/>
                </a:solidFill>
                <a:latin typeface="Calibri"/>
                <a:ea typeface="Calibri"/>
                <a:cs typeface="Calibri"/>
              </a:rPr>
              <a:t>  Postwar economic growth created the demand</a:t>
            </a:r>
          </a:p>
          <a:p>
            <a:pPr algn="l">
              <a:spcBef>
                <a:spcPts val="200"/>
              </a:spcBef>
            </a:pPr>
            <a:r>
              <a:rPr sz="950" b="0">
                <a:solidFill>
                  <a:srgbClr val="1B2733"/>
                </a:solidFill>
                <a:latin typeface="Yu Gothic"/>
                <a:ea typeface="Yu Gothic"/>
                <a:cs typeface="Yu Gothic"/>
              </a:rPr>
              <a:t>・当時は業務を規律する法律がなかった</a:t>
            </a:r>
          </a:p>
          <a:p>
            <a:pPr algn="l"/>
            <a:r>
              <a:rPr sz="750" b="0">
                <a:solidFill>
                  <a:srgbClr val="5F7183"/>
                </a:solidFill>
                <a:latin typeface="Calibri"/>
                <a:ea typeface="Calibri"/>
                <a:cs typeface="Calibri"/>
              </a:rPr>
              <a:t>  At the time there was no law regulating the work</a:t>
            </a:r>
          </a:p>
          <a:p>
            <a:pPr algn="l">
              <a:spcBef>
                <a:spcPts val="200"/>
              </a:spcBef>
            </a:pPr>
            <a:r>
              <a:rPr sz="950" b="0">
                <a:solidFill>
                  <a:srgbClr val="1B2733"/>
                </a:solidFill>
                <a:latin typeface="Yu Gothic"/>
                <a:ea typeface="Yu Gothic"/>
                <a:cs typeface="Yu Gothic"/>
              </a:rPr>
              <a:t>・業者ごとに教育も装備もばらばらであった</a:t>
            </a:r>
          </a:p>
          <a:p>
            <a:pPr algn="l"/>
            <a:r>
              <a:rPr sz="750" b="0">
                <a:solidFill>
                  <a:srgbClr val="5F7183"/>
                </a:solidFill>
                <a:latin typeface="Calibri"/>
                <a:ea typeface="Calibri"/>
                <a:cs typeface="Calibri"/>
              </a:rPr>
              <a:t>  Training and equipment varied from firm to firm</a:t>
            </a:r>
          </a:p>
        </p:txBody>
      </p:sp>
      <p:sp>
        <p:nvSpPr>
          <p:cNvPr id="12" name="Rounded Rectangle 11"/>
          <p:cNvSpPr/>
          <p:nvPr/>
        </p:nvSpPr>
        <p:spPr>
          <a:xfrm>
            <a:off x="6227064" y="1810512"/>
            <a:ext cx="5330952" cy="1920240"/>
          </a:xfrm>
          <a:prstGeom prst="roundRect">
            <a:avLst>
              <a:gd name="adj" fmla="val 1900"/>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09944" y="1975104"/>
            <a:ext cx="310896" cy="310896"/>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2</a:t>
            </a:r>
          </a:p>
        </p:txBody>
      </p:sp>
      <p:sp>
        <p:nvSpPr>
          <p:cNvPr id="14" name="TextBox 13"/>
          <p:cNvSpPr txBox="1"/>
          <p:nvPr/>
        </p:nvSpPr>
        <p:spPr>
          <a:xfrm>
            <a:off x="6793992" y="1938528"/>
            <a:ext cx="4562856" cy="512064"/>
          </a:xfrm>
          <a:prstGeom prst="rect">
            <a:avLst/>
          </a:prstGeom>
          <a:noFill/>
        </p:spPr>
        <p:txBody>
          <a:bodyPr wrap="square" lIns="0" rIns="0" tIns="0" bIns="0" anchor="t">
            <a:spAutoFit/>
          </a:bodyPr>
          <a:lstStyle/>
          <a:p>
            <a:pPr algn="l"/>
            <a:r>
              <a:rPr sz="1200" b="1">
                <a:solidFill>
                  <a:srgbClr val="093259"/>
                </a:solidFill>
                <a:latin typeface="Yu Gothic"/>
                <a:ea typeface="Yu Gothic"/>
                <a:cs typeface="Yu Gothic"/>
              </a:rPr>
              <a:t>1964年　東京オリンピック</a:t>
            </a:r>
          </a:p>
          <a:p>
            <a:pPr algn="l"/>
            <a:r>
              <a:rPr sz="800" b="0">
                <a:solidFill>
                  <a:srgbClr val="12B198"/>
                </a:solidFill>
                <a:latin typeface="Calibri"/>
                <a:ea typeface="Calibri"/>
                <a:cs typeface="Calibri"/>
              </a:rPr>
              <a:t>1964 — The Tokyo Olympics</a:t>
            </a:r>
          </a:p>
        </p:txBody>
      </p:sp>
      <p:sp>
        <p:nvSpPr>
          <p:cNvPr id="15" name="TextBox 14"/>
          <p:cNvSpPr txBox="1"/>
          <p:nvPr/>
        </p:nvSpPr>
        <p:spPr>
          <a:xfrm>
            <a:off x="6446520" y="2487168"/>
            <a:ext cx="4892040" cy="1097280"/>
          </a:xfrm>
          <a:prstGeom prst="rect">
            <a:avLst/>
          </a:prstGeom>
          <a:noFill/>
        </p:spPr>
        <p:txBody>
          <a:bodyPr wrap="square" lIns="0" rIns="0" tIns="0" bIns="0" anchor="t">
            <a:spAutoFit/>
          </a:bodyPr>
          <a:lstStyle/>
          <a:p>
            <a:pPr algn="l"/>
            <a:r>
              <a:rPr sz="950" b="0">
                <a:solidFill>
                  <a:srgbClr val="1B2733"/>
                </a:solidFill>
                <a:latin typeface="Yu Gothic"/>
                <a:ea typeface="Yu Gothic"/>
                <a:cs typeface="Yu Gothic"/>
              </a:rPr>
              <a:t>・大規模イベントの警備を民間が担った</a:t>
            </a:r>
          </a:p>
          <a:p>
            <a:pPr algn="l"/>
            <a:r>
              <a:rPr sz="750" b="0">
                <a:solidFill>
                  <a:srgbClr val="5F7183"/>
                </a:solidFill>
                <a:latin typeface="Calibri"/>
                <a:ea typeface="Calibri"/>
                <a:cs typeface="Calibri"/>
              </a:rPr>
              <a:t>  Private security handled a large-scale event</a:t>
            </a:r>
          </a:p>
          <a:p>
            <a:pPr algn="l">
              <a:spcBef>
                <a:spcPts val="200"/>
              </a:spcBef>
            </a:pPr>
            <a:r>
              <a:rPr sz="950" b="0">
                <a:solidFill>
                  <a:srgbClr val="1B2733"/>
                </a:solidFill>
                <a:latin typeface="Yu Gothic"/>
                <a:ea typeface="Yu Gothic"/>
                <a:cs typeface="Yu Gothic"/>
              </a:rPr>
              <a:t>・民間警備の存在が広く知られるきっかけとなった</a:t>
            </a:r>
          </a:p>
          <a:p>
            <a:pPr algn="l"/>
            <a:r>
              <a:rPr sz="750" b="0">
                <a:solidFill>
                  <a:srgbClr val="5F7183"/>
                </a:solidFill>
                <a:latin typeface="Calibri"/>
                <a:ea typeface="Calibri"/>
                <a:cs typeface="Calibri"/>
              </a:rPr>
              <a:t>  It brought private security to public attention</a:t>
            </a:r>
          </a:p>
          <a:p>
            <a:pPr algn="l">
              <a:spcBef>
                <a:spcPts val="200"/>
              </a:spcBef>
            </a:pPr>
            <a:r>
              <a:rPr sz="950" b="0">
                <a:solidFill>
                  <a:srgbClr val="1B2733"/>
                </a:solidFill>
                <a:latin typeface="Yu Gothic"/>
                <a:ea typeface="Yu Gothic"/>
                <a:cs typeface="Yu Gothic"/>
              </a:rPr>
              <a:t>・同時に、業務の質のばらつきも表面化した</a:t>
            </a:r>
          </a:p>
          <a:p>
            <a:pPr algn="l"/>
            <a:r>
              <a:rPr sz="750" b="0">
                <a:solidFill>
                  <a:srgbClr val="5F7183"/>
                </a:solidFill>
                <a:latin typeface="Calibri"/>
                <a:ea typeface="Calibri"/>
                <a:cs typeface="Calibri"/>
              </a:rPr>
              <a:t>  It also exposed how uneven the quality of the work was</a:t>
            </a:r>
          </a:p>
          <a:p>
            <a:pPr algn="l">
              <a:spcBef>
                <a:spcPts val="200"/>
              </a:spcBef>
            </a:pPr>
            <a:r>
              <a:rPr sz="950" b="0">
                <a:solidFill>
                  <a:srgbClr val="1B2733"/>
                </a:solidFill>
                <a:latin typeface="Yu Gothic"/>
                <a:ea typeface="Yu Gothic"/>
                <a:cs typeface="Yu Gothic"/>
              </a:rPr>
              <a:t>・社会の期待と実態の差が課題になった</a:t>
            </a:r>
          </a:p>
          <a:p>
            <a:pPr algn="l"/>
            <a:r>
              <a:rPr sz="750" b="0">
                <a:solidFill>
                  <a:srgbClr val="5F7183"/>
                </a:solidFill>
                <a:latin typeface="Calibri"/>
                <a:ea typeface="Calibri"/>
                <a:cs typeface="Calibri"/>
              </a:rPr>
              <a:t>  The gap between public expectation and reality became the issue</a:t>
            </a:r>
          </a:p>
        </p:txBody>
      </p:sp>
      <p:sp>
        <p:nvSpPr>
          <p:cNvPr id="16" name="Rounded Rectangle 15"/>
          <p:cNvSpPr/>
          <p:nvPr/>
        </p:nvSpPr>
        <p:spPr>
          <a:xfrm>
            <a:off x="640080" y="3931920"/>
            <a:ext cx="5330952" cy="1920240"/>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59" y="4096511"/>
            <a:ext cx="310896" cy="310896"/>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3</a:t>
            </a:r>
          </a:p>
        </p:txBody>
      </p:sp>
      <p:sp>
        <p:nvSpPr>
          <p:cNvPr id="18" name="TextBox 17"/>
          <p:cNvSpPr txBox="1"/>
          <p:nvPr/>
        </p:nvSpPr>
        <p:spPr>
          <a:xfrm>
            <a:off x="1207007" y="4059935"/>
            <a:ext cx="4562856" cy="512064"/>
          </a:xfrm>
          <a:prstGeom prst="rect">
            <a:avLst/>
          </a:prstGeom>
          <a:noFill/>
        </p:spPr>
        <p:txBody>
          <a:bodyPr wrap="square" lIns="0" rIns="0" tIns="0" bIns="0" anchor="t">
            <a:spAutoFit/>
          </a:bodyPr>
          <a:lstStyle/>
          <a:p>
            <a:pPr algn="l"/>
            <a:r>
              <a:rPr sz="1200" b="1">
                <a:solidFill>
                  <a:srgbClr val="093259"/>
                </a:solidFill>
                <a:latin typeface="Yu Gothic"/>
                <a:ea typeface="Yu Gothic"/>
                <a:cs typeface="Yu Gothic"/>
              </a:rPr>
              <a:t>1972年　警備業法の制定</a:t>
            </a:r>
          </a:p>
          <a:p>
            <a:pPr algn="l"/>
            <a:r>
              <a:rPr sz="800" b="0">
                <a:solidFill>
                  <a:srgbClr val="12B198"/>
                </a:solidFill>
                <a:latin typeface="Calibri"/>
                <a:ea typeface="Calibri"/>
                <a:cs typeface="Calibri"/>
              </a:rPr>
              <a:t>1972 — The Security Services Act</a:t>
            </a:r>
          </a:p>
        </p:txBody>
      </p:sp>
      <p:sp>
        <p:nvSpPr>
          <p:cNvPr id="19" name="TextBox 18"/>
          <p:cNvSpPr txBox="1"/>
          <p:nvPr/>
        </p:nvSpPr>
        <p:spPr>
          <a:xfrm>
            <a:off x="859536" y="4608576"/>
            <a:ext cx="4892040" cy="1097280"/>
          </a:xfrm>
          <a:prstGeom prst="rect">
            <a:avLst/>
          </a:prstGeom>
          <a:noFill/>
        </p:spPr>
        <p:txBody>
          <a:bodyPr wrap="square" lIns="0" rIns="0" tIns="0" bIns="0" anchor="t">
            <a:spAutoFit/>
          </a:bodyPr>
          <a:lstStyle/>
          <a:p>
            <a:pPr algn="l"/>
            <a:r>
              <a:rPr sz="950" b="0">
                <a:solidFill>
                  <a:srgbClr val="1B2733"/>
                </a:solidFill>
                <a:latin typeface="Yu Gothic"/>
                <a:ea typeface="Yu Gothic"/>
                <a:cs typeface="Yu Gothic"/>
              </a:rPr>
              <a:t>・昭和47年法律第117号として制定された</a:t>
            </a:r>
          </a:p>
          <a:p>
            <a:pPr algn="l"/>
            <a:r>
              <a:rPr sz="750" b="0">
                <a:solidFill>
                  <a:srgbClr val="5F7183"/>
                </a:solidFill>
                <a:latin typeface="Calibri"/>
                <a:ea typeface="Calibri"/>
                <a:cs typeface="Calibri"/>
              </a:rPr>
              <a:t>  Enacted as Act No. 117 of 1972</a:t>
            </a:r>
          </a:p>
          <a:p>
            <a:pPr algn="l">
              <a:spcBef>
                <a:spcPts val="200"/>
              </a:spcBef>
            </a:pPr>
            <a:r>
              <a:rPr sz="950" b="0">
                <a:solidFill>
                  <a:srgbClr val="1B2733"/>
                </a:solidFill>
                <a:latin typeface="Yu Gothic"/>
                <a:ea typeface="Yu Gothic"/>
                <a:cs typeface="Yu Gothic"/>
              </a:rPr>
              <a:t>・認定制度、警備員の制限、教育義務などを定めた</a:t>
            </a:r>
          </a:p>
          <a:p>
            <a:pPr algn="l"/>
            <a:r>
              <a:rPr sz="750" b="0">
                <a:solidFill>
                  <a:srgbClr val="5F7183"/>
                </a:solidFill>
                <a:latin typeface="Calibri"/>
                <a:ea typeface="Calibri"/>
                <a:cs typeface="Calibri"/>
              </a:rPr>
              <a:t>  It set certification, restrictions on officers, and training duties</a:t>
            </a:r>
          </a:p>
          <a:p>
            <a:pPr algn="l">
              <a:spcBef>
                <a:spcPts val="200"/>
              </a:spcBef>
            </a:pPr>
            <a:r>
              <a:rPr sz="950" b="0">
                <a:solidFill>
                  <a:srgbClr val="1B2733"/>
                </a:solidFill>
                <a:latin typeface="Yu Gothic"/>
                <a:ea typeface="Yu Gothic"/>
                <a:cs typeface="Yu Gothic"/>
              </a:rPr>
              <a:t>・第15条で「特別な権限はない」ことを明記した</a:t>
            </a:r>
          </a:p>
          <a:p>
            <a:pPr algn="l"/>
            <a:r>
              <a:rPr sz="750" b="0">
                <a:solidFill>
                  <a:srgbClr val="5F7183"/>
                </a:solidFill>
                <a:latin typeface="Calibri"/>
                <a:ea typeface="Calibri"/>
                <a:cs typeface="Calibri"/>
              </a:rPr>
              <a:t>  Article 15 states plainly that the Act grants no special authority</a:t>
            </a:r>
          </a:p>
          <a:p>
            <a:pPr algn="l">
              <a:spcBef>
                <a:spcPts val="200"/>
              </a:spcBef>
            </a:pPr>
            <a:r>
              <a:rPr sz="950" b="0">
                <a:solidFill>
                  <a:srgbClr val="1B2733"/>
                </a:solidFill>
                <a:latin typeface="Yu Gothic"/>
                <a:ea typeface="Yu Gothic"/>
                <a:cs typeface="Yu Gothic"/>
              </a:rPr>
              <a:t>・以後、改正を重ねて現在に至る</a:t>
            </a:r>
          </a:p>
          <a:p>
            <a:pPr algn="l"/>
            <a:r>
              <a:rPr sz="750" b="0">
                <a:solidFill>
                  <a:srgbClr val="5F7183"/>
                </a:solidFill>
                <a:latin typeface="Calibri"/>
                <a:ea typeface="Calibri"/>
                <a:cs typeface="Calibri"/>
              </a:rPr>
              <a:t>  It has been amended repeatedly since</a:t>
            </a:r>
          </a:p>
        </p:txBody>
      </p:sp>
      <p:sp>
        <p:nvSpPr>
          <p:cNvPr id="20" name="Rounded Rectangle 19"/>
          <p:cNvSpPr/>
          <p:nvPr/>
        </p:nvSpPr>
        <p:spPr>
          <a:xfrm>
            <a:off x="6227064" y="3931920"/>
            <a:ext cx="5330952" cy="1920240"/>
          </a:xfrm>
          <a:prstGeom prst="roundRect">
            <a:avLst>
              <a:gd name="adj" fmla="val 1900"/>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09944" y="4096511"/>
            <a:ext cx="310896" cy="310896"/>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4</a:t>
            </a:r>
          </a:p>
        </p:txBody>
      </p:sp>
      <p:sp>
        <p:nvSpPr>
          <p:cNvPr id="22" name="TextBox 21"/>
          <p:cNvSpPr txBox="1"/>
          <p:nvPr/>
        </p:nvSpPr>
        <p:spPr>
          <a:xfrm>
            <a:off x="6793992" y="4059935"/>
            <a:ext cx="4562856" cy="512064"/>
          </a:xfrm>
          <a:prstGeom prst="rect">
            <a:avLst/>
          </a:prstGeom>
          <a:noFill/>
        </p:spPr>
        <p:txBody>
          <a:bodyPr wrap="square" lIns="0" rIns="0" tIns="0" bIns="0" anchor="t">
            <a:spAutoFit/>
          </a:bodyPr>
          <a:lstStyle/>
          <a:p>
            <a:pPr algn="l"/>
            <a:r>
              <a:rPr sz="1200" b="1">
                <a:solidFill>
                  <a:srgbClr val="093259"/>
                </a:solidFill>
                <a:latin typeface="Yu Gothic"/>
                <a:ea typeface="Yu Gothic"/>
                <a:cs typeface="Yu Gothic"/>
              </a:rPr>
              <a:t>なぜこの経緯を学ぶのか</a:t>
            </a:r>
          </a:p>
          <a:p>
            <a:pPr algn="l"/>
            <a:r>
              <a:rPr sz="800" b="0">
                <a:solidFill>
                  <a:srgbClr val="12B198"/>
                </a:solidFill>
                <a:latin typeface="Calibri"/>
                <a:ea typeface="Calibri"/>
                <a:cs typeface="Calibri"/>
              </a:rPr>
              <a:t>Why This History Matters</a:t>
            </a:r>
          </a:p>
        </p:txBody>
      </p:sp>
      <p:sp>
        <p:nvSpPr>
          <p:cNvPr id="23" name="TextBox 22"/>
          <p:cNvSpPr txBox="1"/>
          <p:nvPr/>
        </p:nvSpPr>
        <p:spPr>
          <a:xfrm>
            <a:off x="6446520" y="4608576"/>
            <a:ext cx="4892040" cy="1097280"/>
          </a:xfrm>
          <a:prstGeom prst="rect">
            <a:avLst/>
          </a:prstGeom>
          <a:noFill/>
        </p:spPr>
        <p:txBody>
          <a:bodyPr wrap="square" lIns="0" rIns="0" tIns="0" bIns="0" anchor="t">
            <a:spAutoFit/>
          </a:bodyPr>
          <a:lstStyle/>
          <a:p>
            <a:pPr algn="l"/>
            <a:r>
              <a:rPr sz="950" b="0">
                <a:solidFill>
                  <a:srgbClr val="1B2733"/>
                </a:solidFill>
                <a:latin typeface="Yu Gothic"/>
                <a:ea typeface="Yu Gothic"/>
                <a:cs typeface="Yu Gothic"/>
              </a:rPr>
              <a:t>・警備業法は、事故や行き過ぎへの反省から生まれた</a:t>
            </a:r>
          </a:p>
          <a:p>
            <a:pPr algn="l"/>
            <a:r>
              <a:rPr sz="750" b="0">
                <a:solidFill>
                  <a:srgbClr val="5F7183"/>
                </a:solidFill>
                <a:latin typeface="Calibri"/>
                <a:ea typeface="Calibri"/>
                <a:cs typeface="Calibri"/>
              </a:rPr>
              <a:t>  The Act grew out of incidents and overreach</a:t>
            </a:r>
          </a:p>
          <a:p>
            <a:pPr algn="l">
              <a:spcBef>
                <a:spcPts val="200"/>
              </a:spcBef>
            </a:pPr>
            <a:r>
              <a:rPr sz="950" b="0">
                <a:solidFill>
                  <a:srgbClr val="1B2733"/>
                </a:solidFill>
                <a:latin typeface="Yu Gothic"/>
                <a:ea typeface="Yu Gothic"/>
                <a:cs typeface="Yu Gothic"/>
              </a:rPr>
              <a:t>・条文の多くは「やってはいけないこと」を定めている</a:t>
            </a:r>
          </a:p>
          <a:p>
            <a:pPr algn="l"/>
            <a:r>
              <a:rPr sz="750" b="0">
                <a:solidFill>
                  <a:srgbClr val="5F7183"/>
                </a:solidFill>
                <a:latin typeface="Calibri"/>
                <a:ea typeface="Calibri"/>
                <a:cs typeface="Calibri"/>
              </a:rPr>
              <a:t>  Much of it defines what must not be done</a:t>
            </a:r>
          </a:p>
          <a:p>
            <a:pPr algn="l">
              <a:spcBef>
                <a:spcPts val="200"/>
              </a:spcBef>
            </a:pPr>
            <a:r>
              <a:rPr sz="950" b="0">
                <a:solidFill>
                  <a:srgbClr val="1B2733"/>
                </a:solidFill>
                <a:latin typeface="Yu Gothic"/>
                <a:ea typeface="Yu Gothic"/>
                <a:cs typeface="Yu Gothic"/>
              </a:rPr>
              <a:t>・禁止の理由を知ると、判断に迷ったときに使える</a:t>
            </a:r>
          </a:p>
          <a:p>
            <a:pPr algn="l"/>
            <a:r>
              <a:rPr sz="750" b="0">
                <a:solidFill>
                  <a:srgbClr val="5F7183"/>
                </a:solidFill>
                <a:latin typeface="Calibri"/>
                <a:ea typeface="Calibri"/>
                <a:cs typeface="Calibri"/>
              </a:rPr>
              <a:t>  Knowing why a rule exists helps when you have to judge on the spot</a:t>
            </a:r>
          </a:p>
          <a:p>
            <a:pPr algn="l">
              <a:spcBef>
                <a:spcPts val="200"/>
              </a:spcBef>
            </a:pPr>
            <a:r>
              <a:rPr sz="950" b="0">
                <a:solidFill>
                  <a:srgbClr val="1B2733"/>
                </a:solidFill>
                <a:latin typeface="Yu Gothic"/>
                <a:ea typeface="Yu Gothic"/>
                <a:cs typeface="Yu Gothic"/>
              </a:rPr>
              <a:t>・暗記ではなく、理由で覚える</a:t>
            </a:r>
          </a:p>
          <a:p>
            <a:pPr algn="l"/>
            <a:r>
              <a:rPr sz="750" b="0">
                <a:solidFill>
                  <a:srgbClr val="5F7183"/>
                </a:solidFill>
                <a:latin typeface="Calibri"/>
                <a:ea typeface="Calibri"/>
                <a:cs typeface="Calibri"/>
              </a:rPr>
              <a:t>  Learn the reason, not the wording</a:t>
            </a:r>
          </a:p>
        </p:txBody>
      </p:sp>
      <p:sp>
        <p:nvSpPr>
          <p:cNvPr id="24" name="TextBox 23"/>
          <p:cNvSpPr txBox="1"/>
          <p:nvPr/>
        </p:nvSpPr>
        <p:spPr>
          <a:xfrm>
            <a:off x="640080" y="6199632"/>
            <a:ext cx="9902952" cy="237744"/>
          </a:xfrm>
          <a:prstGeom prst="rect">
            <a:avLst/>
          </a:prstGeom>
          <a:noFill/>
        </p:spPr>
        <p:txBody>
          <a:bodyPr wrap="square" lIns="0" rIns="0" tIns="0" bIns="0" anchor="t">
            <a:spAutoFit/>
          </a:bodyPr>
          <a:lstStyle/>
          <a:p>
            <a:pPr algn="l"/>
            <a:r>
              <a:rPr sz="750" b="1">
                <a:solidFill>
                  <a:srgbClr val="D6E0E9"/>
                </a:solidFill>
                <a:latin typeface="Yu Gothic"/>
                <a:ea typeface="Yu Gothic"/>
                <a:cs typeface="Yu Gothic"/>
              </a:rPr>
              <a:t>ソース　警備業法（昭和47年法律第117号）、全国警備業協会 業界沿革資料</a:t>
            </a:r>
          </a:p>
        </p:txBody>
      </p:sp>
      <p:sp>
        <p:nvSpPr>
          <p:cNvPr id="25" name="TextBox 24"/>
          <p:cNvSpPr txBox="1"/>
          <p:nvPr/>
        </p:nvSpPr>
        <p:spPr>
          <a:xfrm>
            <a:off x="640080" y="6382512"/>
            <a:ext cx="8778240" cy="292608"/>
          </a:xfrm>
          <a:prstGeom prst="rect">
            <a:avLst/>
          </a:prstGeom>
          <a:noFill/>
        </p:spPr>
        <p:txBody>
          <a:bodyPr wrap="square" lIns="0" rIns="0" tIns="0" bIns="0" anchor="t">
            <a:spAutoFit/>
          </a:bodyPr>
          <a:lstStyle/>
          <a:p>
            <a:pPr algn="l"/>
            <a:r>
              <a:rPr sz="900" b="0">
                <a:solidFill>
                  <a:srgbClr val="5F7183"/>
                </a:solidFill>
                <a:latin typeface="Yu Gothic"/>
                <a:ea typeface="Yu Gothic"/>
                <a:cs typeface="Yu Gothic"/>
              </a:rPr>
              <a:t>第1時限｜基本教育1 警備業務実施の基本原則  Period 1 | Basic Training 1 — Fundamental Principles</a:t>
            </a:r>
          </a:p>
        </p:txBody>
      </p:sp>
      <p:sp>
        <p:nvSpPr>
          <p:cNvPr id="26" name="TextBox 25"/>
          <p:cNvSpPr txBox="1"/>
          <p:nvPr/>
        </p:nvSpPr>
        <p:spPr>
          <a:xfrm>
            <a:off x="10634472" y="6382512"/>
            <a:ext cx="914400" cy="292608"/>
          </a:xfrm>
          <a:prstGeom prst="rect">
            <a:avLst/>
          </a:prstGeom>
          <a:noFill/>
        </p:spPr>
        <p:txBody>
          <a:bodyPr wrap="square" lIns="0" rIns="0" tIns="0" bIns="0" anchor="t">
            <a:spAutoFit/>
          </a:bodyPr>
          <a:lstStyle/>
          <a:p>
            <a:pPr algn="r"/>
            <a:r>
              <a:rPr sz="1000" b="0">
                <a:solidFill>
                  <a:srgbClr val="5F7183"/>
                </a:solidFill>
                <a:latin typeface="Calibri"/>
                <a:ea typeface="Calibri"/>
                <a:cs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762488" y="329184"/>
            <a:ext cx="786384" cy="740664"/>
          </a:xfrm>
          <a:prstGeom prst="rect">
            <a:avLst/>
          </a:prstGeom>
        </p:spPr>
      </p:pic>
      <p:sp>
        <p:nvSpPr>
          <p:cNvPr id="3" name="TextBox 2"/>
          <p:cNvSpPr txBox="1"/>
          <p:nvPr/>
        </p:nvSpPr>
        <p:spPr>
          <a:xfrm>
            <a:off x="640080" y="475488"/>
            <a:ext cx="9802368" cy="960120"/>
          </a:xfrm>
          <a:prstGeom prst="rect">
            <a:avLst/>
          </a:prstGeom>
          <a:noFill/>
        </p:spPr>
        <p:txBody>
          <a:bodyPr wrap="square" lIns="0" rIns="0" tIns="0" bIns="0" anchor="t">
            <a:spAutoFit/>
          </a:bodyPr>
          <a:lstStyle/>
          <a:p>
            <a:pPr algn="l"/>
            <a:r>
              <a:rPr sz="2700" b="1">
                <a:solidFill>
                  <a:srgbClr val="093259"/>
                </a:solidFill>
                <a:latin typeface="Yu Gothic"/>
                <a:ea typeface="Yu Gothic"/>
                <a:cs typeface="Yu Gothic"/>
              </a:rPr>
              <a:t>日本の法律用語 ①</a:t>
            </a:r>
          </a:p>
          <a:p>
            <a:pPr algn="l">
              <a:spcBef>
                <a:spcPts val="300"/>
              </a:spcBef>
            </a:pPr>
            <a:r>
              <a:rPr sz="1250" b="0">
                <a:solidFill>
                  <a:srgbClr val="12B198"/>
                </a:solidFill>
                <a:latin typeface="Calibri"/>
                <a:ea typeface="Calibri"/>
                <a:cs typeface="Calibri"/>
              </a:rPr>
              <a:t>Japanese Legal Terms — Part 1</a:t>
            </a:r>
          </a:p>
        </p:txBody>
      </p:sp>
      <p:sp>
        <p:nvSpPr>
          <p:cNvPr id="4" name="TextBox 3"/>
          <p:cNvSpPr txBox="1"/>
          <p:nvPr/>
        </p:nvSpPr>
        <p:spPr>
          <a:xfrm>
            <a:off x="640080" y="1499616"/>
            <a:ext cx="10908792" cy="512064"/>
          </a:xfrm>
          <a:prstGeom prst="rect">
            <a:avLst/>
          </a:prstGeom>
          <a:noFill/>
        </p:spPr>
        <p:txBody>
          <a:bodyPr wrap="square" lIns="0" rIns="0" tIns="0" bIns="0" anchor="t">
            <a:spAutoFit/>
          </a:bodyPr>
          <a:lstStyle/>
          <a:p>
            <a:pPr algn="l"/>
            <a:r>
              <a:rPr sz="1300" b="1">
                <a:solidFill>
                  <a:srgbClr val="093259"/>
                </a:solidFill>
                <a:latin typeface="Yu Gothic"/>
                <a:ea typeface="Yu Gothic"/>
                <a:cs typeface="Yu Gothic"/>
              </a:rPr>
              <a:t>日本国内では日本の法律が適用されます。母国の制度と同じとは限りません。</a:t>
            </a:r>
          </a:p>
          <a:p>
            <a:pPr algn="l"/>
            <a:r>
              <a:rPr sz="1000" b="0">
                <a:solidFill>
                  <a:srgbClr val="5F7183"/>
                </a:solidFill>
                <a:latin typeface="Calibri"/>
                <a:ea typeface="Calibri"/>
                <a:cs typeface="Calibri"/>
              </a:rPr>
              <a:t>Japanese law applies in Japan. It may differ from the system in your home country.</a:t>
            </a:r>
          </a:p>
        </p:txBody>
      </p:sp>
      <p:sp>
        <p:nvSpPr>
          <p:cNvPr id="5" name="Rounded Rectangle 4"/>
          <p:cNvSpPr/>
          <p:nvPr/>
        </p:nvSpPr>
        <p:spPr>
          <a:xfrm>
            <a:off x="640080" y="2194560"/>
            <a:ext cx="5321808" cy="896112"/>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2478024"/>
            <a:ext cx="329184" cy="329184"/>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1</a:t>
            </a:r>
          </a:p>
        </p:txBody>
      </p:sp>
      <p:sp>
        <p:nvSpPr>
          <p:cNvPr id="7" name="TextBox 6"/>
          <p:cNvSpPr txBox="1"/>
          <p:nvPr/>
        </p:nvSpPr>
        <p:spPr>
          <a:xfrm>
            <a:off x="1243584" y="2267712"/>
            <a:ext cx="4480560" cy="749808"/>
          </a:xfrm>
          <a:prstGeom prst="rect">
            <a:avLst/>
          </a:prstGeom>
          <a:noFill/>
        </p:spPr>
        <p:txBody>
          <a:bodyPr wrap="square" lIns="0" rIns="0" tIns="0" bIns="0" anchor="t">
            <a:spAutoFit/>
          </a:bodyPr>
          <a:lstStyle/>
          <a:p>
            <a:pPr algn="l"/>
            <a:r>
              <a:rPr sz="1150" b="0">
                <a:solidFill>
                  <a:srgbClr val="1B2733"/>
                </a:solidFill>
                <a:latin typeface="Yu Gothic"/>
                <a:ea typeface="Yu Gothic"/>
                <a:cs typeface="Yu Gothic"/>
              </a:rPr>
              <a:t>警備業 keibigyō ― 他人の需要に応じて行う営業。</a:t>
            </a:r>
          </a:p>
          <a:p>
            <a:pPr algn="l"/>
            <a:r>
              <a:rPr sz="900" b="0">
                <a:solidFill>
                  <a:srgbClr val="5F7183"/>
                </a:solidFill>
                <a:latin typeface="Calibri"/>
                <a:ea typeface="Calibri"/>
                <a:cs typeface="Calibri"/>
              </a:rPr>
              <a:t>The security industry. A business serving the needs of others.</a:t>
            </a:r>
          </a:p>
        </p:txBody>
      </p:sp>
      <p:sp>
        <p:nvSpPr>
          <p:cNvPr id="8" name="Rounded Rectangle 7"/>
          <p:cNvSpPr/>
          <p:nvPr/>
        </p:nvSpPr>
        <p:spPr>
          <a:xfrm>
            <a:off x="6236208" y="2194560"/>
            <a:ext cx="5321808" cy="896112"/>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19088" y="2478024"/>
            <a:ext cx="329184" cy="329184"/>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2</a:t>
            </a:r>
          </a:p>
        </p:txBody>
      </p:sp>
      <p:sp>
        <p:nvSpPr>
          <p:cNvPr id="10" name="TextBox 9"/>
          <p:cNvSpPr txBox="1"/>
          <p:nvPr/>
        </p:nvSpPr>
        <p:spPr>
          <a:xfrm>
            <a:off x="6839712" y="2267712"/>
            <a:ext cx="4480560" cy="749808"/>
          </a:xfrm>
          <a:prstGeom prst="rect">
            <a:avLst/>
          </a:prstGeom>
          <a:noFill/>
        </p:spPr>
        <p:txBody>
          <a:bodyPr wrap="square" lIns="0" rIns="0" tIns="0" bIns="0" anchor="t">
            <a:spAutoFit/>
          </a:bodyPr>
          <a:lstStyle/>
          <a:p>
            <a:pPr algn="l"/>
            <a:r>
              <a:rPr sz="1150" b="0">
                <a:solidFill>
                  <a:srgbClr val="1B2733"/>
                </a:solidFill>
                <a:latin typeface="Yu Gothic"/>
                <a:ea typeface="Yu Gothic"/>
                <a:cs typeface="Yu Gothic"/>
              </a:rPr>
              <a:t>私人 shijin ― 警備員も法的には私人。</a:t>
            </a:r>
          </a:p>
          <a:p>
            <a:pPr algn="l"/>
            <a:r>
              <a:rPr sz="900" b="0">
                <a:solidFill>
                  <a:srgbClr val="5F7183"/>
                </a:solidFill>
                <a:latin typeface="Calibri"/>
                <a:ea typeface="Calibri"/>
                <a:cs typeface="Calibri"/>
              </a:rPr>
              <a:t>Private citizen. Your legal status, even in uniform.</a:t>
            </a:r>
          </a:p>
        </p:txBody>
      </p:sp>
      <p:sp>
        <p:nvSpPr>
          <p:cNvPr id="11" name="Rounded Rectangle 10"/>
          <p:cNvSpPr/>
          <p:nvPr/>
        </p:nvSpPr>
        <p:spPr>
          <a:xfrm>
            <a:off x="640080" y="3236976"/>
            <a:ext cx="5321808" cy="896112"/>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59" y="3520440"/>
            <a:ext cx="329184" cy="329184"/>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3</a:t>
            </a:r>
          </a:p>
        </p:txBody>
      </p:sp>
      <p:sp>
        <p:nvSpPr>
          <p:cNvPr id="13" name="TextBox 12"/>
          <p:cNvSpPr txBox="1"/>
          <p:nvPr/>
        </p:nvSpPr>
        <p:spPr>
          <a:xfrm>
            <a:off x="1243584" y="3310128"/>
            <a:ext cx="4480560" cy="749808"/>
          </a:xfrm>
          <a:prstGeom prst="rect">
            <a:avLst/>
          </a:prstGeom>
          <a:noFill/>
        </p:spPr>
        <p:txBody>
          <a:bodyPr wrap="square" lIns="0" rIns="0" tIns="0" bIns="0" anchor="t">
            <a:spAutoFit/>
          </a:bodyPr>
          <a:lstStyle/>
          <a:p>
            <a:pPr algn="l"/>
            <a:r>
              <a:rPr sz="1150" b="0">
                <a:solidFill>
                  <a:srgbClr val="1B2733"/>
                </a:solidFill>
                <a:latin typeface="Yu Gothic"/>
                <a:ea typeface="Yu Gothic"/>
                <a:cs typeface="Yu Gothic"/>
              </a:rPr>
              <a:t>管理権者 kanri-kensha ― 施設を管理する権限をもつ者。</a:t>
            </a:r>
          </a:p>
          <a:p>
            <a:pPr algn="l"/>
            <a:r>
              <a:rPr sz="900" b="0">
                <a:solidFill>
                  <a:srgbClr val="5F7183"/>
                </a:solidFill>
                <a:latin typeface="Calibri"/>
                <a:ea typeface="Calibri"/>
                <a:cs typeface="Calibri"/>
              </a:rPr>
              <a:t>The site authority. Your powers come from them.</a:t>
            </a:r>
          </a:p>
        </p:txBody>
      </p:sp>
      <p:sp>
        <p:nvSpPr>
          <p:cNvPr id="14" name="Rounded Rectangle 13"/>
          <p:cNvSpPr/>
          <p:nvPr/>
        </p:nvSpPr>
        <p:spPr>
          <a:xfrm>
            <a:off x="6236208" y="3236976"/>
            <a:ext cx="5321808" cy="896112"/>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19088" y="3520440"/>
            <a:ext cx="329184" cy="329184"/>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4</a:t>
            </a:r>
          </a:p>
        </p:txBody>
      </p:sp>
      <p:sp>
        <p:nvSpPr>
          <p:cNvPr id="16" name="TextBox 15"/>
          <p:cNvSpPr txBox="1"/>
          <p:nvPr/>
        </p:nvSpPr>
        <p:spPr>
          <a:xfrm>
            <a:off x="6839712" y="3310128"/>
            <a:ext cx="4480560" cy="749808"/>
          </a:xfrm>
          <a:prstGeom prst="rect">
            <a:avLst/>
          </a:prstGeom>
          <a:noFill/>
        </p:spPr>
        <p:txBody>
          <a:bodyPr wrap="square" lIns="0" rIns="0" tIns="0" bIns="0" anchor="t">
            <a:spAutoFit/>
          </a:bodyPr>
          <a:lstStyle/>
          <a:p>
            <a:pPr algn="l"/>
            <a:r>
              <a:rPr sz="1150" b="0">
                <a:solidFill>
                  <a:srgbClr val="1B2733"/>
                </a:solidFill>
                <a:latin typeface="Yu Gothic"/>
                <a:ea typeface="Yu Gothic"/>
                <a:cs typeface="Yu Gothic"/>
              </a:rPr>
              <a:t>施設管理権 shisetsu-kanriken ― 出入りやルールを決める権利。</a:t>
            </a:r>
          </a:p>
          <a:p>
            <a:pPr algn="l"/>
            <a:r>
              <a:rPr sz="900" b="0">
                <a:solidFill>
                  <a:srgbClr val="5F7183"/>
                </a:solidFill>
                <a:latin typeface="Calibri"/>
                <a:ea typeface="Calibri"/>
                <a:cs typeface="Calibri"/>
              </a:rPr>
              <a:t>Premises management rights. The right to set entry and rules.</a:t>
            </a:r>
          </a:p>
        </p:txBody>
      </p:sp>
      <p:sp>
        <p:nvSpPr>
          <p:cNvPr id="17" name="Rounded Rectangle 16"/>
          <p:cNvSpPr/>
          <p:nvPr/>
        </p:nvSpPr>
        <p:spPr>
          <a:xfrm>
            <a:off x="640080" y="4288536"/>
            <a:ext cx="5321808" cy="896112"/>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59" y="4572000"/>
            <a:ext cx="329184" cy="329184"/>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5</a:t>
            </a:r>
          </a:p>
        </p:txBody>
      </p:sp>
      <p:sp>
        <p:nvSpPr>
          <p:cNvPr id="19" name="TextBox 18"/>
          <p:cNvSpPr txBox="1"/>
          <p:nvPr/>
        </p:nvSpPr>
        <p:spPr>
          <a:xfrm>
            <a:off x="1243584" y="4361688"/>
            <a:ext cx="4480560" cy="749808"/>
          </a:xfrm>
          <a:prstGeom prst="rect">
            <a:avLst/>
          </a:prstGeom>
          <a:noFill/>
        </p:spPr>
        <p:txBody>
          <a:bodyPr wrap="square" lIns="0" rIns="0" tIns="0" bIns="0" anchor="t">
            <a:spAutoFit/>
          </a:bodyPr>
          <a:lstStyle/>
          <a:p>
            <a:pPr algn="l"/>
            <a:r>
              <a:rPr sz="1150" b="0">
                <a:solidFill>
                  <a:srgbClr val="1B2733"/>
                </a:solidFill>
                <a:latin typeface="Yu Gothic"/>
                <a:ea typeface="Yu Gothic"/>
                <a:cs typeface="Yu Gothic"/>
              </a:rPr>
              <a:t>認定 nintei ― 公安委員会が警備業者に与えるもの。</a:t>
            </a:r>
          </a:p>
          <a:p>
            <a:pPr algn="l"/>
            <a:r>
              <a:rPr sz="900" b="0">
                <a:solidFill>
                  <a:srgbClr val="5F7183"/>
                </a:solidFill>
                <a:latin typeface="Calibri"/>
                <a:ea typeface="Calibri"/>
                <a:cs typeface="Calibri"/>
              </a:rPr>
              <a:t>Certification, granted to a security company by the commission.</a:t>
            </a:r>
          </a:p>
        </p:txBody>
      </p:sp>
      <p:sp>
        <p:nvSpPr>
          <p:cNvPr id="20" name="Rounded Rectangle 19"/>
          <p:cNvSpPr/>
          <p:nvPr/>
        </p:nvSpPr>
        <p:spPr>
          <a:xfrm>
            <a:off x="6236208" y="4288536"/>
            <a:ext cx="5321808" cy="896112"/>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19088" y="4572000"/>
            <a:ext cx="329184" cy="329184"/>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6</a:t>
            </a:r>
          </a:p>
        </p:txBody>
      </p:sp>
      <p:sp>
        <p:nvSpPr>
          <p:cNvPr id="22" name="TextBox 21"/>
          <p:cNvSpPr txBox="1"/>
          <p:nvPr/>
        </p:nvSpPr>
        <p:spPr>
          <a:xfrm>
            <a:off x="6839712" y="4361688"/>
            <a:ext cx="4480560" cy="749808"/>
          </a:xfrm>
          <a:prstGeom prst="rect">
            <a:avLst/>
          </a:prstGeom>
          <a:noFill/>
        </p:spPr>
        <p:txBody>
          <a:bodyPr wrap="square" lIns="0" rIns="0" tIns="0" bIns="0" anchor="t">
            <a:spAutoFit/>
          </a:bodyPr>
          <a:lstStyle/>
          <a:p>
            <a:pPr algn="l"/>
            <a:r>
              <a:rPr sz="1150" b="0">
                <a:solidFill>
                  <a:srgbClr val="1B2733"/>
                </a:solidFill>
                <a:latin typeface="Yu Gothic"/>
                <a:ea typeface="Yu Gothic"/>
                <a:cs typeface="Yu Gothic"/>
              </a:rPr>
              <a:t>警備指令書 keibi-shireisho ― 現場ごとの指示書。Post orders。</a:t>
            </a:r>
          </a:p>
          <a:p>
            <a:pPr algn="l"/>
            <a:r>
              <a:rPr sz="900" b="0">
                <a:solidFill>
                  <a:srgbClr val="5F7183"/>
                </a:solidFill>
                <a:latin typeface="Calibri"/>
                <a:ea typeface="Calibri"/>
                <a:cs typeface="Calibri"/>
              </a:rPr>
              <a:t>Post orders. The written instructions for your site.</a:t>
            </a:r>
          </a:p>
        </p:txBody>
      </p:sp>
      <p:sp>
        <p:nvSpPr>
          <p:cNvPr id="23" name="Rounded Rectangle 22"/>
          <p:cNvSpPr/>
          <p:nvPr/>
        </p:nvSpPr>
        <p:spPr>
          <a:xfrm>
            <a:off x="640080" y="5330952"/>
            <a:ext cx="5321808" cy="896112"/>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22959" y="5614416"/>
            <a:ext cx="329184" cy="329184"/>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7</a:t>
            </a:r>
          </a:p>
        </p:txBody>
      </p:sp>
      <p:sp>
        <p:nvSpPr>
          <p:cNvPr id="25" name="TextBox 24"/>
          <p:cNvSpPr txBox="1"/>
          <p:nvPr/>
        </p:nvSpPr>
        <p:spPr>
          <a:xfrm>
            <a:off x="1243584" y="5404104"/>
            <a:ext cx="4480560" cy="749808"/>
          </a:xfrm>
          <a:prstGeom prst="rect">
            <a:avLst/>
          </a:prstGeom>
          <a:noFill/>
        </p:spPr>
        <p:txBody>
          <a:bodyPr wrap="square" lIns="0" rIns="0" tIns="0" bIns="0" anchor="t">
            <a:spAutoFit/>
          </a:bodyPr>
          <a:lstStyle/>
          <a:p>
            <a:pPr algn="l"/>
            <a:r>
              <a:rPr sz="1150" b="0">
                <a:solidFill>
                  <a:srgbClr val="1B2733"/>
                </a:solidFill>
                <a:latin typeface="Yu Gothic"/>
                <a:ea typeface="Yu Gothic"/>
                <a:cs typeface="Yu Gothic"/>
              </a:rPr>
              <a:t>依頼主 iraiNushi ― 警備を発注する側。クライアント。</a:t>
            </a:r>
          </a:p>
          <a:p>
            <a:pPr algn="l"/>
            <a:r>
              <a:rPr sz="900" b="0">
                <a:solidFill>
                  <a:srgbClr val="5F7183"/>
                </a:solidFill>
                <a:latin typeface="Calibri"/>
                <a:ea typeface="Calibri"/>
                <a:cs typeface="Calibri"/>
              </a:rPr>
              <a:t>The client. The party commissioning the service.</a:t>
            </a:r>
          </a:p>
        </p:txBody>
      </p:sp>
      <p:sp>
        <p:nvSpPr>
          <p:cNvPr id="26" name="Rounded Rectangle 25"/>
          <p:cNvSpPr/>
          <p:nvPr/>
        </p:nvSpPr>
        <p:spPr>
          <a:xfrm>
            <a:off x="6236208" y="5330952"/>
            <a:ext cx="5321808" cy="896112"/>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19088" y="5614416"/>
            <a:ext cx="329184" cy="329184"/>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8</a:t>
            </a:r>
          </a:p>
        </p:txBody>
      </p:sp>
      <p:sp>
        <p:nvSpPr>
          <p:cNvPr id="28" name="TextBox 27"/>
          <p:cNvSpPr txBox="1"/>
          <p:nvPr/>
        </p:nvSpPr>
        <p:spPr>
          <a:xfrm>
            <a:off x="6839712" y="5404104"/>
            <a:ext cx="4480560" cy="749808"/>
          </a:xfrm>
          <a:prstGeom prst="rect">
            <a:avLst/>
          </a:prstGeom>
          <a:noFill/>
        </p:spPr>
        <p:txBody>
          <a:bodyPr wrap="square" lIns="0" rIns="0" tIns="0" bIns="0" anchor="t">
            <a:spAutoFit/>
          </a:bodyPr>
          <a:lstStyle/>
          <a:p>
            <a:pPr algn="l"/>
            <a:r>
              <a:rPr sz="1150" b="0">
                <a:solidFill>
                  <a:srgbClr val="1B2733"/>
                </a:solidFill>
                <a:latin typeface="Yu Gothic"/>
                <a:ea typeface="Yu Gothic"/>
                <a:cs typeface="Yu Gothic"/>
              </a:rPr>
              <a:t>常駐 jōchū ― 現場に配置されて勤務すること。</a:t>
            </a:r>
          </a:p>
          <a:p>
            <a:pPr algn="l"/>
            <a:r>
              <a:rPr sz="900" b="0">
                <a:solidFill>
                  <a:srgbClr val="5F7183"/>
                </a:solidFill>
                <a:latin typeface="Calibri"/>
                <a:ea typeface="Calibri"/>
                <a:cs typeface="Calibri"/>
              </a:rPr>
              <a:t>Stationed duty. Being posted at a site.</a:t>
            </a:r>
          </a:p>
        </p:txBody>
      </p:sp>
      <p:sp>
        <p:nvSpPr>
          <p:cNvPr id="29" name="TextBox 28"/>
          <p:cNvSpPr txBox="1"/>
          <p:nvPr/>
        </p:nvSpPr>
        <p:spPr>
          <a:xfrm>
            <a:off x="640080" y="6382512"/>
            <a:ext cx="8778240" cy="292608"/>
          </a:xfrm>
          <a:prstGeom prst="rect">
            <a:avLst/>
          </a:prstGeom>
          <a:noFill/>
        </p:spPr>
        <p:txBody>
          <a:bodyPr wrap="square" lIns="0" rIns="0" tIns="0" bIns="0" anchor="t">
            <a:spAutoFit/>
          </a:bodyPr>
          <a:lstStyle/>
          <a:p>
            <a:pPr algn="l"/>
            <a:r>
              <a:rPr sz="900" b="0">
                <a:solidFill>
                  <a:srgbClr val="5F7183"/>
                </a:solidFill>
                <a:latin typeface="Yu Gothic"/>
                <a:ea typeface="Yu Gothic"/>
                <a:cs typeface="Yu Gothic"/>
              </a:rPr>
              <a:t>第1時限｜基本教育1 警備業務実施の基本原則  Period 1 | Basic Training 1 — Fundamental Principles</a:t>
            </a:r>
          </a:p>
        </p:txBody>
      </p:sp>
      <p:sp>
        <p:nvSpPr>
          <p:cNvPr id="30" name="TextBox 29"/>
          <p:cNvSpPr txBox="1"/>
          <p:nvPr/>
        </p:nvSpPr>
        <p:spPr>
          <a:xfrm>
            <a:off x="10634472" y="6382512"/>
            <a:ext cx="914400" cy="292608"/>
          </a:xfrm>
          <a:prstGeom prst="rect">
            <a:avLst/>
          </a:prstGeom>
          <a:noFill/>
        </p:spPr>
        <p:txBody>
          <a:bodyPr wrap="square" lIns="0" rIns="0" tIns="0" bIns="0" anchor="t">
            <a:spAutoFit/>
          </a:bodyPr>
          <a:lstStyle/>
          <a:p>
            <a:pPr algn="r"/>
            <a:r>
              <a:rPr sz="1000" b="0">
                <a:solidFill>
                  <a:srgbClr val="5F7183"/>
                </a:solidFill>
                <a:latin typeface="Calibri"/>
                <a:ea typeface="Calibri"/>
                <a:cs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762488" y="329184"/>
            <a:ext cx="786384" cy="740664"/>
          </a:xfrm>
          <a:prstGeom prst="rect">
            <a:avLst/>
          </a:prstGeom>
        </p:spPr>
      </p:pic>
      <p:sp>
        <p:nvSpPr>
          <p:cNvPr id="3" name="TextBox 2"/>
          <p:cNvSpPr txBox="1"/>
          <p:nvPr/>
        </p:nvSpPr>
        <p:spPr>
          <a:xfrm>
            <a:off x="640080" y="475488"/>
            <a:ext cx="9802368" cy="960120"/>
          </a:xfrm>
          <a:prstGeom prst="rect">
            <a:avLst/>
          </a:prstGeom>
          <a:noFill/>
        </p:spPr>
        <p:txBody>
          <a:bodyPr wrap="square" lIns="0" rIns="0" tIns="0" bIns="0" anchor="t">
            <a:spAutoFit/>
          </a:bodyPr>
          <a:lstStyle/>
          <a:p>
            <a:pPr algn="l"/>
            <a:r>
              <a:rPr sz="2700" b="1">
                <a:solidFill>
                  <a:srgbClr val="093259"/>
                </a:solidFill>
                <a:latin typeface="Yu Gothic"/>
                <a:ea typeface="Yu Gothic"/>
                <a:cs typeface="Yu Gothic"/>
              </a:rPr>
              <a:t>警備業法 第15条</a:t>
            </a:r>
          </a:p>
          <a:p>
            <a:pPr algn="l">
              <a:spcBef>
                <a:spcPts val="300"/>
              </a:spcBef>
            </a:pPr>
            <a:r>
              <a:rPr sz="1250" b="0">
                <a:solidFill>
                  <a:srgbClr val="12B198"/>
                </a:solidFill>
                <a:latin typeface="Calibri"/>
                <a:ea typeface="Calibri"/>
                <a:cs typeface="Calibri"/>
              </a:rPr>
              <a:t>Security Services Act, Article 15</a:t>
            </a:r>
          </a:p>
        </p:txBody>
      </p:sp>
      <p:sp>
        <p:nvSpPr>
          <p:cNvPr id="4" name="Rounded Rectangle 3"/>
          <p:cNvSpPr/>
          <p:nvPr/>
        </p:nvSpPr>
        <p:spPr>
          <a:xfrm>
            <a:off x="640080" y="1627632"/>
            <a:ext cx="10908792" cy="2395728"/>
          </a:xfrm>
          <a:prstGeom prst="roundRect">
            <a:avLst>
              <a:gd name="adj" fmla="val 1900"/>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38528"/>
            <a:ext cx="9994392" cy="1014984"/>
          </a:xfrm>
          <a:prstGeom prst="rect">
            <a:avLst/>
          </a:prstGeom>
          <a:noFill/>
        </p:spPr>
        <p:txBody>
          <a:bodyPr wrap="square" lIns="0" rIns="0" tIns="0" bIns="0" anchor="t">
            <a:spAutoFit/>
          </a:bodyPr>
          <a:lstStyle/>
          <a:p>
            <a:pPr algn="l"/>
            <a:r>
              <a:rPr sz="1450" b="0">
                <a:solidFill>
                  <a:srgbClr val="FFFFFF"/>
                </a:solidFill>
                <a:latin typeface="Yu Gothic"/>
                <a:ea typeface="Yu Gothic"/>
                <a:cs typeface="Yu Gothic"/>
              </a:rPr>
              <a:t>警備業者及び警備員は、警備業務を行うに当たつては、この法律により特別に権限を与えられているものでないことに留意するとともに、他人の権利及び自由を侵害し、又は個人若しくは団体の正当な活動に干渉してはならない。</a:t>
            </a:r>
          </a:p>
        </p:txBody>
      </p:sp>
      <p:sp>
        <p:nvSpPr>
          <p:cNvPr id="6" name="TextBox 5"/>
          <p:cNvSpPr txBox="1"/>
          <p:nvPr/>
        </p:nvSpPr>
        <p:spPr>
          <a:xfrm>
            <a:off x="1097280" y="2971800"/>
            <a:ext cx="9994392" cy="795528"/>
          </a:xfrm>
          <a:prstGeom prst="rect">
            <a:avLst/>
          </a:prstGeom>
          <a:noFill/>
        </p:spPr>
        <p:txBody>
          <a:bodyPr wrap="square" lIns="0" rIns="0" tIns="0" bIns="0" anchor="t">
            <a:spAutoFit/>
          </a:bodyPr>
          <a:lstStyle/>
          <a:p>
            <a:pPr algn="l"/>
            <a:r>
              <a:rPr sz="1050" b="0">
                <a:solidFill>
                  <a:srgbClr val="9FD8CD"/>
                </a:solidFill>
                <a:latin typeface="Calibri"/>
                <a:ea typeface="Calibri"/>
                <a:cs typeface="Calibri"/>
              </a:rPr>
              <a:t>When carrying out security operations, security businesses and guards must remember that this Act gives them no special authority. They must not infringe the rights or freedoms of others, and must not interfere with lawful activities.</a:t>
            </a:r>
          </a:p>
        </p:txBody>
      </p:sp>
      <p:sp>
        <p:nvSpPr>
          <p:cNvPr id="7" name="TextBox 6"/>
          <p:cNvSpPr txBox="1"/>
          <p:nvPr/>
        </p:nvSpPr>
        <p:spPr>
          <a:xfrm>
            <a:off x="1097280" y="3639312"/>
            <a:ext cx="9994392" cy="274320"/>
          </a:xfrm>
          <a:prstGeom prst="rect">
            <a:avLst/>
          </a:prstGeom>
          <a:noFill/>
        </p:spPr>
        <p:txBody>
          <a:bodyPr wrap="square" lIns="0" rIns="0" tIns="0" bIns="0" anchor="t">
            <a:spAutoFit/>
          </a:bodyPr>
          <a:lstStyle/>
          <a:p>
            <a:pPr algn="l"/>
            <a:r>
              <a:rPr sz="1000" b="0">
                <a:solidFill>
                  <a:srgbClr val="12B198"/>
                </a:solidFill>
                <a:latin typeface="Calibri"/>
                <a:ea typeface="Calibri"/>
                <a:cs typeface="Calibri"/>
              </a:rPr>
              <a:t>警備業法 第15条 / Article 15</a:t>
            </a:r>
          </a:p>
        </p:txBody>
      </p:sp>
      <p:sp>
        <p:nvSpPr>
          <p:cNvPr id="8" name="Rounded Rectangle 7"/>
          <p:cNvSpPr/>
          <p:nvPr/>
        </p:nvSpPr>
        <p:spPr>
          <a:xfrm>
            <a:off x="640080" y="4937760"/>
            <a:ext cx="10908792" cy="1298448"/>
          </a:xfrm>
          <a:prstGeom prst="roundRect">
            <a:avLst>
              <a:gd name="adj" fmla="val 1900"/>
            </a:avLst>
          </a:prstGeom>
          <a:solidFill>
            <a:srgbClr val="E4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5404104"/>
            <a:ext cx="365760" cy="365760"/>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Calibri"/>
                <a:ea typeface="Calibri"/>
                <a:cs typeface="Calibri"/>
              </a:rPr>
              <a:t>!</a:t>
            </a:r>
          </a:p>
        </p:txBody>
      </p:sp>
      <p:sp>
        <p:nvSpPr>
          <p:cNvPr id="10" name="TextBox 9"/>
          <p:cNvSpPr txBox="1"/>
          <p:nvPr/>
        </p:nvSpPr>
        <p:spPr>
          <a:xfrm>
            <a:off x="1499616" y="5047488"/>
            <a:ext cx="9720072" cy="1078992"/>
          </a:xfrm>
          <a:prstGeom prst="rect">
            <a:avLst/>
          </a:prstGeom>
          <a:noFill/>
        </p:spPr>
        <p:txBody>
          <a:bodyPr wrap="square" lIns="0" rIns="0" tIns="0" bIns="0" anchor="ctr">
            <a:spAutoFit/>
          </a:bodyPr>
          <a:lstStyle/>
          <a:p>
            <a:pPr algn="l"/>
            <a:r>
              <a:rPr sz="1450" b="1">
                <a:solidFill>
                  <a:srgbClr val="093259"/>
                </a:solidFill>
                <a:latin typeface="Yu Gothic"/>
                <a:ea typeface="Yu Gothic"/>
                <a:cs typeface="Yu Gothic"/>
              </a:rPr>
              <a:t>警備員の法的な立場は私人です。制服により権限が加わることはありません。</a:t>
            </a:r>
          </a:p>
          <a:p>
            <a:pPr algn="l">
              <a:spcBef>
                <a:spcPts val="400"/>
              </a:spcBef>
            </a:pPr>
            <a:r>
              <a:rPr sz="1000" b="0">
                <a:solidFill>
                  <a:srgbClr val="5F7183"/>
                </a:solidFill>
                <a:latin typeface="Calibri"/>
                <a:ea typeface="Calibri"/>
                <a:cs typeface="Calibri"/>
              </a:rPr>
              <a:t>A security guard is a private citizen in law. The uniform adds no legal authority.</a:t>
            </a:r>
          </a:p>
        </p:txBody>
      </p:sp>
      <p:sp>
        <p:nvSpPr>
          <p:cNvPr id="11" name="TextBox 10"/>
          <p:cNvSpPr txBox="1"/>
          <p:nvPr/>
        </p:nvSpPr>
        <p:spPr>
          <a:xfrm>
            <a:off x="640080" y="6382512"/>
            <a:ext cx="8778240" cy="292608"/>
          </a:xfrm>
          <a:prstGeom prst="rect">
            <a:avLst/>
          </a:prstGeom>
          <a:noFill/>
        </p:spPr>
        <p:txBody>
          <a:bodyPr wrap="square" lIns="0" rIns="0" tIns="0" bIns="0" anchor="t">
            <a:spAutoFit/>
          </a:bodyPr>
          <a:lstStyle/>
          <a:p>
            <a:pPr algn="l"/>
            <a:r>
              <a:rPr sz="900" b="0">
                <a:solidFill>
                  <a:srgbClr val="5F7183"/>
                </a:solidFill>
                <a:latin typeface="Yu Gothic"/>
                <a:ea typeface="Yu Gothic"/>
                <a:cs typeface="Yu Gothic"/>
              </a:rPr>
              <a:t>第1時限｜基本教育1 警備業務実施の基本原則  Period 1 | Basic Training 1 — Fundamental Principles</a:t>
            </a:r>
          </a:p>
        </p:txBody>
      </p:sp>
      <p:sp>
        <p:nvSpPr>
          <p:cNvPr id="12" name="TextBox 11"/>
          <p:cNvSpPr txBox="1"/>
          <p:nvPr/>
        </p:nvSpPr>
        <p:spPr>
          <a:xfrm>
            <a:off x="10634472" y="6382512"/>
            <a:ext cx="914400" cy="292608"/>
          </a:xfrm>
          <a:prstGeom prst="rect">
            <a:avLst/>
          </a:prstGeom>
          <a:noFill/>
        </p:spPr>
        <p:txBody>
          <a:bodyPr wrap="square" lIns="0" rIns="0" tIns="0" bIns="0" anchor="t">
            <a:spAutoFit/>
          </a:bodyPr>
          <a:lstStyle/>
          <a:p>
            <a:pPr algn="r"/>
            <a:r>
              <a:rPr sz="1000" b="0">
                <a:solidFill>
                  <a:srgbClr val="5F7183"/>
                </a:solidFill>
                <a:latin typeface="Calibri"/>
                <a:ea typeface="Calibri"/>
                <a:cs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762488" y="329184"/>
            <a:ext cx="786384" cy="740664"/>
          </a:xfrm>
          <a:prstGeom prst="rect">
            <a:avLst/>
          </a:prstGeom>
        </p:spPr>
      </p:pic>
      <p:sp>
        <p:nvSpPr>
          <p:cNvPr id="3" name="TextBox 2"/>
          <p:cNvSpPr txBox="1"/>
          <p:nvPr/>
        </p:nvSpPr>
        <p:spPr>
          <a:xfrm>
            <a:off x="640080" y="475488"/>
            <a:ext cx="9802368" cy="960120"/>
          </a:xfrm>
          <a:prstGeom prst="rect">
            <a:avLst/>
          </a:prstGeom>
          <a:noFill/>
        </p:spPr>
        <p:txBody>
          <a:bodyPr wrap="square" lIns="0" rIns="0" tIns="0" bIns="0" anchor="t">
            <a:spAutoFit/>
          </a:bodyPr>
          <a:lstStyle/>
          <a:p>
            <a:pPr algn="l"/>
            <a:r>
              <a:rPr sz="2700" b="1">
                <a:solidFill>
                  <a:srgbClr val="093259"/>
                </a:solidFill>
                <a:latin typeface="Yu Gothic"/>
                <a:ea typeface="Yu Gothic"/>
                <a:cs typeface="Yu Gothic"/>
              </a:rPr>
              <a:t>警察官と警備員 ― 権限の違い</a:t>
            </a:r>
          </a:p>
          <a:p>
            <a:pPr algn="l">
              <a:spcBef>
                <a:spcPts val="300"/>
              </a:spcBef>
            </a:pPr>
            <a:r>
              <a:rPr sz="1250" b="0">
                <a:solidFill>
                  <a:srgbClr val="12B198"/>
                </a:solidFill>
                <a:latin typeface="Calibri"/>
                <a:ea typeface="Calibri"/>
                <a:cs typeface="Calibri"/>
              </a:rPr>
              <a:t>Police Officers and Security Guards — Different Powers</a:t>
            </a:r>
          </a:p>
        </p:txBody>
      </p:sp>
      <p:sp>
        <p:nvSpPr>
          <p:cNvPr id="4" name="TextBox 3"/>
          <p:cNvSpPr txBox="1"/>
          <p:nvPr/>
        </p:nvSpPr>
        <p:spPr>
          <a:xfrm>
            <a:off x="640080" y="1517904"/>
            <a:ext cx="10908792" cy="530352"/>
          </a:xfrm>
          <a:prstGeom prst="rect">
            <a:avLst/>
          </a:prstGeom>
          <a:noFill/>
        </p:spPr>
        <p:txBody>
          <a:bodyPr wrap="square" lIns="0" rIns="0" tIns="0" bIns="0" anchor="t">
            <a:spAutoFit/>
          </a:bodyPr>
          <a:lstStyle/>
          <a:p>
            <a:pPr algn="l"/>
            <a:r>
              <a:rPr sz="1300" b="1">
                <a:solidFill>
                  <a:srgbClr val="093259"/>
                </a:solidFill>
                <a:latin typeface="Yu Gothic"/>
                <a:ea typeface="Yu Gothic"/>
                <a:cs typeface="Yu Gothic"/>
              </a:rPr>
              <a:t>警察官には法律で与えられた権限があります。警備員にはありません。</a:t>
            </a:r>
          </a:p>
          <a:p>
            <a:pPr algn="l"/>
            <a:r>
              <a:rPr sz="1000" b="0">
                <a:solidFill>
                  <a:srgbClr val="5F7183"/>
                </a:solidFill>
                <a:latin typeface="Calibri"/>
                <a:ea typeface="Calibri"/>
                <a:cs typeface="Calibri"/>
              </a:rPr>
              <a:t>Police officers have powers granted by law. Security guards do not.</a:t>
            </a:r>
          </a:p>
        </p:txBody>
      </p:sp>
      <p:sp>
        <p:nvSpPr>
          <p:cNvPr id="5" name="Rounded Rectangle 4"/>
          <p:cNvSpPr/>
          <p:nvPr/>
        </p:nvSpPr>
        <p:spPr>
          <a:xfrm>
            <a:off x="640080" y="2231136"/>
            <a:ext cx="5303520" cy="3163824"/>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450592"/>
            <a:ext cx="4754880" cy="676656"/>
          </a:xfrm>
          <a:prstGeom prst="rect">
            <a:avLst/>
          </a:prstGeom>
          <a:noFill/>
        </p:spPr>
        <p:txBody>
          <a:bodyPr wrap="square" lIns="0" rIns="0" tIns="0" bIns="0" anchor="t">
            <a:spAutoFit/>
          </a:bodyPr>
          <a:lstStyle/>
          <a:p>
            <a:pPr algn="l"/>
            <a:r>
              <a:rPr sz="1600" b="1">
                <a:solidFill>
                  <a:srgbClr val="093259"/>
                </a:solidFill>
                <a:latin typeface="Yu Gothic"/>
                <a:ea typeface="Yu Gothic"/>
                <a:cs typeface="Yu Gothic"/>
              </a:rPr>
              <a:t>警察官にある権限</a:t>
            </a:r>
          </a:p>
          <a:p>
            <a:pPr algn="l"/>
            <a:r>
              <a:rPr sz="1000" b="0">
                <a:solidFill>
                  <a:srgbClr val="5F7183"/>
                </a:solidFill>
                <a:latin typeface="Calibri"/>
                <a:ea typeface="Calibri"/>
                <a:cs typeface="Calibri"/>
              </a:rPr>
              <a:t>Police powers (Police Duties Execution Act)</a:t>
            </a:r>
          </a:p>
        </p:txBody>
      </p:sp>
      <p:sp>
        <p:nvSpPr>
          <p:cNvPr id="7" name="TextBox 6"/>
          <p:cNvSpPr txBox="1"/>
          <p:nvPr/>
        </p:nvSpPr>
        <p:spPr>
          <a:xfrm>
            <a:off x="914400" y="3218688"/>
            <a:ext cx="4754880" cy="1938528"/>
          </a:xfrm>
          <a:prstGeom prst="rect">
            <a:avLst/>
          </a:prstGeom>
          <a:noFill/>
        </p:spPr>
        <p:txBody>
          <a:bodyPr wrap="square" lIns="0" rIns="0" tIns="0" bIns="0" anchor="t">
            <a:spAutoFit/>
          </a:bodyPr>
          <a:lstStyle/>
          <a:p>
            <a:pPr algn="l"/>
            <a:r>
              <a:rPr sz="1250" b="0">
                <a:solidFill>
                  <a:srgbClr val="1B2733"/>
                </a:solidFill>
                <a:latin typeface="Yu Gothic"/>
                <a:ea typeface="Yu Gothic"/>
                <a:cs typeface="Yu Gothic"/>
              </a:rPr>
              <a:t>・職務質問（第2条）</a:t>
            </a:r>
          </a:p>
          <a:p>
            <a:pPr algn="l"/>
            <a:r>
              <a:rPr sz="950" b="0">
                <a:solidFill>
                  <a:srgbClr val="5F7183"/>
                </a:solidFill>
                <a:latin typeface="Calibri"/>
                <a:ea typeface="Calibri"/>
                <a:cs typeface="Calibri"/>
              </a:rPr>
              <a:t>    Stop and question a person (Art. 2)</a:t>
            </a:r>
          </a:p>
          <a:p>
            <a:pPr algn="l">
              <a:spcBef>
                <a:spcPts val="300"/>
              </a:spcBef>
            </a:pPr>
            <a:r>
              <a:rPr sz="1250" b="0">
                <a:solidFill>
                  <a:srgbClr val="1B2733"/>
                </a:solidFill>
                <a:latin typeface="Yu Gothic"/>
                <a:ea typeface="Yu Gothic"/>
                <a:cs typeface="Yu Gothic"/>
              </a:rPr>
              <a:t>・保護（第3条）、避難等の措置（第4条）</a:t>
            </a:r>
          </a:p>
          <a:p>
            <a:pPr algn="l"/>
            <a:r>
              <a:rPr sz="950" b="0">
                <a:solidFill>
                  <a:srgbClr val="5F7183"/>
                </a:solidFill>
                <a:latin typeface="Calibri"/>
                <a:ea typeface="Calibri"/>
                <a:cs typeface="Calibri"/>
              </a:rPr>
              <a:t>    Protective custody (Art. 3). Order evacuation (Art. 4)</a:t>
            </a:r>
          </a:p>
          <a:p>
            <a:pPr algn="l">
              <a:spcBef>
                <a:spcPts val="300"/>
              </a:spcBef>
            </a:pPr>
            <a:r>
              <a:rPr sz="1250" b="0">
                <a:solidFill>
                  <a:srgbClr val="1B2733"/>
                </a:solidFill>
                <a:latin typeface="Yu Gothic"/>
                <a:ea typeface="Yu Gothic"/>
                <a:cs typeface="Yu Gothic"/>
              </a:rPr>
              <a:t>・犯罪の予防及び制止（第5条）</a:t>
            </a:r>
          </a:p>
          <a:p>
            <a:pPr algn="l"/>
            <a:r>
              <a:rPr sz="950" b="0">
                <a:solidFill>
                  <a:srgbClr val="5F7183"/>
                </a:solidFill>
                <a:latin typeface="Calibri"/>
                <a:ea typeface="Calibri"/>
                <a:cs typeface="Calibri"/>
              </a:rPr>
              <a:t>    Prevent and stop a crime (Art. 5)</a:t>
            </a:r>
          </a:p>
          <a:p>
            <a:pPr algn="l">
              <a:spcBef>
                <a:spcPts val="300"/>
              </a:spcBef>
            </a:pPr>
            <a:r>
              <a:rPr sz="1250" b="0">
                <a:solidFill>
                  <a:srgbClr val="1B2733"/>
                </a:solidFill>
                <a:latin typeface="Yu Gothic"/>
                <a:ea typeface="Yu Gothic"/>
                <a:cs typeface="Yu Gothic"/>
              </a:rPr>
              <a:t>・立入（第6条）、武器の使用（第7条）</a:t>
            </a:r>
          </a:p>
          <a:p>
            <a:pPr algn="l"/>
            <a:r>
              <a:rPr sz="950" b="0">
                <a:solidFill>
                  <a:srgbClr val="5F7183"/>
                </a:solidFill>
                <a:latin typeface="Calibri"/>
                <a:ea typeface="Calibri"/>
                <a:cs typeface="Calibri"/>
              </a:rPr>
              <a:t>    Enter premises (Art. 6). Use weapons (Art. 7)</a:t>
            </a:r>
          </a:p>
          <a:p>
            <a:pPr algn="l">
              <a:spcBef>
                <a:spcPts val="300"/>
              </a:spcBef>
            </a:pPr>
            <a:r>
              <a:rPr sz="1250" b="0">
                <a:solidFill>
                  <a:srgbClr val="1B2733"/>
                </a:solidFill>
                <a:latin typeface="Yu Gothic"/>
                <a:ea typeface="Yu Gothic"/>
                <a:cs typeface="Yu Gothic"/>
              </a:rPr>
              <a:t>・逮捕状による逮捕、取り調べ</a:t>
            </a:r>
          </a:p>
          <a:p>
            <a:pPr algn="l"/>
            <a:r>
              <a:rPr sz="950" b="0">
                <a:solidFill>
                  <a:srgbClr val="5F7183"/>
                </a:solidFill>
                <a:latin typeface="Calibri"/>
                <a:ea typeface="Calibri"/>
                <a:cs typeface="Calibri"/>
              </a:rPr>
              <a:t>    Arrest by warrant. Interrogation</a:t>
            </a:r>
          </a:p>
        </p:txBody>
      </p:sp>
      <p:sp>
        <p:nvSpPr>
          <p:cNvPr id="8" name="Rounded Rectangle 7"/>
          <p:cNvSpPr/>
          <p:nvPr/>
        </p:nvSpPr>
        <p:spPr>
          <a:xfrm>
            <a:off x="6254496" y="2231136"/>
            <a:ext cx="5303520" cy="3163824"/>
          </a:xfrm>
          <a:prstGeom prst="roundRect">
            <a:avLst>
              <a:gd name="adj" fmla="val 1900"/>
            </a:avLst>
          </a:prstGeom>
          <a:solidFill>
            <a:srgbClr val="E4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28816" y="2450592"/>
            <a:ext cx="4754880" cy="676656"/>
          </a:xfrm>
          <a:prstGeom prst="rect">
            <a:avLst/>
          </a:prstGeom>
          <a:noFill/>
        </p:spPr>
        <p:txBody>
          <a:bodyPr wrap="square" lIns="0" rIns="0" tIns="0" bIns="0" anchor="t">
            <a:spAutoFit/>
          </a:bodyPr>
          <a:lstStyle/>
          <a:p>
            <a:pPr algn="l"/>
            <a:r>
              <a:rPr sz="1600" b="1">
                <a:solidFill>
                  <a:srgbClr val="0D8A76"/>
                </a:solidFill>
                <a:latin typeface="Yu Gothic"/>
                <a:ea typeface="Yu Gothic"/>
                <a:cs typeface="Yu Gothic"/>
              </a:rPr>
              <a:t>警備員にある権限</a:t>
            </a:r>
          </a:p>
          <a:p>
            <a:pPr algn="l"/>
            <a:r>
              <a:rPr sz="1000" b="0">
                <a:solidFill>
                  <a:srgbClr val="5F7183"/>
                </a:solidFill>
                <a:latin typeface="Calibri"/>
                <a:ea typeface="Calibri"/>
                <a:cs typeface="Calibri"/>
              </a:rPr>
              <a:t>What a security guard has</a:t>
            </a:r>
          </a:p>
        </p:txBody>
      </p:sp>
      <p:sp>
        <p:nvSpPr>
          <p:cNvPr id="10" name="TextBox 9"/>
          <p:cNvSpPr txBox="1"/>
          <p:nvPr/>
        </p:nvSpPr>
        <p:spPr>
          <a:xfrm>
            <a:off x="6528816" y="3218688"/>
            <a:ext cx="4754880" cy="1938528"/>
          </a:xfrm>
          <a:prstGeom prst="rect">
            <a:avLst/>
          </a:prstGeom>
          <a:noFill/>
        </p:spPr>
        <p:txBody>
          <a:bodyPr wrap="square" lIns="0" rIns="0" tIns="0" bIns="0" anchor="t">
            <a:spAutoFit/>
          </a:bodyPr>
          <a:lstStyle/>
          <a:p>
            <a:pPr algn="l"/>
            <a:r>
              <a:rPr sz="1250" b="0">
                <a:solidFill>
                  <a:srgbClr val="1B2733"/>
                </a:solidFill>
                <a:latin typeface="Yu Gothic"/>
                <a:ea typeface="Yu Gothic"/>
                <a:cs typeface="Yu Gothic"/>
              </a:rPr>
              <a:t>・左の権限は、いずれもありません</a:t>
            </a:r>
          </a:p>
          <a:p>
            <a:pPr algn="l"/>
            <a:r>
              <a:rPr sz="950" b="0">
                <a:solidFill>
                  <a:srgbClr val="5F7183"/>
                </a:solidFill>
                <a:latin typeface="Calibri"/>
                <a:ea typeface="Calibri"/>
                <a:cs typeface="Calibri"/>
              </a:rPr>
              <a:t>    None of the powers on the left</a:t>
            </a:r>
          </a:p>
          <a:p>
            <a:pPr algn="l">
              <a:spcBef>
                <a:spcPts val="300"/>
              </a:spcBef>
            </a:pPr>
            <a:r>
              <a:rPr sz="1250" b="0">
                <a:solidFill>
                  <a:srgbClr val="1B2733"/>
                </a:solidFill>
                <a:latin typeface="Yu Gothic"/>
                <a:ea typeface="Yu Gothic"/>
                <a:cs typeface="Yu Gothic"/>
              </a:rPr>
              <a:t>・現行犯逮捕（刑訴法213条）― 誰でもできる</a:t>
            </a:r>
          </a:p>
          <a:p>
            <a:pPr algn="l"/>
            <a:r>
              <a:rPr sz="950" b="0">
                <a:solidFill>
                  <a:srgbClr val="5F7183"/>
                </a:solidFill>
                <a:latin typeface="Calibri"/>
                <a:ea typeface="Calibri"/>
                <a:cs typeface="Calibri"/>
              </a:rPr>
              <a:t>    Arrest of a flagrant offender — anyone may do this</a:t>
            </a:r>
          </a:p>
          <a:p>
            <a:pPr algn="l">
              <a:spcBef>
                <a:spcPts val="300"/>
              </a:spcBef>
            </a:pPr>
            <a:r>
              <a:rPr sz="1250" b="0">
                <a:solidFill>
                  <a:srgbClr val="1B2733"/>
                </a:solidFill>
                <a:latin typeface="Yu Gothic"/>
                <a:ea typeface="Yu Gothic"/>
                <a:cs typeface="Yu Gothic"/>
              </a:rPr>
              <a:t>・正当防衛（刑法36条）、緊急避難（37条）― 誰でもできる</a:t>
            </a:r>
          </a:p>
          <a:p>
            <a:pPr algn="l"/>
            <a:r>
              <a:rPr sz="950" b="0">
                <a:solidFill>
                  <a:srgbClr val="5F7183"/>
                </a:solidFill>
                <a:latin typeface="Calibri"/>
                <a:ea typeface="Calibri"/>
                <a:cs typeface="Calibri"/>
              </a:rPr>
              <a:t>    Self-defence and necessity — anyone may do this</a:t>
            </a:r>
          </a:p>
          <a:p>
            <a:pPr algn="l">
              <a:spcBef>
                <a:spcPts val="300"/>
              </a:spcBef>
            </a:pPr>
            <a:r>
              <a:rPr sz="1250" b="0">
                <a:solidFill>
                  <a:srgbClr val="1B2733"/>
                </a:solidFill>
                <a:latin typeface="Yu Gothic"/>
                <a:ea typeface="Yu Gothic"/>
                <a:cs typeface="Yu Gothic"/>
              </a:rPr>
              <a:t>・管理権者から委ねられた範囲</a:t>
            </a:r>
          </a:p>
          <a:p>
            <a:pPr algn="l"/>
            <a:r>
              <a:rPr sz="950" b="0">
                <a:solidFill>
                  <a:srgbClr val="5F7183"/>
                </a:solidFill>
                <a:latin typeface="Calibri"/>
                <a:ea typeface="Calibri"/>
                <a:cs typeface="Calibri"/>
              </a:rPr>
              <a:t>    What the site authority has delegated</a:t>
            </a:r>
          </a:p>
          <a:p>
            <a:pPr algn="l">
              <a:spcBef>
                <a:spcPts val="300"/>
              </a:spcBef>
            </a:pPr>
            <a:r>
              <a:rPr sz="1250" b="0">
                <a:solidFill>
                  <a:srgbClr val="1B2733"/>
                </a:solidFill>
                <a:latin typeface="Yu Gothic"/>
                <a:ea typeface="Yu Gothic"/>
                <a:cs typeface="Yu Gothic"/>
              </a:rPr>
              <a:t>・その範囲は契約と警備指令書で決まります</a:t>
            </a:r>
          </a:p>
          <a:p>
            <a:pPr algn="l"/>
            <a:r>
              <a:rPr sz="950" b="0">
                <a:solidFill>
                  <a:srgbClr val="5F7183"/>
                </a:solidFill>
                <a:latin typeface="Calibri"/>
                <a:ea typeface="Calibri"/>
                <a:cs typeface="Calibri"/>
              </a:rPr>
              <a:t>    That scope is set by the contract and the post orders</a:t>
            </a:r>
          </a:p>
        </p:txBody>
      </p:sp>
      <p:sp>
        <p:nvSpPr>
          <p:cNvPr id="11" name="TextBox 10"/>
          <p:cNvSpPr txBox="1"/>
          <p:nvPr/>
        </p:nvSpPr>
        <p:spPr>
          <a:xfrm>
            <a:off x="640080" y="5614416"/>
            <a:ext cx="10908792" cy="621792"/>
          </a:xfrm>
          <a:prstGeom prst="rect">
            <a:avLst/>
          </a:prstGeom>
          <a:noFill/>
        </p:spPr>
        <p:txBody>
          <a:bodyPr wrap="square" lIns="0" rIns="0" tIns="0" bIns="0" anchor="t">
            <a:spAutoFit/>
          </a:bodyPr>
          <a:lstStyle/>
          <a:p>
            <a:pPr algn="l"/>
            <a:r>
              <a:rPr sz="1300" b="1">
                <a:solidFill>
                  <a:srgbClr val="0D8A76"/>
                </a:solidFill>
                <a:latin typeface="Yu Gothic"/>
                <a:ea typeface="Yu Gothic"/>
                <a:cs typeface="Yu Gothic"/>
              </a:rPr>
              <a:t>警備業法第16条 ― 警備員の服装は、警察官など公務員の制服と明確に識別できるものでなければなりません。</a:t>
            </a:r>
          </a:p>
          <a:p>
            <a:pPr algn="l"/>
            <a:r>
              <a:rPr sz="1000" b="0">
                <a:solidFill>
                  <a:srgbClr val="5F7183"/>
                </a:solidFill>
                <a:latin typeface="Calibri"/>
                <a:ea typeface="Calibri"/>
                <a:cs typeface="Calibri"/>
              </a:rPr>
              <a:t>Security Services Act Art. 16 — a guard's uniform must be clearly distinguishable from that of a police officer or other public official.</a:t>
            </a:r>
          </a:p>
        </p:txBody>
      </p:sp>
      <p:sp>
        <p:nvSpPr>
          <p:cNvPr id="12" name="TextBox 11"/>
          <p:cNvSpPr txBox="1"/>
          <p:nvPr/>
        </p:nvSpPr>
        <p:spPr>
          <a:xfrm>
            <a:off x="640080" y="6382512"/>
            <a:ext cx="8778240" cy="292608"/>
          </a:xfrm>
          <a:prstGeom prst="rect">
            <a:avLst/>
          </a:prstGeom>
          <a:noFill/>
        </p:spPr>
        <p:txBody>
          <a:bodyPr wrap="square" lIns="0" rIns="0" tIns="0" bIns="0" anchor="t">
            <a:spAutoFit/>
          </a:bodyPr>
          <a:lstStyle/>
          <a:p>
            <a:pPr algn="l"/>
            <a:r>
              <a:rPr sz="900" b="0">
                <a:solidFill>
                  <a:srgbClr val="5F7183"/>
                </a:solidFill>
                <a:latin typeface="Yu Gothic"/>
                <a:ea typeface="Yu Gothic"/>
                <a:cs typeface="Yu Gothic"/>
              </a:rPr>
              <a:t>第1時限｜基本教育1 警備業務実施の基本原則  Period 1 | Basic Training 1 — Fundamental Principles</a:t>
            </a:r>
          </a:p>
        </p:txBody>
      </p:sp>
      <p:sp>
        <p:nvSpPr>
          <p:cNvPr id="13" name="TextBox 12"/>
          <p:cNvSpPr txBox="1"/>
          <p:nvPr/>
        </p:nvSpPr>
        <p:spPr>
          <a:xfrm>
            <a:off x="10634472" y="6382512"/>
            <a:ext cx="914400" cy="292608"/>
          </a:xfrm>
          <a:prstGeom prst="rect">
            <a:avLst/>
          </a:prstGeom>
          <a:noFill/>
        </p:spPr>
        <p:txBody>
          <a:bodyPr wrap="square" lIns="0" rIns="0" tIns="0" bIns="0" anchor="t">
            <a:spAutoFit/>
          </a:bodyPr>
          <a:lstStyle/>
          <a:p>
            <a:pPr algn="r"/>
            <a:r>
              <a:rPr sz="1000" b="0">
                <a:solidFill>
                  <a:srgbClr val="5F7183"/>
                </a:solidFill>
                <a:latin typeface="Calibri"/>
                <a:ea typeface="Calibri"/>
                <a:cs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762488" y="329184"/>
            <a:ext cx="786384" cy="740664"/>
          </a:xfrm>
          <a:prstGeom prst="rect">
            <a:avLst/>
          </a:prstGeom>
        </p:spPr>
      </p:pic>
      <p:sp>
        <p:nvSpPr>
          <p:cNvPr id="3" name="TextBox 2"/>
          <p:cNvSpPr txBox="1"/>
          <p:nvPr/>
        </p:nvSpPr>
        <p:spPr>
          <a:xfrm>
            <a:off x="640080" y="384048"/>
            <a:ext cx="8979408" cy="768096"/>
          </a:xfrm>
          <a:prstGeom prst="rect">
            <a:avLst/>
          </a:prstGeom>
          <a:noFill/>
        </p:spPr>
        <p:txBody>
          <a:bodyPr wrap="square" lIns="0" rIns="0" tIns="0" bIns="0" anchor="t">
            <a:spAutoFit/>
          </a:bodyPr>
          <a:lstStyle/>
          <a:p>
            <a:pPr algn="l"/>
            <a:r>
              <a:rPr sz="2300" b="1">
                <a:solidFill>
                  <a:srgbClr val="093259"/>
                </a:solidFill>
                <a:latin typeface="Yu Gothic"/>
                <a:ea typeface="Yu Gothic"/>
                <a:cs typeface="Yu Gothic"/>
              </a:rPr>
              <a:t>守るべき3本柱</a:t>
            </a:r>
          </a:p>
          <a:p>
            <a:pPr algn="l">
              <a:spcBef>
                <a:spcPts val="200"/>
              </a:spcBef>
            </a:pPr>
            <a:r>
              <a:rPr sz="1100" b="0">
                <a:solidFill>
                  <a:srgbClr val="12B198"/>
                </a:solidFill>
                <a:latin typeface="Calibri"/>
                <a:ea typeface="Calibri"/>
                <a:cs typeface="Calibri"/>
              </a:rPr>
              <a:t>The Three Pillars</a:t>
            </a:r>
          </a:p>
        </p:txBody>
      </p:sp>
      <p:sp>
        <p:nvSpPr>
          <p:cNvPr id="4" name="Rounded Rectangle 3"/>
          <p:cNvSpPr/>
          <p:nvPr/>
        </p:nvSpPr>
        <p:spPr>
          <a:xfrm>
            <a:off x="9683496" y="438912"/>
            <a:ext cx="932688" cy="310896"/>
          </a:xfrm>
          <a:prstGeom prst="roundRect">
            <a:avLst>
              <a:gd name="adj" fmla="val 14700"/>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83496" y="438912"/>
            <a:ext cx="932688" cy="310896"/>
          </a:xfrm>
          <a:prstGeom prst="rect">
            <a:avLst/>
          </a:prstGeom>
          <a:noFill/>
        </p:spPr>
        <p:txBody>
          <a:bodyPr wrap="square" lIns="0" rIns="0" tIns="0" bIns="0" anchor="ctr">
            <a:spAutoFit/>
          </a:bodyPr>
          <a:lstStyle/>
          <a:p>
            <a:pPr algn="ctr"/>
            <a:r>
              <a:rPr sz="1100" b="1">
                <a:solidFill>
                  <a:srgbClr val="FFFFFF"/>
                </a:solidFill>
                <a:latin typeface="Calibri"/>
                <a:ea typeface="Calibri"/>
                <a:cs typeface="Calibri"/>
              </a:rPr>
              <a:t>B1</a:t>
            </a:r>
          </a:p>
        </p:txBody>
      </p:sp>
      <p:sp>
        <p:nvSpPr>
          <p:cNvPr id="6" name="Rounded Rectangle 5"/>
          <p:cNvSpPr/>
          <p:nvPr/>
        </p:nvSpPr>
        <p:spPr>
          <a:xfrm>
            <a:off x="640080" y="1188720"/>
            <a:ext cx="10908792" cy="530352"/>
          </a:xfrm>
          <a:prstGeom prst="roundRect">
            <a:avLst>
              <a:gd name="adj" fmla="val 6900"/>
            </a:avLst>
          </a:prstGeom>
          <a:solidFill>
            <a:srgbClr val="E4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234440"/>
            <a:ext cx="10433304" cy="438912"/>
          </a:xfrm>
          <a:prstGeom prst="rect">
            <a:avLst/>
          </a:prstGeom>
          <a:noFill/>
        </p:spPr>
        <p:txBody>
          <a:bodyPr wrap="square" lIns="0" rIns="0" tIns="0" bIns="0" anchor="t">
            <a:spAutoFit/>
          </a:bodyPr>
          <a:lstStyle/>
          <a:p>
            <a:pPr algn="l"/>
            <a:r>
              <a:rPr sz="950" b="1">
                <a:solidFill>
                  <a:srgbClr val="0D8A76"/>
                </a:solidFill>
                <a:latin typeface="Yu Gothic"/>
                <a:ea typeface="Yu Gothic"/>
                <a:cs typeface="Yu Gothic"/>
              </a:rPr>
              <a:t>身につくこと　What You'll Learn　自分の業務が People / Asset / Reputation のどれに関わるかを、その場で言える。</a:t>
            </a:r>
          </a:p>
          <a:p>
            <a:pPr algn="l"/>
            <a:r>
              <a:rPr sz="850" b="0">
                <a:solidFill>
                  <a:srgbClr val="5F7183"/>
                </a:solidFill>
                <a:latin typeface="Calibri"/>
                <a:ea typeface="Calibri"/>
                <a:cs typeface="Calibri"/>
              </a:rPr>
              <a:t>You can say, on the spot, which of the three pillars your action concerns.</a:t>
            </a:r>
          </a:p>
        </p:txBody>
      </p:sp>
      <p:sp>
        <p:nvSpPr>
          <p:cNvPr id="8" name="Rounded Rectangle 7"/>
          <p:cNvSpPr/>
          <p:nvPr/>
        </p:nvSpPr>
        <p:spPr>
          <a:xfrm>
            <a:off x="640080" y="1810512"/>
            <a:ext cx="5330952" cy="1920240"/>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59" y="1975104"/>
            <a:ext cx="310896" cy="310896"/>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1</a:t>
            </a:r>
          </a:p>
        </p:txBody>
      </p:sp>
      <p:sp>
        <p:nvSpPr>
          <p:cNvPr id="10" name="TextBox 9"/>
          <p:cNvSpPr txBox="1"/>
          <p:nvPr/>
        </p:nvSpPr>
        <p:spPr>
          <a:xfrm>
            <a:off x="1207007" y="1938528"/>
            <a:ext cx="4562856" cy="512064"/>
          </a:xfrm>
          <a:prstGeom prst="rect">
            <a:avLst/>
          </a:prstGeom>
          <a:noFill/>
        </p:spPr>
        <p:txBody>
          <a:bodyPr wrap="square" lIns="0" rIns="0" tIns="0" bIns="0" anchor="t">
            <a:spAutoFit/>
          </a:bodyPr>
          <a:lstStyle/>
          <a:p>
            <a:pPr algn="l"/>
            <a:r>
              <a:rPr sz="1200" b="1">
                <a:solidFill>
                  <a:srgbClr val="093259"/>
                </a:solidFill>
                <a:latin typeface="Yu Gothic"/>
                <a:ea typeface="Yu Gothic"/>
                <a:cs typeface="Yu Gothic"/>
              </a:rPr>
              <a:t>People　人</a:t>
            </a:r>
          </a:p>
          <a:p>
            <a:pPr algn="l"/>
            <a:r>
              <a:rPr sz="800" b="0">
                <a:solidFill>
                  <a:srgbClr val="12B198"/>
                </a:solidFill>
                <a:latin typeface="Calibri"/>
                <a:ea typeface="Calibri"/>
                <a:cs typeface="Calibri"/>
              </a:rPr>
              <a:t>People</a:t>
            </a:r>
          </a:p>
        </p:txBody>
      </p:sp>
      <p:sp>
        <p:nvSpPr>
          <p:cNvPr id="11" name="TextBox 10"/>
          <p:cNvSpPr txBox="1"/>
          <p:nvPr/>
        </p:nvSpPr>
        <p:spPr>
          <a:xfrm>
            <a:off x="859536" y="2487168"/>
            <a:ext cx="4892040" cy="1097280"/>
          </a:xfrm>
          <a:prstGeom prst="rect">
            <a:avLst/>
          </a:prstGeom>
          <a:noFill/>
        </p:spPr>
        <p:txBody>
          <a:bodyPr wrap="square" lIns="0" rIns="0" tIns="0" bIns="0" anchor="t">
            <a:spAutoFit/>
          </a:bodyPr>
          <a:lstStyle/>
          <a:p>
            <a:pPr algn="l"/>
            <a:r>
              <a:rPr sz="950" b="0">
                <a:solidFill>
                  <a:srgbClr val="1B2733"/>
                </a:solidFill>
                <a:latin typeface="Yu Gothic"/>
                <a:ea typeface="Yu Gothic"/>
                <a:cs typeface="Yu Gothic"/>
              </a:rPr>
              <a:t>・クライアント社員、来訪者、そして自分自身の安全</a:t>
            </a:r>
          </a:p>
          <a:p>
            <a:pPr algn="l"/>
            <a:r>
              <a:rPr sz="750" b="0">
                <a:solidFill>
                  <a:srgbClr val="5F7183"/>
                </a:solidFill>
                <a:latin typeface="Calibri"/>
                <a:ea typeface="Calibri"/>
                <a:cs typeface="Calibri"/>
              </a:rPr>
              <a:t>  The safety of client staff, visitors, and yourself</a:t>
            </a:r>
          </a:p>
          <a:p>
            <a:pPr algn="l">
              <a:spcBef>
                <a:spcPts val="200"/>
              </a:spcBef>
            </a:pPr>
            <a:r>
              <a:rPr sz="950" b="0">
                <a:solidFill>
                  <a:srgbClr val="1B2733"/>
                </a:solidFill>
                <a:latin typeface="Yu Gothic"/>
                <a:ea typeface="Yu Gothic"/>
                <a:cs typeface="Yu Gothic"/>
              </a:rPr>
              <a:t>・自分の安全を確保することも任務のうち</a:t>
            </a:r>
          </a:p>
          <a:p>
            <a:pPr algn="l"/>
            <a:r>
              <a:rPr sz="750" b="0">
                <a:solidFill>
                  <a:srgbClr val="5F7183"/>
                </a:solidFill>
                <a:latin typeface="Calibri"/>
                <a:ea typeface="Calibri"/>
                <a:cs typeface="Calibri"/>
              </a:rPr>
              <a:t>  Keeping yourself safe is part of the duty, not separate from it</a:t>
            </a:r>
          </a:p>
          <a:p>
            <a:pPr algn="l">
              <a:spcBef>
                <a:spcPts val="200"/>
              </a:spcBef>
            </a:pPr>
            <a:r>
              <a:rPr sz="950" b="0">
                <a:solidFill>
                  <a:srgbClr val="1B2733"/>
                </a:solidFill>
                <a:latin typeface="Yu Gothic"/>
                <a:ea typeface="Yu Gothic"/>
                <a:cs typeface="Yu Gothic"/>
              </a:rPr>
              <a:t>・緊急時には警察・消防・救急隊も対象に含まれる</a:t>
            </a:r>
          </a:p>
          <a:p>
            <a:pPr algn="l"/>
            <a:r>
              <a:rPr sz="750" b="0">
                <a:solidFill>
                  <a:srgbClr val="5F7183"/>
                </a:solidFill>
                <a:latin typeface="Calibri"/>
                <a:ea typeface="Calibri"/>
                <a:cs typeface="Calibri"/>
              </a:rPr>
              <a:t>  In an emergency this extends to police, fire and ambulance crews</a:t>
            </a:r>
          </a:p>
          <a:p>
            <a:pPr algn="l">
              <a:spcBef>
                <a:spcPts val="200"/>
              </a:spcBef>
            </a:pPr>
            <a:r>
              <a:rPr sz="950" b="0">
                <a:solidFill>
                  <a:srgbClr val="1B2733"/>
                </a:solidFill>
                <a:latin typeface="Yu Gothic"/>
                <a:ea typeface="Yu Gothic"/>
                <a:cs typeface="Yu Gothic"/>
              </a:rPr>
              <a:t>・人命は、他のすべてに優先する</a:t>
            </a:r>
          </a:p>
          <a:p>
            <a:pPr algn="l"/>
            <a:r>
              <a:rPr sz="750" b="0">
                <a:solidFill>
                  <a:srgbClr val="5F7183"/>
                </a:solidFill>
                <a:latin typeface="Calibri"/>
                <a:ea typeface="Calibri"/>
                <a:cs typeface="Calibri"/>
              </a:rPr>
              <a:t>  Life takes precedence over everything else</a:t>
            </a:r>
          </a:p>
        </p:txBody>
      </p:sp>
      <p:sp>
        <p:nvSpPr>
          <p:cNvPr id="12" name="Rounded Rectangle 11"/>
          <p:cNvSpPr/>
          <p:nvPr/>
        </p:nvSpPr>
        <p:spPr>
          <a:xfrm>
            <a:off x="6227064" y="1810512"/>
            <a:ext cx="5330952" cy="1920240"/>
          </a:xfrm>
          <a:prstGeom prst="roundRect">
            <a:avLst>
              <a:gd name="adj" fmla="val 1900"/>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09944" y="1975104"/>
            <a:ext cx="310896" cy="310896"/>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2</a:t>
            </a:r>
          </a:p>
        </p:txBody>
      </p:sp>
      <p:sp>
        <p:nvSpPr>
          <p:cNvPr id="14" name="TextBox 13"/>
          <p:cNvSpPr txBox="1"/>
          <p:nvPr/>
        </p:nvSpPr>
        <p:spPr>
          <a:xfrm>
            <a:off x="6793992" y="1938528"/>
            <a:ext cx="4562856" cy="512064"/>
          </a:xfrm>
          <a:prstGeom prst="rect">
            <a:avLst/>
          </a:prstGeom>
          <a:noFill/>
        </p:spPr>
        <p:txBody>
          <a:bodyPr wrap="square" lIns="0" rIns="0" tIns="0" bIns="0" anchor="t">
            <a:spAutoFit/>
          </a:bodyPr>
          <a:lstStyle/>
          <a:p>
            <a:pPr algn="l"/>
            <a:r>
              <a:rPr sz="1200" b="1">
                <a:solidFill>
                  <a:srgbClr val="093259"/>
                </a:solidFill>
                <a:latin typeface="Yu Gothic"/>
                <a:ea typeface="Yu Gothic"/>
                <a:cs typeface="Yu Gothic"/>
              </a:rPr>
              <a:t>Asset　資産</a:t>
            </a:r>
          </a:p>
          <a:p>
            <a:pPr algn="l"/>
            <a:r>
              <a:rPr sz="800" b="0">
                <a:solidFill>
                  <a:srgbClr val="12B198"/>
                </a:solidFill>
                <a:latin typeface="Calibri"/>
                <a:ea typeface="Calibri"/>
                <a:cs typeface="Calibri"/>
              </a:rPr>
              <a:t>Asset</a:t>
            </a:r>
          </a:p>
        </p:txBody>
      </p:sp>
      <p:sp>
        <p:nvSpPr>
          <p:cNvPr id="15" name="TextBox 14"/>
          <p:cNvSpPr txBox="1"/>
          <p:nvPr/>
        </p:nvSpPr>
        <p:spPr>
          <a:xfrm>
            <a:off x="6446520" y="2487168"/>
            <a:ext cx="4892040" cy="1097280"/>
          </a:xfrm>
          <a:prstGeom prst="rect">
            <a:avLst/>
          </a:prstGeom>
          <a:noFill/>
        </p:spPr>
        <p:txBody>
          <a:bodyPr wrap="square" lIns="0" rIns="0" tIns="0" bIns="0" anchor="t">
            <a:spAutoFit/>
          </a:bodyPr>
          <a:lstStyle/>
          <a:p>
            <a:pPr algn="l"/>
            <a:r>
              <a:rPr sz="950" b="0">
                <a:solidFill>
                  <a:srgbClr val="1B2733"/>
                </a:solidFill>
                <a:latin typeface="Yu Gothic"/>
                <a:ea typeface="Yu Gothic"/>
                <a:cs typeface="Yu Gothic"/>
              </a:rPr>
              <a:t>・物理資産 ― 建物・什器・端末・サーバー・現金</a:t>
            </a:r>
          </a:p>
          <a:p>
            <a:pPr algn="l"/>
            <a:r>
              <a:rPr sz="750" b="0">
                <a:solidFill>
                  <a:srgbClr val="5F7183"/>
                </a:solidFill>
                <a:latin typeface="Calibri"/>
                <a:ea typeface="Calibri"/>
                <a:cs typeface="Calibri"/>
              </a:rPr>
              <a:t>  Physical assets: buildings, fixtures, devices, servers, cash</a:t>
            </a:r>
          </a:p>
          <a:p>
            <a:pPr algn="l">
              <a:spcBef>
                <a:spcPts val="200"/>
              </a:spcBef>
            </a:pPr>
            <a:r>
              <a:rPr sz="950" b="0">
                <a:solidFill>
                  <a:srgbClr val="1B2733"/>
                </a:solidFill>
                <a:latin typeface="Yu Gothic"/>
                <a:ea typeface="Yu Gothic"/>
                <a:cs typeface="Yu Gothic"/>
              </a:rPr>
              <a:t>・情報資産 ― 書類・データ・役員の動向・施設の構造</a:t>
            </a:r>
          </a:p>
          <a:p>
            <a:pPr algn="l"/>
            <a:r>
              <a:rPr sz="750" b="0">
                <a:solidFill>
                  <a:srgbClr val="5F7183"/>
                </a:solidFill>
                <a:latin typeface="Calibri"/>
                <a:ea typeface="Calibri"/>
                <a:cs typeface="Calibri"/>
              </a:rPr>
              <a:t>  Information assets: documents, data, executive movements, site layout</a:t>
            </a:r>
          </a:p>
          <a:p>
            <a:pPr algn="l">
              <a:spcBef>
                <a:spcPts val="200"/>
              </a:spcBef>
            </a:pPr>
            <a:r>
              <a:rPr sz="950" b="0">
                <a:solidFill>
                  <a:srgbClr val="1B2733"/>
                </a:solidFill>
                <a:latin typeface="Yu Gothic"/>
                <a:ea typeface="Yu Gothic"/>
                <a:cs typeface="Yu Gothic"/>
              </a:rPr>
              <a:t>・受付・巡回・出入管理で、日常的にすべてに接する</a:t>
            </a:r>
          </a:p>
          <a:p>
            <a:pPr algn="l"/>
            <a:r>
              <a:rPr sz="750" b="0">
                <a:solidFill>
                  <a:srgbClr val="5F7183"/>
                </a:solidFill>
                <a:latin typeface="Calibri"/>
                <a:ea typeface="Calibri"/>
                <a:cs typeface="Calibri"/>
              </a:rPr>
              <a:t>  Reception, patrol and access control put you in contact with all of it</a:t>
            </a:r>
          </a:p>
          <a:p>
            <a:pPr algn="l">
              <a:spcBef>
                <a:spcPts val="200"/>
              </a:spcBef>
            </a:pPr>
            <a:r>
              <a:rPr sz="950" b="0">
                <a:solidFill>
                  <a:srgbClr val="1B2733"/>
                </a:solidFill>
                <a:latin typeface="Yu Gothic"/>
                <a:ea typeface="Yu Gothic"/>
                <a:cs typeface="Yu Gothic"/>
              </a:rPr>
              <a:t>・情報は Asset に含まれる。目に見えなくても資産である</a:t>
            </a:r>
          </a:p>
          <a:p>
            <a:pPr algn="l"/>
            <a:r>
              <a:rPr sz="750" b="0">
                <a:solidFill>
                  <a:srgbClr val="5F7183"/>
                </a:solidFill>
                <a:latin typeface="Calibri"/>
                <a:ea typeface="Calibri"/>
                <a:cs typeface="Calibri"/>
              </a:rPr>
              <a:t>  Information is part of Asset. It is an asset even when you cannot see it</a:t>
            </a:r>
          </a:p>
        </p:txBody>
      </p:sp>
      <p:sp>
        <p:nvSpPr>
          <p:cNvPr id="16" name="Rounded Rectangle 15"/>
          <p:cNvSpPr/>
          <p:nvPr/>
        </p:nvSpPr>
        <p:spPr>
          <a:xfrm>
            <a:off x="640080" y="3931920"/>
            <a:ext cx="5330952" cy="1920240"/>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59" y="4096511"/>
            <a:ext cx="310896" cy="310896"/>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3</a:t>
            </a:r>
          </a:p>
        </p:txBody>
      </p:sp>
      <p:sp>
        <p:nvSpPr>
          <p:cNvPr id="18" name="TextBox 17"/>
          <p:cNvSpPr txBox="1"/>
          <p:nvPr/>
        </p:nvSpPr>
        <p:spPr>
          <a:xfrm>
            <a:off x="1207007" y="4059935"/>
            <a:ext cx="4562856" cy="512064"/>
          </a:xfrm>
          <a:prstGeom prst="rect">
            <a:avLst/>
          </a:prstGeom>
          <a:noFill/>
        </p:spPr>
        <p:txBody>
          <a:bodyPr wrap="square" lIns="0" rIns="0" tIns="0" bIns="0" anchor="t">
            <a:spAutoFit/>
          </a:bodyPr>
          <a:lstStyle/>
          <a:p>
            <a:pPr algn="l"/>
            <a:r>
              <a:rPr sz="1200" b="1">
                <a:solidFill>
                  <a:srgbClr val="093259"/>
                </a:solidFill>
                <a:latin typeface="Yu Gothic"/>
                <a:ea typeface="Yu Gothic"/>
                <a:cs typeface="Yu Gothic"/>
              </a:rPr>
              <a:t>Reputation　社会的信頼</a:t>
            </a:r>
          </a:p>
          <a:p>
            <a:pPr algn="l"/>
            <a:r>
              <a:rPr sz="800" b="0">
                <a:solidFill>
                  <a:srgbClr val="12B198"/>
                </a:solidFill>
                <a:latin typeface="Calibri"/>
                <a:ea typeface="Calibri"/>
                <a:cs typeface="Calibri"/>
              </a:rPr>
              <a:t>Reputation</a:t>
            </a:r>
          </a:p>
        </p:txBody>
      </p:sp>
      <p:sp>
        <p:nvSpPr>
          <p:cNvPr id="19" name="TextBox 18"/>
          <p:cNvSpPr txBox="1"/>
          <p:nvPr/>
        </p:nvSpPr>
        <p:spPr>
          <a:xfrm>
            <a:off x="859536" y="4608576"/>
            <a:ext cx="4892040" cy="1097280"/>
          </a:xfrm>
          <a:prstGeom prst="rect">
            <a:avLst/>
          </a:prstGeom>
          <a:noFill/>
        </p:spPr>
        <p:txBody>
          <a:bodyPr wrap="square" lIns="0" rIns="0" tIns="0" bIns="0" anchor="t">
            <a:spAutoFit/>
          </a:bodyPr>
          <a:lstStyle/>
          <a:p>
            <a:pPr algn="l"/>
            <a:r>
              <a:rPr sz="950" b="0">
                <a:solidFill>
                  <a:srgbClr val="1B2733"/>
                </a:solidFill>
                <a:latin typeface="Yu Gothic"/>
                <a:ea typeface="Yu Gothic"/>
                <a:cs typeface="Yu Gothic"/>
              </a:rPr>
              <a:t>・クライアント企業のブランドと社会的評価</a:t>
            </a:r>
          </a:p>
          <a:p>
            <a:pPr algn="l"/>
            <a:r>
              <a:rPr sz="750" b="0">
                <a:solidFill>
                  <a:srgbClr val="5F7183"/>
                </a:solidFill>
                <a:latin typeface="Calibri"/>
                <a:ea typeface="Calibri"/>
                <a:cs typeface="Calibri"/>
              </a:rPr>
              <a:t>  The client's brand and standing</a:t>
            </a:r>
          </a:p>
          <a:p>
            <a:pPr algn="l">
              <a:spcBef>
                <a:spcPts val="200"/>
              </a:spcBef>
            </a:pPr>
            <a:r>
              <a:rPr sz="950" b="0">
                <a:solidFill>
                  <a:srgbClr val="1B2733"/>
                </a:solidFill>
                <a:latin typeface="Yu Gothic"/>
                <a:ea typeface="Yu Gothic"/>
                <a:cs typeface="Yu Gothic"/>
              </a:rPr>
              <a:t>・警備員は入口・受付でクライアントの「顔」として見られる</a:t>
            </a:r>
          </a:p>
          <a:p>
            <a:pPr algn="l"/>
            <a:r>
              <a:rPr sz="750" b="0">
                <a:solidFill>
                  <a:srgbClr val="5F7183"/>
                </a:solidFill>
                <a:latin typeface="Calibri"/>
                <a:ea typeface="Calibri"/>
                <a:cs typeface="Calibri"/>
              </a:rPr>
              <a:t>  At the entrance and reception you are seen as the client's face</a:t>
            </a:r>
          </a:p>
          <a:p>
            <a:pPr algn="l">
              <a:spcBef>
                <a:spcPts val="200"/>
              </a:spcBef>
            </a:pPr>
            <a:r>
              <a:rPr sz="950" b="0">
                <a:solidFill>
                  <a:srgbClr val="1B2733"/>
                </a:solidFill>
                <a:latin typeface="Yu Gothic"/>
                <a:ea typeface="Yu Gothic"/>
                <a:cs typeface="Yu Gothic"/>
              </a:rPr>
              <a:t>・物理被害がゼロでも、Reputationを毀損すれば任務は失敗</a:t>
            </a:r>
          </a:p>
          <a:p>
            <a:pPr algn="l"/>
            <a:r>
              <a:rPr sz="750" b="0">
                <a:solidFill>
                  <a:srgbClr val="5F7183"/>
                </a:solidFill>
                <a:latin typeface="Calibri"/>
                <a:ea typeface="Calibri"/>
                <a:cs typeface="Calibri"/>
              </a:rPr>
              <a:t>  Even with zero physical loss, harming reputation is a failed job</a:t>
            </a:r>
          </a:p>
          <a:p>
            <a:pPr algn="l">
              <a:spcBef>
                <a:spcPts val="200"/>
              </a:spcBef>
            </a:pPr>
            <a:r>
              <a:rPr sz="950" b="0">
                <a:solidFill>
                  <a:srgbClr val="1B2733"/>
                </a:solidFill>
                <a:latin typeface="Yu Gothic"/>
                <a:ea typeface="Yu Gothic"/>
                <a:cs typeface="Yu Gothic"/>
              </a:rPr>
              <a:t>・応対の質と情報秘匿が、ここに直接効く</a:t>
            </a:r>
          </a:p>
          <a:p>
            <a:pPr algn="l"/>
            <a:r>
              <a:rPr sz="750" b="0">
                <a:solidFill>
                  <a:srgbClr val="5F7183"/>
                </a:solidFill>
                <a:latin typeface="Calibri"/>
                <a:ea typeface="Calibri"/>
                <a:cs typeface="Calibri"/>
              </a:rPr>
              <a:t>  Conduct and confidentiality bear on this directly</a:t>
            </a:r>
          </a:p>
        </p:txBody>
      </p:sp>
      <p:sp>
        <p:nvSpPr>
          <p:cNvPr id="20" name="Rounded Rectangle 19"/>
          <p:cNvSpPr/>
          <p:nvPr/>
        </p:nvSpPr>
        <p:spPr>
          <a:xfrm>
            <a:off x="6227064" y="3931920"/>
            <a:ext cx="5330952" cy="1920240"/>
          </a:xfrm>
          <a:prstGeom prst="roundRect">
            <a:avLst>
              <a:gd name="adj" fmla="val 1900"/>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09944" y="4096511"/>
            <a:ext cx="310896" cy="310896"/>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4</a:t>
            </a:r>
          </a:p>
        </p:txBody>
      </p:sp>
      <p:sp>
        <p:nvSpPr>
          <p:cNvPr id="22" name="TextBox 21"/>
          <p:cNvSpPr txBox="1"/>
          <p:nvPr/>
        </p:nvSpPr>
        <p:spPr>
          <a:xfrm>
            <a:off x="6793992" y="4059935"/>
            <a:ext cx="4562856" cy="512064"/>
          </a:xfrm>
          <a:prstGeom prst="rect">
            <a:avLst/>
          </a:prstGeom>
          <a:noFill/>
        </p:spPr>
        <p:txBody>
          <a:bodyPr wrap="square" lIns="0" rIns="0" tIns="0" bIns="0" anchor="t">
            <a:spAutoFit/>
          </a:bodyPr>
          <a:lstStyle/>
          <a:p>
            <a:pPr algn="l"/>
            <a:r>
              <a:rPr sz="1200" b="1">
                <a:solidFill>
                  <a:srgbClr val="093259"/>
                </a:solidFill>
                <a:latin typeface="Yu Gothic"/>
                <a:ea typeface="Yu Gothic"/>
                <a:cs typeface="Yu Gothic"/>
              </a:rPr>
              <a:t>3つは分離できない</a:t>
            </a:r>
          </a:p>
          <a:p>
            <a:pPr algn="l"/>
            <a:r>
              <a:rPr sz="800" b="0">
                <a:solidFill>
                  <a:srgbClr val="12B198"/>
                </a:solidFill>
                <a:latin typeface="Calibri"/>
                <a:ea typeface="Calibri"/>
                <a:cs typeface="Calibri"/>
              </a:rPr>
              <a:t>The Three Are Inseparable</a:t>
            </a:r>
          </a:p>
        </p:txBody>
      </p:sp>
      <p:sp>
        <p:nvSpPr>
          <p:cNvPr id="23" name="TextBox 22"/>
          <p:cNvSpPr txBox="1"/>
          <p:nvPr/>
        </p:nvSpPr>
        <p:spPr>
          <a:xfrm>
            <a:off x="6446520" y="4608576"/>
            <a:ext cx="4892040" cy="1097280"/>
          </a:xfrm>
          <a:prstGeom prst="rect">
            <a:avLst/>
          </a:prstGeom>
          <a:noFill/>
        </p:spPr>
        <p:txBody>
          <a:bodyPr wrap="square" lIns="0" rIns="0" tIns="0" bIns="0" anchor="t">
            <a:spAutoFit/>
          </a:bodyPr>
          <a:lstStyle/>
          <a:p>
            <a:pPr algn="l"/>
            <a:r>
              <a:rPr sz="950" b="0">
                <a:solidFill>
                  <a:srgbClr val="1B2733"/>
                </a:solidFill>
                <a:latin typeface="Yu Gothic"/>
                <a:ea typeface="Yu Gothic"/>
                <a:cs typeface="Yu Gothic"/>
              </a:rPr>
              <a:t>・1つの行動が3つを同時に守る</a:t>
            </a:r>
          </a:p>
          <a:p>
            <a:pPr algn="l"/>
            <a:r>
              <a:rPr sz="750" b="0">
                <a:solidFill>
                  <a:srgbClr val="5F7183"/>
                </a:solidFill>
                <a:latin typeface="Calibri"/>
                <a:ea typeface="Calibri"/>
                <a:cs typeface="Calibri"/>
              </a:rPr>
              <a:t>  A single action protects all three at once</a:t>
            </a:r>
          </a:p>
          <a:p>
            <a:pPr algn="l">
              <a:spcBef>
                <a:spcPts val="200"/>
              </a:spcBef>
            </a:pPr>
            <a:r>
              <a:rPr sz="950" b="0">
                <a:solidFill>
                  <a:srgbClr val="1B2733"/>
                </a:solidFill>
                <a:latin typeface="Yu Gothic"/>
                <a:ea typeface="Yu Gothic"/>
                <a:cs typeface="Yu Gothic"/>
              </a:rPr>
              <a:t>・1つの過失が3つを同時に損なう</a:t>
            </a:r>
          </a:p>
          <a:p>
            <a:pPr algn="l"/>
            <a:r>
              <a:rPr sz="750" b="0">
                <a:solidFill>
                  <a:srgbClr val="5F7183"/>
                </a:solidFill>
                <a:latin typeface="Calibri"/>
                <a:ea typeface="Calibri"/>
                <a:cs typeface="Calibri"/>
              </a:rPr>
              <a:t>  A single lapse damages all three at once</a:t>
            </a:r>
          </a:p>
          <a:p>
            <a:pPr algn="l">
              <a:spcBef>
                <a:spcPts val="200"/>
              </a:spcBef>
            </a:pPr>
            <a:r>
              <a:rPr sz="950" b="0">
                <a:solidFill>
                  <a:srgbClr val="1B2733"/>
                </a:solidFill>
                <a:latin typeface="Yu Gothic"/>
                <a:ea typeface="Yu Gothic"/>
                <a:cs typeface="Yu Gothic"/>
              </a:rPr>
              <a:t>・例：不適切な入館対応 → 来訪者の体験・情報漏洩・SNS拡散</a:t>
            </a:r>
          </a:p>
          <a:p>
            <a:pPr algn="l"/>
            <a:r>
              <a:rPr sz="750" b="0">
                <a:solidFill>
                  <a:srgbClr val="5F7183"/>
                </a:solidFill>
                <a:latin typeface="Calibri"/>
                <a:ea typeface="Calibri"/>
                <a:cs typeface="Calibri"/>
              </a:rPr>
              <a:t>  Example: a poor entry decision → the visitor's experience, a leak, and social media</a:t>
            </a:r>
          </a:p>
          <a:p>
            <a:pPr algn="l">
              <a:spcBef>
                <a:spcPts val="200"/>
              </a:spcBef>
            </a:pPr>
            <a:r>
              <a:rPr sz="950" b="0">
                <a:solidFill>
                  <a:srgbClr val="1B2733"/>
                </a:solidFill>
                <a:latin typeface="Yu Gothic"/>
                <a:ea typeface="Yu Gothic"/>
                <a:cs typeface="Yu Gothic"/>
              </a:rPr>
              <a:t>・迷ったら「いま何を守っているか」を言葉にする</a:t>
            </a:r>
          </a:p>
          <a:p>
            <a:pPr algn="l"/>
            <a:r>
              <a:rPr sz="750" b="0">
                <a:solidFill>
                  <a:srgbClr val="5F7183"/>
                </a:solidFill>
                <a:latin typeface="Calibri"/>
                <a:ea typeface="Calibri"/>
                <a:cs typeface="Calibri"/>
              </a:rPr>
              <a:t>  When unsure, put into words what you are protecting right now</a:t>
            </a:r>
          </a:p>
        </p:txBody>
      </p:sp>
      <p:sp>
        <p:nvSpPr>
          <p:cNvPr id="24" name="TextBox 23"/>
          <p:cNvSpPr txBox="1"/>
          <p:nvPr/>
        </p:nvSpPr>
        <p:spPr>
          <a:xfrm>
            <a:off x="640080" y="5907024"/>
            <a:ext cx="10908792" cy="310896"/>
          </a:xfrm>
          <a:prstGeom prst="rect">
            <a:avLst/>
          </a:prstGeom>
          <a:noFill/>
        </p:spPr>
        <p:txBody>
          <a:bodyPr wrap="square" lIns="0" rIns="0" tIns="0" bIns="0" anchor="t">
            <a:spAutoFit/>
          </a:bodyPr>
          <a:lstStyle/>
          <a:p>
            <a:pPr algn="l"/>
            <a:r>
              <a:rPr sz="900" b="1">
                <a:solidFill>
                  <a:srgbClr val="0D8A76"/>
                </a:solidFill>
                <a:latin typeface="Yu Gothic"/>
                <a:ea typeface="Yu Gothic"/>
                <a:cs typeface="Yu Gothic"/>
              </a:rPr>
              <a:t>Site SOP優先　何がAsset・People・Reputationに当たるか、その優先順位は配属先のSite SOPに具体的に定められている。</a:t>
            </a:r>
          </a:p>
          <a:p>
            <a:pPr algn="l"/>
            <a:r>
              <a:rPr sz="750" b="0">
                <a:solidFill>
                  <a:srgbClr val="5F7183"/>
                </a:solidFill>
                <a:latin typeface="Calibri"/>
                <a:ea typeface="Calibri"/>
                <a:cs typeface="Calibri"/>
              </a:rPr>
              <a:t>What counts as each pillar, and their priority, are set out specifically in your site's SOP.</a:t>
            </a:r>
          </a:p>
        </p:txBody>
      </p:sp>
      <p:sp>
        <p:nvSpPr>
          <p:cNvPr id="25" name="TextBox 24"/>
          <p:cNvSpPr txBox="1"/>
          <p:nvPr/>
        </p:nvSpPr>
        <p:spPr>
          <a:xfrm>
            <a:off x="640080" y="6199632"/>
            <a:ext cx="9902952" cy="237744"/>
          </a:xfrm>
          <a:prstGeom prst="rect">
            <a:avLst/>
          </a:prstGeom>
          <a:noFill/>
        </p:spPr>
        <p:txBody>
          <a:bodyPr wrap="square" lIns="0" rIns="0" tIns="0" bIns="0" anchor="t">
            <a:spAutoFit/>
          </a:bodyPr>
          <a:lstStyle/>
          <a:p>
            <a:pPr algn="l"/>
            <a:r>
              <a:rPr sz="750" b="1">
                <a:solidFill>
                  <a:srgbClr val="D6E0E9"/>
                </a:solidFill>
                <a:latin typeface="Yu Gothic"/>
                <a:ea typeface="Yu Gothic"/>
                <a:cs typeface="Yu Gothic"/>
              </a:rPr>
              <a:t>ソース　警備業法、警察庁「警備員教育」、ASIS GDL CSO 06 2004</a:t>
            </a:r>
          </a:p>
        </p:txBody>
      </p:sp>
      <p:sp>
        <p:nvSpPr>
          <p:cNvPr id="26" name="TextBox 25"/>
          <p:cNvSpPr txBox="1"/>
          <p:nvPr/>
        </p:nvSpPr>
        <p:spPr>
          <a:xfrm>
            <a:off x="640080" y="6382512"/>
            <a:ext cx="8778240" cy="292608"/>
          </a:xfrm>
          <a:prstGeom prst="rect">
            <a:avLst/>
          </a:prstGeom>
          <a:noFill/>
        </p:spPr>
        <p:txBody>
          <a:bodyPr wrap="square" lIns="0" rIns="0" tIns="0" bIns="0" anchor="t">
            <a:spAutoFit/>
          </a:bodyPr>
          <a:lstStyle/>
          <a:p>
            <a:pPr algn="l"/>
            <a:r>
              <a:rPr sz="900" b="0">
                <a:solidFill>
                  <a:srgbClr val="5F7183"/>
                </a:solidFill>
                <a:latin typeface="Yu Gothic"/>
                <a:ea typeface="Yu Gothic"/>
                <a:cs typeface="Yu Gothic"/>
              </a:rPr>
              <a:t>第1時限｜基本教育1 警備業務実施の基本原則  Period 1 | Basic Training 1 — Fundamental Principles</a:t>
            </a:r>
          </a:p>
        </p:txBody>
      </p:sp>
      <p:sp>
        <p:nvSpPr>
          <p:cNvPr id="27" name="TextBox 26"/>
          <p:cNvSpPr txBox="1"/>
          <p:nvPr/>
        </p:nvSpPr>
        <p:spPr>
          <a:xfrm>
            <a:off x="10634472" y="6382512"/>
            <a:ext cx="914400" cy="292608"/>
          </a:xfrm>
          <a:prstGeom prst="rect">
            <a:avLst/>
          </a:prstGeom>
          <a:noFill/>
        </p:spPr>
        <p:txBody>
          <a:bodyPr wrap="square" lIns="0" rIns="0" tIns="0" bIns="0" anchor="t">
            <a:spAutoFit/>
          </a:bodyPr>
          <a:lstStyle/>
          <a:p>
            <a:pPr algn="r"/>
            <a:r>
              <a:rPr sz="1000" b="0">
                <a:solidFill>
                  <a:srgbClr val="5F7183"/>
                </a:solidFill>
                <a:latin typeface="Calibri"/>
                <a:ea typeface="Calibri"/>
                <a:cs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762488" y="329184"/>
            <a:ext cx="786384" cy="740664"/>
          </a:xfrm>
          <a:prstGeom prst="rect">
            <a:avLst/>
          </a:prstGeom>
        </p:spPr>
      </p:pic>
      <p:sp>
        <p:nvSpPr>
          <p:cNvPr id="3" name="TextBox 2"/>
          <p:cNvSpPr txBox="1"/>
          <p:nvPr/>
        </p:nvSpPr>
        <p:spPr>
          <a:xfrm>
            <a:off x="640080" y="384048"/>
            <a:ext cx="8979408" cy="768096"/>
          </a:xfrm>
          <a:prstGeom prst="rect">
            <a:avLst/>
          </a:prstGeom>
          <a:noFill/>
        </p:spPr>
        <p:txBody>
          <a:bodyPr wrap="square" lIns="0" rIns="0" tIns="0" bIns="0" anchor="t">
            <a:spAutoFit/>
          </a:bodyPr>
          <a:lstStyle/>
          <a:p>
            <a:pPr algn="l"/>
            <a:r>
              <a:rPr sz="2300" b="1">
                <a:solidFill>
                  <a:srgbClr val="093259"/>
                </a:solidFill>
                <a:latin typeface="Yu Gothic"/>
                <a:ea typeface="Yu Gothic"/>
                <a:cs typeface="Yu Gothic"/>
              </a:rPr>
              <a:t>判断の軸と、本講習の3つの問い</a:t>
            </a:r>
          </a:p>
          <a:p>
            <a:pPr algn="l">
              <a:spcBef>
                <a:spcPts val="200"/>
              </a:spcBef>
            </a:pPr>
            <a:r>
              <a:rPr sz="1100" b="0">
                <a:solidFill>
                  <a:srgbClr val="12B198"/>
                </a:solidFill>
                <a:latin typeface="Calibri"/>
                <a:ea typeface="Calibri"/>
                <a:cs typeface="Calibri"/>
              </a:rPr>
              <a:t>How to Decide, and the Three Questions</a:t>
            </a:r>
          </a:p>
        </p:txBody>
      </p:sp>
      <p:sp>
        <p:nvSpPr>
          <p:cNvPr id="4" name="Rounded Rectangle 3"/>
          <p:cNvSpPr/>
          <p:nvPr/>
        </p:nvSpPr>
        <p:spPr>
          <a:xfrm>
            <a:off x="9683496" y="438912"/>
            <a:ext cx="932688" cy="310896"/>
          </a:xfrm>
          <a:prstGeom prst="roundRect">
            <a:avLst>
              <a:gd name="adj" fmla="val 14700"/>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83496" y="438912"/>
            <a:ext cx="932688" cy="310896"/>
          </a:xfrm>
          <a:prstGeom prst="rect">
            <a:avLst/>
          </a:prstGeom>
          <a:noFill/>
        </p:spPr>
        <p:txBody>
          <a:bodyPr wrap="square" lIns="0" rIns="0" tIns="0" bIns="0" anchor="ctr">
            <a:spAutoFit/>
          </a:bodyPr>
          <a:lstStyle/>
          <a:p>
            <a:pPr algn="ctr"/>
            <a:r>
              <a:rPr sz="1100" b="1">
                <a:solidFill>
                  <a:srgbClr val="FFFFFF"/>
                </a:solidFill>
                <a:latin typeface="Calibri"/>
                <a:ea typeface="Calibri"/>
                <a:cs typeface="Calibri"/>
              </a:rPr>
              <a:t>B1</a:t>
            </a:r>
          </a:p>
        </p:txBody>
      </p:sp>
      <p:sp>
        <p:nvSpPr>
          <p:cNvPr id="6" name="Rounded Rectangle 5"/>
          <p:cNvSpPr/>
          <p:nvPr/>
        </p:nvSpPr>
        <p:spPr>
          <a:xfrm>
            <a:off x="640080" y="1188720"/>
            <a:ext cx="10908792" cy="530352"/>
          </a:xfrm>
          <a:prstGeom prst="roundRect">
            <a:avLst>
              <a:gd name="adj" fmla="val 6900"/>
            </a:avLst>
          </a:prstGeom>
          <a:solidFill>
            <a:srgbClr val="E4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234440"/>
            <a:ext cx="10433304" cy="438912"/>
          </a:xfrm>
          <a:prstGeom prst="rect">
            <a:avLst/>
          </a:prstGeom>
          <a:noFill/>
        </p:spPr>
        <p:txBody>
          <a:bodyPr wrap="square" lIns="0" rIns="0" tIns="0" bIns="0" anchor="t">
            <a:spAutoFit/>
          </a:bodyPr>
          <a:lstStyle/>
          <a:p>
            <a:pPr algn="l"/>
            <a:r>
              <a:rPr sz="950" b="1">
                <a:solidFill>
                  <a:srgbClr val="0D8A76"/>
                </a:solidFill>
                <a:latin typeface="Yu Gothic"/>
                <a:ea typeface="Yu Gothic"/>
                <a:cs typeface="Yu Gothic"/>
              </a:rPr>
              <a:t>身につくこと　What You'll Learn　要求がぶつかったときの優先順位を述べ、3つの問いで自分の行動を検証できる。</a:t>
            </a:r>
          </a:p>
          <a:p>
            <a:pPr algn="l"/>
            <a:r>
              <a:rPr sz="850" b="0">
                <a:solidFill>
                  <a:srgbClr val="5F7183"/>
                </a:solidFill>
                <a:latin typeface="Calibri"/>
                <a:ea typeface="Calibri"/>
                <a:cs typeface="Calibri"/>
              </a:rPr>
              <a:t>You can state the priority order when demands conflict, and test your actions with the three questions.</a:t>
            </a:r>
          </a:p>
        </p:txBody>
      </p:sp>
      <p:sp>
        <p:nvSpPr>
          <p:cNvPr id="8" name="Rounded Rectangle 7"/>
          <p:cNvSpPr/>
          <p:nvPr/>
        </p:nvSpPr>
        <p:spPr>
          <a:xfrm>
            <a:off x="640080" y="1810512"/>
            <a:ext cx="5330952" cy="1920240"/>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59" y="1975104"/>
            <a:ext cx="310896" cy="310896"/>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1</a:t>
            </a:r>
          </a:p>
        </p:txBody>
      </p:sp>
      <p:sp>
        <p:nvSpPr>
          <p:cNvPr id="10" name="TextBox 9"/>
          <p:cNvSpPr txBox="1"/>
          <p:nvPr/>
        </p:nvSpPr>
        <p:spPr>
          <a:xfrm>
            <a:off x="1207007" y="1938528"/>
            <a:ext cx="4562856" cy="512064"/>
          </a:xfrm>
          <a:prstGeom prst="rect">
            <a:avLst/>
          </a:prstGeom>
          <a:noFill/>
        </p:spPr>
        <p:txBody>
          <a:bodyPr wrap="square" lIns="0" rIns="0" tIns="0" bIns="0" anchor="t">
            <a:spAutoFit/>
          </a:bodyPr>
          <a:lstStyle/>
          <a:p>
            <a:pPr algn="l"/>
            <a:r>
              <a:rPr sz="1200" b="1">
                <a:solidFill>
                  <a:srgbClr val="093259"/>
                </a:solidFill>
                <a:latin typeface="Yu Gothic"/>
                <a:ea typeface="Yu Gothic"/>
                <a:cs typeface="Yu Gothic"/>
              </a:rPr>
              <a:t>判断軸　優先する順に</a:t>
            </a:r>
          </a:p>
          <a:p>
            <a:pPr algn="l"/>
            <a:r>
              <a:rPr sz="800" b="0">
                <a:solidFill>
                  <a:srgbClr val="12B198"/>
                </a:solidFill>
                <a:latin typeface="Calibri"/>
                <a:ea typeface="Calibri"/>
                <a:cs typeface="Calibri"/>
              </a:rPr>
              <a:t>The Order of Priority</a:t>
            </a:r>
          </a:p>
        </p:txBody>
      </p:sp>
      <p:sp>
        <p:nvSpPr>
          <p:cNvPr id="11" name="TextBox 10"/>
          <p:cNvSpPr txBox="1"/>
          <p:nvPr/>
        </p:nvSpPr>
        <p:spPr>
          <a:xfrm>
            <a:off x="859536" y="2487168"/>
            <a:ext cx="4892040" cy="1097280"/>
          </a:xfrm>
          <a:prstGeom prst="rect">
            <a:avLst/>
          </a:prstGeom>
          <a:noFill/>
        </p:spPr>
        <p:txBody>
          <a:bodyPr wrap="square" lIns="0" rIns="0" tIns="0" bIns="0" anchor="t">
            <a:spAutoFit/>
          </a:bodyPr>
          <a:lstStyle/>
          <a:p>
            <a:pPr algn="l"/>
            <a:r>
              <a:rPr sz="950" b="0">
                <a:solidFill>
                  <a:srgbClr val="1B2733"/>
                </a:solidFill>
                <a:latin typeface="Yu Gothic"/>
                <a:ea typeface="Yu Gothic"/>
                <a:cs typeface="Yu Gothic"/>
              </a:rPr>
              <a:t>・① 人命 ― 迷ったらここに戻る</a:t>
            </a:r>
          </a:p>
          <a:p>
            <a:pPr algn="l"/>
            <a:r>
              <a:rPr sz="750" b="0">
                <a:solidFill>
                  <a:srgbClr val="5F7183"/>
                </a:solidFill>
                <a:latin typeface="Calibri"/>
                <a:ea typeface="Calibri"/>
                <a:cs typeface="Calibri"/>
              </a:rPr>
              <a:t>  1. Life. When in doubt, come back to this</a:t>
            </a:r>
          </a:p>
          <a:p>
            <a:pPr algn="l">
              <a:spcBef>
                <a:spcPts val="200"/>
              </a:spcBef>
            </a:pPr>
            <a:r>
              <a:rPr sz="950" b="0">
                <a:solidFill>
                  <a:srgbClr val="1B2733"/>
                </a:solidFill>
                <a:latin typeface="Yu Gothic"/>
                <a:ea typeface="Yu Gothic"/>
                <a:cs typeface="Yu Gothic"/>
              </a:rPr>
              <a:t>・② 法令 ― 社内規程は法令を超えられない</a:t>
            </a:r>
          </a:p>
          <a:p>
            <a:pPr algn="l"/>
            <a:r>
              <a:rPr sz="750" b="0">
                <a:solidFill>
                  <a:srgbClr val="5F7183"/>
                </a:solidFill>
                <a:latin typeface="Calibri"/>
                <a:ea typeface="Calibri"/>
                <a:cs typeface="Calibri"/>
              </a:rPr>
              <a:t>  2. The law. Internal rules cannot override it</a:t>
            </a:r>
          </a:p>
          <a:p>
            <a:pPr algn="l">
              <a:spcBef>
                <a:spcPts val="200"/>
              </a:spcBef>
            </a:pPr>
            <a:r>
              <a:rPr sz="950" b="0">
                <a:solidFill>
                  <a:srgbClr val="1B2733"/>
                </a:solidFill>
                <a:latin typeface="Yu Gothic"/>
                <a:ea typeface="Yu Gothic"/>
                <a:cs typeface="Yu Gothic"/>
              </a:rPr>
              <a:t>・③ Site SOP ― 現場の手順が一般原則に優先する</a:t>
            </a:r>
          </a:p>
          <a:p>
            <a:pPr algn="l"/>
            <a:r>
              <a:rPr sz="750" b="0">
                <a:solidFill>
                  <a:srgbClr val="5F7183"/>
                </a:solidFill>
                <a:latin typeface="Calibri"/>
                <a:ea typeface="Calibri"/>
                <a:cs typeface="Calibri"/>
              </a:rPr>
              <a:t>  3. The Site SOP. Site procedure prevails over general principles</a:t>
            </a:r>
          </a:p>
          <a:p>
            <a:pPr algn="l">
              <a:spcBef>
                <a:spcPts val="200"/>
              </a:spcBef>
            </a:pPr>
            <a:r>
              <a:rPr sz="950" b="0">
                <a:solidFill>
                  <a:srgbClr val="1B2733"/>
                </a:solidFill>
                <a:latin typeface="Yu Gothic"/>
                <a:ea typeface="Yu Gothic"/>
                <a:cs typeface="Yu Gothic"/>
              </a:rPr>
              <a:t>・④ クライアント要望 ― ①〜③に反しない範囲で</a:t>
            </a:r>
          </a:p>
          <a:p>
            <a:pPr algn="l"/>
            <a:r>
              <a:rPr sz="750" b="0">
                <a:solidFill>
                  <a:srgbClr val="5F7183"/>
                </a:solidFill>
                <a:latin typeface="Calibri"/>
                <a:ea typeface="Calibri"/>
                <a:cs typeface="Calibri"/>
              </a:rPr>
              <a:t>  4. The client's wishes, within the limits of 1 to 3</a:t>
            </a:r>
          </a:p>
        </p:txBody>
      </p:sp>
      <p:sp>
        <p:nvSpPr>
          <p:cNvPr id="12" name="Rounded Rectangle 11"/>
          <p:cNvSpPr/>
          <p:nvPr/>
        </p:nvSpPr>
        <p:spPr>
          <a:xfrm>
            <a:off x="6227064" y="1810512"/>
            <a:ext cx="5330952" cy="1920240"/>
          </a:xfrm>
          <a:prstGeom prst="roundRect">
            <a:avLst>
              <a:gd name="adj" fmla="val 1900"/>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09944" y="1975104"/>
            <a:ext cx="310896" cy="310896"/>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2</a:t>
            </a:r>
          </a:p>
        </p:txBody>
      </p:sp>
      <p:sp>
        <p:nvSpPr>
          <p:cNvPr id="14" name="TextBox 13"/>
          <p:cNvSpPr txBox="1"/>
          <p:nvPr/>
        </p:nvSpPr>
        <p:spPr>
          <a:xfrm>
            <a:off x="6793992" y="1938528"/>
            <a:ext cx="4562856" cy="512064"/>
          </a:xfrm>
          <a:prstGeom prst="rect">
            <a:avLst/>
          </a:prstGeom>
          <a:noFill/>
        </p:spPr>
        <p:txBody>
          <a:bodyPr wrap="square" lIns="0" rIns="0" tIns="0" bIns="0" anchor="t">
            <a:spAutoFit/>
          </a:bodyPr>
          <a:lstStyle/>
          <a:p>
            <a:pPr algn="l"/>
            <a:r>
              <a:rPr sz="1200" b="1">
                <a:solidFill>
                  <a:srgbClr val="093259"/>
                </a:solidFill>
                <a:latin typeface="Yu Gothic"/>
                <a:ea typeface="Yu Gothic"/>
                <a:cs typeface="Yu Gothic"/>
              </a:rPr>
              <a:t>ステークホルダー三層</a:t>
            </a:r>
          </a:p>
          <a:p>
            <a:pPr algn="l"/>
            <a:r>
              <a:rPr sz="800" b="0">
                <a:solidFill>
                  <a:srgbClr val="12B198"/>
                </a:solidFill>
                <a:latin typeface="Calibri"/>
                <a:ea typeface="Calibri"/>
                <a:cs typeface="Calibri"/>
              </a:rPr>
              <a:t>Three-Tier Stakeholders</a:t>
            </a:r>
          </a:p>
        </p:txBody>
      </p:sp>
      <p:sp>
        <p:nvSpPr>
          <p:cNvPr id="15" name="TextBox 14"/>
          <p:cNvSpPr txBox="1"/>
          <p:nvPr/>
        </p:nvSpPr>
        <p:spPr>
          <a:xfrm>
            <a:off x="6446520" y="2487168"/>
            <a:ext cx="4892040" cy="1097280"/>
          </a:xfrm>
          <a:prstGeom prst="rect">
            <a:avLst/>
          </a:prstGeom>
          <a:noFill/>
        </p:spPr>
        <p:txBody>
          <a:bodyPr wrap="square" lIns="0" rIns="0" tIns="0" bIns="0" anchor="t">
            <a:spAutoFit/>
          </a:bodyPr>
          <a:lstStyle/>
          <a:p>
            <a:pPr algn="l"/>
            <a:r>
              <a:rPr sz="950" b="0">
                <a:solidFill>
                  <a:srgbClr val="1B2733"/>
                </a:solidFill>
                <a:latin typeface="Yu Gothic"/>
                <a:ea typeface="Yu Gothic"/>
                <a:cs typeface="Yu Gothic"/>
              </a:rPr>
              <a:t>・自社 ― 警備員の雇用主。教育と指揮命令の主体</a:t>
            </a:r>
          </a:p>
          <a:p>
            <a:pPr algn="l"/>
            <a:r>
              <a:rPr sz="750" b="0">
                <a:solidFill>
                  <a:srgbClr val="5F7183"/>
                </a:solidFill>
                <a:latin typeface="Calibri"/>
                <a:ea typeface="Calibri"/>
                <a:cs typeface="Calibri"/>
              </a:rPr>
              <a:t>  Our company: your employer, responsible for training and the chain of command</a:t>
            </a:r>
          </a:p>
          <a:p>
            <a:pPr algn="l">
              <a:spcBef>
                <a:spcPts val="200"/>
              </a:spcBef>
            </a:pPr>
            <a:r>
              <a:rPr sz="950" b="0">
                <a:solidFill>
                  <a:srgbClr val="1B2733"/>
                </a:solidFill>
                <a:latin typeface="Yu Gothic"/>
                <a:ea typeface="Yu Gothic"/>
                <a:cs typeface="Yu Gothic"/>
              </a:rPr>
              <a:t>・ビルオーナー／施設管理会社 ― 建物そのものの管理権原者</a:t>
            </a:r>
          </a:p>
          <a:p>
            <a:pPr algn="l"/>
            <a:r>
              <a:rPr sz="750" b="0">
                <a:solidFill>
                  <a:srgbClr val="5F7183"/>
                </a:solidFill>
                <a:latin typeface="Calibri"/>
                <a:ea typeface="Calibri"/>
                <a:cs typeface="Calibri"/>
              </a:rPr>
              <a:t>  Building owner or facility manager: holds authority over the building itself</a:t>
            </a:r>
          </a:p>
          <a:p>
            <a:pPr algn="l">
              <a:spcBef>
                <a:spcPts val="200"/>
              </a:spcBef>
            </a:pPr>
            <a:r>
              <a:rPr sz="950" b="0">
                <a:solidFill>
                  <a:srgbClr val="1B2733"/>
                </a:solidFill>
                <a:latin typeface="Yu Gothic"/>
                <a:ea typeface="Yu Gothic"/>
                <a:cs typeface="Yu Gothic"/>
              </a:rPr>
              <a:t>・クライアント企業（テナント）― 発注主でSite SOPの実質決定者</a:t>
            </a:r>
          </a:p>
          <a:p>
            <a:pPr algn="l"/>
            <a:r>
              <a:rPr sz="750" b="0">
                <a:solidFill>
                  <a:srgbClr val="5F7183"/>
                </a:solidFill>
                <a:latin typeface="Calibri"/>
                <a:ea typeface="Calibri"/>
                <a:cs typeface="Calibri"/>
              </a:rPr>
              <a:t>  The client tenant: commissions the service and effectively defines the Site SOP</a:t>
            </a:r>
          </a:p>
          <a:p>
            <a:pPr algn="l">
              <a:spcBef>
                <a:spcPts val="200"/>
              </a:spcBef>
            </a:pPr>
            <a:r>
              <a:rPr sz="950" b="0">
                <a:solidFill>
                  <a:srgbClr val="1B2733"/>
                </a:solidFill>
                <a:latin typeface="Yu Gothic"/>
                <a:ea typeface="Yu Gothic"/>
                <a:cs typeface="Yu Gothic"/>
              </a:rPr>
              <a:t>・報告は現場リーダーから自社へ。クライアント対応は上長経由</a:t>
            </a:r>
          </a:p>
          <a:p>
            <a:pPr algn="l"/>
            <a:r>
              <a:rPr sz="750" b="0">
                <a:solidFill>
                  <a:srgbClr val="5F7183"/>
                </a:solidFill>
                <a:latin typeface="Calibri"/>
                <a:ea typeface="Calibri"/>
                <a:cs typeface="Calibri"/>
              </a:rPr>
              <a:t>  Report via the site leader to our company. Client matters go through your supervisor</a:t>
            </a:r>
          </a:p>
        </p:txBody>
      </p:sp>
      <p:sp>
        <p:nvSpPr>
          <p:cNvPr id="16" name="Rounded Rectangle 15"/>
          <p:cNvSpPr/>
          <p:nvPr/>
        </p:nvSpPr>
        <p:spPr>
          <a:xfrm>
            <a:off x="640080" y="3931920"/>
            <a:ext cx="5330952" cy="1920240"/>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59" y="4096511"/>
            <a:ext cx="310896" cy="310896"/>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3</a:t>
            </a:r>
          </a:p>
        </p:txBody>
      </p:sp>
      <p:sp>
        <p:nvSpPr>
          <p:cNvPr id="18" name="TextBox 17"/>
          <p:cNvSpPr txBox="1"/>
          <p:nvPr/>
        </p:nvSpPr>
        <p:spPr>
          <a:xfrm>
            <a:off x="1207007" y="4059935"/>
            <a:ext cx="4562856" cy="512064"/>
          </a:xfrm>
          <a:prstGeom prst="rect">
            <a:avLst/>
          </a:prstGeom>
          <a:noFill/>
        </p:spPr>
        <p:txBody>
          <a:bodyPr wrap="square" lIns="0" rIns="0" tIns="0" bIns="0" anchor="t">
            <a:spAutoFit/>
          </a:bodyPr>
          <a:lstStyle/>
          <a:p>
            <a:pPr algn="l"/>
            <a:r>
              <a:rPr sz="1200" b="1">
                <a:solidFill>
                  <a:srgbClr val="093259"/>
                </a:solidFill>
                <a:latin typeface="Yu Gothic"/>
                <a:ea typeface="Yu Gothic"/>
                <a:cs typeface="Yu Gothic"/>
              </a:rPr>
              <a:t>本講習の3つの問い</a:t>
            </a:r>
          </a:p>
          <a:p>
            <a:pPr algn="l"/>
            <a:r>
              <a:rPr sz="800" b="0">
                <a:solidFill>
                  <a:srgbClr val="12B198"/>
                </a:solidFill>
                <a:latin typeface="Calibri"/>
                <a:ea typeface="Calibri"/>
                <a:cs typeface="Calibri"/>
              </a:rPr>
              <a:t>Three Questions for This Course</a:t>
            </a:r>
          </a:p>
        </p:txBody>
      </p:sp>
      <p:sp>
        <p:nvSpPr>
          <p:cNvPr id="19" name="TextBox 18"/>
          <p:cNvSpPr txBox="1"/>
          <p:nvPr/>
        </p:nvSpPr>
        <p:spPr>
          <a:xfrm>
            <a:off x="859536" y="4608576"/>
            <a:ext cx="4892040" cy="1097280"/>
          </a:xfrm>
          <a:prstGeom prst="rect">
            <a:avLst/>
          </a:prstGeom>
          <a:noFill/>
        </p:spPr>
        <p:txBody>
          <a:bodyPr wrap="square" lIns="0" rIns="0" tIns="0" bIns="0" anchor="t">
            <a:spAutoFit/>
          </a:bodyPr>
          <a:lstStyle/>
          <a:p>
            <a:pPr algn="l"/>
            <a:r>
              <a:rPr sz="950" b="0">
                <a:solidFill>
                  <a:srgbClr val="1B2733"/>
                </a:solidFill>
                <a:latin typeface="Yu Gothic"/>
                <a:ea typeface="Yu Gothic"/>
                <a:cs typeface="Yu Gothic"/>
              </a:rPr>
              <a:t>・何を守っているのか。People / Asset / Reputation のどれか</a:t>
            </a:r>
          </a:p>
          <a:p>
            <a:pPr algn="l"/>
            <a:r>
              <a:rPr sz="750" b="0">
                <a:solidFill>
                  <a:srgbClr val="5F7183"/>
                </a:solidFill>
                <a:latin typeface="Calibri"/>
                <a:ea typeface="Calibri"/>
                <a:cs typeface="Calibri"/>
              </a:rPr>
              <a:t>  What am I protecting? People, Asset, or Reputation</a:t>
            </a:r>
          </a:p>
          <a:p>
            <a:pPr algn="l">
              <a:spcBef>
                <a:spcPts val="200"/>
              </a:spcBef>
            </a:pPr>
            <a:r>
              <a:rPr sz="950" b="0">
                <a:solidFill>
                  <a:srgbClr val="1B2733"/>
                </a:solidFill>
                <a:latin typeface="Yu Gothic"/>
                <a:ea typeface="Yu Gothic"/>
                <a:cs typeface="Yu Gothic"/>
              </a:rPr>
              <a:t>・どの立場で動くのか。私人か、管理権者の補助者か</a:t>
            </a:r>
          </a:p>
          <a:p>
            <a:pPr algn="l"/>
            <a:r>
              <a:rPr sz="750" b="0">
                <a:solidFill>
                  <a:srgbClr val="5F7183"/>
                </a:solidFill>
                <a:latin typeface="Calibri"/>
                <a:ea typeface="Calibri"/>
                <a:cs typeface="Calibri"/>
              </a:rPr>
              <a:t>  In what capacity am I acting? Private citizen, or agent for the site authority</a:t>
            </a:r>
          </a:p>
          <a:p>
            <a:pPr algn="l">
              <a:spcBef>
                <a:spcPts val="200"/>
              </a:spcBef>
            </a:pPr>
            <a:r>
              <a:rPr sz="950" b="0">
                <a:solidFill>
                  <a:srgbClr val="1B2733"/>
                </a:solidFill>
                <a:latin typeface="Yu Gothic"/>
                <a:ea typeface="Yu Gothic"/>
                <a:cs typeface="Yu Gothic"/>
              </a:rPr>
              <a:t>・その手段は最小限か。越えた場合、何の罪に当たるか</a:t>
            </a:r>
          </a:p>
          <a:p>
            <a:pPr algn="l"/>
            <a:r>
              <a:rPr sz="750" b="0">
                <a:solidFill>
                  <a:srgbClr val="5F7183"/>
                </a:solidFill>
                <a:latin typeface="Calibri"/>
                <a:ea typeface="Calibri"/>
                <a:cs typeface="Calibri"/>
              </a:rPr>
              <a:t>  Is this the minimum action? If I exceed it, what offence does it become</a:t>
            </a:r>
          </a:p>
          <a:p>
            <a:pPr algn="l">
              <a:spcBef>
                <a:spcPts val="200"/>
              </a:spcBef>
            </a:pPr>
            <a:r>
              <a:rPr sz="950" b="0">
                <a:solidFill>
                  <a:srgbClr val="1B2733"/>
                </a:solidFill>
                <a:latin typeface="Yu Gothic"/>
                <a:ea typeface="Yu Gothic"/>
                <a:cs typeface="Yu Gothic"/>
              </a:rPr>
              <a:t>・全14コマでこの3問を使う。結論ではなく根拠を述べること</a:t>
            </a:r>
          </a:p>
          <a:p>
            <a:pPr algn="l"/>
            <a:r>
              <a:rPr sz="750" b="0">
                <a:solidFill>
                  <a:srgbClr val="5F7183"/>
                </a:solidFill>
                <a:latin typeface="Calibri"/>
                <a:ea typeface="Calibri"/>
                <a:cs typeface="Calibri"/>
              </a:rPr>
              <a:t>  We use these in all fourteen sessions. State your reasoning, not just your conclusion</a:t>
            </a:r>
          </a:p>
        </p:txBody>
      </p:sp>
      <p:sp>
        <p:nvSpPr>
          <p:cNvPr id="20" name="Rounded Rectangle 19"/>
          <p:cNvSpPr/>
          <p:nvPr/>
        </p:nvSpPr>
        <p:spPr>
          <a:xfrm>
            <a:off x="6227064" y="3931920"/>
            <a:ext cx="5330952" cy="1920240"/>
          </a:xfrm>
          <a:prstGeom prst="roundRect">
            <a:avLst>
              <a:gd name="adj" fmla="val 1900"/>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09944" y="4096511"/>
            <a:ext cx="310896" cy="310896"/>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4</a:t>
            </a:r>
          </a:p>
        </p:txBody>
      </p:sp>
      <p:sp>
        <p:nvSpPr>
          <p:cNvPr id="22" name="TextBox 21"/>
          <p:cNvSpPr txBox="1"/>
          <p:nvPr/>
        </p:nvSpPr>
        <p:spPr>
          <a:xfrm>
            <a:off x="6793992" y="4059935"/>
            <a:ext cx="4562856" cy="512064"/>
          </a:xfrm>
          <a:prstGeom prst="rect">
            <a:avLst/>
          </a:prstGeom>
          <a:noFill/>
        </p:spPr>
        <p:txBody>
          <a:bodyPr wrap="square" lIns="0" rIns="0" tIns="0" bIns="0" anchor="t">
            <a:spAutoFit/>
          </a:bodyPr>
          <a:lstStyle/>
          <a:p>
            <a:pPr algn="l"/>
            <a:r>
              <a:rPr sz="1200" b="1">
                <a:solidFill>
                  <a:srgbClr val="093259"/>
                </a:solidFill>
                <a:latin typeface="Yu Gothic"/>
                <a:ea typeface="Yu Gothic"/>
                <a:cs typeface="Yu Gothic"/>
              </a:rPr>
              <a:t>2日間の流れ</a:t>
            </a:r>
          </a:p>
          <a:p>
            <a:pPr algn="l"/>
            <a:r>
              <a:rPr sz="800" b="0">
                <a:solidFill>
                  <a:srgbClr val="12B198"/>
                </a:solidFill>
                <a:latin typeface="Calibri"/>
                <a:ea typeface="Calibri"/>
                <a:cs typeface="Calibri"/>
              </a:rPr>
              <a:t>The Two Days</a:t>
            </a:r>
          </a:p>
        </p:txBody>
      </p:sp>
      <p:sp>
        <p:nvSpPr>
          <p:cNvPr id="23" name="TextBox 22"/>
          <p:cNvSpPr txBox="1"/>
          <p:nvPr/>
        </p:nvSpPr>
        <p:spPr>
          <a:xfrm>
            <a:off x="6446520" y="4608576"/>
            <a:ext cx="4892040" cy="1097280"/>
          </a:xfrm>
          <a:prstGeom prst="rect">
            <a:avLst/>
          </a:prstGeom>
          <a:noFill/>
        </p:spPr>
        <p:txBody>
          <a:bodyPr wrap="square" lIns="0" rIns="0" tIns="0" bIns="0" anchor="t">
            <a:spAutoFit/>
          </a:bodyPr>
          <a:lstStyle/>
          <a:p>
            <a:pPr algn="l"/>
            <a:r>
              <a:rPr sz="950" b="0">
                <a:solidFill>
                  <a:srgbClr val="1B2733"/>
                </a:solidFill>
                <a:latin typeface="Yu Gothic"/>
                <a:ea typeface="Yu Gothic"/>
                <a:cs typeface="Yu Gothic"/>
              </a:rPr>
              <a:t>・Day 1 ― 基本教育。全業務に共通する土台</a:t>
            </a:r>
          </a:p>
          <a:p>
            <a:pPr algn="l"/>
            <a:r>
              <a:rPr sz="750" b="0">
                <a:solidFill>
                  <a:srgbClr val="5F7183"/>
                </a:solidFill>
                <a:latin typeface="Calibri"/>
                <a:ea typeface="Calibri"/>
                <a:cs typeface="Calibri"/>
              </a:rPr>
              <a:t>  Day 1: basic training, the foundation common to all duties</a:t>
            </a:r>
          </a:p>
          <a:p>
            <a:pPr algn="l">
              <a:spcBef>
                <a:spcPts val="200"/>
              </a:spcBef>
            </a:pPr>
            <a:r>
              <a:rPr sz="950" b="0">
                <a:solidFill>
                  <a:srgbClr val="1B2733"/>
                </a:solidFill>
                <a:latin typeface="Yu Gothic"/>
                <a:ea typeface="Yu Gothic"/>
                <a:cs typeface="Yu Gothic"/>
              </a:rPr>
              <a:t>・Day 2 ― 業務別教育。施設警備の実務</a:t>
            </a:r>
          </a:p>
          <a:p>
            <a:pPr algn="l"/>
            <a:r>
              <a:rPr sz="750" b="0">
                <a:solidFill>
                  <a:srgbClr val="5F7183"/>
                </a:solidFill>
                <a:latin typeface="Calibri"/>
                <a:ea typeface="Calibri"/>
                <a:cs typeface="Calibri"/>
              </a:rPr>
              <a:t>  Day 2: task-specific training, the practice of facility security</a:t>
            </a:r>
          </a:p>
          <a:p>
            <a:pPr algn="l">
              <a:spcBef>
                <a:spcPts val="200"/>
              </a:spcBef>
            </a:pPr>
            <a:r>
              <a:rPr sz="950" b="0">
                <a:solidFill>
                  <a:srgbClr val="1B2733"/>
                </a:solidFill>
                <a:latin typeface="Yu Gothic"/>
                <a:ea typeface="Yu Gothic"/>
                <a:cs typeface="Yu Gothic"/>
              </a:rPr>
              <a:t>・各日の最後に確認テストを行う</a:t>
            </a:r>
          </a:p>
          <a:p>
            <a:pPr algn="l"/>
            <a:r>
              <a:rPr sz="750" b="0">
                <a:solidFill>
                  <a:srgbClr val="5F7183"/>
                </a:solidFill>
                <a:latin typeface="Calibri"/>
                <a:ea typeface="Calibri"/>
                <a:cs typeface="Calibri"/>
              </a:rPr>
              <a:t>  Each day closes with a short assessment</a:t>
            </a:r>
          </a:p>
          <a:p>
            <a:pPr algn="l">
              <a:spcBef>
                <a:spcPts val="200"/>
              </a:spcBef>
            </a:pPr>
            <a:r>
              <a:rPr sz="950" b="0">
                <a:solidFill>
                  <a:srgbClr val="1B2733"/>
                </a:solidFill>
                <a:latin typeface="Yu Gothic"/>
                <a:ea typeface="Yu Gothic"/>
                <a:cs typeface="Yu Gothic"/>
              </a:rPr>
              <a:t>・第5時限は通報訓練、第6時限は応急手当の実技</a:t>
            </a:r>
          </a:p>
          <a:p>
            <a:pPr algn="l"/>
            <a:r>
              <a:rPr sz="750" b="0">
                <a:solidFill>
                  <a:srgbClr val="5F7183"/>
                </a:solidFill>
                <a:latin typeface="Calibri"/>
                <a:ea typeface="Calibri"/>
                <a:cs typeface="Calibri"/>
              </a:rPr>
              <a:t>  Period 5 is emergency-call practice; Period 6 is hands-on first aid</a:t>
            </a:r>
          </a:p>
        </p:txBody>
      </p:sp>
      <p:sp>
        <p:nvSpPr>
          <p:cNvPr id="24" name="TextBox 23"/>
          <p:cNvSpPr txBox="1"/>
          <p:nvPr/>
        </p:nvSpPr>
        <p:spPr>
          <a:xfrm>
            <a:off x="640080" y="5907024"/>
            <a:ext cx="10908792" cy="310896"/>
          </a:xfrm>
          <a:prstGeom prst="rect">
            <a:avLst/>
          </a:prstGeom>
          <a:noFill/>
        </p:spPr>
        <p:txBody>
          <a:bodyPr wrap="square" lIns="0" rIns="0" tIns="0" bIns="0" anchor="t">
            <a:spAutoFit/>
          </a:bodyPr>
          <a:lstStyle/>
          <a:p>
            <a:pPr algn="l"/>
            <a:r>
              <a:rPr sz="900" b="1">
                <a:solidFill>
                  <a:srgbClr val="0D8A76"/>
                </a:solidFill>
                <a:latin typeface="Yu Gothic"/>
                <a:ea typeface="Yu Gothic"/>
                <a:cs typeface="Yu Gothic"/>
              </a:rPr>
              <a:t>Site SOP優先　報告ライン、クライアント窓口、常駐時間帯は現場ごとに異なる。Site SOPに従う。</a:t>
            </a:r>
          </a:p>
          <a:p>
            <a:pPr algn="l"/>
            <a:r>
              <a:rPr sz="750" b="0">
                <a:solidFill>
                  <a:srgbClr val="5F7183"/>
                </a:solidFill>
                <a:latin typeface="Calibri"/>
                <a:ea typeface="Calibri"/>
                <a:cs typeface="Calibri"/>
              </a:rPr>
              <a:t>Reporting lines, client contacts and staffing hours differ by site. Follow the Site SOP.</a:t>
            </a:r>
          </a:p>
        </p:txBody>
      </p:sp>
      <p:sp>
        <p:nvSpPr>
          <p:cNvPr id="25" name="TextBox 24"/>
          <p:cNvSpPr txBox="1"/>
          <p:nvPr/>
        </p:nvSpPr>
        <p:spPr>
          <a:xfrm>
            <a:off x="640080" y="6199632"/>
            <a:ext cx="9902952" cy="237744"/>
          </a:xfrm>
          <a:prstGeom prst="rect">
            <a:avLst/>
          </a:prstGeom>
          <a:noFill/>
        </p:spPr>
        <p:txBody>
          <a:bodyPr wrap="square" lIns="0" rIns="0" tIns="0" bIns="0" anchor="t">
            <a:spAutoFit/>
          </a:bodyPr>
          <a:lstStyle/>
          <a:p>
            <a:pPr algn="l"/>
            <a:r>
              <a:rPr sz="750" b="1">
                <a:solidFill>
                  <a:srgbClr val="D6E0E9"/>
                </a:solidFill>
                <a:latin typeface="Yu Gothic"/>
                <a:ea typeface="Yu Gothic"/>
                <a:cs typeface="Yu Gothic"/>
              </a:rPr>
              <a:t>ソース　警備業法、警察庁「警備業法等の解釈運用基準」</a:t>
            </a:r>
          </a:p>
        </p:txBody>
      </p:sp>
      <p:sp>
        <p:nvSpPr>
          <p:cNvPr id="26" name="TextBox 25"/>
          <p:cNvSpPr txBox="1"/>
          <p:nvPr/>
        </p:nvSpPr>
        <p:spPr>
          <a:xfrm>
            <a:off x="640080" y="6382512"/>
            <a:ext cx="8778240" cy="292608"/>
          </a:xfrm>
          <a:prstGeom prst="rect">
            <a:avLst/>
          </a:prstGeom>
          <a:noFill/>
        </p:spPr>
        <p:txBody>
          <a:bodyPr wrap="square" lIns="0" rIns="0" tIns="0" bIns="0" anchor="t">
            <a:spAutoFit/>
          </a:bodyPr>
          <a:lstStyle/>
          <a:p>
            <a:pPr algn="l"/>
            <a:r>
              <a:rPr sz="900" b="0">
                <a:solidFill>
                  <a:srgbClr val="5F7183"/>
                </a:solidFill>
                <a:latin typeface="Yu Gothic"/>
                <a:ea typeface="Yu Gothic"/>
                <a:cs typeface="Yu Gothic"/>
              </a:rPr>
              <a:t>第1時限｜基本教育1 警備業務実施の基本原則  Period 1 | Basic Training 1 — Fundamental Principles</a:t>
            </a:r>
          </a:p>
        </p:txBody>
      </p:sp>
      <p:sp>
        <p:nvSpPr>
          <p:cNvPr id="27" name="TextBox 26"/>
          <p:cNvSpPr txBox="1"/>
          <p:nvPr/>
        </p:nvSpPr>
        <p:spPr>
          <a:xfrm>
            <a:off x="10634472" y="6382512"/>
            <a:ext cx="914400" cy="292608"/>
          </a:xfrm>
          <a:prstGeom prst="rect">
            <a:avLst/>
          </a:prstGeom>
          <a:noFill/>
        </p:spPr>
        <p:txBody>
          <a:bodyPr wrap="square" lIns="0" rIns="0" tIns="0" bIns="0" anchor="t">
            <a:spAutoFit/>
          </a:bodyPr>
          <a:lstStyle/>
          <a:p>
            <a:pPr algn="r"/>
            <a:r>
              <a:rPr sz="1000" b="0">
                <a:solidFill>
                  <a:srgbClr val="5F7183"/>
                </a:solidFill>
                <a:latin typeface="Calibri"/>
                <a:ea typeface="Calibri"/>
                <a:cs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762488" y="329184"/>
            <a:ext cx="786384" cy="740664"/>
          </a:xfrm>
          <a:prstGeom prst="rect">
            <a:avLst/>
          </a:prstGeom>
        </p:spPr>
      </p:pic>
      <p:sp>
        <p:nvSpPr>
          <p:cNvPr id="3" name="TextBox 2"/>
          <p:cNvSpPr txBox="1"/>
          <p:nvPr/>
        </p:nvSpPr>
        <p:spPr>
          <a:xfrm>
            <a:off x="640080" y="475488"/>
            <a:ext cx="9802368" cy="960120"/>
          </a:xfrm>
          <a:prstGeom prst="rect">
            <a:avLst/>
          </a:prstGeom>
          <a:noFill/>
        </p:spPr>
        <p:txBody>
          <a:bodyPr wrap="square" lIns="0" rIns="0" tIns="0" bIns="0" anchor="t">
            <a:spAutoFit/>
          </a:bodyPr>
          <a:lstStyle/>
          <a:p>
            <a:pPr algn="l"/>
            <a:r>
              <a:rPr sz="2700" b="1">
                <a:solidFill>
                  <a:srgbClr val="093259"/>
                </a:solidFill>
                <a:latin typeface="Yu Gothic"/>
                <a:ea typeface="Yu Gothic"/>
                <a:cs typeface="Yu Gothic"/>
              </a:rPr>
              <a:t>ミニTTX ― ○か×か、根拠を一言で</a:t>
            </a:r>
          </a:p>
          <a:p>
            <a:pPr algn="l">
              <a:spcBef>
                <a:spcPts val="300"/>
              </a:spcBef>
            </a:pPr>
            <a:r>
              <a:rPr sz="1250" b="0">
                <a:solidFill>
                  <a:srgbClr val="12B198"/>
                </a:solidFill>
                <a:latin typeface="Calibri"/>
                <a:ea typeface="Calibri"/>
                <a:cs typeface="Calibri"/>
              </a:rPr>
              <a:t>Mini TTX — Yes or No, with one line of reasoning</a:t>
            </a:r>
          </a:p>
        </p:txBody>
      </p:sp>
      <p:sp>
        <p:nvSpPr>
          <p:cNvPr id="4" name="TextBox 3"/>
          <p:cNvSpPr txBox="1"/>
          <p:nvPr/>
        </p:nvSpPr>
        <p:spPr>
          <a:xfrm>
            <a:off x="640080" y="1499616"/>
            <a:ext cx="10908792" cy="512064"/>
          </a:xfrm>
          <a:prstGeom prst="rect">
            <a:avLst/>
          </a:prstGeom>
          <a:noFill/>
        </p:spPr>
        <p:txBody>
          <a:bodyPr wrap="square" lIns="0" rIns="0" tIns="0" bIns="0" anchor="t">
            <a:spAutoFit/>
          </a:bodyPr>
          <a:lstStyle/>
          <a:p>
            <a:pPr algn="l"/>
            <a:r>
              <a:rPr sz="1300" b="1">
                <a:solidFill>
                  <a:srgbClr val="093259"/>
                </a:solidFill>
                <a:latin typeface="Yu Gothic"/>
                <a:ea typeface="Yu Gothic"/>
                <a:cs typeface="Yu Gothic"/>
              </a:rPr>
              <a:t>手元に○×と根拠を書いてください。挙手は求めません。指名します。</a:t>
            </a:r>
          </a:p>
          <a:p>
            <a:pPr algn="l"/>
            <a:r>
              <a:rPr sz="1000" b="0">
                <a:solidFill>
                  <a:srgbClr val="5F7183"/>
                </a:solidFill>
                <a:latin typeface="Calibri"/>
                <a:ea typeface="Calibri"/>
                <a:cs typeface="Calibri"/>
              </a:rPr>
              <a:t>Write your answer and your reason. No hands needed. I will call on you.</a:t>
            </a:r>
          </a:p>
        </p:txBody>
      </p:sp>
      <p:sp>
        <p:nvSpPr>
          <p:cNvPr id="5" name="Rounded Rectangle 4"/>
          <p:cNvSpPr/>
          <p:nvPr/>
        </p:nvSpPr>
        <p:spPr>
          <a:xfrm>
            <a:off x="640080" y="2194560"/>
            <a:ext cx="5321808" cy="896112"/>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2478024"/>
            <a:ext cx="329184" cy="329184"/>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1</a:t>
            </a:r>
          </a:p>
        </p:txBody>
      </p:sp>
      <p:sp>
        <p:nvSpPr>
          <p:cNvPr id="7" name="TextBox 6"/>
          <p:cNvSpPr txBox="1"/>
          <p:nvPr/>
        </p:nvSpPr>
        <p:spPr>
          <a:xfrm>
            <a:off x="1243584" y="2267712"/>
            <a:ext cx="4480560" cy="749808"/>
          </a:xfrm>
          <a:prstGeom prst="rect">
            <a:avLst/>
          </a:prstGeom>
          <a:noFill/>
        </p:spPr>
        <p:txBody>
          <a:bodyPr wrap="square" lIns="0" rIns="0" tIns="0" bIns="0" anchor="t">
            <a:spAutoFit/>
          </a:bodyPr>
          <a:lstStyle/>
          <a:p>
            <a:pPr algn="l"/>
            <a:r>
              <a:rPr sz="1150" b="0">
                <a:solidFill>
                  <a:srgbClr val="1B2733"/>
                </a:solidFill>
                <a:latin typeface="Yu Gothic"/>
                <a:ea typeface="Yu Gothic"/>
                <a:cs typeface="Yu Gothic"/>
              </a:rPr>
              <a:t>自社の社員が自社ビルを見回るのは、警備業である。</a:t>
            </a:r>
          </a:p>
          <a:p>
            <a:pPr algn="l"/>
            <a:r>
              <a:rPr sz="900" b="0">
                <a:solidFill>
                  <a:srgbClr val="5F7183"/>
                </a:solidFill>
                <a:latin typeface="Calibri"/>
                <a:ea typeface="Calibri"/>
                <a:cs typeface="Calibri"/>
              </a:rPr>
              <a:t>A company's own staff patrolling its own building is the security industry.</a:t>
            </a:r>
          </a:p>
        </p:txBody>
      </p:sp>
      <p:sp>
        <p:nvSpPr>
          <p:cNvPr id="8" name="Rounded Rectangle 7"/>
          <p:cNvSpPr/>
          <p:nvPr/>
        </p:nvSpPr>
        <p:spPr>
          <a:xfrm>
            <a:off x="6236208" y="2194560"/>
            <a:ext cx="5321808" cy="896112"/>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19088" y="2478024"/>
            <a:ext cx="329184" cy="329184"/>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2</a:t>
            </a:r>
          </a:p>
        </p:txBody>
      </p:sp>
      <p:sp>
        <p:nvSpPr>
          <p:cNvPr id="10" name="TextBox 9"/>
          <p:cNvSpPr txBox="1"/>
          <p:nvPr/>
        </p:nvSpPr>
        <p:spPr>
          <a:xfrm>
            <a:off x="6839712" y="2267712"/>
            <a:ext cx="4480560" cy="749808"/>
          </a:xfrm>
          <a:prstGeom prst="rect">
            <a:avLst/>
          </a:prstGeom>
          <a:noFill/>
        </p:spPr>
        <p:txBody>
          <a:bodyPr wrap="square" lIns="0" rIns="0" tIns="0" bIns="0" anchor="t">
            <a:spAutoFit/>
          </a:bodyPr>
          <a:lstStyle/>
          <a:p>
            <a:pPr algn="l"/>
            <a:r>
              <a:rPr sz="1150" b="0">
                <a:solidFill>
                  <a:srgbClr val="1B2733"/>
                </a:solidFill>
                <a:latin typeface="Yu Gothic"/>
                <a:ea typeface="Yu Gothic"/>
                <a:cs typeface="Yu Gothic"/>
              </a:rPr>
              <a:t>警備員は制服を着ているので、警察官に準じた権限がある。</a:t>
            </a:r>
          </a:p>
          <a:p>
            <a:pPr algn="l"/>
            <a:r>
              <a:rPr sz="900" b="0">
                <a:solidFill>
                  <a:srgbClr val="5F7183"/>
                </a:solidFill>
                <a:latin typeface="Calibri"/>
                <a:ea typeface="Calibri"/>
                <a:cs typeface="Calibri"/>
              </a:rPr>
              <a:t>A guard in uniform has powers similar to a police officer.</a:t>
            </a:r>
          </a:p>
        </p:txBody>
      </p:sp>
      <p:sp>
        <p:nvSpPr>
          <p:cNvPr id="11" name="Rounded Rectangle 10"/>
          <p:cNvSpPr/>
          <p:nvPr/>
        </p:nvSpPr>
        <p:spPr>
          <a:xfrm>
            <a:off x="640080" y="3236976"/>
            <a:ext cx="5321808" cy="896112"/>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59" y="3520440"/>
            <a:ext cx="329184" cy="329184"/>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3</a:t>
            </a:r>
          </a:p>
        </p:txBody>
      </p:sp>
      <p:sp>
        <p:nvSpPr>
          <p:cNvPr id="13" name="TextBox 12"/>
          <p:cNvSpPr txBox="1"/>
          <p:nvPr/>
        </p:nvSpPr>
        <p:spPr>
          <a:xfrm>
            <a:off x="1243584" y="3310128"/>
            <a:ext cx="4480560" cy="749808"/>
          </a:xfrm>
          <a:prstGeom prst="rect">
            <a:avLst/>
          </a:prstGeom>
          <a:noFill/>
        </p:spPr>
        <p:txBody>
          <a:bodyPr wrap="square" lIns="0" rIns="0" tIns="0" bIns="0" anchor="t">
            <a:spAutoFit/>
          </a:bodyPr>
          <a:lstStyle/>
          <a:p>
            <a:pPr algn="l"/>
            <a:r>
              <a:rPr sz="1150" b="0">
                <a:solidFill>
                  <a:srgbClr val="1B2733"/>
                </a:solidFill>
                <a:latin typeface="Yu Gothic"/>
                <a:ea typeface="Yu Gothic"/>
                <a:cs typeface="Yu Gothic"/>
              </a:rPr>
              <a:t>現行犯逮捕は、警備員だからできることである。</a:t>
            </a:r>
          </a:p>
          <a:p>
            <a:pPr algn="l"/>
            <a:r>
              <a:rPr sz="900" b="0">
                <a:solidFill>
                  <a:srgbClr val="5F7183"/>
                </a:solidFill>
                <a:latin typeface="Calibri"/>
                <a:ea typeface="Calibri"/>
                <a:cs typeface="Calibri"/>
              </a:rPr>
              <a:t>Citizen's arrest is something you can do because you are a guard.</a:t>
            </a:r>
          </a:p>
        </p:txBody>
      </p:sp>
      <p:sp>
        <p:nvSpPr>
          <p:cNvPr id="14" name="Rounded Rectangle 13"/>
          <p:cNvSpPr/>
          <p:nvPr/>
        </p:nvSpPr>
        <p:spPr>
          <a:xfrm>
            <a:off x="6236208" y="3236976"/>
            <a:ext cx="5321808" cy="896112"/>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19088" y="3520440"/>
            <a:ext cx="329184" cy="329184"/>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4</a:t>
            </a:r>
          </a:p>
        </p:txBody>
      </p:sp>
      <p:sp>
        <p:nvSpPr>
          <p:cNvPr id="16" name="TextBox 15"/>
          <p:cNvSpPr txBox="1"/>
          <p:nvPr/>
        </p:nvSpPr>
        <p:spPr>
          <a:xfrm>
            <a:off x="6839712" y="3310128"/>
            <a:ext cx="4480560" cy="749808"/>
          </a:xfrm>
          <a:prstGeom prst="rect">
            <a:avLst/>
          </a:prstGeom>
          <a:noFill/>
        </p:spPr>
        <p:txBody>
          <a:bodyPr wrap="square" lIns="0" rIns="0" tIns="0" bIns="0" anchor="t">
            <a:spAutoFit/>
          </a:bodyPr>
          <a:lstStyle/>
          <a:p>
            <a:pPr algn="l"/>
            <a:r>
              <a:rPr sz="1150" b="0">
                <a:solidFill>
                  <a:srgbClr val="1B2733"/>
                </a:solidFill>
                <a:latin typeface="Yu Gothic"/>
                <a:ea typeface="Yu Gothic"/>
                <a:cs typeface="Yu Gothic"/>
              </a:rPr>
              <a:t>警備員の服装は、警察官の制服と紛らわしくてもよい。</a:t>
            </a:r>
          </a:p>
          <a:p>
            <a:pPr algn="l"/>
            <a:r>
              <a:rPr sz="900" b="0">
                <a:solidFill>
                  <a:srgbClr val="5F7183"/>
                </a:solidFill>
                <a:latin typeface="Calibri"/>
                <a:ea typeface="Calibri"/>
                <a:cs typeface="Calibri"/>
              </a:rPr>
              <a:t>A guard's uniform may closely resemble a police uniform.</a:t>
            </a:r>
          </a:p>
        </p:txBody>
      </p:sp>
      <p:sp>
        <p:nvSpPr>
          <p:cNvPr id="17" name="Rounded Rectangle 16"/>
          <p:cNvSpPr/>
          <p:nvPr/>
        </p:nvSpPr>
        <p:spPr>
          <a:xfrm>
            <a:off x="640080" y="4288536"/>
            <a:ext cx="5321808" cy="896112"/>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59" y="4572000"/>
            <a:ext cx="329184" cy="329184"/>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5</a:t>
            </a:r>
          </a:p>
        </p:txBody>
      </p:sp>
      <p:sp>
        <p:nvSpPr>
          <p:cNvPr id="19" name="TextBox 18"/>
          <p:cNvSpPr txBox="1"/>
          <p:nvPr/>
        </p:nvSpPr>
        <p:spPr>
          <a:xfrm>
            <a:off x="1243584" y="4361688"/>
            <a:ext cx="4480560" cy="749808"/>
          </a:xfrm>
          <a:prstGeom prst="rect">
            <a:avLst/>
          </a:prstGeom>
          <a:noFill/>
        </p:spPr>
        <p:txBody>
          <a:bodyPr wrap="square" lIns="0" rIns="0" tIns="0" bIns="0" anchor="t">
            <a:spAutoFit/>
          </a:bodyPr>
          <a:lstStyle/>
          <a:p>
            <a:pPr algn="l"/>
            <a:r>
              <a:rPr sz="1150" b="0">
                <a:solidFill>
                  <a:srgbClr val="1B2733"/>
                </a:solidFill>
                <a:latin typeface="Yu Gothic"/>
                <a:ea typeface="Yu Gothic"/>
                <a:cs typeface="Yu Gothic"/>
              </a:rPr>
              <a:t>入館の可否を判断できるのは、管理権者から委ねられているからである。</a:t>
            </a:r>
          </a:p>
          <a:p>
            <a:pPr algn="l"/>
            <a:r>
              <a:rPr sz="900" b="0">
                <a:solidFill>
                  <a:srgbClr val="5F7183"/>
                </a:solidFill>
                <a:latin typeface="Calibri"/>
                <a:ea typeface="Calibri"/>
                <a:cs typeface="Calibri"/>
              </a:rPr>
              <a:t>You can decide on admission because the site authority delegated it.</a:t>
            </a:r>
          </a:p>
        </p:txBody>
      </p:sp>
      <p:sp>
        <p:nvSpPr>
          <p:cNvPr id="20" name="Rounded Rectangle 19"/>
          <p:cNvSpPr/>
          <p:nvPr/>
        </p:nvSpPr>
        <p:spPr>
          <a:xfrm>
            <a:off x="6236208" y="4288536"/>
            <a:ext cx="5321808" cy="896112"/>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19088" y="4572000"/>
            <a:ext cx="329184" cy="329184"/>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6</a:t>
            </a:r>
          </a:p>
        </p:txBody>
      </p:sp>
      <p:sp>
        <p:nvSpPr>
          <p:cNvPr id="22" name="TextBox 21"/>
          <p:cNvSpPr txBox="1"/>
          <p:nvPr/>
        </p:nvSpPr>
        <p:spPr>
          <a:xfrm>
            <a:off x="6839712" y="4361688"/>
            <a:ext cx="4480560" cy="749808"/>
          </a:xfrm>
          <a:prstGeom prst="rect">
            <a:avLst/>
          </a:prstGeom>
          <a:noFill/>
        </p:spPr>
        <p:txBody>
          <a:bodyPr wrap="square" lIns="0" rIns="0" tIns="0" bIns="0" anchor="t">
            <a:spAutoFit/>
          </a:bodyPr>
          <a:lstStyle/>
          <a:p>
            <a:pPr algn="l"/>
            <a:r>
              <a:rPr sz="1150" b="0">
                <a:solidFill>
                  <a:srgbClr val="1B2733"/>
                </a:solidFill>
                <a:latin typeface="Yu Gothic"/>
                <a:ea typeface="Yu Gothic"/>
                <a:cs typeface="Yu Gothic"/>
              </a:rPr>
              <a:t>クライアントの要望は、法令より優先される。</a:t>
            </a:r>
          </a:p>
          <a:p>
            <a:pPr algn="l"/>
            <a:r>
              <a:rPr sz="900" b="0">
                <a:solidFill>
                  <a:srgbClr val="5F7183"/>
                </a:solidFill>
                <a:latin typeface="Calibri"/>
                <a:ea typeface="Calibri"/>
                <a:cs typeface="Calibri"/>
              </a:rPr>
              <a:t>The client's wishes take precedence over the law.</a:t>
            </a:r>
          </a:p>
        </p:txBody>
      </p:sp>
      <p:sp>
        <p:nvSpPr>
          <p:cNvPr id="23" name="Rounded Rectangle 22"/>
          <p:cNvSpPr/>
          <p:nvPr/>
        </p:nvSpPr>
        <p:spPr>
          <a:xfrm>
            <a:off x="640080" y="5330952"/>
            <a:ext cx="5321808" cy="896112"/>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22959" y="5614416"/>
            <a:ext cx="329184" cy="329184"/>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7</a:t>
            </a:r>
          </a:p>
        </p:txBody>
      </p:sp>
      <p:sp>
        <p:nvSpPr>
          <p:cNvPr id="25" name="TextBox 24"/>
          <p:cNvSpPr txBox="1"/>
          <p:nvPr/>
        </p:nvSpPr>
        <p:spPr>
          <a:xfrm>
            <a:off x="1243584" y="5404104"/>
            <a:ext cx="4480560" cy="749808"/>
          </a:xfrm>
          <a:prstGeom prst="rect">
            <a:avLst/>
          </a:prstGeom>
          <a:noFill/>
        </p:spPr>
        <p:txBody>
          <a:bodyPr wrap="square" lIns="0" rIns="0" tIns="0" bIns="0" anchor="t">
            <a:spAutoFit/>
          </a:bodyPr>
          <a:lstStyle/>
          <a:p>
            <a:pPr algn="l"/>
            <a:r>
              <a:rPr sz="1150" b="0">
                <a:solidFill>
                  <a:srgbClr val="1B2733"/>
                </a:solidFill>
                <a:latin typeface="Yu Gothic"/>
                <a:ea typeface="Yu Gothic"/>
                <a:cs typeface="Yu Gothic"/>
              </a:rPr>
              <a:t>警備業を営むには、公安委員会の認定が必要である。</a:t>
            </a:r>
          </a:p>
          <a:p>
            <a:pPr algn="l"/>
            <a:r>
              <a:rPr sz="900" b="0">
                <a:solidFill>
                  <a:srgbClr val="5F7183"/>
                </a:solidFill>
                <a:latin typeface="Calibri"/>
                <a:ea typeface="Calibri"/>
                <a:cs typeface="Calibri"/>
              </a:rPr>
              <a:t>Operating a security business requires certification by the commission.</a:t>
            </a:r>
          </a:p>
        </p:txBody>
      </p:sp>
      <p:sp>
        <p:nvSpPr>
          <p:cNvPr id="26" name="Rounded Rectangle 25"/>
          <p:cNvSpPr/>
          <p:nvPr/>
        </p:nvSpPr>
        <p:spPr>
          <a:xfrm>
            <a:off x="6236208" y="5330952"/>
            <a:ext cx="5321808" cy="896112"/>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19088" y="5614416"/>
            <a:ext cx="329184" cy="329184"/>
          </a:xfrm>
          <a:prstGeom prst="ellipse">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8</a:t>
            </a:r>
          </a:p>
        </p:txBody>
      </p:sp>
      <p:sp>
        <p:nvSpPr>
          <p:cNvPr id="28" name="TextBox 27"/>
          <p:cNvSpPr txBox="1"/>
          <p:nvPr/>
        </p:nvSpPr>
        <p:spPr>
          <a:xfrm>
            <a:off x="6839712" y="5404104"/>
            <a:ext cx="4480560" cy="749808"/>
          </a:xfrm>
          <a:prstGeom prst="rect">
            <a:avLst/>
          </a:prstGeom>
          <a:noFill/>
        </p:spPr>
        <p:txBody>
          <a:bodyPr wrap="square" lIns="0" rIns="0" tIns="0" bIns="0" anchor="t">
            <a:spAutoFit/>
          </a:bodyPr>
          <a:lstStyle/>
          <a:p>
            <a:pPr algn="l"/>
            <a:r>
              <a:rPr sz="1150" b="0">
                <a:solidFill>
                  <a:srgbClr val="1B2733"/>
                </a:solidFill>
                <a:latin typeface="Yu Gothic"/>
                <a:ea typeface="Yu Gothic"/>
                <a:cs typeface="Yu Gothic"/>
              </a:rPr>
              <a:t>守るのは物理資産だけで、情報は警備の対象外である。</a:t>
            </a:r>
          </a:p>
          <a:p>
            <a:pPr algn="l"/>
            <a:r>
              <a:rPr sz="900" b="0">
                <a:solidFill>
                  <a:srgbClr val="5F7183"/>
                </a:solidFill>
                <a:latin typeface="Calibri"/>
                <a:ea typeface="Calibri"/>
                <a:cs typeface="Calibri"/>
              </a:rPr>
              <a:t>Only physical assets are protected; information is outside a guard's scope.</a:t>
            </a:r>
          </a:p>
        </p:txBody>
      </p:sp>
      <p:sp>
        <p:nvSpPr>
          <p:cNvPr id="29" name="TextBox 28"/>
          <p:cNvSpPr txBox="1"/>
          <p:nvPr/>
        </p:nvSpPr>
        <p:spPr>
          <a:xfrm>
            <a:off x="640080" y="6382512"/>
            <a:ext cx="8778240" cy="292608"/>
          </a:xfrm>
          <a:prstGeom prst="rect">
            <a:avLst/>
          </a:prstGeom>
          <a:noFill/>
        </p:spPr>
        <p:txBody>
          <a:bodyPr wrap="square" lIns="0" rIns="0" tIns="0" bIns="0" anchor="t">
            <a:spAutoFit/>
          </a:bodyPr>
          <a:lstStyle/>
          <a:p>
            <a:pPr algn="l"/>
            <a:r>
              <a:rPr sz="900" b="0">
                <a:solidFill>
                  <a:srgbClr val="5F7183"/>
                </a:solidFill>
                <a:latin typeface="Yu Gothic"/>
                <a:ea typeface="Yu Gothic"/>
                <a:cs typeface="Yu Gothic"/>
              </a:rPr>
              <a:t>第1時限｜基本教育1 警備業務実施の基本原則  Period 1 | Basic Training 1 — Fundamental Principles</a:t>
            </a:r>
          </a:p>
        </p:txBody>
      </p:sp>
      <p:sp>
        <p:nvSpPr>
          <p:cNvPr id="30" name="TextBox 29"/>
          <p:cNvSpPr txBox="1"/>
          <p:nvPr/>
        </p:nvSpPr>
        <p:spPr>
          <a:xfrm>
            <a:off x="10634472" y="6382512"/>
            <a:ext cx="914400" cy="292608"/>
          </a:xfrm>
          <a:prstGeom prst="rect">
            <a:avLst/>
          </a:prstGeom>
          <a:noFill/>
        </p:spPr>
        <p:txBody>
          <a:bodyPr wrap="square" lIns="0" rIns="0" tIns="0" bIns="0" anchor="t">
            <a:spAutoFit/>
          </a:bodyPr>
          <a:lstStyle/>
          <a:p>
            <a:pPr algn="r"/>
            <a:r>
              <a:rPr sz="1000" b="0">
                <a:solidFill>
                  <a:srgbClr val="5F7183"/>
                </a:solidFill>
                <a:latin typeface="Calibri"/>
                <a:ea typeface="Calibri"/>
                <a:cs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762488" y="329184"/>
            <a:ext cx="786384" cy="740664"/>
          </a:xfrm>
          <a:prstGeom prst="rect">
            <a:avLst/>
          </a:prstGeom>
        </p:spPr>
      </p:pic>
      <p:sp>
        <p:nvSpPr>
          <p:cNvPr id="3" name="TextBox 2"/>
          <p:cNvSpPr txBox="1"/>
          <p:nvPr/>
        </p:nvSpPr>
        <p:spPr>
          <a:xfrm>
            <a:off x="640080" y="475488"/>
            <a:ext cx="9802368" cy="960120"/>
          </a:xfrm>
          <a:prstGeom prst="rect">
            <a:avLst/>
          </a:prstGeom>
          <a:noFill/>
        </p:spPr>
        <p:txBody>
          <a:bodyPr wrap="square" lIns="0" rIns="0" tIns="0" bIns="0" anchor="t">
            <a:spAutoFit/>
          </a:bodyPr>
          <a:lstStyle/>
          <a:p>
            <a:pPr algn="l"/>
            <a:r>
              <a:rPr sz="2700" b="1">
                <a:solidFill>
                  <a:srgbClr val="093259"/>
                </a:solidFill>
                <a:latin typeface="Yu Gothic"/>
                <a:ea typeface="Yu Gothic"/>
                <a:cs typeface="Yu Gothic"/>
              </a:rPr>
              <a:t>ミニTTX ― 解答と根拠の示し方</a:t>
            </a:r>
          </a:p>
          <a:p>
            <a:pPr algn="l">
              <a:spcBef>
                <a:spcPts val="300"/>
              </a:spcBef>
            </a:pPr>
            <a:r>
              <a:rPr sz="1250" b="0">
                <a:solidFill>
                  <a:srgbClr val="12B198"/>
                </a:solidFill>
                <a:latin typeface="Calibri"/>
                <a:ea typeface="Calibri"/>
                <a:cs typeface="Calibri"/>
              </a:rPr>
              <a:t>Mini TTX — Answers and How to State Your Reasoning</a:t>
            </a:r>
          </a:p>
        </p:txBody>
      </p:sp>
      <p:sp>
        <p:nvSpPr>
          <p:cNvPr id="4" name="TextBox 3"/>
          <p:cNvSpPr txBox="1"/>
          <p:nvPr/>
        </p:nvSpPr>
        <p:spPr>
          <a:xfrm>
            <a:off x="640080" y="1536192"/>
            <a:ext cx="10908792" cy="566928"/>
          </a:xfrm>
          <a:prstGeom prst="rect">
            <a:avLst/>
          </a:prstGeom>
          <a:noFill/>
        </p:spPr>
        <p:txBody>
          <a:bodyPr wrap="square" lIns="0" rIns="0" tIns="0" bIns="0" anchor="t">
            <a:spAutoFit/>
          </a:bodyPr>
          <a:lstStyle/>
          <a:p>
            <a:pPr algn="l"/>
            <a:r>
              <a:rPr sz="1300" b="1">
                <a:solidFill>
                  <a:srgbClr val="093259"/>
                </a:solidFill>
                <a:latin typeface="Yu Gothic"/>
                <a:ea typeface="Yu Gothic"/>
                <a:cs typeface="Yu Gothic"/>
              </a:rPr>
              <a:t>解答　1 ×　2 ×　3 ×　4 ×　5 ○　6 ×　7 ○　8 ×</a:t>
            </a:r>
          </a:p>
          <a:p>
            <a:pPr algn="l"/>
            <a:r>
              <a:rPr sz="1000" b="0">
                <a:solidFill>
                  <a:srgbClr val="5F7183"/>
                </a:solidFill>
                <a:latin typeface="Calibri"/>
                <a:ea typeface="Calibri"/>
                <a:cs typeface="Calibri"/>
              </a:rPr>
              <a:t>Answers:  1 No · 2 No · 3 No · 4 No · 5 Yes · 6 No · 7 Yes · 8 No</a:t>
            </a:r>
          </a:p>
        </p:txBody>
      </p:sp>
      <p:sp>
        <p:nvSpPr>
          <p:cNvPr id="5" name="Rounded Rectangle 4"/>
          <p:cNvSpPr/>
          <p:nvPr/>
        </p:nvSpPr>
        <p:spPr>
          <a:xfrm>
            <a:off x="640080" y="2286000"/>
            <a:ext cx="10908792" cy="704088"/>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96112" y="2432304"/>
            <a:ext cx="384048" cy="38404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Calibri"/>
                <a:ea typeface="Calibri"/>
                <a:cs typeface="Calibri"/>
              </a:rPr>
              <a:t>1</a:t>
            </a:r>
          </a:p>
        </p:txBody>
      </p:sp>
      <p:sp>
        <p:nvSpPr>
          <p:cNvPr id="7" name="TextBox 6"/>
          <p:cNvSpPr txBox="1"/>
          <p:nvPr/>
        </p:nvSpPr>
        <p:spPr>
          <a:xfrm>
            <a:off x="1499616" y="2377440"/>
            <a:ext cx="9774936" cy="521207"/>
          </a:xfrm>
          <a:prstGeom prst="rect">
            <a:avLst/>
          </a:prstGeom>
          <a:noFill/>
        </p:spPr>
        <p:txBody>
          <a:bodyPr wrap="square" lIns="0" rIns="0" tIns="0" bIns="0" anchor="t">
            <a:spAutoFit/>
          </a:bodyPr>
          <a:lstStyle/>
          <a:p>
            <a:pPr algn="l"/>
            <a:r>
              <a:rPr sz="1450" b="0">
                <a:solidFill>
                  <a:srgbClr val="1B2733"/>
                </a:solidFill>
                <a:latin typeface="Yu Gothic"/>
                <a:ea typeface="Yu Gothic"/>
                <a:cs typeface="Yu Gothic"/>
              </a:rPr>
              <a:t>設問1は「他人の需要に応じて」が要件です。自社を自社が守るのは警備業ではありません。</a:t>
            </a:r>
          </a:p>
          <a:p>
            <a:pPr algn="l"/>
            <a:r>
              <a:rPr sz="1050" b="0">
                <a:solidFill>
                  <a:srgbClr val="5F7183"/>
                </a:solidFill>
                <a:latin typeface="Calibri"/>
                <a:ea typeface="Calibri"/>
                <a:cs typeface="Calibri"/>
              </a:rPr>
              <a:t>Item 1 turns on serving the needs of others. Guarding your own premises is not the industry.</a:t>
            </a:r>
          </a:p>
        </p:txBody>
      </p:sp>
      <p:sp>
        <p:nvSpPr>
          <p:cNvPr id="8" name="Rounded Rectangle 7"/>
          <p:cNvSpPr/>
          <p:nvPr/>
        </p:nvSpPr>
        <p:spPr>
          <a:xfrm>
            <a:off x="640080" y="3099816"/>
            <a:ext cx="10908792" cy="704088"/>
          </a:xfrm>
          <a:prstGeom prst="roundRect">
            <a:avLst>
              <a:gd name="adj" fmla="val 1900"/>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3246120"/>
            <a:ext cx="384048" cy="38404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Calibri"/>
                <a:ea typeface="Calibri"/>
                <a:cs typeface="Calibri"/>
              </a:rPr>
              <a:t>2</a:t>
            </a:r>
          </a:p>
        </p:txBody>
      </p:sp>
      <p:sp>
        <p:nvSpPr>
          <p:cNvPr id="10" name="TextBox 9"/>
          <p:cNvSpPr txBox="1"/>
          <p:nvPr/>
        </p:nvSpPr>
        <p:spPr>
          <a:xfrm>
            <a:off x="1499616" y="3191256"/>
            <a:ext cx="9774936" cy="521207"/>
          </a:xfrm>
          <a:prstGeom prst="rect">
            <a:avLst/>
          </a:prstGeom>
          <a:noFill/>
        </p:spPr>
        <p:txBody>
          <a:bodyPr wrap="square" lIns="0" rIns="0" tIns="0" bIns="0" anchor="t">
            <a:spAutoFit/>
          </a:bodyPr>
          <a:lstStyle/>
          <a:p>
            <a:pPr algn="l"/>
            <a:r>
              <a:rPr sz="1450" b="0">
                <a:solidFill>
                  <a:srgbClr val="1B2733"/>
                </a:solidFill>
                <a:latin typeface="Yu Gothic"/>
                <a:ea typeface="Yu Gothic"/>
                <a:cs typeface="Yu Gothic"/>
              </a:rPr>
              <a:t>設問2・3は同じ論点です。制服では権限は増えず、現行犯逮捕は誰でもできることです。</a:t>
            </a:r>
          </a:p>
          <a:p>
            <a:pPr algn="l"/>
            <a:r>
              <a:rPr sz="1050" b="0">
                <a:solidFill>
                  <a:srgbClr val="5F7183"/>
                </a:solidFill>
                <a:latin typeface="Calibri"/>
                <a:ea typeface="Calibri"/>
                <a:cs typeface="Calibri"/>
              </a:rPr>
              <a:t>Items 2 and 3 are the same point. The uniform adds nothing, and anyone may make a citizen's arrest.</a:t>
            </a:r>
          </a:p>
        </p:txBody>
      </p:sp>
      <p:sp>
        <p:nvSpPr>
          <p:cNvPr id="11" name="Rounded Rectangle 10"/>
          <p:cNvSpPr/>
          <p:nvPr/>
        </p:nvSpPr>
        <p:spPr>
          <a:xfrm>
            <a:off x="640080" y="3913632"/>
            <a:ext cx="10908792" cy="704088"/>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96112" y="4059936"/>
            <a:ext cx="384048" cy="38404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Calibri"/>
                <a:ea typeface="Calibri"/>
                <a:cs typeface="Calibri"/>
              </a:rPr>
              <a:t>3</a:t>
            </a:r>
          </a:p>
        </p:txBody>
      </p:sp>
      <p:sp>
        <p:nvSpPr>
          <p:cNvPr id="13" name="TextBox 12"/>
          <p:cNvSpPr txBox="1"/>
          <p:nvPr/>
        </p:nvSpPr>
        <p:spPr>
          <a:xfrm>
            <a:off x="1499616" y="4005072"/>
            <a:ext cx="9774936" cy="521207"/>
          </a:xfrm>
          <a:prstGeom prst="rect">
            <a:avLst/>
          </a:prstGeom>
          <a:noFill/>
        </p:spPr>
        <p:txBody>
          <a:bodyPr wrap="square" lIns="0" rIns="0" tIns="0" bIns="0" anchor="t">
            <a:spAutoFit/>
          </a:bodyPr>
          <a:lstStyle/>
          <a:p>
            <a:pPr algn="l"/>
            <a:r>
              <a:rPr sz="1450" b="0">
                <a:solidFill>
                  <a:srgbClr val="1B2733"/>
                </a:solidFill>
                <a:latin typeface="Yu Gothic"/>
                <a:ea typeface="Yu Gothic"/>
                <a:cs typeface="Yu Gothic"/>
              </a:rPr>
              <a:t>設問4は第16条です。公務員の制服と明確に識別できなければなりません。</a:t>
            </a:r>
          </a:p>
          <a:p>
            <a:pPr algn="l"/>
            <a:r>
              <a:rPr sz="1050" b="0">
                <a:solidFill>
                  <a:srgbClr val="5F7183"/>
                </a:solidFill>
                <a:latin typeface="Calibri"/>
                <a:ea typeface="Calibri"/>
                <a:cs typeface="Calibri"/>
              </a:rPr>
              <a:t>Item 4 is Article 16. The uniform must be clearly distinguishable from a public official's.</a:t>
            </a:r>
          </a:p>
        </p:txBody>
      </p:sp>
      <p:sp>
        <p:nvSpPr>
          <p:cNvPr id="14" name="Rounded Rectangle 13"/>
          <p:cNvSpPr/>
          <p:nvPr/>
        </p:nvSpPr>
        <p:spPr>
          <a:xfrm>
            <a:off x="640080" y="4727448"/>
            <a:ext cx="10908792" cy="704088"/>
          </a:xfrm>
          <a:prstGeom prst="roundRect">
            <a:avLst>
              <a:gd name="adj" fmla="val 1900"/>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96112" y="4873752"/>
            <a:ext cx="384048" cy="38404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Calibri"/>
                <a:ea typeface="Calibri"/>
                <a:cs typeface="Calibri"/>
              </a:rPr>
              <a:t>4</a:t>
            </a:r>
          </a:p>
        </p:txBody>
      </p:sp>
      <p:sp>
        <p:nvSpPr>
          <p:cNvPr id="16" name="TextBox 15"/>
          <p:cNvSpPr txBox="1"/>
          <p:nvPr/>
        </p:nvSpPr>
        <p:spPr>
          <a:xfrm>
            <a:off x="1499616" y="4818888"/>
            <a:ext cx="9774936" cy="521207"/>
          </a:xfrm>
          <a:prstGeom prst="rect">
            <a:avLst/>
          </a:prstGeom>
          <a:noFill/>
        </p:spPr>
        <p:txBody>
          <a:bodyPr wrap="square" lIns="0" rIns="0" tIns="0" bIns="0" anchor="t">
            <a:spAutoFit/>
          </a:bodyPr>
          <a:lstStyle/>
          <a:p>
            <a:pPr algn="l"/>
            <a:r>
              <a:rPr sz="1450" b="0">
                <a:solidFill>
                  <a:srgbClr val="1B2733"/>
                </a:solidFill>
                <a:latin typeface="Yu Gothic"/>
                <a:ea typeface="Yu Gothic"/>
                <a:cs typeface="Yu Gothic"/>
              </a:rPr>
              <a:t>設問6は判断軸です。人命→法令→Site SOP→クライアント要望の順を崩しません。</a:t>
            </a:r>
          </a:p>
          <a:p>
            <a:pPr algn="l"/>
            <a:r>
              <a:rPr sz="1050" b="0">
                <a:solidFill>
                  <a:srgbClr val="5F7183"/>
                </a:solidFill>
                <a:latin typeface="Calibri"/>
                <a:ea typeface="Calibri"/>
                <a:cs typeface="Calibri"/>
              </a:rPr>
              <a:t>Item 6 is the priority order: life, law, Site SOP, then the client's wishes.</a:t>
            </a:r>
          </a:p>
        </p:txBody>
      </p:sp>
      <p:sp>
        <p:nvSpPr>
          <p:cNvPr id="17" name="Rounded Rectangle 16"/>
          <p:cNvSpPr/>
          <p:nvPr/>
        </p:nvSpPr>
        <p:spPr>
          <a:xfrm>
            <a:off x="640080" y="5541264"/>
            <a:ext cx="10908792" cy="704088"/>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96112" y="5687568"/>
            <a:ext cx="384048" cy="38404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Calibri"/>
                <a:ea typeface="Calibri"/>
                <a:cs typeface="Calibri"/>
              </a:rPr>
              <a:t>5</a:t>
            </a:r>
          </a:p>
        </p:txBody>
      </p:sp>
      <p:sp>
        <p:nvSpPr>
          <p:cNvPr id="19" name="TextBox 18"/>
          <p:cNvSpPr txBox="1"/>
          <p:nvPr/>
        </p:nvSpPr>
        <p:spPr>
          <a:xfrm>
            <a:off x="1499616" y="5632704"/>
            <a:ext cx="9774936" cy="521207"/>
          </a:xfrm>
          <a:prstGeom prst="rect">
            <a:avLst/>
          </a:prstGeom>
          <a:noFill/>
        </p:spPr>
        <p:txBody>
          <a:bodyPr wrap="square" lIns="0" rIns="0" tIns="0" bIns="0" anchor="t">
            <a:spAutoFit/>
          </a:bodyPr>
          <a:lstStyle/>
          <a:p>
            <a:pPr algn="l"/>
            <a:r>
              <a:rPr sz="1450" b="0">
                <a:solidFill>
                  <a:srgbClr val="1B2733"/>
                </a:solidFill>
                <a:latin typeface="Yu Gothic"/>
                <a:ea typeface="Yu Gothic"/>
                <a:cs typeface="Yu Gothic"/>
              </a:rPr>
              <a:t>根拠の示し方：「〔私人／補助者〕として、〔目的〕のため、〔手段〕を取った」</a:t>
            </a:r>
          </a:p>
          <a:p>
            <a:pPr algn="l"/>
            <a:r>
              <a:rPr sz="1050" b="0">
                <a:solidFill>
                  <a:srgbClr val="5F7183"/>
                </a:solidFill>
                <a:latin typeface="Calibri"/>
                <a:ea typeface="Calibri"/>
                <a:cs typeface="Calibri"/>
              </a:rPr>
              <a:t>State it this way: "As a [citizen / delegated agent], I took [action] for [purpose]."</a:t>
            </a:r>
          </a:p>
        </p:txBody>
      </p:sp>
      <p:sp>
        <p:nvSpPr>
          <p:cNvPr id="20" name="TextBox 19"/>
          <p:cNvSpPr txBox="1"/>
          <p:nvPr/>
        </p:nvSpPr>
        <p:spPr>
          <a:xfrm>
            <a:off x="640080" y="6382512"/>
            <a:ext cx="8778240" cy="292608"/>
          </a:xfrm>
          <a:prstGeom prst="rect">
            <a:avLst/>
          </a:prstGeom>
          <a:noFill/>
        </p:spPr>
        <p:txBody>
          <a:bodyPr wrap="square" lIns="0" rIns="0" tIns="0" bIns="0" anchor="t">
            <a:spAutoFit/>
          </a:bodyPr>
          <a:lstStyle/>
          <a:p>
            <a:pPr algn="l"/>
            <a:r>
              <a:rPr sz="900" b="0">
                <a:solidFill>
                  <a:srgbClr val="5F7183"/>
                </a:solidFill>
                <a:latin typeface="Yu Gothic"/>
                <a:ea typeface="Yu Gothic"/>
                <a:cs typeface="Yu Gothic"/>
              </a:rPr>
              <a:t>第1時限｜基本教育1 警備業務実施の基本原則  Period 1 | Basic Training 1 — Fundamental Principles</a:t>
            </a:r>
          </a:p>
        </p:txBody>
      </p:sp>
      <p:sp>
        <p:nvSpPr>
          <p:cNvPr id="21" name="TextBox 20"/>
          <p:cNvSpPr txBox="1"/>
          <p:nvPr/>
        </p:nvSpPr>
        <p:spPr>
          <a:xfrm>
            <a:off x="10634472" y="6382512"/>
            <a:ext cx="914400" cy="292608"/>
          </a:xfrm>
          <a:prstGeom prst="rect">
            <a:avLst/>
          </a:prstGeom>
          <a:noFill/>
        </p:spPr>
        <p:txBody>
          <a:bodyPr wrap="square" lIns="0" rIns="0" tIns="0" bIns="0" anchor="t">
            <a:spAutoFit/>
          </a:bodyPr>
          <a:lstStyle/>
          <a:p>
            <a:pPr algn="r"/>
            <a:r>
              <a:rPr sz="1000" b="0">
                <a:solidFill>
                  <a:srgbClr val="5F7183"/>
                </a:solidFill>
                <a:latin typeface="Calibri"/>
                <a:ea typeface="Calibri"/>
                <a:cs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762488" y="329184"/>
            <a:ext cx="786384" cy="740664"/>
          </a:xfrm>
          <a:prstGeom prst="rect">
            <a:avLst/>
          </a:prstGeom>
        </p:spPr>
      </p:pic>
      <p:sp>
        <p:nvSpPr>
          <p:cNvPr id="3" name="TextBox 2"/>
          <p:cNvSpPr txBox="1"/>
          <p:nvPr/>
        </p:nvSpPr>
        <p:spPr>
          <a:xfrm>
            <a:off x="640080" y="384048"/>
            <a:ext cx="8979408" cy="768096"/>
          </a:xfrm>
          <a:prstGeom prst="rect">
            <a:avLst/>
          </a:prstGeom>
          <a:noFill/>
        </p:spPr>
        <p:txBody>
          <a:bodyPr wrap="square" lIns="0" rIns="0" tIns="0" bIns="0" anchor="t">
            <a:spAutoFit/>
          </a:bodyPr>
          <a:lstStyle/>
          <a:p>
            <a:pPr algn="l"/>
            <a:r>
              <a:rPr sz="2300" b="1">
                <a:solidFill>
                  <a:srgbClr val="093259"/>
                </a:solidFill>
                <a:latin typeface="Yu Gothic"/>
                <a:ea typeface="Yu Gothic"/>
                <a:cs typeface="Yu Gothic"/>
              </a:rPr>
              <a:t>TTX 1-A　警察官と間違われる</a:t>
            </a:r>
          </a:p>
          <a:p>
            <a:pPr algn="l">
              <a:spcBef>
                <a:spcPts val="200"/>
              </a:spcBef>
            </a:pPr>
            <a:r>
              <a:rPr sz="1100" b="0">
                <a:solidFill>
                  <a:srgbClr val="12B198"/>
                </a:solidFill>
                <a:latin typeface="Calibri"/>
                <a:ea typeface="Calibri"/>
                <a:cs typeface="Calibri"/>
              </a:rPr>
              <a:t>TTX 1-A — Mistaken for a Police Officer</a:t>
            </a:r>
          </a:p>
        </p:txBody>
      </p:sp>
      <p:sp>
        <p:nvSpPr>
          <p:cNvPr id="4" name="Rounded Rectangle 3"/>
          <p:cNvSpPr/>
          <p:nvPr/>
        </p:nvSpPr>
        <p:spPr>
          <a:xfrm>
            <a:off x="9683496" y="438912"/>
            <a:ext cx="932688" cy="310896"/>
          </a:xfrm>
          <a:prstGeom prst="roundRect">
            <a:avLst>
              <a:gd name="adj" fmla="val 14700"/>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83496" y="438912"/>
            <a:ext cx="932688" cy="310896"/>
          </a:xfrm>
          <a:prstGeom prst="rect">
            <a:avLst/>
          </a:prstGeom>
          <a:noFill/>
        </p:spPr>
        <p:txBody>
          <a:bodyPr wrap="square" lIns="0" rIns="0" tIns="0" bIns="0" anchor="ctr">
            <a:spAutoFit/>
          </a:bodyPr>
          <a:lstStyle/>
          <a:p>
            <a:pPr algn="ctr"/>
            <a:r>
              <a:rPr sz="1100" b="1">
                <a:solidFill>
                  <a:srgbClr val="FFFFFF"/>
                </a:solidFill>
                <a:latin typeface="Calibri"/>
                <a:ea typeface="Calibri"/>
                <a:cs typeface="Calibri"/>
              </a:rPr>
              <a:t>CASE 1-A</a:t>
            </a:r>
          </a:p>
        </p:txBody>
      </p:sp>
      <p:sp>
        <p:nvSpPr>
          <p:cNvPr id="6" name="Rounded Rectangle 5"/>
          <p:cNvSpPr/>
          <p:nvPr/>
        </p:nvSpPr>
        <p:spPr>
          <a:xfrm>
            <a:off x="640080" y="1188720"/>
            <a:ext cx="10908792" cy="1124712"/>
          </a:xfrm>
          <a:prstGeom prst="roundRect">
            <a:avLst>
              <a:gd name="adj" fmla="val 1900"/>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316736"/>
            <a:ext cx="10287000" cy="868680"/>
          </a:xfrm>
          <a:prstGeom prst="rect">
            <a:avLst/>
          </a:prstGeom>
          <a:noFill/>
        </p:spPr>
        <p:txBody>
          <a:bodyPr wrap="square" lIns="0" rIns="0" tIns="0" bIns="0" anchor="t">
            <a:spAutoFit/>
          </a:bodyPr>
          <a:lstStyle/>
          <a:p>
            <a:pPr algn="l"/>
            <a:r>
              <a:rPr sz="950" b="1">
                <a:solidFill>
                  <a:srgbClr val="12B198"/>
                </a:solidFill>
                <a:latin typeface="Yu Gothic"/>
                <a:ea typeface="Yu Gothic"/>
                <a:cs typeface="Yu Gothic"/>
              </a:rPr>
              <a:t>シナリオ　SCENARIO</a:t>
            </a:r>
          </a:p>
          <a:p>
            <a:pPr algn="l">
              <a:spcBef>
                <a:spcPts val="300"/>
              </a:spcBef>
            </a:pPr>
            <a:r>
              <a:rPr sz="1150" b="0">
                <a:solidFill>
                  <a:srgbClr val="FFFFFF"/>
                </a:solidFill>
                <a:latin typeface="Yu Gothic"/>
                <a:ea typeface="Yu Gothic"/>
                <a:cs typeface="Yu Gothic"/>
              </a:rPr>
              <a:t>平日の朝、オフィスビルのエントランスで立哨中。通りかかった高齢の女性が「すみません、近くで自転車を盗まれたので調書を取ってほしい」と話しかけてきた。あなたの制服を見て、警察官だと思っている様子である。周囲には出勤中の社員が多数いる。</a:t>
            </a:r>
          </a:p>
          <a:p>
            <a:pPr algn="l">
              <a:spcBef>
                <a:spcPts val="200"/>
              </a:spcBef>
            </a:pPr>
            <a:r>
              <a:rPr sz="800" b="0">
                <a:solidFill>
                  <a:srgbClr val="9FD8CD"/>
                </a:solidFill>
                <a:latin typeface="Calibri"/>
                <a:ea typeface="Calibri"/>
                <a:cs typeface="Calibri"/>
              </a:rPr>
              <a:t>Morning, on stand at the entrance of an office building. An elderly woman stops and asks you to take a report because her bicycle was stolen nearby. She appears to think your uniform means you are a police officer. Many employees are arriving around you.</a:t>
            </a:r>
          </a:p>
        </p:txBody>
      </p:sp>
      <p:sp>
        <p:nvSpPr>
          <p:cNvPr id="8" name="TextBox 7"/>
          <p:cNvSpPr txBox="1"/>
          <p:nvPr/>
        </p:nvSpPr>
        <p:spPr>
          <a:xfrm>
            <a:off x="640080" y="2459736"/>
            <a:ext cx="10908792" cy="566928"/>
          </a:xfrm>
          <a:prstGeom prst="rect">
            <a:avLst/>
          </a:prstGeom>
          <a:noFill/>
        </p:spPr>
        <p:txBody>
          <a:bodyPr wrap="square" lIns="0" rIns="0" tIns="0" bIns="0" anchor="t">
            <a:spAutoFit/>
          </a:bodyPr>
          <a:lstStyle/>
          <a:p>
            <a:pPr algn="l"/>
            <a:r>
              <a:rPr sz="1000" b="1">
                <a:solidFill>
                  <a:srgbClr val="0D8A76"/>
                </a:solidFill>
                <a:latin typeface="Yu Gothic"/>
                <a:ea typeface="Yu Gothic"/>
                <a:cs typeface="Yu Gothic"/>
              </a:rPr>
              <a:t>問い　あなたなら次の60秒、何をどう動きますか。</a:t>
            </a:r>
          </a:p>
          <a:p>
            <a:pPr algn="l"/>
            <a:r>
              <a:rPr sz="850" b="0">
                <a:solidFill>
                  <a:srgbClr val="5F7183"/>
                </a:solidFill>
                <a:latin typeface="Calibri"/>
                <a:ea typeface="Calibri"/>
                <a:cs typeface="Calibri"/>
              </a:rPr>
              <a:t>What do you do in the next sixty seconds?</a:t>
            </a:r>
          </a:p>
        </p:txBody>
      </p:sp>
      <p:sp>
        <p:nvSpPr>
          <p:cNvPr id="9" name="Rounded Rectangle 8"/>
          <p:cNvSpPr/>
          <p:nvPr/>
        </p:nvSpPr>
        <p:spPr>
          <a:xfrm>
            <a:off x="640080" y="3081528"/>
            <a:ext cx="5330952" cy="841248"/>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04671" y="3355848"/>
            <a:ext cx="292608" cy="29260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1</a:t>
            </a:r>
          </a:p>
        </p:txBody>
      </p:sp>
      <p:sp>
        <p:nvSpPr>
          <p:cNvPr id="11" name="TextBox 10"/>
          <p:cNvSpPr txBox="1"/>
          <p:nvPr/>
        </p:nvSpPr>
        <p:spPr>
          <a:xfrm>
            <a:off x="1188719" y="3136392"/>
            <a:ext cx="4599432" cy="731520"/>
          </a:xfrm>
          <a:prstGeom prst="rect">
            <a:avLst/>
          </a:prstGeom>
          <a:noFill/>
        </p:spPr>
        <p:txBody>
          <a:bodyPr wrap="square" lIns="0" rIns="0" tIns="0" bIns="0" anchor="t">
            <a:spAutoFit/>
          </a:bodyPr>
          <a:lstStyle/>
          <a:p>
            <a:pPr algn="l"/>
            <a:r>
              <a:rPr sz="1050" b="0">
                <a:solidFill>
                  <a:srgbClr val="1B2733"/>
                </a:solidFill>
                <a:latin typeface="Yu Gothic"/>
                <a:ea typeface="Yu Gothic"/>
                <a:cs typeface="Yu Gothic"/>
              </a:rPr>
              <a:t>これは People / Asset / Reputation のどれに関わる事案か。</a:t>
            </a:r>
          </a:p>
          <a:p>
            <a:pPr algn="l"/>
            <a:r>
              <a:rPr sz="800" b="0">
                <a:solidFill>
                  <a:srgbClr val="5F7183"/>
                </a:solidFill>
                <a:latin typeface="Calibri"/>
                <a:ea typeface="Calibri"/>
                <a:cs typeface="Calibri"/>
              </a:rPr>
              <a:t>Which pillar does this concern: People, Asset, or Reputation?</a:t>
            </a:r>
          </a:p>
        </p:txBody>
      </p:sp>
      <p:sp>
        <p:nvSpPr>
          <p:cNvPr id="12" name="Rounded Rectangle 11"/>
          <p:cNvSpPr/>
          <p:nvPr/>
        </p:nvSpPr>
        <p:spPr>
          <a:xfrm>
            <a:off x="6227064" y="3081528"/>
            <a:ext cx="5330952" cy="841248"/>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91655" y="3355848"/>
            <a:ext cx="292608" cy="29260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2</a:t>
            </a:r>
          </a:p>
        </p:txBody>
      </p:sp>
      <p:sp>
        <p:nvSpPr>
          <p:cNvPr id="14" name="TextBox 13"/>
          <p:cNvSpPr txBox="1"/>
          <p:nvPr/>
        </p:nvSpPr>
        <p:spPr>
          <a:xfrm>
            <a:off x="6775703" y="3136392"/>
            <a:ext cx="4599432" cy="731520"/>
          </a:xfrm>
          <a:prstGeom prst="rect">
            <a:avLst/>
          </a:prstGeom>
          <a:noFill/>
        </p:spPr>
        <p:txBody>
          <a:bodyPr wrap="square" lIns="0" rIns="0" tIns="0" bIns="0" anchor="t">
            <a:spAutoFit/>
          </a:bodyPr>
          <a:lstStyle/>
          <a:p>
            <a:pPr algn="l"/>
            <a:r>
              <a:rPr sz="1050" b="0">
                <a:solidFill>
                  <a:srgbClr val="1B2733"/>
                </a:solidFill>
                <a:latin typeface="Yu Gothic"/>
                <a:ea typeface="Yu Gothic"/>
                <a:cs typeface="Yu Gothic"/>
              </a:rPr>
              <a:t>「警察官ではない」ことを、どう伝えるか。</a:t>
            </a:r>
          </a:p>
          <a:p>
            <a:pPr algn="l"/>
            <a:r>
              <a:rPr sz="800" b="0">
                <a:solidFill>
                  <a:srgbClr val="5F7183"/>
                </a:solidFill>
                <a:latin typeface="Calibri"/>
                <a:ea typeface="Calibri"/>
                <a:cs typeface="Calibri"/>
              </a:rPr>
              <a:t>How do you convey that you are not a police officer?</a:t>
            </a:r>
          </a:p>
        </p:txBody>
      </p:sp>
      <p:sp>
        <p:nvSpPr>
          <p:cNvPr id="15" name="Rounded Rectangle 14"/>
          <p:cNvSpPr/>
          <p:nvPr/>
        </p:nvSpPr>
        <p:spPr>
          <a:xfrm>
            <a:off x="640080" y="4032504"/>
            <a:ext cx="5330952" cy="841248"/>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4671" y="4306824"/>
            <a:ext cx="292608" cy="29260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3</a:t>
            </a:r>
          </a:p>
        </p:txBody>
      </p:sp>
      <p:sp>
        <p:nvSpPr>
          <p:cNvPr id="17" name="TextBox 16"/>
          <p:cNvSpPr txBox="1"/>
          <p:nvPr/>
        </p:nvSpPr>
        <p:spPr>
          <a:xfrm>
            <a:off x="1188719" y="4087368"/>
            <a:ext cx="4599432" cy="731520"/>
          </a:xfrm>
          <a:prstGeom prst="rect">
            <a:avLst/>
          </a:prstGeom>
          <a:noFill/>
        </p:spPr>
        <p:txBody>
          <a:bodyPr wrap="square" lIns="0" rIns="0" tIns="0" bIns="0" anchor="t">
            <a:spAutoFit/>
          </a:bodyPr>
          <a:lstStyle/>
          <a:p>
            <a:pPr algn="l"/>
            <a:r>
              <a:rPr sz="1050" b="0">
                <a:solidFill>
                  <a:srgbClr val="1B2733"/>
                </a:solidFill>
                <a:latin typeface="Yu Gothic"/>
                <a:ea typeface="Yu Gothic"/>
                <a:cs typeface="Yu Gothic"/>
              </a:rPr>
              <a:t>調書を取る、被害届を預かることはできるか。その根拠は。</a:t>
            </a:r>
          </a:p>
          <a:p>
            <a:pPr algn="l"/>
            <a:r>
              <a:rPr sz="800" b="0">
                <a:solidFill>
                  <a:srgbClr val="5F7183"/>
                </a:solidFill>
                <a:latin typeface="Calibri"/>
                <a:ea typeface="Calibri"/>
                <a:cs typeface="Calibri"/>
              </a:rPr>
              <a:t>May you take a statement or accept a report? On what basis?</a:t>
            </a:r>
          </a:p>
        </p:txBody>
      </p:sp>
      <p:sp>
        <p:nvSpPr>
          <p:cNvPr id="18" name="Rounded Rectangle 17"/>
          <p:cNvSpPr/>
          <p:nvPr/>
        </p:nvSpPr>
        <p:spPr>
          <a:xfrm>
            <a:off x="6227064" y="4032504"/>
            <a:ext cx="5330952" cy="841248"/>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91655" y="4306824"/>
            <a:ext cx="292608" cy="29260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4</a:t>
            </a:r>
          </a:p>
        </p:txBody>
      </p:sp>
      <p:sp>
        <p:nvSpPr>
          <p:cNvPr id="20" name="TextBox 19"/>
          <p:cNvSpPr txBox="1"/>
          <p:nvPr/>
        </p:nvSpPr>
        <p:spPr>
          <a:xfrm>
            <a:off x="6775703" y="4087368"/>
            <a:ext cx="4599432" cy="731520"/>
          </a:xfrm>
          <a:prstGeom prst="rect">
            <a:avLst/>
          </a:prstGeom>
          <a:noFill/>
        </p:spPr>
        <p:txBody>
          <a:bodyPr wrap="square" lIns="0" rIns="0" tIns="0" bIns="0" anchor="t">
            <a:spAutoFit/>
          </a:bodyPr>
          <a:lstStyle/>
          <a:p>
            <a:pPr algn="l"/>
            <a:r>
              <a:rPr sz="1050" b="0">
                <a:solidFill>
                  <a:srgbClr val="1B2733"/>
                </a:solidFill>
                <a:latin typeface="Yu Gothic"/>
                <a:ea typeface="Yu Gothic"/>
                <a:cs typeface="Yu Gothic"/>
              </a:rPr>
              <a:t>この場を離れて交番まで案内してよいか。</a:t>
            </a:r>
          </a:p>
          <a:p>
            <a:pPr algn="l"/>
            <a:r>
              <a:rPr sz="800" b="0">
                <a:solidFill>
                  <a:srgbClr val="5F7183"/>
                </a:solidFill>
                <a:latin typeface="Calibri"/>
                <a:ea typeface="Calibri"/>
                <a:cs typeface="Calibri"/>
              </a:rPr>
              <a:t>May you leave your post to walk her to the police box?</a:t>
            </a:r>
          </a:p>
        </p:txBody>
      </p:sp>
      <p:sp>
        <p:nvSpPr>
          <p:cNvPr id="21" name="Rounded Rectangle 20"/>
          <p:cNvSpPr/>
          <p:nvPr/>
        </p:nvSpPr>
        <p:spPr>
          <a:xfrm>
            <a:off x="640080" y="4919472"/>
            <a:ext cx="10908792" cy="420624"/>
          </a:xfrm>
          <a:prstGeom prst="roundRect">
            <a:avLst>
              <a:gd name="adj" fmla="val 1900"/>
            </a:avLst>
          </a:prstGeom>
          <a:solidFill>
            <a:srgbClr val="E4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4946904"/>
            <a:ext cx="10433304" cy="365760"/>
          </a:xfrm>
          <a:prstGeom prst="rect">
            <a:avLst/>
          </a:prstGeom>
          <a:noFill/>
        </p:spPr>
        <p:txBody>
          <a:bodyPr wrap="square" lIns="0" rIns="0" tIns="0" bIns="0" anchor="t">
            <a:spAutoFit/>
          </a:bodyPr>
          <a:lstStyle/>
          <a:p>
            <a:pPr algn="l"/>
            <a:r>
              <a:rPr sz="850" b="1">
                <a:solidFill>
                  <a:srgbClr val="0D8A76"/>
                </a:solidFill>
                <a:latin typeface="Yu Gothic"/>
                <a:ea typeface="Yu Gothic"/>
                <a:cs typeface="Yu Gothic"/>
              </a:rPr>
              <a:t>追加付与①　女性が「警察じゃないなら意味がない」と大きな声を出し始めた。</a:t>
            </a:r>
          </a:p>
          <a:p>
            <a:pPr algn="l"/>
            <a:r>
              <a:rPr sz="750" b="0">
                <a:solidFill>
                  <a:srgbClr val="5F7183"/>
                </a:solidFill>
                <a:latin typeface="Calibri"/>
                <a:ea typeface="Calibri"/>
                <a:cs typeface="Calibri"/>
              </a:rPr>
              <a:t>She raises her voice: "If you are not the police, this is useless."</a:t>
            </a:r>
          </a:p>
        </p:txBody>
      </p:sp>
      <p:sp>
        <p:nvSpPr>
          <p:cNvPr id="23" name="Rounded Rectangle 22"/>
          <p:cNvSpPr/>
          <p:nvPr/>
        </p:nvSpPr>
        <p:spPr>
          <a:xfrm>
            <a:off x="640080" y="5394960"/>
            <a:ext cx="10908792" cy="420624"/>
          </a:xfrm>
          <a:prstGeom prst="roundRect">
            <a:avLst>
              <a:gd name="adj" fmla="val 1900"/>
            </a:avLst>
          </a:prstGeom>
          <a:solidFill>
            <a:srgbClr val="E4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7824" y="5422392"/>
            <a:ext cx="10433304" cy="365760"/>
          </a:xfrm>
          <a:prstGeom prst="rect">
            <a:avLst/>
          </a:prstGeom>
          <a:noFill/>
        </p:spPr>
        <p:txBody>
          <a:bodyPr wrap="square" lIns="0" rIns="0" tIns="0" bIns="0" anchor="t">
            <a:spAutoFit/>
          </a:bodyPr>
          <a:lstStyle/>
          <a:p>
            <a:pPr algn="l"/>
            <a:r>
              <a:rPr sz="850" b="1">
                <a:solidFill>
                  <a:srgbClr val="0D8A76"/>
                </a:solidFill>
                <a:latin typeface="Yu Gothic"/>
                <a:ea typeface="Yu Gothic"/>
                <a:cs typeface="Yu Gothic"/>
              </a:rPr>
              <a:t>追加付与②　出勤中の社員が足を止めて、こちらを見ている。</a:t>
            </a:r>
          </a:p>
          <a:p>
            <a:pPr algn="l"/>
            <a:r>
              <a:rPr sz="750" b="0">
                <a:solidFill>
                  <a:srgbClr val="5F7183"/>
                </a:solidFill>
                <a:latin typeface="Calibri"/>
                <a:ea typeface="Calibri"/>
                <a:cs typeface="Calibri"/>
              </a:rPr>
              <a:t>Arriving employees have stopped and are watching.</a:t>
            </a:r>
          </a:p>
        </p:txBody>
      </p:sp>
      <p:sp>
        <p:nvSpPr>
          <p:cNvPr id="25" name="TextBox 24"/>
          <p:cNvSpPr txBox="1"/>
          <p:nvPr/>
        </p:nvSpPr>
        <p:spPr>
          <a:xfrm>
            <a:off x="640080" y="5907024"/>
            <a:ext cx="10908792" cy="310896"/>
          </a:xfrm>
          <a:prstGeom prst="rect">
            <a:avLst/>
          </a:prstGeom>
          <a:noFill/>
        </p:spPr>
        <p:txBody>
          <a:bodyPr wrap="square" lIns="0" rIns="0" tIns="0" bIns="0" anchor="t">
            <a:spAutoFit/>
          </a:bodyPr>
          <a:lstStyle/>
          <a:p>
            <a:pPr algn="l"/>
            <a:r>
              <a:rPr sz="900" b="1">
                <a:solidFill>
                  <a:srgbClr val="0D8A76"/>
                </a:solidFill>
                <a:latin typeface="Yu Gothic"/>
                <a:ea typeface="Yu Gothic"/>
                <a:cs typeface="Yu Gothic"/>
              </a:rPr>
              <a:t>Site SOP優先　立哨位置を離れてよいか、離れる場合の連絡先は現場ごとに定められている。Site SOPに従う。</a:t>
            </a:r>
          </a:p>
          <a:p>
            <a:pPr algn="l"/>
            <a:r>
              <a:rPr sz="750" b="0">
                <a:solidFill>
                  <a:srgbClr val="5F7183"/>
                </a:solidFill>
                <a:latin typeface="Calibri"/>
                <a:ea typeface="Calibri"/>
                <a:cs typeface="Calibri"/>
              </a:rPr>
              <a:t>Whether you may leave your post, and whom to notify if you do, are set per site.</a:t>
            </a:r>
          </a:p>
        </p:txBody>
      </p:sp>
      <p:sp>
        <p:nvSpPr>
          <p:cNvPr id="26" name="TextBox 25"/>
          <p:cNvSpPr txBox="1"/>
          <p:nvPr/>
        </p:nvSpPr>
        <p:spPr>
          <a:xfrm>
            <a:off x="640080" y="6199632"/>
            <a:ext cx="9902952" cy="237744"/>
          </a:xfrm>
          <a:prstGeom prst="rect">
            <a:avLst/>
          </a:prstGeom>
          <a:noFill/>
        </p:spPr>
        <p:txBody>
          <a:bodyPr wrap="square" lIns="0" rIns="0" tIns="0" bIns="0" anchor="t">
            <a:spAutoFit/>
          </a:bodyPr>
          <a:lstStyle/>
          <a:p>
            <a:pPr algn="l"/>
            <a:r>
              <a:rPr sz="750" b="1">
                <a:solidFill>
                  <a:srgbClr val="D6E0E9"/>
                </a:solidFill>
                <a:latin typeface="Yu Gothic"/>
                <a:ea typeface="Yu Gothic"/>
                <a:cs typeface="Yu Gothic"/>
              </a:rPr>
              <a:t>ソース　警備業法、警察庁「警備業法等の解釈運用基準」</a:t>
            </a:r>
          </a:p>
        </p:txBody>
      </p:sp>
      <p:sp>
        <p:nvSpPr>
          <p:cNvPr id="27" name="TextBox 26"/>
          <p:cNvSpPr txBox="1"/>
          <p:nvPr/>
        </p:nvSpPr>
        <p:spPr>
          <a:xfrm>
            <a:off x="640080" y="6382512"/>
            <a:ext cx="8778240" cy="292608"/>
          </a:xfrm>
          <a:prstGeom prst="rect">
            <a:avLst/>
          </a:prstGeom>
          <a:noFill/>
        </p:spPr>
        <p:txBody>
          <a:bodyPr wrap="square" lIns="0" rIns="0" tIns="0" bIns="0" anchor="t">
            <a:spAutoFit/>
          </a:bodyPr>
          <a:lstStyle/>
          <a:p>
            <a:pPr algn="l"/>
            <a:r>
              <a:rPr sz="900" b="0">
                <a:solidFill>
                  <a:srgbClr val="5F7183"/>
                </a:solidFill>
                <a:latin typeface="Yu Gothic"/>
                <a:ea typeface="Yu Gothic"/>
                <a:cs typeface="Yu Gothic"/>
              </a:rPr>
              <a:t>第1時限｜基本教育1 警備業務実施の基本原則  Period 1 | Basic Training 1 — Fundamental Principles</a:t>
            </a:r>
          </a:p>
        </p:txBody>
      </p:sp>
      <p:sp>
        <p:nvSpPr>
          <p:cNvPr id="28" name="TextBox 27"/>
          <p:cNvSpPr txBox="1"/>
          <p:nvPr/>
        </p:nvSpPr>
        <p:spPr>
          <a:xfrm>
            <a:off x="10634472" y="6382512"/>
            <a:ext cx="914400" cy="292608"/>
          </a:xfrm>
          <a:prstGeom prst="rect">
            <a:avLst/>
          </a:prstGeom>
          <a:noFill/>
        </p:spPr>
        <p:txBody>
          <a:bodyPr wrap="square" lIns="0" rIns="0" tIns="0" bIns="0" anchor="t">
            <a:spAutoFit/>
          </a:bodyPr>
          <a:lstStyle/>
          <a:p>
            <a:pPr algn="r"/>
            <a:r>
              <a:rPr sz="1000" b="0">
                <a:solidFill>
                  <a:srgbClr val="5F7183"/>
                </a:solidFill>
                <a:latin typeface="Calibri"/>
                <a:ea typeface="Calibri"/>
                <a:cs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762488" y="329184"/>
            <a:ext cx="786384" cy="740664"/>
          </a:xfrm>
          <a:prstGeom prst="rect">
            <a:avLst/>
          </a:prstGeom>
        </p:spPr>
      </p:pic>
      <p:sp>
        <p:nvSpPr>
          <p:cNvPr id="3" name="TextBox 2"/>
          <p:cNvSpPr txBox="1"/>
          <p:nvPr/>
        </p:nvSpPr>
        <p:spPr>
          <a:xfrm>
            <a:off x="640080" y="384048"/>
            <a:ext cx="8979408" cy="768096"/>
          </a:xfrm>
          <a:prstGeom prst="rect">
            <a:avLst/>
          </a:prstGeom>
          <a:noFill/>
        </p:spPr>
        <p:txBody>
          <a:bodyPr wrap="square" lIns="0" rIns="0" tIns="0" bIns="0" anchor="t">
            <a:spAutoFit/>
          </a:bodyPr>
          <a:lstStyle/>
          <a:p>
            <a:pPr algn="l"/>
            <a:r>
              <a:rPr sz="2300" b="1">
                <a:solidFill>
                  <a:srgbClr val="093259"/>
                </a:solidFill>
                <a:latin typeface="Yu Gothic"/>
                <a:ea typeface="Yu Gothic"/>
                <a:cs typeface="Yu Gothic"/>
              </a:rPr>
              <a:t>TTX 1-A 模範解答</a:t>
            </a:r>
          </a:p>
          <a:p>
            <a:pPr algn="l">
              <a:spcBef>
                <a:spcPts val="200"/>
              </a:spcBef>
            </a:pPr>
            <a:r>
              <a:rPr sz="1100" b="0">
                <a:solidFill>
                  <a:srgbClr val="12B198"/>
                </a:solidFill>
                <a:latin typeface="Calibri"/>
                <a:ea typeface="Calibri"/>
                <a:cs typeface="Calibri"/>
              </a:rPr>
              <a:t>TTX 1-A — Model Answers</a:t>
            </a:r>
          </a:p>
        </p:txBody>
      </p:sp>
      <p:sp>
        <p:nvSpPr>
          <p:cNvPr id="4" name="Rounded Rectangle 3"/>
          <p:cNvSpPr/>
          <p:nvPr/>
        </p:nvSpPr>
        <p:spPr>
          <a:xfrm>
            <a:off x="9683496" y="438912"/>
            <a:ext cx="932688" cy="310896"/>
          </a:xfrm>
          <a:prstGeom prst="roundRect">
            <a:avLst>
              <a:gd name="adj" fmla="val 14700"/>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83496" y="438912"/>
            <a:ext cx="932688" cy="310896"/>
          </a:xfrm>
          <a:prstGeom prst="rect">
            <a:avLst/>
          </a:prstGeom>
          <a:noFill/>
        </p:spPr>
        <p:txBody>
          <a:bodyPr wrap="square" lIns="0" rIns="0" tIns="0" bIns="0" anchor="ctr">
            <a:spAutoFit/>
          </a:bodyPr>
          <a:lstStyle/>
          <a:p>
            <a:pPr algn="ctr"/>
            <a:r>
              <a:rPr sz="1100" b="1">
                <a:solidFill>
                  <a:srgbClr val="FFFFFF"/>
                </a:solidFill>
                <a:latin typeface="Calibri"/>
                <a:ea typeface="Calibri"/>
                <a:cs typeface="Calibri"/>
              </a:rPr>
              <a:t>DEBRIEF</a:t>
            </a:r>
          </a:p>
        </p:txBody>
      </p:sp>
      <p:sp>
        <p:nvSpPr>
          <p:cNvPr id="6" name="Rounded Rectangle 5"/>
          <p:cNvSpPr/>
          <p:nvPr/>
        </p:nvSpPr>
        <p:spPr>
          <a:xfrm>
            <a:off x="640080" y="1188720"/>
            <a:ext cx="10908792" cy="859536"/>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96112" y="1426464"/>
            <a:ext cx="384048" cy="38404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Calibri"/>
                <a:ea typeface="Calibri"/>
                <a:cs typeface="Calibri"/>
              </a:rPr>
              <a:t>1</a:t>
            </a:r>
          </a:p>
        </p:txBody>
      </p:sp>
      <p:sp>
        <p:nvSpPr>
          <p:cNvPr id="8" name="TextBox 7"/>
          <p:cNvSpPr txBox="1"/>
          <p:nvPr/>
        </p:nvSpPr>
        <p:spPr>
          <a:xfrm>
            <a:off x="1499616" y="1261872"/>
            <a:ext cx="9774936" cy="731520"/>
          </a:xfrm>
          <a:prstGeom prst="rect">
            <a:avLst/>
          </a:prstGeom>
          <a:noFill/>
        </p:spPr>
        <p:txBody>
          <a:bodyPr wrap="square" lIns="0" rIns="0" tIns="0" bIns="0" anchor="t">
            <a:spAutoFit/>
          </a:bodyPr>
          <a:lstStyle/>
          <a:p>
            <a:pPr algn="l"/>
            <a:r>
              <a:rPr sz="950" b="1">
                <a:solidFill>
                  <a:srgbClr val="0D8A76"/>
                </a:solidFill>
                <a:latin typeface="Yu Gothic"/>
                <a:ea typeface="Yu Gothic"/>
                <a:cs typeface="Yu Gothic"/>
              </a:rPr>
              <a:t>問1 どの柱に関わるか</a:t>
            </a:r>
          </a:p>
          <a:p>
            <a:pPr algn="l">
              <a:spcBef>
                <a:spcPts val="200"/>
              </a:spcBef>
            </a:pPr>
            <a:r>
              <a:rPr sz="1150" b="0">
                <a:solidFill>
                  <a:srgbClr val="1B2733"/>
                </a:solidFill>
                <a:latin typeface="Yu Gothic"/>
                <a:ea typeface="Yu Gothic"/>
                <a:cs typeface="Yu Gothic"/>
              </a:rPr>
              <a:t>People と Reputation。困っている人への対応であり、同時にクライアントの入口での振る舞いでもある。</a:t>
            </a:r>
          </a:p>
          <a:p>
            <a:pPr algn="l"/>
            <a:r>
              <a:rPr sz="800" b="0">
                <a:solidFill>
                  <a:srgbClr val="5F7183"/>
                </a:solidFill>
                <a:latin typeface="Calibri"/>
                <a:ea typeface="Calibri"/>
                <a:cs typeface="Calibri"/>
              </a:rPr>
              <a:t>People and Reputation. It is help for a person in need, and it is also your conduct at the client's entrance.</a:t>
            </a:r>
          </a:p>
        </p:txBody>
      </p:sp>
      <p:sp>
        <p:nvSpPr>
          <p:cNvPr id="9" name="Rounded Rectangle 8"/>
          <p:cNvSpPr/>
          <p:nvPr/>
        </p:nvSpPr>
        <p:spPr>
          <a:xfrm>
            <a:off x="640080" y="2121408"/>
            <a:ext cx="10908792" cy="859536"/>
          </a:xfrm>
          <a:prstGeom prst="roundRect">
            <a:avLst>
              <a:gd name="adj" fmla="val 1900"/>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96112" y="2359152"/>
            <a:ext cx="384048" cy="38404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Calibri"/>
                <a:ea typeface="Calibri"/>
                <a:cs typeface="Calibri"/>
              </a:rPr>
              <a:t>2</a:t>
            </a:r>
          </a:p>
        </p:txBody>
      </p:sp>
      <p:sp>
        <p:nvSpPr>
          <p:cNvPr id="11" name="TextBox 10"/>
          <p:cNvSpPr txBox="1"/>
          <p:nvPr/>
        </p:nvSpPr>
        <p:spPr>
          <a:xfrm>
            <a:off x="1499616" y="2194560"/>
            <a:ext cx="9774936" cy="731520"/>
          </a:xfrm>
          <a:prstGeom prst="rect">
            <a:avLst/>
          </a:prstGeom>
          <a:noFill/>
        </p:spPr>
        <p:txBody>
          <a:bodyPr wrap="square" lIns="0" rIns="0" tIns="0" bIns="0" anchor="t">
            <a:spAutoFit/>
          </a:bodyPr>
          <a:lstStyle/>
          <a:p>
            <a:pPr algn="l"/>
            <a:r>
              <a:rPr sz="950" b="1">
                <a:solidFill>
                  <a:srgbClr val="0D8A76"/>
                </a:solidFill>
                <a:latin typeface="Yu Gothic"/>
                <a:ea typeface="Yu Gothic"/>
                <a:cs typeface="Yu Gothic"/>
              </a:rPr>
              <a:t>問2 「警察官ではない」の伝え方</a:t>
            </a:r>
          </a:p>
          <a:p>
            <a:pPr algn="l">
              <a:spcBef>
                <a:spcPts val="200"/>
              </a:spcBef>
            </a:pPr>
            <a:r>
              <a:rPr sz="1150" b="0">
                <a:solidFill>
                  <a:srgbClr val="1B2733"/>
                </a:solidFill>
                <a:latin typeface="Yu Gothic"/>
                <a:ea typeface="Yu Gothic"/>
                <a:cs typeface="Yu Gothic"/>
              </a:rPr>
              <a:t>先に否定せず、用件を受け止めてから伝える。「私は警備員です。交番の場所をご案内します」。</a:t>
            </a:r>
          </a:p>
          <a:p>
            <a:pPr algn="l"/>
            <a:r>
              <a:rPr sz="800" b="0">
                <a:solidFill>
                  <a:srgbClr val="5F7183"/>
                </a:solidFill>
                <a:latin typeface="Calibri"/>
                <a:ea typeface="Calibri"/>
                <a:cs typeface="Calibri"/>
              </a:rPr>
              <a:t>Do not open with the denial. Take in what she needs first: "I am a security guard. Let me point you to the police box."</a:t>
            </a:r>
          </a:p>
        </p:txBody>
      </p:sp>
      <p:sp>
        <p:nvSpPr>
          <p:cNvPr id="12" name="Rounded Rectangle 11"/>
          <p:cNvSpPr/>
          <p:nvPr/>
        </p:nvSpPr>
        <p:spPr>
          <a:xfrm>
            <a:off x="640080" y="3054096"/>
            <a:ext cx="10908792" cy="859536"/>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96112" y="3291839"/>
            <a:ext cx="384048" cy="38404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Calibri"/>
                <a:ea typeface="Calibri"/>
                <a:cs typeface="Calibri"/>
              </a:rPr>
              <a:t>3</a:t>
            </a:r>
          </a:p>
        </p:txBody>
      </p:sp>
      <p:sp>
        <p:nvSpPr>
          <p:cNvPr id="14" name="TextBox 13"/>
          <p:cNvSpPr txBox="1"/>
          <p:nvPr/>
        </p:nvSpPr>
        <p:spPr>
          <a:xfrm>
            <a:off x="1499616" y="3127248"/>
            <a:ext cx="9774936" cy="731520"/>
          </a:xfrm>
          <a:prstGeom prst="rect">
            <a:avLst/>
          </a:prstGeom>
          <a:noFill/>
        </p:spPr>
        <p:txBody>
          <a:bodyPr wrap="square" lIns="0" rIns="0" tIns="0" bIns="0" anchor="t">
            <a:spAutoFit/>
          </a:bodyPr>
          <a:lstStyle/>
          <a:p>
            <a:pPr algn="l"/>
            <a:r>
              <a:rPr sz="950" b="1">
                <a:solidFill>
                  <a:srgbClr val="0D8A76"/>
                </a:solidFill>
                <a:latin typeface="Yu Gothic"/>
                <a:ea typeface="Yu Gothic"/>
                <a:cs typeface="Yu Gothic"/>
              </a:rPr>
              <a:t>問3 調書・被害届は扱えるか</a:t>
            </a:r>
          </a:p>
          <a:p>
            <a:pPr algn="l">
              <a:spcBef>
                <a:spcPts val="200"/>
              </a:spcBef>
            </a:pPr>
            <a:r>
              <a:rPr sz="1150" b="0">
                <a:solidFill>
                  <a:srgbClr val="1B2733"/>
                </a:solidFill>
                <a:latin typeface="Yu Gothic"/>
                <a:ea typeface="Yu Gothic"/>
                <a:cs typeface="Yu Gothic"/>
              </a:rPr>
              <a:t>扱えない。警備員に捜査の権限はなく、書面を預かると相手の手続きを遅らせる。</a:t>
            </a:r>
          </a:p>
          <a:p>
            <a:pPr algn="l"/>
            <a:r>
              <a:rPr sz="800" b="0">
                <a:solidFill>
                  <a:srgbClr val="5F7183"/>
                </a:solidFill>
                <a:latin typeface="Calibri"/>
                <a:ea typeface="Calibri"/>
                <a:cs typeface="Calibri"/>
              </a:rPr>
              <a:t>No. A guard has no investigative power, and holding a document would delay her own process.</a:t>
            </a:r>
          </a:p>
        </p:txBody>
      </p:sp>
      <p:sp>
        <p:nvSpPr>
          <p:cNvPr id="15" name="Rounded Rectangle 14"/>
          <p:cNvSpPr/>
          <p:nvPr/>
        </p:nvSpPr>
        <p:spPr>
          <a:xfrm>
            <a:off x="640080" y="3986784"/>
            <a:ext cx="10908792" cy="859536"/>
          </a:xfrm>
          <a:prstGeom prst="roundRect">
            <a:avLst>
              <a:gd name="adj" fmla="val 1900"/>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96112" y="4224528"/>
            <a:ext cx="384048" cy="38404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Calibri"/>
                <a:ea typeface="Calibri"/>
                <a:cs typeface="Calibri"/>
              </a:rPr>
              <a:t>4</a:t>
            </a:r>
          </a:p>
        </p:txBody>
      </p:sp>
      <p:sp>
        <p:nvSpPr>
          <p:cNvPr id="17" name="TextBox 16"/>
          <p:cNvSpPr txBox="1"/>
          <p:nvPr/>
        </p:nvSpPr>
        <p:spPr>
          <a:xfrm>
            <a:off x="1499616" y="4059936"/>
            <a:ext cx="9774936" cy="731520"/>
          </a:xfrm>
          <a:prstGeom prst="rect">
            <a:avLst/>
          </a:prstGeom>
          <a:noFill/>
        </p:spPr>
        <p:txBody>
          <a:bodyPr wrap="square" lIns="0" rIns="0" tIns="0" bIns="0" anchor="t">
            <a:spAutoFit/>
          </a:bodyPr>
          <a:lstStyle/>
          <a:p>
            <a:pPr algn="l"/>
            <a:r>
              <a:rPr sz="950" b="1">
                <a:solidFill>
                  <a:srgbClr val="0D8A76"/>
                </a:solidFill>
                <a:latin typeface="Yu Gothic"/>
                <a:ea typeface="Yu Gothic"/>
                <a:cs typeface="Yu Gothic"/>
              </a:rPr>
              <a:t>問4 持ち場を離れてよいか</a:t>
            </a:r>
          </a:p>
          <a:p>
            <a:pPr algn="l">
              <a:spcBef>
                <a:spcPts val="200"/>
              </a:spcBef>
            </a:pPr>
            <a:r>
              <a:rPr sz="1150" b="0">
                <a:solidFill>
                  <a:srgbClr val="1B2733"/>
                </a:solidFill>
                <a:latin typeface="Yu Gothic"/>
                <a:ea typeface="Yu Gothic"/>
                <a:cs typeface="Yu Gothic"/>
              </a:rPr>
              <a:t>原則として離れない。案内は口頭と指差しで行い、必要なら上長へ連絡する。</a:t>
            </a:r>
          </a:p>
          <a:p>
            <a:pPr algn="l"/>
            <a:r>
              <a:rPr sz="800" b="0">
                <a:solidFill>
                  <a:srgbClr val="5F7183"/>
                </a:solidFill>
                <a:latin typeface="Calibri"/>
                <a:ea typeface="Calibri"/>
                <a:cs typeface="Calibri"/>
              </a:rPr>
              <a:t>As a rule, do not leave. Give directions verbally and by pointing; contact your supervisor if needed.</a:t>
            </a:r>
          </a:p>
        </p:txBody>
      </p:sp>
      <p:sp>
        <p:nvSpPr>
          <p:cNvPr id="18" name="Rounded Rectangle 17"/>
          <p:cNvSpPr/>
          <p:nvPr/>
        </p:nvSpPr>
        <p:spPr>
          <a:xfrm>
            <a:off x="640080" y="4956048"/>
            <a:ext cx="10908792" cy="365760"/>
          </a:xfrm>
          <a:prstGeom prst="roundRect">
            <a:avLst>
              <a:gd name="adj" fmla="val 1900"/>
            </a:avLst>
          </a:prstGeom>
          <a:solidFill>
            <a:srgbClr val="E4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7824" y="4974336"/>
            <a:ext cx="10433304" cy="329184"/>
          </a:xfrm>
          <a:prstGeom prst="rect">
            <a:avLst/>
          </a:prstGeom>
          <a:noFill/>
        </p:spPr>
        <p:txBody>
          <a:bodyPr wrap="square" lIns="0" rIns="0" tIns="0" bIns="0" anchor="t">
            <a:spAutoFit/>
          </a:bodyPr>
          <a:lstStyle/>
          <a:p>
            <a:pPr algn="l"/>
            <a:r>
              <a:rPr sz="850" b="1">
                <a:solidFill>
                  <a:srgbClr val="0D8A76"/>
                </a:solidFill>
                <a:latin typeface="Yu Gothic"/>
                <a:ea typeface="Yu Gothic"/>
                <a:cs typeface="Yu Gothic"/>
              </a:rPr>
              <a:t>追加付与①　「意味がない」と声が大きくなった → 反論しない。声量を下げ、できることだけを短く伝える。</a:t>
            </a:r>
          </a:p>
          <a:p>
            <a:pPr algn="l"/>
            <a:r>
              <a:rPr sz="750" b="0">
                <a:solidFill>
                  <a:srgbClr val="5F7183"/>
                </a:solidFill>
                <a:latin typeface="Calibri"/>
                <a:ea typeface="Calibri"/>
                <a:cs typeface="Calibri"/>
              </a:rPr>
              <a:t>Do not argue back. Lower your own volume and state only what you can do.</a:t>
            </a:r>
          </a:p>
        </p:txBody>
      </p:sp>
      <p:sp>
        <p:nvSpPr>
          <p:cNvPr id="20" name="Rounded Rectangle 19"/>
          <p:cNvSpPr/>
          <p:nvPr/>
        </p:nvSpPr>
        <p:spPr>
          <a:xfrm>
            <a:off x="640080" y="5358384"/>
            <a:ext cx="10908792" cy="365760"/>
          </a:xfrm>
          <a:prstGeom prst="roundRect">
            <a:avLst>
              <a:gd name="adj" fmla="val 1900"/>
            </a:avLst>
          </a:prstGeom>
          <a:solidFill>
            <a:srgbClr val="E4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5376672"/>
            <a:ext cx="10433304" cy="329184"/>
          </a:xfrm>
          <a:prstGeom prst="rect">
            <a:avLst/>
          </a:prstGeom>
          <a:noFill/>
        </p:spPr>
        <p:txBody>
          <a:bodyPr wrap="square" lIns="0" rIns="0" tIns="0" bIns="0" anchor="t">
            <a:spAutoFit/>
          </a:bodyPr>
          <a:lstStyle/>
          <a:p>
            <a:pPr algn="l"/>
            <a:r>
              <a:rPr sz="850" b="1">
                <a:solidFill>
                  <a:srgbClr val="0D8A76"/>
                </a:solidFill>
                <a:latin typeface="Yu Gothic"/>
                <a:ea typeface="Yu Gothic"/>
                <a:cs typeface="Yu Gothic"/>
              </a:rPr>
              <a:t>追加付与②　社員が足を止めて見ている → 見られている前提で振る舞う。ここでの対応がReputationそのもの。</a:t>
            </a:r>
          </a:p>
          <a:p>
            <a:pPr algn="l"/>
            <a:r>
              <a:rPr sz="750" b="0">
                <a:solidFill>
                  <a:srgbClr val="5F7183"/>
                </a:solidFill>
                <a:latin typeface="Calibri"/>
                <a:ea typeface="Calibri"/>
                <a:cs typeface="Calibri"/>
              </a:rPr>
              <a:t>Act as though you are being watched, because you are. This exchange is Reputation itself.</a:t>
            </a:r>
          </a:p>
        </p:txBody>
      </p:sp>
      <p:sp>
        <p:nvSpPr>
          <p:cNvPr id="22" name="TextBox 21"/>
          <p:cNvSpPr txBox="1"/>
          <p:nvPr/>
        </p:nvSpPr>
        <p:spPr>
          <a:xfrm>
            <a:off x="640080" y="5724144"/>
            <a:ext cx="10908792" cy="274320"/>
          </a:xfrm>
          <a:prstGeom prst="rect">
            <a:avLst/>
          </a:prstGeom>
          <a:noFill/>
        </p:spPr>
        <p:txBody>
          <a:bodyPr wrap="square" lIns="0" rIns="0" tIns="0" bIns="0" anchor="t">
            <a:spAutoFit/>
          </a:bodyPr>
          <a:lstStyle/>
          <a:p>
            <a:pPr algn="l"/>
            <a:r>
              <a:rPr sz="850" b="1">
                <a:solidFill>
                  <a:srgbClr val="093259"/>
                </a:solidFill>
                <a:latin typeface="Yu Gothic"/>
                <a:ea typeface="Yu Gothic"/>
                <a:cs typeface="Yu Gothic"/>
              </a:rPr>
              <a:t>割れる論点　案内のために持ち場を離れるか。離れないと答えた班には「では誰が対応するのか」を問う。</a:t>
            </a:r>
          </a:p>
          <a:p>
            <a:pPr algn="l"/>
            <a:r>
              <a:rPr sz="750" b="0">
                <a:solidFill>
                  <a:srgbClr val="5F7183"/>
                </a:solidFill>
                <a:latin typeface="Calibri"/>
                <a:ea typeface="Calibri"/>
                <a:cs typeface="Calibri"/>
              </a:rPr>
              <a:t>Do you leave your post? Ask those who say no: then who does help her?</a:t>
            </a:r>
          </a:p>
        </p:txBody>
      </p:sp>
      <p:sp>
        <p:nvSpPr>
          <p:cNvPr id="23" name="TextBox 22"/>
          <p:cNvSpPr txBox="1"/>
          <p:nvPr/>
        </p:nvSpPr>
        <p:spPr>
          <a:xfrm>
            <a:off x="640080" y="6035040"/>
            <a:ext cx="10908792" cy="182880"/>
          </a:xfrm>
          <a:prstGeom prst="rect">
            <a:avLst/>
          </a:prstGeom>
          <a:noFill/>
        </p:spPr>
        <p:txBody>
          <a:bodyPr wrap="square" lIns="0" rIns="0" tIns="0" bIns="0" anchor="t">
            <a:spAutoFit/>
          </a:bodyPr>
          <a:lstStyle/>
          <a:p>
            <a:pPr algn="l"/>
            <a:r>
              <a:rPr sz="750" b="0">
                <a:solidFill>
                  <a:srgbClr val="5F7183"/>
                </a:solidFill>
                <a:latin typeface="Yu Gothic"/>
                <a:ea typeface="Yu Gothic"/>
                <a:cs typeface="Yu Gothic"/>
              </a:rPr>
              <a:t>注記　模範解答は判断の型を示すものです。実際の手順は各現場のSite SOPと警備指令書が優先します。</a:t>
            </a:r>
          </a:p>
        </p:txBody>
      </p:sp>
      <p:sp>
        <p:nvSpPr>
          <p:cNvPr id="24" name="TextBox 23"/>
          <p:cNvSpPr txBox="1"/>
          <p:nvPr/>
        </p:nvSpPr>
        <p:spPr>
          <a:xfrm>
            <a:off x="640080" y="6217920"/>
            <a:ext cx="9902952" cy="182880"/>
          </a:xfrm>
          <a:prstGeom prst="rect">
            <a:avLst/>
          </a:prstGeom>
          <a:noFill/>
        </p:spPr>
        <p:txBody>
          <a:bodyPr wrap="square" lIns="0" rIns="0" tIns="0" bIns="0" anchor="t">
            <a:spAutoFit/>
          </a:bodyPr>
          <a:lstStyle/>
          <a:p>
            <a:pPr algn="l"/>
            <a:r>
              <a:rPr sz="750" b="1">
                <a:solidFill>
                  <a:srgbClr val="D6E0E9"/>
                </a:solidFill>
                <a:latin typeface="Yu Gothic"/>
                <a:ea typeface="Yu Gothic"/>
                <a:cs typeface="Yu Gothic"/>
              </a:rPr>
              <a:t>ソース　警備業法、警察庁「警備業法等の解釈運用基準」</a:t>
            </a:r>
          </a:p>
        </p:txBody>
      </p:sp>
      <p:sp>
        <p:nvSpPr>
          <p:cNvPr id="25" name="TextBox 24"/>
          <p:cNvSpPr txBox="1"/>
          <p:nvPr/>
        </p:nvSpPr>
        <p:spPr>
          <a:xfrm>
            <a:off x="640080" y="6382512"/>
            <a:ext cx="8778240" cy="292608"/>
          </a:xfrm>
          <a:prstGeom prst="rect">
            <a:avLst/>
          </a:prstGeom>
          <a:noFill/>
        </p:spPr>
        <p:txBody>
          <a:bodyPr wrap="square" lIns="0" rIns="0" tIns="0" bIns="0" anchor="t">
            <a:spAutoFit/>
          </a:bodyPr>
          <a:lstStyle/>
          <a:p>
            <a:pPr algn="l"/>
            <a:r>
              <a:rPr sz="900" b="0">
                <a:solidFill>
                  <a:srgbClr val="5F7183"/>
                </a:solidFill>
                <a:latin typeface="Yu Gothic"/>
                <a:ea typeface="Yu Gothic"/>
                <a:cs typeface="Yu Gothic"/>
              </a:rPr>
              <a:t>第1時限｜基本教育1 警備業務実施の基本原則  Period 1 | Basic Training 1 — Fundamental Principles</a:t>
            </a:r>
          </a:p>
        </p:txBody>
      </p:sp>
      <p:sp>
        <p:nvSpPr>
          <p:cNvPr id="26" name="TextBox 25"/>
          <p:cNvSpPr txBox="1"/>
          <p:nvPr/>
        </p:nvSpPr>
        <p:spPr>
          <a:xfrm>
            <a:off x="10634472" y="6382512"/>
            <a:ext cx="914400" cy="292608"/>
          </a:xfrm>
          <a:prstGeom prst="rect">
            <a:avLst/>
          </a:prstGeom>
          <a:noFill/>
        </p:spPr>
        <p:txBody>
          <a:bodyPr wrap="square" lIns="0" rIns="0" tIns="0" bIns="0" anchor="t">
            <a:spAutoFit/>
          </a:bodyPr>
          <a:lstStyle/>
          <a:p>
            <a:pPr algn="r"/>
            <a:r>
              <a:rPr sz="1000" b="0">
                <a:solidFill>
                  <a:srgbClr val="5F7183"/>
                </a:solidFill>
                <a:latin typeface="Calibri"/>
                <a:ea typeface="Calibri"/>
                <a:cs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762488" y="329184"/>
            <a:ext cx="786384" cy="740664"/>
          </a:xfrm>
          <a:prstGeom prst="rect">
            <a:avLst/>
          </a:prstGeom>
        </p:spPr>
      </p:pic>
      <p:sp>
        <p:nvSpPr>
          <p:cNvPr id="3" name="TextBox 2"/>
          <p:cNvSpPr txBox="1"/>
          <p:nvPr/>
        </p:nvSpPr>
        <p:spPr>
          <a:xfrm>
            <a:off x="640080" y="384048"/>
            <a:ext cx="8979408" cy="768096"/>
          </a:xfrm>
          <a:prstGeom prst="rect">
            <a:avLst/>
          </a:prstGeom>
          <a:noFill/>
        </p:spPr>
        <p:txBody>
          <a:bodyPr wrap="square" lIns="0" rIns="0" tIns="0" bIns="0" anchor="t">
            <a:spAutoFit/>
          </a:bodyPr>
          <a:lstStyle/>
          <a:p>
            <a:pPr algn="l"/>
            <a:r>
              <a:rPr sz="2300" b="1">
                <a:solidFill>
                  <a:srgbClr val="093259"/>
                </a:solidFill>
                <a:latin typeface="Yu Gothic"/>
                <a:ea typeface="Yu Gothic"/>
                <a:cs typeface="Yu Gothic"/>
              </a:rPr>
              <a:t>TTX 1-B　クライアントからの依頼</a:t>
            </a:r>
          </a:p>
          <a:p>
            <a:pPr algn="l">
              <a:spcBef>
                <a:spcPts val="200"/>
              </a:spcBef>
            </a:pPr>
            <a:r>
              <a:rPr sz="1100" b="0">
                <a:solidFill>
                  <a:srgbClr val="12B198"/>
                </a:solidFill>
                <a:latin typeface="Calibri"/>
                <a:ea typeface="Calibri"/>
                <a:cs typeface="Calibri"/>
              </a:rPr>
              <a:t>TTX 1-B — A Request from the Client</a:t>
            </a:r>
          </a:p>
        </p:txBody>
      </p:sp>
      <p:sp>
        <p:nvSpPr>
          <p:cNvPr id="4" name="Rounded Rectangle 3"/>
          <p:cNvSpPr/>
          <p:nvPr/>
        </p:nvSpPr>
        <p:spPr>
          <a:xfrm>
            <a:off x="9683496" y="438912"/>
            <a:ext cx="932688" cy="310896"/>
          </a:xfrm>
          <a:prstGeom prst="roundRect">
            <a:avLst>
              <a:gd name="adj" fmla="val 14700"/>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83496" y="438912"/>
            <a:ext cx="932688" cy="310896"/>
          </a:xfrm>
          <a:prstGeom prst="rect">
            <a:avLst/>
          </a:prstGeom>
          <a:noFill/>
        </p:spPr>
        <p:txBody>
          <a:bodyPr wrap="square" lIns="0" rIns="0" tIns="0" bIns="0" anchor="ctr">
            <a:spAutoFit/>
          </a:bodyPr>
          <a:lstStyle/>
          <a:p>
            <a:pPr algn="ctr"/>
            <a:r>
              <a:rPr sz="1100" b="1">
                <a:solidFill>
                  <a:srgbClr val="FFFFFF"/>
                </a:solidFill>
                <a:latin typeface="Calibri"/>
                <a:ea typeface="Calibri"/>
                <a:cs typeface="Calibri"/>
              </a:rPr>
              <a:t>CASE 1-B</a:t>
            </a:r>
          </a:p>
        </p:txBody>
      </p:sp>
      <p:sp>
        <p:nvSpPr>
          <p:cNvPr id="6" name="Rounded Rectangle 5"/>
          <p:cNvSpPr/>
          <p:nvPr/>
        </p:nvSpPr>
        <p:spPr>
          <a:xfrm>
            <a:off x="640080" y="1188720"/>
            <a:ext cx="10908792" cy="1124712"/>
          </a:xfrm>
          <a:prstGeom prst="roundRect">
            <a:avLst>
              <a:gd name="adj" fmla="val 1900"/>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316736"/>
            <a:ext cx="10287000" cy="868680"/>
          </a:xfrm>
          <a:prstGeom prst="rect">
            <a:avLst/>
          </a:prstGeom>
          <a:noFill/>
        </p:spPr>
        <p:txBody>
          <a:bodyPr wrap="square" lIns="0" rIns="0" tIns="0" bIns="0" anchor="t">
            <a:spAutoFit/>
          </a:bodyPr>
          <a:lstStyle/>
          <a:p>
            <a:pPr algn="l"/>
            <a:r>
              <a:rPr sz="950" b="1">
                <a:solidFill>
                  <a:srgbClr val="12B198"/>
                </a:solidFill>
                <a:latin typeface="Yu Gothic"/>
                <a:ea typeface="Yu Gothic"/>
                <a:cs typeface="Yu Gothic"/>
              </a:rPr>
              <a:t>シナリオ　SCENARIO</a:t>
            </a:r>
          </a:p>
          <a:p>
            <a:pPr algn="l">
              <a:spcBef>
                <a:spcPts val="300"/>
              </a:spcBef>
            </a:pPr>
            <a:r>
              <a:rPr sz="1150" b="0">
                <a:solidFill>
                  <a:srgbClr val="FFFFFF"/>
                </a:solidFill>
                <a:latin typeface="Yu Gothic"/>
                <a:ea typeface="Yu Gothic"/>
                <a:cs typeface="Yu Gothic"/>
              </a:rPr>
              <a:t>夜間の常駐勤務中、クライアント企業の課長が警備デスクに来て言う。「今から社内の備品確認をする。悪いが、退社する社員のカバンを出口で一人ずつ開けて中を見てほしい。うちの依頼だから問題ない」。警備指令書にそのような業務は書かれていない。上長は不在である。</a:t>
            </a:r>
          </a:p>
          <a:p>
            <a:pPr algn="l">
              <a:spcBef>
                <a:spcPts val="200"/>
              </a:spcBef>
            </a:pPr>
            <a:r>
              <a:rPr sz="800" b="0">
                <a:solidFill>
                  <a:srgbClr val="9FD8CD"/>
                </a:solidFill>
                <a:latin typeface="Calibri"/>
                <a:ea typeface="Calibri"/>
                <a:cs typeface="Calibri"/>
              </a:rPr>
              <a:t>On night duty, a client manager comes to the security desk: "We are doing an equipment check. Please open and inspect each employee's bag at the exit. We are the client, so it is fine." The post orders contain no such duty. Your supervisor is away.</a:t>
            </a:r>
          </a:p>
        </p:txBody>
      </p:sp>
      <p:sp>
        <p:nvSpPr>
          <p:cNvPr id="8" name="TextBox 7"/>
          <p:cNvSpPr txBox="1"/>
          <p:nvPr/>
        </p:nvSpPr>
        <p:spPr>
          <a:xfrm>
            <a:off x="640080" y="2459736"/>
            <a:ext cx="10908792" cy="566928"/>
          </a:xfrm>
          <a:prstGeom prst="rect">
            <a:avLst/>
          </a:prstGeom>
          <a:noFill/>
        </p:spPr>
        <p:txBody>
          <a:bodyPr wrap="square" lIns="0" rIns="0" tIns="0" bIns="0" anchor="t">
            <a:spAutoFit/>
          </a:bodyPr>
          <a:lstStyle/>
          <a:p>
            <a:pPr algn="l"/>
            <a:r>
              <a:rPr sz="1000" b="1">
                <a:solidFill>
                  <a:srgbClr val="0D8A76"/>
                </a:solidFill>
                <a:latin typeface="Yu Gothic"/>
                <a:ea typeface="Yu Gothic"/>
                <a:cs typeface="Yu Gothic"/>
              </a:rPr>
              <a:t>問い　あなたなら次の60秒、何をどう動きますか。</a:t>
            </a:r>
          </a:p>
          <a:p>
            <a:pPr algn="l"/>
            <a:r>
              <a:rPr sz="850" b="0">
                <a:solidFill>
                  <a:srgbClr val="5F7183"/>
                </a:solidFill>
                <a:latin typeface="Calibri"/>
                <a:ea typeface="Calibri"/>
                <a:cs typeface="Calibri"/>
              </a:rPr>
              <a:t>What do you do in the next sixty seconds?</a:t>
            </a:r>
          </a:p>
        </p:txBody>
      </p:sp>
      <p:sp>
        <p:nvSpPr>
          <p:cNvPr id="9" name="Rounded Rectangle 8"/>
          <p:cNvSpPr/>
          <p:nvPr/>
        </p:nvSpPr>
        <p:spPr>
          <a:xfrm>
            <a:off x="640080" y="3081528"/>
            <a:ext cx="5330952" cy="841248"/>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04671" y="3355848"/>
            <a:ext cx="292608" cy="29260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1</a:t>
            </a:r>
          </a:p>
        </p:txBody>
      </p:sp>
      <p:sp>
        <p:nvSpPr>
          <p:cNvPr id="11" name="TextBox 10"/>
          <p:cNvSpPr txBox="1"/>
          <p:nvPr/>
        </p:nvSpPr>
        <p:spPr>
          <a:xfrm>
            <a:off x="1188719" y="3136392"/>
            <a:ext cx="4599432" cy="731520"/>
          </a:xfrm>
          <a:prstGeom prst="rect">
            <a:avLst/>
          </a:prstGeom>
          <a:noFill/>
        </p:spPr>
        <p:txBody>
          <a:bodyPr wrap="square" lIns="0" rIns="0" tIns="0" bIns="0" anchor="t">
            <a:spAutoFit/>
          </a:bodyPr>
          <a:lstStyle/>
          <a:p>
            <a:pPr algn="l"/>
            <a:r>
              <a:rPr sz="1050" b="0">
                <a:solidFill>
                  <a:srgbClr val="1B2733"/>
                </a:solidFill>
                <a:latin typeface="Yu Gothic"/>
                <a:ea typeface="Yu Gothic"/>
                <a:cs typeface="Yu Gothic"/>
              </a:rPr>
              <a:t>所持品検査を強制することはできるか。その根拠は。</a:t>
            </a:r>
          </a:p>
          <a:p>
            <a:pPr algn="l"/>
            <a:r>
              <a:rPr sz="800" b="0">
                <a:solidFill>
                  <a:srgbClr val="5F7183"/>
                </a:solidFill>
                <a:latin typeface="Calibri"/>
                <a:ea typeface="Calibri"/>
                <a:cs typeface="Calibri"/>
              </a:rPr>
              <a:t>Can a bag search be compelled? On what basis?</a:t>
            </a:r>
          </a:p>
        </p:txBody>
      </p:sp>
      <p:sp>
        <p:nvSpPr>
          <p:cNvPr id="12" name="Rounded Rectangle 11"/>
          <p:cNvSpPr/>
          <p:nvPr/>
        </p:nvSpPr>
        <p:spPr>
          <a:xfrm>
            <a:off x="6227064" y="3081528"/>
            <a:ext cx="5330952" cy="841248"/>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91655" y="3355848"/>
            <a:ext cx="292608" cy="29260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2</a:t>
            </a:r>
          </a:p>
        </p:txBody>
      </p:sp>
      <p:sp>
        <p:nvSpPr>
          <p:cNvPr id="14" name="TextBox 13"/>
          <p:cNvSpPr txBox="1"/>
          <p:nvPr/>
        </p:nvSpPr>
        <p:spPr>
          <a:xfrm>
            <a:off x="6775703" y="3136392"/>
            <a:ext cx="4599432" cy="731520"/>
          </a:xfrm>
          <a:prstGeom prst="rect">
            <a:avLst/>
          </a:prstGeom>
          <a:noFill/>
        </p:spPr>
        <p:txBody>
          <a:bodyPr wrap="square" lIns="0" rIns="0" tIns="0" bIns="0" anchor="t">
            <a:spAutoFit/>
          </a:bodyPr>
          <a:lstStyle/>
          <a:p>
            <a:pPr algn="l"/>
            <a:r>
              <a:rPr sz="1050" b="0">
                <a:solidFill>
                  <a:srgbClr val="1B2733"/>
                </a:solidFill>
                <a:latin typeface="Yu Gothic"/>
                <a:ea typeface="Yu Gothic"/>
                <a:cs typeface="Yu Gothic"/>
              </a:rPr>
              <a:t>「クライアントの依頼」は、業務範囲を広げる根拠になるか。</a:t>
            </a:r>
          </a:p>
          <a:p>
            <a:pPr algn="l"/>
            <a:r>
              <a:rPr sz="800" b="0">
                <a:solidFill>
                  <a:srgbClr val="5F7183"/>
                </a:solidFill>
                <a:latin typeface="Calibri"/>
                <a:ea typeface="Calibri"/>
                <a:cs typeface="Calibri"/>
              </a:rPr>
              <a:t>Does "the client asked" extend the scope of your duties?</a:t>
            </a:r>
          </a:p>
        </p:txBody>
      </p:sp>
      <p:sp>
        <p:nvSpPr>
          <p:cNvPr id="15" name="Rounded Rectangle 14"/>
          <p:cNvSpPr/>
          <p:nvPr/>
        </p:nvSpPr>
        <p:spPr>
          <a:xfrm>
            <a:off x="640080" y="4032504"/>
            <a:ext cx="5330952" cy="841248"/>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4671" y="4306824"/>
            <a:ext cx="292608" cy="29260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3</a:t>
            </a:r>
          </a:p>
        </p:txBody>
      </p:sp>
      <p:sp>
        <p:nvSpPr>
          <p:cNvPr id="17" name="TextBox 16"/>
          <p:cNvSpPr txBox="1"/>
          <p:nvPr/>
        </p:nvSpPr>
        <p:spPr>
          <a:xfrm>
            <a:off x="1188719" y="4087368"/>
            <a:ext cx="4599432" cy="731520"/>
          </a:xfrm>
          <a:prstGeom prst="rect">
            <a:avLst/>
          </a:prstGeom>
          <a:noFill/>
        </p:spPr>
        <p:txBody>
          <a:bodyPr wrap="square" lIns="0" rIns="0" tIns="0" bIns="0" anchor="t">
            <a:spAutoFit/>
          </a:bodyPr>
          <a:lstStyle/>
          <a:p>
            <a:pPr algn="l"/>
            <a:r>
              <a:rPr sz="1050" b="0">
                <a:solidFill>
                  <a:srgbClr val="1B2733"/>
                </a:solidFill>
                <a:latin typeface="Yu Gothic"/>
                <a:ea typeface="Yu Gothic"/>
                <a:cs typeface="Yu Gothic"/>
              </a:rPr>
              <a:t>判断軸のどこで、この依頼は止まるか。</a:t>
            </a:r>
          </a:p>
          <a:p>
            <a:pPr algn="l"/>
            <a:r>
              <a:rPr sz="800" b="0">
                <a:solidFill>
                  <a:srgbClr val="5F7183"/>
                </a:solidFill>
                <a:latin typeface="Calibri"/>
                <a:ea typeface="Calibri"/>
                <a:cs typeface="Calibri"/>
              </a:rPr>
              <a:t>At which step of the priority order does this request stop?</a:t>
            </a:r>
          </a:p>
        </p:txBody>
      </p:sp>
      <p:sp>
        <p:nvSpPr>
          <p:cNvPr id="18" name="Rounded Rectangle 17"/>
          <p:cNvSpPr/>
          <p:nvPr/>
        </p:nvSpPr>
        <p:spPr>
          <a:xfrm>
            <a:off x="6227064" y="4032504"/>
            <a:ext cx="5330952" cy="841248"/>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91655" y="4306824"/>
            <a:ext cx="292608" cy="29260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Calibri"/>
                <a:ea typeface="Calibri"/>
                <a:cs typeface="Calibri"/>
              </a:rPr>
              <a:t>4</a:t>
            </a:r>
          </a:p>
        </p:txBody>
      </p:sp>
      <p:sp>
        <p:nvSpPr>
          <p:cNvPr id="20" name="TextBox 19"/>
          <p:cNvSpPr txBox="1"/>
          <p:nvPr/>
        </p:nvSpPr>
        <p:spPr>
          <a:xfrm>
            <a:off x="6775703" y="4087368"/>
            <a:ext cx="4599432" cy="731520"/>
          </a:xfrm>
          <a:prstGeom prst="rect">
            <a:avLst/>
          </a:prstGeom>
          <a:noFill/>
        </p:spPr>
        <p:txBody>
          <a:bodyPr wrap="square" lIns="0" rIns="0" tIns="0" bIns="0" anchor="t">
            <a:spAutoFit/>
          </a:bodyPr>
          <a:lstStyle/>
          <a:p>
            <a:pPr algn="l"/>
            <a:r>
              <a:rPr sz="1050" b="0">
                <a:solidFill>
                  <a:srgbClr val="1B2733"/>
                </a:solidFill>
                <a:latin typeface="Yu Gothic"/>
                <a:ea typeface="Yu Gothic"/>
                <a:cs typeface="Yu Gothic"/>
              </a:rPr>
              <a:t>断る場合、何と言うか。関係を壊さずに断れるか。</a:t>
            </a:r>
          </a:p>
          <a:p>
            <a:pPr algn="l"/>
            <a:r>
              <a:rPr sz="800" b="0">
                <a:solidFill>
                  <a:srgbClr val="5F7183"/>
                </a:solidFill>
                <a:latin typeface="Calibri"/>
                <a:ea typeface="Calibri"/>
                <a:cs typeface="Calibri"/>
              </a:rPr>
              <a:t>If you decline, what do you say? Can you decline without damaging the relationship?</a:t>
            </a:r>
          </a:p>
        </p:txBody>
      </p:sp>
      <p:sp>
        <p:nvSpPr>
          <p:cNvPr id="21" name="Rounded Rectangle 20"/>
          <p:cNvSpPr/>
          <p:nvPr/>
        </p:nvSpPr>
        <p:spPr>
          <a:xfrm>
            <a:off x="640080" y="4919472"/>
            <a:ext cx="10908792" cy="420624"/>
          </a:xfrm>
          <a:prstGeom prst="roundRect">
            <a:avLst>
              <a:gd name="adj" fmla="val 1900"/>
            </a:avLst>
          </a:prstGeom>
          <a:solidFill>
            <a:srgbClr val="E4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4946904"/>
            <a:ext cx="10433304" cy="365760"/>
          </a:xfrm>
          <a:prstGeom prst="rect">
            <a:avLst/>
          </a:prstGeom>
          <a:noFill/>
        </p:spPr>
        <p:txBody>
          <a:bodyPr wrap="square" lIns="0" rIns="0" tIns="0" bIns="0" anchor="t">
            <a:spAutoFit/>
          </a:bodyPr>
          <a:lstStyle/>
          <a:p>
            <a:pPr algn="l"/>
            <a:r>
              <a:rPr sz="850" b="1">
                <a:solidFill>
                  <a:srgbClr val="0D8A76"/>
                </a:solidFill>
                <a:latin typeface="Yu Gothic"/>
                <a:ea typeface="Yu Gothic"/>
                <a:cs typeface="Yu Gothic"/>
              </a:rPr>
              <a:t>追加付与①　課長が「では君は見ているだけでいい。私が開ける」と言い出した。</a:t>
            </a:r>
          </a:p>
          <a:p>
            <a:pPr algn="l"/>
            <a:r>
              <a:rPr sz="750" b="0">
                <a:solidFill>
                  <a:srgbClr val="5F7183"/>
                </a:solidFill>
                <a:latin typeface="Calibri"/>
                <a:ea typeface="Calibri"/>
                <a:cs typeface="Calibri"/>
              </a:rPr>
              <a:t>The manager says: "Then just stand there. I will open them myself."</a:t>
            </a:r>
          </a:p>
        </p:txBody>
      </p:sp>
      <p:sp>
        <p:nvSpPr>
          <p:cNvPr id="23" name="Rounded Rectangle 22"/>
          <p:cNvSpPr/>
          <p:nvPr/>
        </p:nvSpPr>
        <p:spPr>
          <a:xfrm>
            <a:off x="640080" y="5394960"/>
            <a:ext cx="10908792" cy="420624"/>
          </a:xfrm>
          <a:prstGeom prst="roundRect">
            <a:avLst>
              <a:gd name="adj" fmla="val 1900"/>
            </a:avLst>
          </a:prstGeom>
          <a:solidFill>
            <a:srgbClr val="E4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7824" y="5422392"/>
            <a:ext cx="10433304" cy="365760"/>
          </a:xfrm>
          <a:prstGeom prst="rect">
            <a:avLst/>
          </a:prstGeom>
          <a:noFill/>
        </p:spPr>
        <p:txBody>
          <a:bodyPr wrap="square" lIns="0" rIns="0" tIns="0" bIns="0" anchor="t">
            <a:spAutoFit/>
          </a:bodyPr>
          <a:lstStyle/>
          <a:p>
            <a:pPr algn="l"/>
            <a:r>
              <a:rPr sz="850" b="1">
                <a:solidFill>
                  <a:srgbClr val="0D8A76"/>
                </a:solidFill>
                <a:latin typeface="Yu Gothic"/>
                <a:ea typeface="Yu Gothic"/>
                <a:cs typeface="Yu Gothic"/>
              </a:rPr>
              <a:t>追加付与②　退社しようとする社員が出口に並び始めた。</a:t>
            </a:r>
          </a:p>
          <a:p>
            <a:pPr algn="l"/>
            <a:r>
              <a:rPr sz="750" b="0">
                <a:solidFill>
                  <a:srgbClr val="5F7183"/>
                </a:solidFill>
                <a:latin typeface="Calibri"/>
                <a:ea typeface="Calibri"/>
                <a:cs typeface="Calibri"/>
              </a:rPr>
              <a:t>Employees are starting to queue at the exit to leave.</a:t>
            </a:r>
          </a:p>
        </p:txBody>
      </p:sp>
      <p:sp>
        <p:nvSpPr>
          <p:cNvPr id="25" name="TextBox 24"/>
          <p:cNvSpPr txBox="1"/>
          <p:nvPr/>
        </p:nvSpPr>
        <p:spPr>
          <a:xfrm>
            <a:off x="640080" y="5907024"/>
            <a:ext cx="10908792" cy="310896"/>
          </a:xfrm>
          <a:prstGeom prst="rect">
            <a:avLst/>
          </a:prstGeom>
          <a:noFill/>
        </p:spPr>
        <p:txBody>
          <a:bodyPr wrap="square" lIns="0" rIns="0" tIns="0" bIns="0" anchor="t">
            <a:spAutoFit/>
          </a:bodyPr>
          <a:lstStyle/>
          <a:p>
            <a:pPr algn="l"/>
            <a:r>
              <a:rPr sz="900" b="1">
                <a:solidFill>
                  <a:srgbClr val="0D8A76"/>
                </a:solidFill>
                <a:latin typeface="Yu Gothic"/>
                <a:ea typeface="Yu Gothic"/>
                <a:cs typeface="Yu Gothic"/>
              </a:rPr>
              <a:t>Site SOP優先　所持品確認の運用と、指令書にない依頼を受けた場合の連絡順序は現場ごとに異なる。</a:t>
            </a:r>
          </a:p>
          <a:p>
            <a:pPr algn="l"/>
            <a:r>
              <a:rPr sz="750" b="0">
                <a:solidFill>
                  <a:srgbClr val="5F7183"/>
                </a:solidFill>
                <a:latin typeface="Calibri"/>
                <a:ea typeface="Calibri"/>
                <a:cs typeface="Calibri"/>
              </a:rPr>
              <a:t>How bag checks are handled, and whom to call for a request outside the post orders, differ by site.</a:t>
            </a:r>
          </a:p>
        </p:txBody>
      </p:sp>
      <p:sp>
        <p:nvSpPr>
          <p:cNvPr id="26" name="TextBox 25"/>
          <p:cNvSpPr txBox="1"/>
          <p:nvPr/>
        </p:nvSpPr>
        <p:spPr>
          <a:xfrm>
            <a:off x="640080" y="6199632"/>
            <a:ext cx="9902952" cy="237744"/>
          </a:xfrm>
          <a:prstGeom prst="rect">
            <a:avLst/>
          </a:prstGeom>
          <a:noFill/>
        </p:spPr>
        <p:txBody>
          <a:bodyPr wrap="square" lIns="0" rIns="0" tIns="0" bIns="0" anchor="t">
            <a:spAutoFit/>
          </a:bodyPr>
          <a:lstStyle/>
          <a:p>
            <a:pPr algn="l"/>
            <a:r>
              <a:rPr sz="750" b="1">
                <a:solidFill>
                  <a:srgbClr val="D6E0E9"/>
                </a:solidFill>
                <a:latin typeface="Yu Gothic"/>
                <a:ea typeface="Yu Gothic"/>
                <a:cs typeface="Yu Gothic"/>
              </a:rPr>
              <a:t>ソース　警備業法、刑法、刑事訴訟法、警察官職務執行法</a:t>
            </a:r>
          </a:p>
        </p:txBody>
      </p:sp>
      <p:sp>
        <p:nvSpPr>
          <p:cNvPr id="27" name="TextBox 26"/>
          <p:cNvSpPr txBox="1"/>
          <p:nvPr/>
        </p:nvSpPr>
        <p:spPr>
          <a:xfrm>
            <a:off x="640080" y="6382512"/>
            <a:ext cx="8778240" cy="292608"/>
          </a:xfrm>
          <a:prstGeom prst="rect">
            <a:avLst/>
          </a:prstGeom>
          <a:noFill/>
        </p:spPr>
        <p:txBody>
          <a:bodyPr wrap="square" lIns="0" rIns="0" tIns="0" bIns="0" anchor="t">
            <a:spAutoFit/>
          </a:bodyPr>
          <a:lstStyle/>
          <a:p>
            <a:pPr algn="l"/>
            <a:r>
              <a:rPr sz="900" b="0">
                <a:solidFill>
                  <a:srgbClr val="5F7183"/>
                </a:solidFill>
                <a:latin typeface="Yu Gothic"/>
                <a:ea typeface="Yu Gothic"/>
                <a:cs typeface="Yu Gothic"/>
              </a:rPr>
              <a:t>第1時限｜基本教育1 警備業務実施の基本原則  Period 1 | Basic Training 1 — Fundamental Principles</a:t>
            </a:r>
          </a:p>
        </p:txBody>
      </p:sp>
      <p:sp>
        <p:nvSpPr>
          <p:cNvPr id="28" name="TextBox 27"/>
          <p:cNvSpPr txBox="1"/>
          <p:nvPr/>
        </p:nvSpPr>
        <p:spPr>
          <a:xfrm>
            <a:off x="10634472" y="6382512"/>
            <a:ext cx="914400" cy="292608"/>
          </a:xfrm>
          <a:prstGeom prst="rect">
            <a:avLst/>
          </a:prstGeom>
          <a:noFill/>
        </p:spPr>
        <p:txBody>
          <a:bodyPr wrap="square" lIns="0" rIns="0" tIns="0" bIns="0" anchor="t">
            <a:spAutoFit/>
          </a:bodyPr>
          <a:lstStyle/>
          <a:p>
            <a:pPr algn="r"/>
            <a:r>
              <a:rPr sz="1000" b="0">
                <a:solidFill>
                  <a:srgbClr val="5F7183"/>
                </a:solidFill>
                <a:latin typeface="Calibri"/>
                <a:ea typeface="Calibri"/>
                <a:cs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762488" y="329184"/>
            <a:ext cx="786384" cy="740664"/>
          </a:xfrm>
          <a:prstGeom prst="rect">
            <a:avLst/>
          </a:prstGeom>
        </p:spPr>
      </p:pic>
      <p:sp>
        <p:nvSpPr>
          <p:cNvPr id="3" name="TextBox 2"/>
          <p:cNvSpPr txBox="1"/>
          <p:nvPr/>
        </p:nvSpPr>
        <p:spPr>
          <a:xfrm>
            <a:off x="640080" y="384048"/>
            <a:ext cx="8979408" cy="768096"/>
          </a:xfrm>
          <a:prstGeom prst="rect">
            <a:avLst/>
          </a:prstGeom>
          <a:noFill/>
        </p:spPr>
        <p:txBody>
          <a:bodyPr wrap="square" lIns="0" rIns="0" tIns="0" bIns="0" anchor="t">
            <a:spAutoFit/>
          </a:bodyPr>
          <a:lstStyle/>
          <a:p>
            <a:pPr algn="l"/>
            <a:r>
              <a:rPr sz="2300" b="1">
                <a:solidFill>
                  <a:srgbClr val="093259"/>
                </a:solidFill>
                <a:latin typeface="Yu Gothic"/>
                <a:ea typeface="Yu Gothic"/>
                <a:cs typeface="Yu Gothic"/>
              </a:rPr>
              <a:t>TTX 1-B 模範解答</a:t>
            </a:r>
          </a:p>
          <a:p>
            <a:pPr algn="l">
              <a:spcBef>
                <a:spcPts val="200"/>
              </a:spcBef>
            </a:pPr>
            <a:r>
              <a:rPr sz="1100" b="0">
                <a:solidFill>
                  <a:srgbClr val="12B198"/>
                </a:solidFill>
                <a:latin typeface="Calibri"/>
                <a:ea typeface="Calibri"/>
                <a:cs typeface="Calibri"/>
              </a:rPr>
              <a:t>TTX 1-B — Model Answers</a:t>
            </a:r>
          </a:p>
        </p:txBody>
      </p:sp>
      <p:sp>
        <p:nvSpPr>
          <p:cNvPr id="4" name="Rounded Rectangle 3"/>
          <p:cNvSpPr/>
          <p:nvPr/>
        </p:nvSpPr>
        <p:spPr>
          <a:xfrm>
            <a:off x="9683496" y="438912"/>
            <a:ext cx="932688" cy="310896"/>
          </a:xfrm>
          <a:prstGeom prst="roundRect">
            <a:avLst>
              <a:gd name="adj" fmla="val 14700"/>
            </a:avLst>
          </a:prstGeom>
          <a:solidFill>
            <a:srgbClr val="0932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83496" y="438912"/>
            <a:ext cx="932688" cy="310896"/>
          </a:xfrm>
          <a:prstGeom prst="rect">
            <a:avLst/>
          </a:prstGeom>
          <a:noFill/>
        </p:spPr>
        <p:txBody>
          <a:bodyPr wrap="square" lIns="0" rIns="0" tIns="0" bIns="0" anchor="ctr">
            <a:spAutoFit/>
          </a:bodyPr>
          <a:lstStyle/>
          <a:p>
            <a:pPr algn="ctr"/>
            <a:r>
              <a:rPr sz="1100" b="1">
                <a:solidFill>
                  <a:srgbClr val="FFFFFF"/>
                </a:solidFill>
                <a:latin typeface="Calibri"/>
                <a:ea typeface="Calibri"/>
                <a:cs typeface="Calibri"/>
              </a:rPr>
              <a:t>DEBRIEF</a:t>
            </a:r>
          </a:p>
        </p:txBody>
      </p:sp>
      <p:sp>
        <p:nvSpPr>
          <p:cNvPr id="6" name="Rounded Rectangle 5"/>
          <p:cNvSpPr/>
          <p:nvPr/>
        </p:nvSpPr>
        <p:spPr>
          <a:xfrm>
            <a:off x="640080" y="1188720"/>
            <a:ext cx="10908792" cy="859536"/>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96112" y="1426464"/>
            <a:ext cx="384048" cy="38404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Calibri"/>
                <a:ea typeface="Calibri"/>
                <a:cs typeface="Calibri"/>
              </a:rPr>
              <a:t>1</a:t>
            </a:r>
          </a:p>
        </p:txBody>
      </p:sp>
      <p:sp>
        <p:nvSpPr>
          <p:cNvPr id="8" name="TextBox 7"/>
          <p:cNvSpPr txBox="1"/>
          <p:nvPr/>
        </p:nvSpPr>
        <p:spPr>
          <a:xfrm>
            <a:off x="1499616" y="1261872"/>
            <a:ext cx="9774936" cy="731520"/>
          </a:xfrm>
          <a:prstGeom prst="rect">
            <a:avLst/>
          </a:prstGeom>
          <a:noFill/>
        </p:spPr>
        <p:txBody>
          <a:bodyPr wrap="square" lIns="0" rIns="0" tIns="0" bIns="0" anchor="t">
            <a:spAutoFit/>
          </a:bodyPr>
          <a:lstStyle/>
          <a:p>
            <a:pPr algn="l"/>
            <a:r>
              <a:rPr sz="950" b="1">
                <a:solidFill>
                  <a:srgbClr val="0D8A76"/>
                </a:solidFill>
                <a:latin typeface="Yu Gothic"/>
                <a:ea typeface="Yu Gothic"/>
                <a:cs typeface="Yu Gothic"/>
              </a:rPr>
              <a:t>問1 所持品検査を強制できるか</a:t>
            </a:r>
          </a:p>
          <a:p>
            <a:pPr algn="l">
              <a:spcBef>
                <a:spcPts val="200"/>
              </a:spcBef>
            </a:pPr>
            <a:r>
              <a:rPr sz="1150" b="0">
                <a:solidFill>
                  <a:srgbClr val="1B2733"/>
                </a:solidFill>
                <a:latin typeface="Yu Gothic"/>
                <a:ea typeface="Yu Gothic"/>
                <a:cs typeface="Yu Gothic"/>
              </a:rPr>
              <a:t>できない。強制すれば強要罪等に当たりうる。任意の協力を求めることしかできない。</a:t>
            </a:r>
          </a:p>
          <a:p>
            <a:pPr algn="l"/>
            <a:r>
              <a:rPr sz="800" b="0">
                <a:solidFill>
                  <a:srgbClr val="5F7183"/>
                </a:solidFill>
                <a:latin typeface="Calibri"/>
                <a:ea typeface="Calibri"/>
                <a:cs typeface="Calibri"/>
              </a:rPr>
              <a:t>No. Compelling it can amount to coercion. You may only ask for voluntary cooperation.</a:t>
            </a:r>
          </a:p>
        </p:txBody>
      </p:sp>
      <p:sp>
        <p:nvSpPr>
          <p:cNvPr id="9" name="Rounded Rectangle 8"/>
          <p:cNvSpPr/>
          <p:nvPr/>
        </p:nvSpPr>
        <p:spPr>
          <a:xfrm>
            <a:off x="640080" y="2121408"/>
            <a:ext cx="10908792" cy="859536"/>
          </a:xfrm>
          <a:prstGeom prst="roundRect">
            <a:avLst>
              <a:gd name="adj" fmla="val 1900"/>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96112" y="2359152"/>
            <a:ext cx="384048" cy="38404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Calibri"/>
                <a:ea typeface="Calibri"/>
                <a:cs typeface="Calibri"/>
              </a:rPr>
              <a:t>2</a:t>
            </a:r>
          </a:p>
        </p:txBody>
      </p:sp>
      <p:sp>
        <p:nvSpPr>
          <p:cNvPr id="11" name="TextBox 10"/>
          <p:cNvSpPr txBox="1"/>
          <p:nvPr/>
        </p:nvSpPr>
        <p:spPr>
          <a:xfrm>
            <a:off x="1499616" y="2194560"/>
            <a:ext cx="9774936" cy="731520"/>
          </a:xfrm>
          <a:prstGeom prst="rect">
            <a:avLst/>
          </a:prstGeom>
          <a:noFill/>
        </p:spPr>
        <p:txBody>
          <a:bodyPr wrap="square" lIns="0" rIns="0" tIns="0" bIns="0" anchor="t">
            <a:spAutoFit/>
          </a:bodyPr>
          <a:lstStyle/>
          <a:p>
            <a:pPr algn="l"/>
            <a:r>
              <a:rPr sz="950" b="1">
                <a:solidFill>
                  <a:srgbClr val="0D8A76"/>
                </a:solidFill>
                <a:latin typeface="Yu Gothic"/>
                <a:ea typeface="Yu Gothic"/>
                <a:cs typeface="Yu Gothic"/>
              </a:rPr>
              <a:t>問2 「クライアントの依頼」は根拠になるか</a:t>
            </a:r>
          </a:p>
          <a:p>
            <a:pPr algn="l">
              <a:spcBef>
                <a:spcPts val="200"/>
              </a:spcBef>
            </a:pPr>
            <a:r>
              <a:rPr sz="1150" b="0">
                <a:solidFill>
                  <a:srgbClr val="1B2733"/>
                </a:solidFill>
                <a:latin typeface="Yu Gothic"/>
                <a:ea typeface="Yu Gothic"/>
                <a:cs typeface="Yu Gothic"/>
              </a:rPr>
              <a:t>ならない。契約と警備指令書が業務範囲を決める。依頼で範囲は広がらない。</a:t>
            </a:r>
          </a:p>
          <a:p>
            <a:pPr algn="l"/>
            <a:r>
              <a:rPr sz="800" b="0">
                <a:solidFill>
                  <a:srgbClr val="5F7183"/>
                </a:solidFill>
                <a:latin typeface="Calibri"/>
                <a:ea typeface="Calibri"/>
                <a:cs typeface="Calibri"/>
              </a:rPr>
              <a:t>No. The contract and post orders define the scope. A request does not widen it.</a:t>
            </a:r>
          </a:p>
        </p:txBody>
      </p:sp>
      <p:sp>
        <p:nvSpPr>
          <p:cNvPr id="12" name="Rounded Rectangle 11"/>
          <p:cNvSpPr/>
          <p:nvPr/>
        </p:nvSpPr>
        <p:spPr>
          <a:xfrm>
            <a:off x="640080" y="3054096"/>
            <a:ext cx="10908792" cy="859536"/>
          </a:xfrm>
          <a:prstGeom prst="roundRect">
            <a:avLst>
              <a:gd name="adj" fmla="val 19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96112" y="3291839"/>
            <a:ext cx="384048" cy="38404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Calibri"/>
                <a:ea typeface="Calibri"/>
                <a:cs typeface="Calibri"/>
              </a:rPr>
              <a:t>3</a:t>
            </a:r>
          </a:p>
        </p:txBody>
      </p:sp>
      <p:sp>
        <p:nvSpPr>
          <p:cNvPr id="14" name="TextBox 13"/>
          <p:cNvSpPr txBox="1"/>
          <p:nvPr/>
        </p:nvSpPr>
        <p:spPr>
          <a:xfrm>
            <a:off x="1499616" y="3127248"/>
            <a:ext cx="9774936" cy="731520"/>
          </a:xfrm>
          <a:prstGeom prst="rect">
            <a:avLst/>
          </a:prstGeom>
          <a:noFill/>
        </p:spPr>
        <p:txBody>
          <a:bodyPr wrap="square" lIns="0" rIns="0" tIns="0" bIns="0" anchor="t">
            <a:spAutoFit/>
          </a:bodyPr>
          <a:lstStyle/>
          <a:p>
            <a:pPr algn="l"/>
            <a:r>
              <a:rPr sz="950" b="1">
                <a:solidFill>
                  <a:srgbClr val="0D8A76"/>
                </a:solidFill>
                <a:latin typeface="Yu Gothic"/>
                <a:ea typeface="Yu Gothic"/>
                <a:cs typeface="Yu Gothic"/>
              </a:rPr>
              <a:t>問3 判断軸のどこで止まるか</a:t>
            </a:r>
          </a:p>
          <a:p>
            <a:pPr algn="l">
              <a:spcBef>
                <a:spcPts val="200"/>
              </a:spcBef>
            </a:pPr>
            <a:r>
              <a:rPr sz="1150" b="0">
                <a:solidFill>
                  <a:srgbClr val="1B2733"/>
                </a:solidFill>
                <a:latin typeface="Yu Gothic"/>
                <a:ea typeface="Yu Gothic"/>
                <a:cs typeface="Yu Gothic"/>
              </a:rPr>
              <a:t>②法令で止まる。クライアント要望は④であり、法令を超えられない。</a:t>
            </a:r>
          </a:p>
          <a:p>
            <a:pPr algn="l"/>
            <a:r>
              <a:rPr sz="800" b="0">
                <a:solidFill>
                  <a:srgbClr val="5F7183"/>
                </a:solidFill>
                <a:latin typeface="Calibri"/>
                <a:ea typeface="Calibri"/>
                <a:cs typeface="Calibri"/>
              </a:rPr>
              <a:t>At step 2, the law. The client's wishes are step 4 and cannot override it.</a:t>
            </a:r>
          </a:p>
        </p:txBody>
      </p:sp>
      <p:sp>
        <p:nvSpPr>
          <p:cNvPr id="15" name="Rounded Rectangle 14"/>
          <p:cNvSpPr/>
          <p:nvPr/>
        </p:nvSpPr>
        <p:spPr>
          <a:xfrm>
            <a:off x="640080" y="3986784"/>
            <a:ext cx="10908792" cy="859536"/>
          </a:xfrm>
          <a:prstGeom prst="roundRect">
            <a:avLst>
              <a:gd name="adj" fmla="val 1900"/>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96112" y="4224528"/>
            <a:ext cx="384048" cy="38404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Calibri"/>
                <a:ea typeface="Calibri"/>
                <a:cs typeface="Calibri"/>
              </a:rPr>
              <a:t>4</a:t>
            </a:r>
          </a:p>
        </p:txBody>
      </p:sp>
      <p:sp>
        <p:nvSpPr>
          <p:cNvPr id="17" name="TextBox 16"/>
          <p:cNvSpPr txBox="1"/>
          <p:nvPr/>
        </p:nvSpPr>
        <p:spPr>
          <a:xfrm>
            <a:off x="1499616" y="4059936"/>
            <a:ext cx="9774936" cy="731520"/>
          </a:xfrm>
          <a:prstGeom prst="rect">
            <a:avLst/>
          </a:prstGeom>
          <a:noFill/>
        </p:spPr>
        <p:txBody>
          <a:bodyPr wrap="square" lIns="0" rIns="0" tIns="0" bIns="0" anchor="t">
            <a:spAutoFit/>
          </a:bodyPr>
          <a:lstStyle/>
          <a:p>
            <a:pPr algn="l"/>
            <a:r>
              <a:rPr sz="950" b="1">
                <a:solidFill>
                  <a:srgbClr val="0D8A76"/>
                </a:solidFill>
                <a:latin typeface="Yu Gothic"/>
                <a:ea typeface="Yu Gothic"/>
                <a:cs typeface="Yu Gothic"/>
              </a:rPr>
              <a:t>問4 断り方</a:t>
            </a:r>
          </a:p>
          <a:p>
            <a:pPr algn="l">
              <a:spcBef>
                <a:spcPts val="200"/>
              </a:spcBef>
            </a:pPr>
            <a:r>
              <a:rPr sz="1150" b="0">
                <a:solidFill>
                  <a:srgbClr val="1B2733"/>
                </a:solidFill>
                <a:latin typeface="Yu Gothic"/>
                <a:ea typeface="Yu Gothic"/>
                <a:cs typeface="Yu Gothic"/>
              </a:rPr>
              <a:t>「その対応は私の権限ではできません。上長に確認します」。断るのではなく、繋ぐと伝える。</a:t>
            </a:r>
          </a:p>
          <a:p>
            <a:pPr algn="l"/>
            <a:r>
              <a:rPr sz="800" b="0">
                <a:solidFill>
                  <a:srgbClr val="5F7183"/>
                </a:solidFill>
                <a:latin typeface="Calibri"/>
                <a:ea typeface="Calibri"/>
                <a:cs typeface="Calibri"/>
              </a:rPr>
              <a:t>"That is not within my authority. Let me check with my supervisor." You are routing, not refusing.</a:t>
            </a:r>
          </a:p>
        </p:txBody>
      </p:sp>
      <p:sp>
        <p:nvSpPr>
          <p:cNvPr id="18" name="Rounded Rectangle 17"/>
          <p:cNvSpPr/>
          <p:nvPr/>
        </p:nvSpPr>
        <p:spPr>
          <a:xfrm>
            <a:off x="640080" y="4956048"/>
            <a:ext cx="10908792" cy="365760"/>
          </a:xfrm>
          <a:prstGeom prst="roundRect">
            <a:avLst>
              <a:gd name="adj" fmla="val 1900"/>
            </a:avLst>
          </a:prstGeom>
          <a:solidFill>
            <a:srgbClr val="E4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7824" y="4974336"/>
            <a:ext cx="10433304" cy="329184"/>
          </a:xfrm>
          <a:prstGeom prst="rect">
            <a:avLst/>
          </a:prstGeom>
          <a:noFill/>
        </p:spPr>
        <p:txBody>
          <a:bodyPr wrap="square" lIns="0" rIns="0" tIns="0" bIns="0" anchor="t">
            <a:spAutoFit/>
          </a:bodyPr>
          <a:lstStyle/>
          <a:p>
            <a:pPr algn="l"/>
            <a:r>
              <a:rPr sz="850" b="1">
                <a:solidFill>
                  <a:srgbClr val="0D8A76"/>
                </a:solidFill>
                <a:latin typeface="Yu Gothic"/>
                <a:ea typeface="Yu Gothic"/>
                <a:cs typeface="Yu Gothic"/>
              </a:rPr>
              <a:t>追加付与①　「君は見ているだけでいい」 → 同席も加担になりうる。立ち会わず、その場で上長へ連絡する。</a:t>
            </a:r>
          </a:p>
          <a:p>
            <a:pPr algn="l"/>
            <a:r>
              <a:rPr sz="750" b="0">
                <a:solidFill>
                  <a:srgbClr val="5F7183"/>
                </a:solidFill>
                <a:latin typeface="Calibri"/>
                <a:ea typeface="Calibri"/>
                <a:cs typeface="Calibri"/>
              </a:rPr>
              <a:t>Standing by can still make you a participant. Do not attend; call your supervisor there and then.</a:t>
            </a:r>
          </a:p>
        </p:txBody>
      </p:sp>
      <p:sp>
        <p:nvSpPr>
          <p:cNvPr id="20" name="Rounded Rectangle 19"/>
          <p:cNvSpPr/>
          <p:nvPr/>
        </p:nvSpPr>
        <p:spPr>
          <a:xfrm>
            <a:off x="640080" y="5358384"/>
            <a:ext cx="10908792" cy="365760"/>
          </a:xfrm>
          <a:prstGeom prst="roundRect">
            <a:avLst>
              <a:gd name="adj" fmla="val 1900"/>
            </a:avLst>
          </a:prstGeom>
          <a:solidFill>
            <a:srgbClr val="E4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5376672"/>
            <a:ext cx="10433304" cy="329184"/>
          </a:xfrm>
          <a:prstGeom prst="rect">
            <a:avLst/>
          </a:prstGeom>
          <a:noFill/>
        </p:spPr>
        <p:txBody>
          <a:bodyPr wrap="square" lIns="0" rIns="0" tIns="0" bIns="0" anchor="t">
            <a:spAutoFit/>
          </a:bodyPr>
          <a:lstStyle/>
          <a:p>
            <a:pPr algn="l"/>
            <a:r>
              <a:rPr sz="850" b="1">
                <a:solidFill>
                  <a:srgbClr val="0D8A76"/>
                </a:solidFill>
                <a:latin typeface="Yu Gothic"/>
                <a:ea typeface="Yu Gothic"/>
                <a:cs typeface="Yu Gothic"/>
              </a:rPr>
              <a:t>追加付与②　社員が出口に並び始めた → 通常どおり退館させる。止める根拠がない以上、止めない。</a:t>
            </a:r>
          </a:p>
          <a:p>
            <a:pPr algn="l"/>
            <a:r>
              <a:rPr sz="750" b="0">
                <a:solidFill>
                  <a:srgbClr val="5F7183"/>
                </a:solidFill>
                <a:latin typeface="Calibri"/>
                <a:ea typeface="Calibri"/>
                <a:cs typeface="Calibri"/>
              </a:rPr>
              <a:t>Let them leave as normal. With no basis to stop them, you do not stop them.</a:t>
            </a:r>
          </a:p>
        </p:txBody>
      </p:sp>
      <p:sp>
        <p:nvSpPr>
          <p:cNvPr id="22" name="TextBox 21"/>
          <p:cNvSpPr txBox="1"/>
          <p:nvPr/>
        </p:nvSpPr>
        <p:spPr>
          <a:xfrm>
            <a:off x="640080" y="5724144"/>
            <a:ext cx="10908792" cy="274320"/>
          </a:xfrm>
          <a:prstGeom prst="rect">
            <a:avLst/>
          </a:prstGeom>
          <a:noFill/>
        </p:spPr>
        <p:txBody>
          <a:bodyPr wrap="square" lIns="0" rIns="0" tIns="0" bIns="0" anchor="t">
            <a:spAutoFit/>
          </a:bodyPr>
          <a:lstStyle/>
          <a:p>
            <a:pPr algn="l"/>
            <a:r>
              <a:rPr sz="850" b="1">
                <a:solidFill>
                  <a:srgbClr val="093259"/>
                </a:solidFill>
                <a:latin typeface="Yu Gothic"/>
                <a:ea typeface="Yu Gothic"/>
                <a:cs typeface="Yu Gothic"/>
              </a:rPr>
              <a:t>割れる論点　その場で断るか、いったん保留して上長を待つか。どちらも成り立つ。根拠を述べさせる。</a:t>
            </a:r>
          </a:p>
          <a:p>
            <a:pPr algn="l"/>
            <a:r>
              <a:rPr sz="750" b="0">
                <a:solidFill>
                  <a:srgbClr val="5F7183"/>
                </a:solidFill>
                <a:latin typeface="Calibri"/>
                <a:ea typeface="Calibri"/>
                <a:cs typeface="Calibri"/>
              </a:rPr>
              <a:t>Decline on the spot, or hold and wait for the supervisor? Both are defensible. Make them state why.</a:t>
            </a:r>
          </a:p>
        </p:txBody>
      </p:sp>
      <p:sp>
        <p:nvSpPr>
          <p:cNvPr id="23" name="TextBox 22"/>
          <p:cNvSpPr txBox="1"/>
          <p:nvPr/>
        </p:nvSpPr>
        <p:spPr>
          <a:xfrm>
            <a:off x="640080" y="6035040"/>
            <a:ext cx="10908792" cy="182880"/>
          </a:xfrm>
          <a:prstGeom prst="rect">
            <a:avLst/>
          </a:prstGeom>
          <a:noFill/>
        </p:spPr>
        <p:txBody>
          <a:bodyPr wrap="square" lIns="0" rIns="0" tIns="0" bIns="0" anchor="t">
            <a:spAutoFit/>
          </a:bodyPr>
          <a:lstStyle/>
          <a:p>
            <a:pPr algn="l"/>
            <a:r>
              <a:rPr sz="750" b="0">
                <a:solidFill>
                  <a:srgbClr val="5F7183"/>
                </a:solidFill>
                <a:latin typeface="Yu Gothic"/>
                <a:ea typeface="Yu Gothic"/>
                <a:cs typeface="Yu Gothic"/>
              </a:rPr>
              <a:t>注記　模範解答は判断の型を示すものです。実際の手順は各現場のSite SOPと警備指令書が優先します。</a:t>
            </a:r>
          </a:p>
        </p:txBody>
      </p:sp>
      <p:sp>
        <p:nvSpPr>
          <p:cNvPr id="24" name="TextBox 23"/>
          <p:cNvSpPr txBox="1"/>
          <p:nvPr/>
        </p:nvSpPr>
        <p:spPr>
          <a:xfrm>
            <a:off x="640080" y="6217920"/>
            <a:ext cx="9902952" cy="182880"/>
          </a:xfrm>
          <a:prstGeom prst="rect">
            <a:avLst/>
          </a:prstGeom>
          <a:noFill/>
        </p:spPr>
        <p:txBody>
          <a:bodyPr wrap="square" lIns="0" rIns="0" tIns="0" bIns="0" anchor="t">
            <a:spAutoFit/>
          </a:bodyPr>
          <a:lstStyle/>
          <a:p>
            <a:pPr algn="l"/>
            <a:r>
              <a:rPr sz="750" b="1">
                <a:solidFill>
                  <a:srgbClr val="D6E0E9"/>
                </a:solidFill>
                <a:latin typeface="Yu Gothic"/>
                <a:ea typeface="Yu Gothic"/>
                <a:cs typeface="Yu Gothic"/>
              </a:rPr>
              <a:t>ソース　警備業法、刑法、刑事訴訟法、警察官職務執行法</a:t>
            </a:r>
          </a:p>
        </p:txBody>
      </p:sp>
      <p:sp>
        <p:nvSpPr>
          <p:cNvPr id="25" name="TextBox 24"/>
          <p:cNvSpPr txBox="1"/>
          <p:nvPr/>
        </p:nvSpPr>
        <p:spPr>
          <a:xfrm>
            <a:off x="640080" y="6382512"/>
            <a:ext cx="8778240" cy="292608"/>
          </a:xfrm>
          <a:prstGeom prst="rect">
            <a:avLst/>
          </a:prstGeom>
          <a:noFill/>
        </p:spPr>
        <p:txBody>
          <a:bodyPr wrap="square" lIns="0" rIns="0" tIns="0" bIns="0" anchor="t">
            <a:spAutoFit/>
          </a:bodyPr>
          <a:lstStyle/>
          <a:p>
            <a:pPr algn="l"/>
            <a:r>
              <a:rPr sz="900" b="0">
                <a:solidFill>
                  <a:srgbClr val="5F7183"/>
                </a:solidFill>
                <a:latin typeface="Yu Gothic"/>
                <a:ea typeface="Yu Gothic"/>
                <a:cs typeface="Yu Gothic"/>
              </a:rPr>
              <a:t>第1時限｜基本教育1 警備業務実施の基本原則  Period 1 | Basic Training 1 — Fundamental Principles</a:t>
            </a:r>
          </a:p>
        </p:txBody>
      </p:sp>
      <p:sp>
        <p:nvSpPr>
          <p:cNvPr id="26" name="TextBox 25"/>
          <p:cNvSpPr txBox="1"/>
          <p:nvPr/>
        </p:nvSpPr>
        <p:spPr>
          <a:xfrm>
            <a:off x="10634472" y="6382512"/>
            <a:ext cx="914400" cy="292608"/>
          </a:xfrm>
          <a:prstGeom prst="rect">
            <a:avLst/>
          </a:prstGeom>
          <a:noFill/>
        </p:spPr>
        <p:txBody>
          <a:bodyPr wrap="square" lIns="0" rIns="0" tIns="0" bIns="0" anchor="t">
            <a:spAutoFit/>
          </a:bodyPr>
          <a:lstStyle/>
          <a:p>
            <a:pPr algn="r"/>
            <a:r>
              <a:rPr sz="1000" b="0">
                <a:solidFill>
                  <a:srgbClr val="5F7183"/>
                </a:solidFill>
                <a:latin typeface="Calibri"/>
                <a:ea typeface="Calibri"/>
                <a:cs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93259"/>
        </a:solidFill>
        <a:effectLst/>
      </p:bgPr>
    </p:bg>
    <p:spTree>
      <p:nvGrpSpPr>
        <p:cNvPr id="1" name=""/>
        <p:cNvGrpSpPr/>
        <p:nvPr/>
      </p:nvGrpSpPr>
      <p:grpSpPr/>
      <p:sp>
        <p:nvSpPr>
          <p:cNvPr id="2" name="Rounded Rectangle 1"/>
          <p:cNvSpPr/>
          <p:nvPr/>
        </p:nvSpPr>
        <p:spPr>
          <a:xfrm>
            <a:off x="10634472" y="219456"/>
            <a:ext cx="1042415" cy="969264"/>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10762488" y="329184"/>
            <a:ext cx="786384" cy="740664"/>
          </a:xfrm>
          <a:prstGeom prst="rect">
            <a:avLst/>
          </a:prstGeom>
        </p:spPr>
      </p:pic>
      <p:sp>
        <p:nvSpPr>
          <p:cNvPr id="4" name="TextBox 3"/>
          <p:cNvSpPr txBox="1"/>
          <p:nvPr/>
        </p:nvSpPr>
        <p:spPr>
          <a:xfrm>
            <a:off x="640080" y="658368"/>
            <a:ext cx="9692640" cy="1188720"/>
          </a:xfrm>
          <a:prstGeom prst="rect">
            <a:avLst/>
          </a:prstGeom>
          <a:noFill/>
        </p:spPr>
        <p:txBody>
          <a:bodyPr wrap="square" lIns="0" rIns="0" tIns="0" bIns="0" anchor="t">
            <a:spAutoFit/>
          </a:bodyPr>
          <a:lstStyle/>
          <a:p>
            <a:pPr algn="l"/>
            <a:r>
              <a:rPr sz="3000" b="1">
                <a:solidFill>
                  <a:srgbClr val="FFFFFF"/>
                </a:solidFill>
                <a:latin typeface="Yu Gothic"/>
                <a:ea typeface="Yu Gothic"/>
                <a:cs typeface="Yu Gothic"/>
              </a:rPr>
              <a:t>第1時限 まとめ</a:t>
            </a:r>
          </a:p>
          <a:p>
            <a:pPr algn="l">
              <a:spcBef>
                <a:spcPts val="400"/>
              </a:spcBef>
            </a:pPr>
            <a:r>
              <a:rPr sz="1300" b="0">
                <a:solidFill>
                  <a:srgbClr val="9FD8CD"/>
                </a:solidFill>
                <a:latin typeface="Calibri"/>
                <a:ea typeface="Calibri"/>
                <a:cs typeface="Calibri"/>
              </a:rPr>
              <a:t>Period 1 — Summary</a:t>
            </a:r>
          </a:p>
        </p:txBody>
      </p:sp>
      <p:sp>
        <p:nvSpPr>
          <p:cNvPr id="5" name="Rounded Rectangle 4"/>
          <p:cNvSpPr/>
          <p:nvPr/>
        </p:nvSpPr>
        <p:spPr>
          <a:xfrm>
            <a:off x="640080" y="2084831"/>
            <a:ext cx="10908792" cy="676656"/>
          </a:xfrm>
          <a:prstGeom prst="roundRect">
            <a:avLst>
              <a:gd name="adj" fmla="val 1900"/>
            </a:avLst>
          </a:prstGeom>
          <a:solidFill>
            <a:srgbClr val="062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2231136"/>
            <a:ext cx="384048" cy="38404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Calibri"/>
                <a:ea typeface="Calibri"/>
                <a:cs typeface="Calibri"/>
              </a:rPr>
              <a:t>1</a:t>
            </a:r>
          </a:p>
        </p:txBody>
      </p:sp>
      <p:sp>
        <p:nvSpPr>
          <p:cNvPr id="7" name="TextBox 6"/>
          <p:cNvSpPr txBox="1"/>
          <p:nvPr/>
        </p:nvSpPr>
        <p:spPr>
          <a:xfrm>
            <a:off x="1517904" y="2176272"/>
            <a:ext cx="9720072" cy="521207"/>
          </a:xfrm>
          <a:prstGeom prst="rect">
            <a:avLst/>
          </a:prstGeom>
          <a:noFill/>
        </p:spPr>
        <p:txBody>
          <a:bodyPr wrap="square" lIns="0" rIns="0" tIns="0" bIns="0" anchor="t">
            <a:spAutoFit/>
          </a:bodyPr>
          <a:lstStyle/>
          <a:p>
            <a:pPr algn="l"/>
            <a:r>
              <a:rPr sz="1500" b="0">
                <a:solidFill>
                  <a:srgbClr val="FFFFFF"/>
                </a:solidFill>
                <a:latin typeface="Yu Gothic"/>
                <a:ea typeface="Yu Gothic"/>
                <a:cs typeface="Yu Gothic"/>
              </a:rPr>
              <a:t>警備業は「他人の需要に応じて」行う民間サービス業。1号が施設警備。</a:t>
            </a:r>
          </a:p>
          <a:p>
            <a:pPr algn="l"/>
            <a:r>
              <a:rPr sz="1050" b="0">
                <a:solidFill>
                  <a:srgbClr val="9FD8CD"/>
                </a:solidFill>
                <a:latin typeface="Calibri"/>
                <a:ea typeface="Calibri"/>
                <a:cs typeface="Calibri"/>
              </a:rPr>
              <a:t>Security is a private service performed for others. Type 1 is facility security.</a:t>
            </a:r>
          </a:p>
        </p:txBody>
      </p:sp>
      <p:sp>
        <p:nvSpPr>
          <p:cNvPr id="8" name="Rounded Rectangle 7"/>
          <p:cNvSpPr/>
          <p:nvPr/>
        </p:nvSpPr>
        <p:spPr>
          <a:xfrm>
            <a:off x="640080" y="2962656"/>
            <a:ext cx="10908792" cy="676656"/>
          </a:xfrm>
          <a:prstGeom prst="roundRect">
            <a:avLst>
              <a:gd name="adj" fmla="val 1900"/>
            </a:avLst>
          </a:prstGeom>
          <a:solidFill>
            <a:srgbClr val="062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108960"/>
            <a:ext cx="384048" cy="38404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Calibri"/>
                <a:ea typeface="Calibri"/>
                <a:cs typeface="Calibri"/>
              </a:rPr>
              <a:t>2</a:t>
            </a:r>
          </a:p>
        </p:txBody>
      </p:sp>
      <p:sp>
        <p:nvSpPr>
          <p:cNvPr id="10" name="TextBox 9"/>
          <p:cNvSpPr txBox="1"/>
          <p:nvPr/>
        </p:nvSpPr>
        <p:spPr>
          <a:xfrm>
            <a:off x="1517904" y="3054096"/>
            <a:ext cx="9720072" cy="521207"/>
          </a:xfrm>
          <a:prstGeom prst="rect">
            <a:avLst/>
          </a:prstGeom>
          <a:noFill/>
        </p:spPr>
        <p:txBody>
          <a:bodyPr wrap="square" lIns="0" rIns="0" tIns="0" bIns="0" anchor="t">
            <a:spAutoFit/>
          </a:bodyPr>
          <a:lstStyle/>
          <a:p>
            <a:pPr algn="l"/>
            <a:r>
              <a:rPr sz="1500" b="0">
                <a:solidFill>
                  <a:srgbClr val="FFFFFF"/>
                </a:solidFill>
                <a:latin typeface="Yu Gothic"/>
                <a:ea typeface="Yu Gothic"/>
                <a:cs typeface="Yu Gothic"/>
              </a:rPr>
              <a:t>警備業法15条 ― 特別な権限はない。警察官にある権限は警備員にはない。</a:t>
            </a:r>
          </a:p>
          <a:p>
            <a:pPr algn="l"/>
            <a:r>
              <a:rPr sz="1050" b="0">
                <a:solidFill>
                  <a:srgbClr val="9FD8CD"/>
                </a:solidFill>
                <a:latin typeface="Calibri"/>
                <a:ea typeface="Calibri"/>
                <a:cs typeface="Calibri"/>
              </a:rPr>
              <a:t>Article 15 — no special authority. Police powers do not extend to guards.</a:t>
            </a:r>
          </a:p>
        </p:txBody>
      </p:sp>
      <p:sp>
        <p:nvSpPr>
          <p:cNvPr id="11" name="Rounded Rectangle 10"/>
          <p:cNvSpPr/>
          <p:nvPr/>
        </p:nvSpPr>
        <p:spPr>
          <a:xfrm>
            <a:off x="640080" y="3840479"/>
            <a:ext cx="10908792" cy="676656"/>
          </a:xfrm>
          <a:prstGeom prst="roundRect">
            <a:avLst>
              <a:gd name="adj" fmla="val 1900"/>
            </a:avLst>
          </a:prstGeom>
          <a:solidFill>
            <a:srgbClr val="062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3986783"/>
            <a:ext cx="384048" cy="38404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Calibri"/>
                <a:ea typeface="Calibri"/>
                <a:cs typeface="Calibri"/>
              </a:rPr>
              <a:t>3</a:t>
            </a:r>
          </a:p>
        </p:txBody>
      </p:sp>
      <p:sp>
        <p:nvSpPr>
          <p:cNvPr id="13" name="TextBox 12"/>
          <p:cNvSpPr txBox="1"/>
          <p:nvPr/>
        </p:nvSpPr>
        <p:spPr>
          <a:xfrm>
            <a:off x="1517904" y="3931919"/>
            <a:ext cx="9720072" cy="521207"/>
          </a:xfrm>
          <a:prstGeom prst="rect">
            <a:avLst/>
          </a:prstGeom>
          <a:noFill/>
        </p:spPr>
        <p:txBody>
          <a:bodyPr wrap="square" lIns="0" rIns="0" tIns="0" bIns="0" anchor="t">
            <a:spAutoFit/>
          </a:bodyPr>
          <a:lstStyle/>
          <a:p>
            <a:pPr algn="l"/>
            <a:r>
              <a:rPr sz="1500" b="0">
                <a:solidFill>
                  <a:srgbClr val="FFFFFF"/>
                </a:solidFill>
                <a:latin typeface="Yu Gothic"/>
                <a:ea typeface="Yu Gothic"/>
                <a:cs typeface="Yu Gothic"/>
              </a:rPr>
              <a:t>守る対象は People / Asset / Reputation。情報は Asset に含む。</a:t>
            </a:r>
          </a:p>
          <a:p>
            <a:pPr algn="l"/>
            <a:r>
              <a:rPr sz="1050" b="0">
                <a:solidFill>
                  <a:srgbClr val="9FD8CD"/>
                </a:solidFill>
                <a:latin typeface="Calibri"/>
                <a:ea typeface="Calibri"/>
                <a:cs typeface="Calibri"/>
              </a:rPr>
              <a:t>People, Asset, Reputation. Information is part of Asset.</a:t>
            </a:r>
          </a:p>
        </p:txBody>
      </p:sp>
      <p:sp>
        <p:nvSpPr>
          <p:cNvPr id="14" name="Rounded Rectangle 13"/>
          <p:cNvSpPr/>
          <p:nvPr/>
        </p:nvSpPr>
        <p:spPr>
          <a:xfrm>
            <a:off x="640080" y="4718304"/>
            <a:ext cx="10908792" cy="676656"/>
          </a:xfrm>
          <a:prstGeom prst="roundRect">
            <a:avLst>
              <a:gd name="adj" fmla="val 1900"/>
            </a:avLst>
          </a:prstGeom>
          <a:solidFill>
            <a:srgbClr val="062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14400" y="4864608"/>
            <a:ext cx="384048" cy="384048"/>
          </a:xfrm>
          <a:prstGeom prst="ellipse">
            <a:avLst/>
          </a:prstGeom>
          <a:solidFill>
            <a:srgbClr val="12B1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Calibri"/>
                <a:ea typeface="Calibri"/>
                <a:cs typeface="Calibri"/>
              </a:rPr>
              <a:t>4</a:t>
            </a:r>
          </a:p>
        </p:txBody>
      </p:sp>
      <p:sp>
        <p:nvSpPr>
          <p:cNvPr id="16" name="TextBox 15"/>
          <p:cNvSpPr txBox="1"/>
          <p:nvPr/>
        </p:nvSpPr>
        <p:spPr>
          <a:xfrm>
            <a:off x="1517904" y="4809744"/>
            <a:ext cx="9720072" cy="521207"/>
          </a:xfrm>
          <a:prstGeom prst="rect">
            <a:avLst/>
          </a:prstGeom>
          <a:noFill/>
        </p:spPr>
        <p:txBody>
          <a:bodyPr wrap="square" lIns="0" rIns="0" tIns="0" bIns="0" anchor="t">
            <a:spAutoFit/>
          </a:bodyPr>
          <a:lstStyle/>
          <a:p>
            <a:pPr algn="l"/>
            <a:r>
              <a:rPr sz="1500" b="0">
                <a:solidFill>
                  <a:srgbClr val="FFFFFF"/>
                </a:solidFill>
                <a:latin typeface="Yu Gothic"/>
                <a:ea typeface="Yu Gothic"/>
                <a:cs typeface="Yu Gothic"/>
              </a:rPr>
              <a:t>判断軸は 人命 → 法令 → Site SOP → クライアント要望。順序を崩さない。</a:t>
            </a:r>
          </a:p>
          <a:p>
            <a:pPr algn="l"/>
            <a:r>
              <a:rPr sz="1050" b="0">
                <a:solidFill>
                  <a:srgbClr val="9FD8CD"/>
                </a:solidFill>
                <a:latin typeface="Calibri"/>
                <a:ea typeface="Calibri"/>
                <a:cs typeface="Calibri"/>
              </a:rPr>
              <a:t>Priority: life, law, Site SOP, client wishes. Keep that order.</a:t>
            </a:r>
          </a:p>
        </p:txBody>
      </p:sp>
      <p:sp>
        <p:nvSpPr>
          <p:cNvPr id="17" name="TextBox 16"/>
          <p:cNvSpPr txBox="1"/>
          <p:nvPr/>
        </p:nvSpPr>
        <p:spPr>
          <a:xfrm>
            <a:off x="640080" y="5596128"/>
            <a:ext cx="10908792" cy="603504"/>
          </a:xfrm>
          <a:prstGeom prst="rect">
            <a:avLst/>
          </a:prstGeom>
          <a:noFill/>
        </p:spPr>
        <p:txBody>
          <a:bodyPr wrap="square" lIns="0" rIns="0" tIns="0" bIns="0" anchor="t">
            <a:spAutoFit/>
          </a:bodyPr>
          <a:lstStyle/>
          <a:p>
            <a:pPr algn="l"/>
            <a:r>
              <a:rPr sz="1200" b="1">
                <a:solidFill>
                  <a:srgbClr val="12B198"/>
                </a:solidFill>
                <a:latin typeface="Yu Gothic"/>
                <a:ea typeface="Yu Gothic"/>
                <a:cs typeface="Yu Gothic"/>
              </a:rPr>
              <a:t>第2時限 ― その土台の上に、警備員に求められる資質と品格を置きます。</a:t>
            </a:r>
          </a:p>
          <a:p>
            <a:pPr algn="l"/>
            <a:r>
              <a:rPr sz="950" b="0">
                <a:solidFill>
                  <a:srgbClr val="9FD8CD"/>
                </a:solidFill>
                <a:latin typeface="Calibri"/>
                <a:ea typeface="Calibri"/>
                <a:cs typeface="Calibri"/>
              </a:rPr>
              <a:t>Period 2 — on that foundation, the qualities expected of an officer.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