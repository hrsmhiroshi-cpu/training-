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・職務質問（第2条）</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Stop and question a person (Art. 2)</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・保護（第3条）、避難等の措置（第4条）</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Protective custody (Art. 3). Order evacuation (Art. 4)</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・犯罪の予防及び制止（第5条）</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Prevent and stop a crime (Art. 5)</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・立入（第6条）、武器の使用（第7条）</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Enter premises (Art. 6). Use weapons (Art. 7)</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・逮捕状による逮捕、取り調べ</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Arrest by warrant. Interrogation</a:t>
            </a:r>
            <a:endParaRPr lang="en-US" sz="13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・左の権限は、いずれもありません</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None of the powers on the left</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Arrest of a flagrant offender — anyone may do this</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Self-defence and necessity — anyone may do this</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・管理権者から委ねられた範囲</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What the site authority has delegated</a:t>
            </a:r>
            <a:endParaRPr lang="en-US" sz="1300" dirty="0"/>
          </a:p>
          <a:p>
            <a:pPr indent="0" marL="0">
              <a:lnSpc>
                <a:spcPct val="94000"/>
              </a:lnSpc>
              <a:spcAft>
                <a:spcPts val="200"/>
              </a:spcAft>
              <a:buNone/>
            </a:pPr>
            <a:r>
              <a:rPr lang="en-US" sz="13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300" dirty="0"/>
          </a:p>
          <a:p>
            <a:pPr indent="0" marL="0">
              <a:lnSpc>
                <a:spcPct val="94000"/>
              </a:lnSpc>
              <a:spcAft>
                <a:spcPts val="200"/>
              </a:spcAft>
              <a:buNone/>
            </a:pPr>
            <a:r>
              <a:rPr lang="en-US" sz="1300" dirty="0">
                <a:solidFill>
                  <a:srgbClr val="1B2733"/>
                </a:solidFill>
                <a:latin typeface="Calibri" pitchFamily="34" charset="0"/>
                <a:ea typeface="Calibri" pitchFamily="34" charset="-122"/>
                <a:cs typeface="Calibri" pitchFamily="34" charset="-120"/>
              </a:rPr>
              <a:t>That scope is set by the contract and the post orders</a:t>
            </a:r>
            <a:endParaRPr lang="en-US" sz="13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600200"/>
          </a:xfrm>
          <a:prstGeom prst="roundRect">
            <a:avLst>
              <a:gd name="adj" fmla="val 2286"/>
            </a:avLst>
          </a:prstGeom>
          <a:solidFill>
            <a:srgbClr val="093259"/>
          </a:solidFill>
          <a:ln/>
        </p:spPr>
      </p:sp>
      <p:sp>
        <p:nvSpPr>
          <p:cNvPr id="7" name="Text 4"/>
          <p:cNvSpPr/>
          <p:nvPr/>
        </p:nvSpPr>
        <p:spPr>
          <a:xfrm>
            <a:off x="950976" y="1243584"/>
            <a:ext cx="10289743" cy="1344168"/>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862072"/>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483864"/>
            <a:ext cx="5327752" cy="662940"/>
          </a:xfrm>
          <a:prstGeom prst="roundRect">
            <a:avLst>
              <a:gd name="adj" fmla="val 5517"/>
            </a:avLst>
          </a:prstGeom>
          <a:solidFill>
            <a:srgbClr val="EFF4F8"/>
          </a:solidFill>
          <a:ln/>
        </p:spPr>
      </p:sp>
      <p:sp>
        <p:nvSpPr>
          <p:cNvPr id="10" name="Shape 7"/>
          <p:cNvSpPr/>
          <p:nvPr/>
        </p:nvSpPr>
        <p:spPr>
          <a:xfrm>
            <a:off x="804672" y="3669030"/>
            <a:ext cx="292608" cy="292608"/>
          </a:xfrm>
          <a:prstGeom prst="ellipse">
            <a:avLst/>
          </a:prstGeom>
          <a:solidFill>
            <a:srgbClr val="12B198"/>
          </a:solidFill>
          <a:ln/>
        </p:spPr>
      </p:sp>
      <p:sp>
        <p:nvSpPr>
          <p:cNvPr id="11" name="Text 8"/>
          <p:cNvSpPr/>
          <p:nvPr/>
        </p:nvSpPr>
        <p:spPr>
          <a:xfrm>
            <a:off x="804672" y="366903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538728"/>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483864"/>
            <a:ext cx="5327752" cy="662940"/>
          </a:xfrm>
          <a:prstGeom prst="roundRect">
            <a:avLst>
              <a:gd name="adj" fmla="val 5517"/>
            </a:avLst>
          </a:prstGeom>
          <a:solidFill>
            <a:srgbClr val="EFF4F8"/>
          </a:solidFill>
          <a:ln/>
        </p:spPr>
      </p:sp>
      <p:sp>
        <p:nvSpPr>
          <p:cNvPr id="14" name="Shape 11"/>
          <p:cNvSpPr/>
          <p:nvPr/>
        </p:nvSpPr>
        <p:spPr>
          <a:xfrm>
            <a:off x="6388456" y="3669030"/>
            <a:ext cx="292608" cy="292608"/>
          </a:xfrm>
          <a:prstGeom prst="ellipse">
            <a:avLst/>
          </a:prstGeom>
          <a:solidFill>
            <a:srgbClr val="12B198"/>
          </a:solidFill>
          <a:ln/>
        </p:spPr>
      </p:sp>
      <p:sp>
        <p:nvSpPr>
          <p:cNvPr id="15" name="Text 12"/>
          <p:cNvSpPr/>
          <p:nvPr/>
        </p:nvSpPr>
        <p:spPr>
          <a:xfrm>
            <a:off x="6388456" y="366903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538728"/>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256532"/>
            <a:ext cx="5327752" cy="662940"/>
          </a:xfrm>
          <a:prstGeom prst="roundRect">
            <a:avLst>
              <a:gd name="adj" fmla="val 5517"/>
            </a:avLst>
          </a:prstGeom>
          <a:solidFill>
            <a:srgbClr val="EFF4F8"/>
          </a:solidFill>
          <a:ln/>
        </p:spPr>
      </p:sp>
      <p:sp>
        <p:nvSpPr>
          <p:cNvPr id="18" name="Shape 15"/>
          <p:cNvSpPr/>
          <p:nvPr/>
        </p:nvSpPr>
        <p:spPr>
          <a:xfrm>
            <a:off x="804672" y="4441698"/>
            <a:ext cx="292608" cy="292608"/>
          </a:xfrm>
          <a:prstGeom prst="ellipse">
            <a:avLst/>
          </a:prstGeom>
          <a:solidFill>
            <a:srgbClr val="12B198"/>
          </a:solidFill>
          <a:ln/>
        </p:spPr>
      </p:sp>
      <p:sp>
        <p:nvSpPr>
          <p:cNvPr id="19" name="Text 16"/>
          <p:cNvSpPr/>
          <p:nvPr/>
        </p:nvSpPr>
        <p:spPr>
          <a:xfrm>
            <a:off x="804672" y="444169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11396"/>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256532"/>
            <a:ext cx="5327752" cy="662940"/>
          </a:xfrm>
          <a:prstGeom prst="roundRect">
            <a:avLst>
              <a:gd name="adj" fmla="val 5517"/>
            </a:avLst>
          </a:prstGeom>
          <a:solidFill>
            <a:srgbClr val="EFF4F8"/>
          </a:solidFill>
          <a:ln/>
        </p:spPr>
      </p:sp>
      <p:sp>
        <p:nvSpPr>
          <p:cNvPr id="22" name="Shape 19"/>
          <p:cNvSpPr/>
          <p:nvPr/>
        </p:nvSpPr>
        <p:spPr>
          <a:xfrm>
            <a:off x="6388456" y="4441698"/>
            <a:ext cx="292608" cy="292608"/>
          </a:xfrm>
          <a:prstGeom prst="ellipse">
            <a:avLst/>
          </a:prstGeom>
          <a:solidFill>
            <a:srgbClr val="12B198"/>
          </a:solidFill>
          <a:ln/>
        </p:spPr>
      </p:sp>
      <p:sp>
        <p:nvSpPr>
          <p:cNvPr id="23" name="Text 20"/>
          <p:cNvSpPr/>
          <p:nvPr/>
        </p:nvSpPr>
        <p:spPr>
          <a:xfrm>
            <a:off x="6388456" y="444169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11396"/>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600200"/>
          </a:xfrm>
          <a:prstGeom prst="roundRect">
            <a:avLst>
              <a:gd name="adj" fmla="val 2286"/>
            </a:avLst>
          </a:prstGeom>
          <a:solidFill>
            <a:srgbClr val="093259"/>
          </a:solidFill>
          <a:ln/>
        </p:spPr>
      </p:sp>
      <p:sp>
        <p:nvSpPr>
          <p:cNvPr id="7" name="Text 4"/>
          <p:cNvSpPr/>
          <p:nvPr/>
        </p:nvSpPr>
        <p:spPr>
          <a:xfrm>
            <a:off x="950976" y="1243584"/>
            <a:ext cx="10289743" cy="1344168"/>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862072"/>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483864"/>
            <a:ext cx="5327752" cy="662940"/>
          </a:xfrm>
          <a:prstGeom prst="roundRect">
            <a:avLst>
              <a:gd name="adj" fmla="val 5517"/>
            </a:avLst>
          </a:prstGeom>
          <a:solidFill>
            <a:srgbClr val="EFF4F8"/>
          </a:solidFill>
          <a:ln/>
        </p:spPr>
      </p:sp>
      <p:sp>
        <p:nvSpPr>
          <p:cNvPr id="10" name="Shape 7"/>
          <p:cNvSpPr/>
          <p:nvPr/>
        </p:nvSpPr>
        <p:spPr>
          <a:xfrm>
            <a:off x="804672" y="3669030"/>
            <a:ext cx="292608" cy="292608"/>
          </a:xfrm>
          <a:prstGeom prst="ellipse">
            <a:avLst/>
          </a:prstGeom>
          <a:solidFill>
            <a:srgbClr val="12B198"/>
          </a:solidFill>
          <a:ln/>
        </p:spPr>
      </p:sp>
      <p:sp>
        <p:nvSpPr>
          <p:cNvPr id="11" name="Text 8"/>
          <p:cNvSpPr/>
          <p:nvPr/>
        </p:nvSpPr>
        <p:spPr>
          <a:xfrm>
            <a:off x="804672" y="366903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538728"/>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483864"/>
            <a:ext cx="5327752" cy="662940"/>
          </a:xfrm>
          <a:prstGeom prst="roundRect">
            <a:avLst>
              <a:gd name="adj" fmla="val 5517"/>
            </a:avLst>
          </a:prstGeom>
          <a:solidFill>
            <a:srgbClr val="EFF4F8"/>
          </a:solidFill>
          <a:ln/>
        </p:spPr>
      </p:sp>
      <p:sp>
        <p:nvSpPr>
          <p:cNvPr id="14" name="Shape 11"/>
          <p:cNvSpPr/>
          <p:nvPr/>
        </p:nvSpPr>
        <p:spPr>
          <a:xfrm>
            <a:off x="6388456" y="3669030"/>
            <a:ext cx="292608" cy="292608"/>
          </a:xfrm>
          <a:prstGeom prst="ellipse">
            <a:avLst/>
          </a:prstGeom>
          <a:solidFill>
            <a:srgbClr val="12B198"/>
          </a:solidFill>
          <a:ln/>
        </p:spPr>
      </p:sp>
      <p:sp>
        <p:nvSpPr>
          <p:cNvPr id="15" name="Text 12"/>
          <p:cNvSpPr/>
          <p:nvPr/>
        </p:nvSpPr>
        <p:spPr>
          <a:xfrm>
            <a:off x="6388456" y="366903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538728"/>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256532"/>
            <a:ext cx="5327752" cy="662940"/>
          </a:xfrm>
          <a:prstGeom prst="roundRect">
            <a:avLst>
              <a:gd name="adj" fmla="val 5517"/>
            </a:avLst>
          </a:prstGeom>
          <a:solidFill>
            <a:srgbClr val="EFF4F8"/>
          </a:solidFill>
          <a:ln/>
        </p:spPr>
      </p:sp>
      <p:sp>
        <p:nvSpPr>
          <p:cNvPr id="18" name="Shape 15"/>
          <p:cNvSpPr/>
          <p:nvPr/>
        </p:nvSpPr>
        <p:spPr>
          <a:xfrm>
            <a:off x="804672" y="4441698"/>
            <a:ext cx="292608" cy="292608"/>
          </a:xfrm>
          <a:prstGeom prst="ellipse">
            <a:avLst/>
          </a:prstGeom>
          <a:solidFill>
            <a:srgbClr val="12B198"/>
          </a:solidFill>
          <a:ln/>
        </p:spPr>
      </p:sp>
      <p:sp>
        <p:nvSpPr>
          <p:cNvPr id="19" name="Text 16"/>
          <p:cNvSpPr/>
          <p:nvPr/>
        </p:nvSpPr>
        <p:spPr>
          <a:xfrm>
            <a:off x="804672" y="444169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11396"/>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256532"/>
            <a:ext cx="5327752" cy="662940"/>
          </a:xfrm>
          <a:prstGeom prst="roundRect">
            <a:avLst>
              <a:gd name="adj" fmla="val 5517"/>
            </a:avLst>
          </a:prstGeom>
          <a:solidFill>
            <a:srgbClr val="EFF4F8"/>
          </a:solidFill>
          <a:ln/>
        </p:spPr>
      </p:sp>
      <p:sp>
        <p:nvSpPr>
          <p:cNvPr id="22" name="Shape 19"/>
          <p:cNvSpPr/>
          <p:nvPr/>
        </p:nvSpPr>
        <p:spPr>
          <a:xfrm>
            <a:off x="6388456" y="4441698"/>
            <a:ext cx="292608" cy="292608"/>
          </a:xfrm>
          <a:prstGeom prst="ellipse">
            <a:avLst/>
          </a:prstGeom>
          <a:solidFill>
            <a:srgbClr val="12B198"/>
          </a:solidFill>
          <a:ln/>
        </p:spPr>
      </p:sp>
      <p:sp>
        <p:nvSpPr>
          <p:cNvPr id="23" name="Text 20"/>
          <p:cNvSpPr/>
          <p:nvPr/>
        </p:nvSpPr>
        <p:spPr>
          <a:xfrm>
            <a:off x="6388456" y="444169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11396"/>
            <a:ext cx="4596232" cy="5532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2026-08-18T04:09:49Z</dcterms:created>
  <dcterms:modified xsi:type="dcterms:W3CDTF">2026-08-18T04:09:49Z</dcterms:modified>
</cp:coreProperties>
</file>