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3259"/>
        </a:solidFill>
        <a:effectLst/>
      </p:bgPr>
    </p:bg>
    <p:spTree>
      <p:nvGrpSpPr>
        <p:cNvPr id="1" name=""/>
        <p:cNvGrpSpPr/>
        <p:nvPr/>
      </p:nvGrpSpPr>
      <p:grpSpPr/>
      <p:sp>
        <p:nvSpPr>
          <p:cNvPr id="2" name="Rounded Rectangle 1"/>
          <p:cNvSpPr/>
          <p:nvPr/>
        </p:nvSpPr>
        <p:spPr>
          <a:xfrm>
            <a:off x="10634472" y="219456"/>
            <a:ext cx="1042415" cy="9692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762488" y="329184"/>
            <a:ext cx="786384" cy="740664"/>
          </a:xfrm>
          <a:prstGeom prst="rect">
            <a:avLst/>
          </a:prstGeom>
        </p:spPr>
      </p:pic>
      <p:sp>
        <p:nvSpPr>
          <p:cNvPr id="4" name="TextBox 3"/>
          <p:cNvSpPr txBox="1"/>
          <p:nvPr/>
        </p:nvSpPr>
        <p:spPr>
          <a:xfrm>
            <a:off x="640080" y="1417320"/>
            <a:ext cx="9692640" cy="640080"/>
          </a:xfrm>
          <a:prstGeom prst="rect">
            <a:avLst/>
          </a:prstGeom>
          <a:noFill/>
        </p:spPr>
        <p:txBody>
          <a:bodyPr wrap="square" lIns="0" rIns="0" tIns="0" bIns="0" anchor="t">
            <a:spAutoFit/>
          </a:bodyPr>
          <a:lstStyle/>
          <a:p>
            <a:pPr algn="l"/>
            <a:r>
              <a:rPr sz="1300" b="1">
                <a:solidFill>
                  <a:srgbClr val="12B198"/>
                </a:solidFill>
                <a:latin typeface="Yu Gothic"/>
                <a:ea typeface="Yu Gothic"/>
                <a:cs typeface="Yu Gothic"/>
              </a:rPr>
              <a:t>第1時限　08:00 – 09:00　基本教育1</a:t>
            </a:r>
          </a:p>
          <a:p>
            <a:pPr algn="l">
              <a:spcBef>
                <a:spcPts val="200"/>
              </a:spcBef>
            </a:pPr>
            <a:r>
              <a:rPr sz="1200" b="0">
                <a:solidFill>
                  <a:srgbClr val="9FD8CD"/>
                </a:solidFill>
                <a:latin typeface="Calibri"/>
                <a:ea typeface="Calibri"/>
                <a:cs typeface="Calibri"/>
              </a:rPr>
              <a:t>Period 1 — Basic Training 1</a:t>
            </a:r>
          </a:p>
        </p:txBody>
      </p:sp>
      <p:sp>
        <p:nvSpPr>
          <p:cNvPr id="5" name="TextBox 4"/>
          <p:cNvSpPr txBox="1"/>
          <p:nvPr/>
        </p:nvSpPr>
        <p:spPr>
          <a:xfrm>
            <a:off x="640080" y="2212848"/>
            <a:ext cx="9966960" cy="896112"/>
          </a:xfrm>
          <a:prstGeom prst="rect">
            <a:avLst/>
          </a:prstGeom>
          <a:noFill/>
        </p:spPr>
        <p:txBody>
          <a:bodyPr wrap="square" lIns="0" rIns="0" tIns="0" bIns="0" anchor="t">
            <a:spAutoFit/>
          </a:bodyPr>
          <a:lstStyle/>
          <a:p>
            <a:pPr algn="l"/>
            <a:r>
              <a:rPr sz="3600" b="1">
                <a:solidFill>
                  <a:srgbClr val="FFFFFF"/>
                </a:solidFill>
                <a:latin typeface="Yu Gothic"/>
                <a:ea typeface="Yu Gothic"/>
                <a:cs typeface="Yu Gothic"/>
              </a:rPr>
              <a:t>警備業務実施の基本原則</a:t>
            </a:r>
          </a:p>
        </p:txBody>
      </p:sp>
      <p:sp>
        <p:nvSpPr>
          <p:cNvPr id="6" name="TextBox 5"/>
          <p:cNvSpPr txBox="1"/>
          <p:nvPr/>
        </p:nvSpPr>
        <p:spPr>
          <a:xfrm>
            <a:off x="640080" y="3236976"/>
            <a:ext cx="9966960" cy="777240"/>
          </a:xfrm>
          <a:prstGeom prst="rect">
            <a:avLst/>
          </a:prstGeom>
          <a:noFill/>
        </p:spPr>
        <p:txBody>
          <a:bodyPr wrap="square" lIns="0" rIns="0" tIns="0" bIns="0" anchor="t">
            <a:spAutoFit/>
          </a:bodyPr>
          <a:lstStyle/>
          <a:p>
            <a:pPr algn="l"/>
            <a:r>
              <a:rPr sz="2000" b="0">
                <a:solidFill>
                  <a:srgbClr val="9FD8CD"/>
                </a:solidFill>
                <a:latin typeface="Calibri"/>
                <a:ea typeface="Calibri"/>
                <a:cs typeface="Calibri"/>
              </a:rPr>
              <a:t>Fundamental Principles of Security Operations</a:t>
            </a:r>
          </a:p>
        </p:txBody>
      </p:sp>
      <p:sp>
        <p:nvSpPr>
          <p:cNvPr id="7" name="Rectangle 6"/>
          <p:cNvSpPr/>
          <p:nvPr/>
        </p:nvSpPr>
        <p:spPr>
          <a:xfrm>
            <a:off x="640080" y="4828032"/>
            <a:ext cx="1371600" cy="36576"/>
          </a:xfrm>
          <a:prstGeom prst="rect">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120640"/>
            <a:ext cx="9966960" cy="822960"/>
          </a:xfrm>
          <a:prstGeom prst="rect">
            <a:avLst/>
          </a:prstGeom>
          <a:noFill/>
        </p:spPr>
        <p:txBody>
          <a:bodyPr wrap="square" lIns="0" rIns="0" tIns="0" bIns="0" anchor="t">
            <a:spAutoFit/>
          </a:bodyPr>
          <a:lstStyle/>
          <a:p>
            <a:pPr algn="l"/>
            <a:r>
              <a:rPr sz="1200" b="0">
                <a:solidFill>
                  <a:srgbClr val="C9D6E2"/>
                </a:solidFill>
                <a:latin typeface="Yu Gothic"/>
                <a:ea typeface="Yu Gothic"/>
                <a:cs typeface="Yu Gothic"/>
              </a:rPr>
              <a:t>2026年◯月◯日　施設警備 新任教育　コーポレートセキュリティ</a:t>
            </a:r>
          </a:p>
          <a:p>
            <a:pPr algn="l">
              <a:spcBef>
                <a:spcPts val="200"/>
              </a:spcBef>
            </a:pPr>
            <a:r>
              <a:rPr sz="1150" b="0">
                <a:solidFill>
                  <a:srgbClr val="C9D6E2"/>
                </a:solidFill>
                <a:latin typeface="Calibri"/>
                <a:ea typeface="Calibri"/>
                <a:cs typeface="Calibri"/>
              </a:rPr>
              <a:t>New-Hire Training, Facility Security / Corporate Security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警備業とは</a:t>
            </a:r>
          </a:p>
          <a:p>
            <a:pPr algn="l">
              <a:spcBef>
                <a:spcPts val="200"/>
              </a:spcBef>
            </a:pPr>
            <a:r>
              <a:rPr sz="1400" b="0">
                <a:solidFill>
                  <a:srgbClr val="12B198"/>
                </a:solidFill>
                <a:latin typeface="Calibri"/>
                <a:ea typeface="Calibri"/>
                <a:cs typeface="Calibri"/>
              </a:rPr>
              <a:t>What the Security Industry Is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88720"/>
            <a:ext cx="10908792" cy="530352"/>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34440"/>
            <a:ext cx="10433304" cy="438912"/>
          </a:xfrm>
          <a:prstGeom prst="rect">
            <a:avLst/>
          </a:prstGeom>
          <a:noFill/>
        </p:spPr>
        <p:txBody>
          <a:bodyPr wrap="square" lIns="0" rIns="0" tIns="0" bIns="0" anchor="t">
            <a:spAutoFit/>
          </a:bodyPr>
          <a:lstStyle/>
          <a:p>
            <a:pPr algn="l"/>
            <a:r>
              <a:rPr sz="1000" b="1">
                <a:solidFill>
                  <a:srgbClr val="0D8A76"/>
                </a:solidFill>
                <a:latin typeface="Yu Gothic"/>
                <a:ea typeface="Yu Gothic"/>
                <a:cs typeface="Yu Gothic"/>
              </a:rPr>
              <a:t>身につくこと / What You'll Learn　警備業が「他人の需要に応じて行う民間サービス業」であることを説明できる。</a:t>
            </a:r>
          </a:p>
          <a:p>
            <a:pPr algn="l"/>
            <a:r>
              <a:rPr sz="950" b="0">
                <a:solidFill>
                  <a:srgbClr val="0D8A76"/>
                </a:solidFill>
                <a:latin typeface="Calibri"/>
                <a:ea typeface="Calibri"/>
                <a:cs typeface="Calibri"/>
              </a:rPr>
              <a:t>You can explain that security is a private service performed for others.</a:t>
            </a:r>
          </a:p>
        </p:txBody>
      </p:sp>
      <p:sp>
        <p:nvSpPr>
          <p:cNvPr id="8" name="Rounded Rectangle 7"/>
          <p:cNvSpPr/>
          <p:nvPr/>
        </p:nvSpPr>
        <p:spPr>
          <a:xfrm>
            <a:off x="640080" y="1810512"/>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0" name="TextBox 9"/>
          <p:cNvSpPr txBox="1"/>
          <p:nvPr/>
        </p:nvSpPr>
        <p:spPr>
          <a:xfrm>
            <a:off x="1207007"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警備業法 第2条の定義</a:t>
            </a:r>
          </a:p>
          <a:p>
            <a:pPr algn="l"/>
            <a:r>
              <a:rPr sz="1050" b="0">
                <a:solidFill>
                  <a:srgbClr val="12B198"/>
                </a:solidFill>
                <a:latin typeface="Calibri"/>
                <a:ea typeface="Calibri"/>
                <a:cs typeface="Calibri"/>
              </a:rPr>
              <a:t>The Definition in Article 2</a:t>
            </a:r>
          </a:p>
        </p:txBody>
      </p:sp>
      <p:sp>
        <p:nvSpPr>
          <p:cNvPr id="11" name="TextBox 10"/>
          <p:cNvSpPr txBox="1"/>
          <p:nvPr/>
        </p:nvSpPr>
        <p:spPr>
          <a:xfrm>
            <a:off x="859536"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・警備業務を「他人の需要に応じて」行う営業をいう</a:t>
            </a:r>
          </a:p>
          <a:p>
            <a:pPr algn="l"/>
            <a:r>
              <a:rPr sz="900" b="0">
                <a:solidFill>
                  <a:srgbClr val="2E3D4C"/>
                </a:solidFill>
                <a:latin typeface="Calibri"/>
                <a:ea typeface="Calibri"/>
                <a:cs typeface="Calibri"/>
              </a:rPr>
              <a:t>　A business providing security services for others</a:t>
            </a:r>
          </a:p>
          <a:p>
            <a:pPr algn="l">
              <a:spcBef>
                <a:spcPts val="300"/>
              </a:spcBef>
            </a:pPr>
            <a:r>
              <a:rPr sz="950" b="0">
                <a:solidFill>
                  <a:srgbClr val="1B2733"/>
                </a:solidFill>
                <a:latin typeface="Yu Gothic"/>
                <a:ea typeface="Yu Gothic"/>
                <a:cs typeface="Yu Gothic"/>
              </a:rPr>
              <a:t>・依頼主との契約に基づく。契約の範囲が仕事の範囲</a:t>
            </a:r>
          </a:p>
          <a:p>
            <a:pPr algn="l"/>
            <a:r>
              <a:rPr sz="900" b="0">
                <a:solidFill>
                  <a:srgbClr val="2E3D4C"/>
                </a:solidFill>
                <a:latin typeface="Calibri"/>
                <a:ea typeface="Calibri"/>
                <a:cs typeface="Calibri"/>
              </a:rPr>
              <a:t>　It runs on a contract. The contract sets your scope</a:t>
            </a:r>
          </a:p>
          <a:p>
            <a:pPr algn="l">
              <a:spcBef>
                <a:spcPts val="300"/>
              </a:spcBef>
            </a:pPr>
            <a:r>
              <a:rPr sz="950" b="0">
                <a:solidFill>
                  <a:srgbClr val="1B2733"/>
                </a:solidFill>
                <a:latin typeface="Yu Gothic"/>
                <a:ea typeface="Yu Gothic"/>
                <a:cs typeface="Yu Gothic"/>
              </a:rPr>
              <a:t>・営むには都道府県公安委員会の認定が必要</a:t>
            </a:r>
          </a:p>
          <a:p>
            <a:pPr algn="l"/>
            <a:r>
              <a:rPr sz="900" b="0">
                <a:solidFill>
                  <a:srgbClr val="2E3D4C"/>
                </a:solidFill>
                <a:latin typeface="Calibri"/>
                <a:ea typeface="Calibri"/>
                <a:cs typeface="Calibri"/>
              </a:rPr>
              <a:t>　It requires certification by the public safety commission</a:t>
            </a:r>
          </a:p>
        </p:txBody>
      </p:sp>
      <p:sp>
        <p:nvSpPr>
          <p:cNvPr id="12" name="Rounded Rectangle 11"/>
          <p:cNvSpPr/>
          <p:nvPr/>
        </p:nvSpPr>
        <p:spPr>
          <a:xfrm>
            <a:off x="6227064" y="1810512"/>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9944"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93992"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警備業になるもの・ならないもの</a:t>
            </a:r>
          </a:p>
          <a:p>
            <a:pPr algn="l"/>
            <a:r>
              <a:rPr sz="1050" b="0">
                <a:solidFill>
                  <a:srgbClr val="12B198"/>
                </a:solidFill>
                <a:latin typeface="Calibri"/>
                <a:ea typeface="Calibri"/>
                <a:cs typeface="Calibri"/>
              </a:rPr>
              <a:t>Where the Line Falls</a:t>
            </a:r>
          </a:p>
        </p:txBody>
      </p:sp>
      <p:sp>
        <p:nvSpPr>
          <p:cNvPr id="15" name="TextBox 14"/>
          <p:cNvSpPr txBox="1"/>
          <p:nvPr/>
        </p:nvSpPr>
        <p:spPr>
          <a:xfrm>
            <a:off x="6446520"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・A社がB警備会社に依頼し、B社の警備員が常駐 → 警備業</a:t>
            </a:r>
          </a:p>
          <a:p>
            <a:pPr algn="l"/>
            <a:r>
              <a:rPr sz="900" b="0">
                <a:solidFill>
                  <a:srgbClr val="2E3D4C"/>
                </a:solidFill>
                <a:latin typeface="Calibri"/>
                <a:ea typeface="Calibri"/>
                <a:cs typeface="Calibri"/>
              </a:rPr>
              <a:t>　A hires security firm B, whose officers are posted → yes</a:t>
            </a:r>
          </a:p>
          <a:p>
            <a:pPr algn="l">
              <a:spcBef>
                <a:spcPts val="300"/>
              </a:spcBef>
            </a:pPr>
            <a:r>
              <a:rPr sz="950" b="0">
                <a:solidFill>
                  <a:srgbClr val="1B2733"/>
                </a:solidFill>
                <a:latin typeface="Yu Gothic"/>
                <a:ea typeface="Yu Gothic"/>
                <a:cs typeface="Yu Gothic"/>
              </a:rPr>
              <a:t>・C社の保安係が自社の店舗を見回る → 警備業ではない</a:t>
            </a:r>
          </a:p>
          <a:p>
            <a:pPr algn="l"/>
            <a:r>
              <a:rPr sz="900" b="0">
                <a:solidFill>
                  <a:srgbClr val="2E3D4C"/>
                </a:solidFill>
                <a:latin typeface="Calibri"/>
                <a:ea typeface="Calibri"/>
                <a:cs typeface="Calibri"/>
              </a:rPr>
              <a:t>　C's own staff patrol C's own store → no</a:t>
            </a:r>
          </a:p>
          <a:p>
            <a:pPr algn="l">
              <a:spcBef>
                <a:spcPts val="300"/>
              </a:spcBef>
            </a:pPr>
            <a:r>
              <a:rPr sz="950" b="0">
                <a:solidFill>
                  <a:srgbClr val="1B2733"/>
                </a:solidFill>
                <a:latin typeface="Yu Gothic"/>
                <a:ea typeface="Yu Gothic"/>
                <a:cs typeface="Yu Gothic"/>
              </a:rPr>
              <a:t>・この区別が、適用される法令と教育義務を分ける</a:t>
            </a:r>
          </a:p>
          <a:p>
            <a:pPr algn="l"/>
            <a:r>
              <a:rPr sz="900" b="0">
                <a:solidFill>
                  <a:srgbClr val="2E3D4C"/>
                </a:solidFill>
                <a:latin typeface="Calibri"/>
                <a:ea typeface="Calibri"/>
                <a:cs typeface="Calibri"/>
              </a:rPr>
              <a:t>　This split decides which laws and training duties apply</a:t>
            </a:r>
          </a:p>
        </p:txBody>
      </p:sp>
      <p:sp>
        <p:nvSpPr>
          <p:cNvPr id="16" name="Rounded Rectangle 15"/>
          <p:cNvSpPr/>
          <p:nvPr/>
        </p:nvSpPr>
        <p:spPr>
          <a:xfrm>
            <a:off x="640080" y="3931920"/>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8" name="TextBox 17"/>
          <p:cNvSpPr txBox="1"/>
          <p:nvPr/>
        </p:nvSpPr>
        <p:spPr>
          <a:xfrm>
            <a:off x="1207007"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コーポレートセキュリティ</a:t>
            </a:r>
          </a:p>
          <a:p>
            <a:pPr algn="l"/>
            <a:r>
              <a:rPr sz="1050" b="0">
                <a:solidFill>
                  <a:srgbClr val="12B198"/>
                </a:solidFill>
                <a:latin typeface="Calibri"/>
                <a:ea typeface="Calibri"/>
                <a:cs typeface="Calibri"/>
              </a:rPr>
              <a:t>Corporate Security</a:t>
            </a:r>
          </a:p>
        </p:txBody>
      </p:sp>
      <p:sp>
        <p:nvSpPr>
          <p:cNvPr id="19" name="TextBox 18"/>
          <p:cNvSpPr txBox="1"/>
          <p:nvPr/>
        </p:nvSpPr>
        <p:spPr>
          <a:xfrm>
            <a:off x="859536"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・1号警備のうち、企業オフィス常駐に特化した業務</a:t>
            </a:r>
          </a:p>
          <a:p>
            <a:pPr algn="l"/>
            <a:r>
              <a:rPr sz="900" b="0">
                <a:solidFill>
                  <a:srgbClr val="2E3D4C"/>
                </a:solidFill>
                <a:latin typeface="Calibri"/>
                <a:ea typeface="Calibri"/>
                <a:cs typeface="Calibri"/>
              </a:rPr>
              <a:t>　Type-1 security, focused on stationed duty at offices</a:t>
            </a:r>
          </a:p>
          <a:p>
            <a:pPr algn="l">
              <a:spcBef>
                <a:spcPts val="300"/>
              </a:spcBef>
            </a:pPr>
            <a:r>
              <a:rPr sz="950" b="0">
                <a:solidFill>
                  <a:srgbClr val="1B2733"/>
                </a:solidFill>
                <a:latin typeface="Yu Gothic"/>
                <a:ea typeface="Yu Gothic"/>
                <a:cs typeface="Yu Gothic"/>
              </a:rPr>
              <a:t>・守る対象は、建物ではなく企業活動そのもの</a:t>
            </a:r>
          </a:p>
          <a:p>
            <a:pPr algn="l"/>
            <a:r>
              <a:rPr sz="900" b="0">
                <a:solidFill>
                  <a:srgbClr val="2E3D4C"/>
                </a:solidFill>
                <a:latin typeface="Calibri"/>
                <a:ea typeface="Calibri"/>
                <a:cs typeface="Calibri"/>
              </a:rPr>
              <a:t>　What is protected is the business itself, not the building</a:t>
            </a:r>
          </a:p>
          <a:p>
            <a:pPr algn="l">
              <a:spcBef>
                <a:spcPts val="300"/>
              </a:spcBef>
            </a:pPr>
            <a:r>
              <a:rPr sz="950" b="0">
                <a:solidFill>
                  <a:srgbClr val="1B2733"/>
                </a:solidFill>
                <a:latin typeface="Yu Gothic"/>
                <a:ea typeface="Yu Gothic"/>
                <a:cs typeface="Yu Gothic"/>
              </a:rPr>
              <a:t>・接遇と情報秘匿が、警備の質そのものになる</a:t>
            </a:r>
          </a:p>
          <a:p>
            <a:pPr algn="l"/>
            <a:r>
              <a:rPr sz="900" b="0">
                <a:solidFill>
                  <a:srgbClr val="2E3D4C"/>
                </a:solidFill>
                <a:latin typeface="Calibri"/>
                <a:ea typeface="Calibri"/>
                <a:cs typeface="Calibri"/>
              </a:rPr>
              <a:t>　Conduct and confidentiality are the quality of the service</a:t>
            </a:r>
          </a:p>
        </p:txBody>
      </p:sp>
      <p:sp>
        <p:nvSpPr>
          <p:cNvPr id="20" name="Rounded Rectangle 19"/>
          <p:cNvSpPr/>
          <p:nvPr/>
        </p:nvSpPr>
        <p:spPr>
          <a:xfrm>
            <a:off x="6227064" y="3931920"/>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2" name="TextBox 21"/>
          <p:cNvSpPr txBox="1"/>
          <p:nvPr/>
        </p:nvSpPr>
        <p:spPr>
          <a:xfrm>
            <a:off x="6793992"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認定と教育の義務</a:t>
            </a:r>
          </a:p>
          <a:p>
            <a:pPr algn="l"/>
            <a:r>
              <a:rPr sz="1050" b="0">
                <a:solidFill>
                  <a:srgbClr val="12B198"/>
                </a:solidFill>
                <a:latin typeface="Calibri"/>
                <a:ea typeface="Calibri"/>
                <a:cs typeface="Calibri"/>
              </a:rPr>
              <a:t>Certification and Training</a:t>
            </a:r>
          </a:p>
        </p:txBody>
      </p:sp>
      <p:sp>
        <p:nvSpPr>
          <p:cNvPr id="23" name="TextBox 22"/>
          <p:cNvSpPr txBox="1"/>
          <p:nvPr/>
        </p:nvSpPr>
        <p:spPr>
          <a:xfrm>
            <a:off x="6446520"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・警備会社には、警備員を教育する法律上の義務がある</a:t>
            </a:r>
          </a:p>
          <a:p>
            <a:pPr algn="l"/>
            <a:r>
              <a:rPr sz="900" b="0">
                <a:solidFill>
                  <a:srgbClr val="2E3D4C"/>
                </a:solidFill>
                <a:latin typeface="Calibri"/>
                <a:ea typeface="Calibri"/>
                <a:cs typeface="Calibri"/>
              </a:rPr>
              <a:t>　A security company is legally required to train its officers</a:t>
            </a:r>
          </a:p>
          <a:p>
            <a:pPr algn="l">
              <a:spcBef>
                <a:spcPts val="300"/>
              </a:spcBef>
            </a:pPr>
            <a:r>
              <a:rPr sz="950" b="0">
                <a:solidFill>
                  <a:srgbClr val="1B2733"/>
                </a:solidFill>
                <a:latin typeface="Yu Gothic"/>
                <a:ea typeface="Yu Gothic"/>
                <a:cs typeface="Yu Gothic"/>
              </a:rPr>
              <a:t>・本講習はその法定教育として実施している</a:t>
            </a:r>
          </a:p>
          <a:p>
            <a:pPr algn="l"/>
            <a:r>
              <a:rPr sz="900" b="0">
                <a:solidFill>
                  <a:srgbClr val="2E3D4C"/>
                </a:solidFill>
                <a:latin typeface="Calibri"/>
                <a:ea typeface="Calibri"/>
                <a:cs typeface="Calibri"/>
              </a:rPr>
              <a:t>　This course is delivered as that statutory training</a:t>
            </a:r>
          </a:p>
          <a:p>
            <a:pPr algn="l">
              <a:spcBef>
                <a:spcPts val="300"/>
              </a:spcBef>
            </a:pPr>
            <a:r>
              <a:rPr sz="950" b="0">
                <a:solidFill>
                  <a:srgbClr val="1B2733"/>
                </a:solidFill>
                <a:latin typeface="Yu Gothic"/>
                <a:ea typeface="Yu Gothic"/>
                <a:cs typeface="Yu Gothic"/>
              </a:rPr>
              <a:t>・修了しなければ、警備業務に従事できない</a:t>
            </a:r>
          </a:p>
          <a:p>
            <a:pPr algn="l"/>
            <a:r>
              <a:rPr sz="900" b="0">
                <a:solidFill>
                  <a:srgbClr val="2E3D4C"/>
                </a:solidFill>
                <a:latin typeface="Calibri"/>
                <a:ea typeface="Calibri"/>
                <a:cs typeface="Calibri"/>
              </a:rPr>
              <a:t>　You cannot be assigned to duty until you complete it</a:t>
            </a:r>
          </a:p>
        </p:txBody>
      </p:sp>
      <p:sp>
        <p:nvSpPr>
          <p:cNvPr id="24" name="TextBox 23"/>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配属先の契約範囲と業務内容はSite SOPと警備指令書に定められている。</a:t>
            </a:r>
          </a:p>
          <a:p>
            <a:pPr algn="l"/>
            <a:r>
              <a:rPr sz="850" b="0">
                <a:solidFill>
                  <a:srgbClr val="0D8A76"/>
                </a:solidFill>
                <a:latin typeface="Calibri"/>
                <a:ea typeface="Calibri"/>
                <a:cs typeface="Calibri"/>
              </a:rPr>
              <a:t>Your site's contracted scope and duties are in the Site SOP and post orders.</a:t>
            </a:r>
          </a:p>
        </p:txBody>
      </p:sp>
      <p:sp>
        <p:nvSpPr>
          <p:cNvPr id="25" name="TextBox 24"/>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26" name="TextBox 25"/>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7" name="TextBox 26"/>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警備業務の4区分</a:t>
            </a:r>
          </a:p>
          <a:p>
            <a:pPr algn="l">
              <a:spcBef>
                <a:spcPts val="200"/>
              </a:spcBef>
            </a:pPr>
            <a:r>
              <a:rPr sz="1400" b="0">
                <a:solidFill>
                  <a:srgbClr val="12B198"/>
                </a:solidFill>
                <a:latin typeface="Calibri"/>
                <a:ea typeface="Calibri"/>
                <a:cs typeface="Calibri"/>
              </a:rPr>
              <a:t>The Four Categories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88720"/>
            <a:ext cx="10908792" cy="530352"/>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34440"/>
            <a:ext cx="10433304" cy="438912"/>
          </a:xfrm>
          <a:prstGeom prst="rect">
            <a:avLst/>
          </a:prstGeom>
          <a:noFill/>
        </p:spPr>
        <p:txBody>
          <a:bodyPr wrap="square" lIns="0" rIns="0" tIns="0" bIns="0" anchor="t">
            <a:spAutoFit/>
          </a:bodyPr>
          <a:lstStyle/>
          <a:p>
            <a:pPr algn="l"/>
            <a:r>
              <a:rPr sz="1000" b="1">
                <a:solidFill>
                  <a:srgbClr val="0D8A76"/>
                </a:solidFill>
                <a:latin typeface="Yu Gothic"/>
                <a:ea typeface="Yu Gothic"/>
                <a:cs typeface="Yu Gothic"/>
              </a:rPr>
              <a:t>身につくこと / What You'll Learn　1号から4号までの区分を挙げ、自分がどれに従事するかを言える。</a:t>
            </a:r>
          </a:p>
          <a:p>
            <a:pPr algn="l"/>
            <a:r>
              <a:rPr sz="950" b="0">
                <a:solidFill>
                  <a:srgbClr val="0D8A76"/>
                </a:solidFill>
                <a:latin typeface="Calibri"/>
                <a:ea typeface="Calibri"/>
                <a:cs typeface="Calibri"/>
              </a:rPr>
              <a:t>You can name the four categories and say which one you work in.</a:t>
            </a:r>
          </a:p>
        </p:txBody>
      </p:sp>
      <p:sp>
        <p:nvSpPr>
          <p:cNvPr id="8" name="Rounded Rectangle 7"/>
          <p:cNvSpPr/>
          <p:nvPr/>
        </p:nvSpPr>
        <p:spPr>
          <a:xfrm>
            <a:off x="640080" y="1810512"/>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0" name="TextBox 9"/>
          <p:cNvSpPr txBox="1"/>
          <p:nvPr/>
        </p:nvSpPr>
        <p:spPr>
          <a:xfrm>
            <a:off x="1207007"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1号　施設警備業務</a:t>
            </a:r>
          </a:p>
          <a:p>
            <a:pPr algn="l"/>
            <a:r>
              <a:rPr sz="1050" b="0">
                <a:solidFill>
                  <a:srgbClr val="12B198"/>
                </a:solidFill>
                <a:latin typeface="Calibri"/>
                <a:ea typeface="Calibri"/>
                <a:cs typeface="Calibri"/>
              </a:rPr>
              <a:t>Type 1 — Facility Security</a:t>
            </a:r>
          </a:p>
        </p:txBody>
      </p:sp>
      <p:sp>
        <p:nvSpPr>
          <p:cNvPr id="11" name="TextBox 10"/>
          <p:cNvSpPr txBox="1"/>
          <p:nvPr/>
        </p:nvSpPr>
        <p:spPr>
          <a:xfrm>
            <a:off x="859536"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・事務所・住宅・興行場・駐車場等における業務</a:t>
            </a:r>
          </a:p>
          <a:p>
            <a:pPr algn="l"/>
            <a:r>
              <a:rPr sz="900" b="0">
                <a:solidFill>
                  <a:srgbClr val="2E3D4C"/>
                </a:solidFill>
                <a:latin typeface="Calibri"/>
                <a:ea typeface="Calibri"/>
                <a:cs typeface="Calibri"/>
              </a:rPr>
              <a:t>　Offices, residences, venues, car parks and the like</a:t>
            </a:r>
          </a:p>
          <a:p>
            <a:pPr algn="l">
              <a:spcBef>
                <a:spcPts val="300"/>
              </a:spcBef>
            </a:pPr>
            <a:r>
              <a:rPr sz="950" b="0">
                <a:solidFill>
                  <a:srgbClr val="1B2733"/>
                </a:solidFill>
                <a:latin typeface="Yu Gothic"/>
                <a:ea typeface="Yu Gothic"/>
                <a:cs typeface="Yu Gothic"/>
              </a:rPr>
              <a:t>・常駐・巡回・出入管理・受付が中心になる</a:t>
            </a:r>
          </a:p>
          <a:p>
            <a:pPr algn="l"/>
            <a:r>
              <a:rPr sz="900" b="0">
                <a:solidFill>
                  <a:srgbClr val="2E3D4C"/>
                </a:solidFill>
                <a:latin typeface="Calibri"/>
                <a:ea typeface="Calibri"/>
                <a:cs typeface="Calibri"/>
              </a:rPr>
              <a:t>　Stationed duty, patrol, access control, reception</a:t>
            </a:r>
          </a:p>
          <a:p>
            <a:pPr algn="l">
              <a:spcBef>
                <a:spcPts val="300"/>
              </a:spcBef>
            </a:pPr>
            <a:r>
              <a:rPr sz="950" b="0">
                <a:solidFill>
                  <a:srgbClr val="1B2733"/>
                </a:solidFill>
                <a:latin typeface="Yu Gothic"/>
                <a:ea typeface="Yu Gothic"/>
                <a:cs typeface="Yu Gothic"/>
              </a:rPr>
              <a:t>・皆さんが従事するのは、この1号である</a:t>
            </a:r>
          </a:p>
          <a:p>
            <a:pPr algn="l"/>
            <a:r>
              <a:rPr sz="900" b="0">
                <a:solidFill>
                  <a:srgbClr val="2E3D4C"/>
                </a:solidFill>
                <a:latin typeface="Calibri"/>
                <a:ea typeface="Calibri"/>
                <a:cs typeface="Calibri"/>
              </a:rPr>
              <a:t>　This is the category you will be working in</a:t>
            </a:r>
          </a:p>
        </p:txBody>
      </p:sp>
      <p:sp>
        <p:nvSpPr>
          <p:cNvPr id="12" name="Rounded Rectangle 11"/>
          <p:cNvSpPr/>
          <p:nvPr/>
        </p:nvSpPr>
        <p:spPr>
          <a:xfrm>
            <a:off x="6227064" y="1810512"/>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9944"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93992"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2号　交通誘導・雑踏警備業務</a:t>
            </a:r>
          </a:p>
          <a:p>
            <a:pPr algn="l"/>
            <a:r>
              <a:rPr sz="1050" b="0">
                <a:solidFill>
                  <a:srgbClr val="12B198"/>
                </a:solidFill>
                <a:latin typeface="Calibri"/>
                <a:ea typeface="Calibri"/>
                <a:cs typeface="Calibri"/>
              </a:rPr>
              <a:t>Type 2 — Traffic and Crowds</a:t>
            </a:r>
          </a:p>
        </p:txBody>
      </p:sp>
      <p:sp>
        <p:nvSpPr>
          <p:cNvPr id="15" name="TextBox 14"/>
          <p:cNvSpPr txBox="1"/>
          <p:nvPr/>
        </p:nvSpPr>
        <p:spPr>
          <a:xfrm>
            <a:off x="6446520"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・人や車両の通行する場所、雑踏する場所での業務</a:t>
            </a:r>
          </a:p>
          <a:p>
            <a:pPr algn="l"/>
            <a:r>
              <a:rPr sz="900" b="0">
                <a:solidFill>
                  <a:srgbClr val="2E3D4C"/>
                </a:solidFill>
                <a:latin typeface="Calibri"/>
                <a:ea typeface="Calibri"/>
                <a:cs typeface="Calibri"/>
              </a:rPr>
              <a:t>　Where people and vehicles pass, or crowds gather</a:t>
            </a:r>
          </a:p>
          <a:p>
            <a:pPr algn="l">
              <a:spcBef>
                <a:spcPts val="300"/>
              </a:spcBef>
            </a:pPr>
            <a:r>
              <a:rPr sz="950" b="0">
                <a:solidFill>
                  <a:srgbClr val="1B2733"/>
                </a:solidFill>
                <a:latin typeface="Yu Gothic"/>
                <a:ea typeface="Yu Gothic"/>
                <a:cs typeface="Yu Gothic"/>
              </a:rPr>
              <a:t>・工事現場、イベント会場、駐車場出入口など</a:t>
            </a:r>
          </a:p>
          <a:p>
            <a:pPr algn="l"/>
            <a:r>
              <a:rPr sz="900" b="0">
                <a:solidFill>
                  <a:srgbClr val="2E3D4C"/>
                </a:solidFill>
                <a:latin typeface="Calibri"/>
                <a:ea typeface="Calibri"/>
                <a:cs typeface="Calibri"/>
              </a:rPr>
              <a:t>　Construction sites, events, car park entrances</a:t>
            </a:r>
          </a:p>
          <a:p>
            <a:pPr algn="l">
              <a:spcBef>
                <a:spcPts val="300"/>
              </a:spcBef>
            </a:pPr>
            <a:r>
              <a:rPr sz="950" b="0">
                <a:solidFill>
                  <a:srgbClr val="1B2733"/>
                </a:solidFill>
                <a:latin typeface="Yu Gothic"/>
                <a:ea typeface="Yu Gothic"/>
                <a:cs typeface="Yu Gothic"/>
              </a:rPr>
              <a:t>・交通整理の権限はない。あくまで誘導である</a:t>
            </a:r>
          </a:p>
          <a:p>
            <a:pPr algn="l"/>
            <a:r>
              <a:rPr sz="900" b="0">
                <a:solidFill>
                  <a:srgbClr val="2E3D4C"/>
                </a:solidFill>
                <a:latin typeface="Calibri"/>
                <a:ea typeface="Calibri"/>
                <a:cs typeface="Calibri"/>
              </a:rPr>
              <a:t>　There is no power to direct traffic. It is guidance</a:t>
            </a:r>
          </a:p>
        </p:txBody>
      </p:sp>
      <p:sp>
        <p:nvSpPr>
          <p:cNvPr id="16" name="Rounded Rectangle 15"/>
          <p:cNvSpPr/>
          <p:nvPr/>
        </p:nvSpPr>
        <p:spPr>
          <a:xfrm>
            <a:off x="640080" y="3931920"/>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8" name="TextBox 17"/>
          <p:cNvSpPr txBox="1"/>
          <p:nvPr/>
        </p:nvSpPr>
        <p:spPr>
          <a:xfrm>
            <a:off x="1207007"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3号　運搬警備業務</a:t>
            </a:r>
          </a:p>
          <a:p>
            <a:pPr algn="l"/>
            <a:r>
              <a:rPr sz="1050" b="0">
                <a:solidFill>
                  <a:srgbClr val="12B198"/>
                </a:solidFill>
                <a:latin typeface="Calibri"/>
                <a:ea typeface="Calibri"/>
                <a:cs typeface="Calibri"/>
              </a:rPr>
              <a:t>Type 3 — Valuables in Transit</a:t>
            </a:r>
          </a:p>
        </p:txBody>
      </p:sp>
      <p:sp>
        <p:nvSpPr>
          <p:cNvPr id="19" name="TextBox 18"/>
          <p:cNvSpPr txBox="1"/>
          <p:nvPr/>
        </p:nvSpPr>
        <p:spPr>
          <a:xfrm>
            <a:off x="859536"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・運搬中の現金・貴金属・核燃料物質等に係る業務</a:t>
            </a:r>
          </a:p>
          <a:p>
            <a:pPr algn="l"/>
            <a:r>
              <a:rPr sz="900" b="0">
                <a:solidFill>
                  <a:srgbClr val="2E3D4C"/>
                </a:solidFill>
                <a:latin typeface="Calibri"/>
                <a:ea typeface="Calibri"/>
                <a:cs typeface="Calibri"/>
              </a:rPr>
              <a:t>　Cash, precious metals and nuclear materials in transit</a:t>
            </a:r>
          </a:p>
          <a:p>
            <a:pPr algn="l">
              <a:spcBef>
                <a:spcPts val="300"/>
              </a:spcBef>
            </a:pPr>
            <a:r>
              <a:rPr sz="950" b="0">
                <a:solidFill>
                  <a:srgbClr val="1B2733"/>
                </a:solidFill>
                <a:latin typeface="Yu Gothic"/>
                <a:ea typeface="Yu Gothic"/>
                <a:cs typeface="Yu Gothic"/>
              </a:rPr>
              <a:t>・現金輸送車への警乗が代表例</a:t>
            </a:r>
          </a:p>
          <a:p>
            <a:pPr algn="l"/>
            <a:r>
              <a:rPr sz="900" b="0">
                <a:solidFill>
                  <a:srgbClr val="2E3D4C"/>
                </a:solidFill>
                <a:latin typeface="Calibri"/>
                <a:ea typeface="Calibri"/>
                <a:cs typeface="Calibri"/>
              </a:rPr>
              <a:t>　Riding with an armoured cash-transport vehicle</a:t>
            </a:r>
          </a:p>
          <a:p>
            <a:pPr algn="l">
              <a:spcBef>
                <a:spcPts val="300"/>
              </a:spcBef>
            </a:pPr>
            <a:r>
              <a:rPr sz="950" b="0">
                <a:solidFill>
                  <a:srgbClr val="1B2733"/>
                </a:solidFill>
                <a:latin typeface="Yu Gothic"/>
                <a:ea typeface="Yu Gothic"/>
                <a:cs typeface="Yu Gothic"/>
              </a:rPr>
              <a:t>・運搬物と経路の秘匿が重要になる</a:t>
            </a:r>
          </a:p>
          <a:p>
            <a:pPr algn="l"/>
            <a:r>
              <a:rPr sz="900" b="0">
                <a:solidFill>
                  <a:srgbClr val="2E3D4C"/>
                </a:solidFill>
                <a:latin typeface="Calibri"/>
                <a:ea typeface="Calibri"/>
                <a:cs typeface="Calibri"/>
              </a:rPr>
              <a:t>　Keeping the load and route confidential is critical</a:t>
            </a:r>
          </a:p>
        </p:txBody>
      </p:sp>
      <p:sp>
        <p:nvSpPr>
          <p:cNvPr id="20" name="Rounded Rectangle 19"/>
          <p:cNvSpPr/>
          <p:nvPr/>
        </p:nvSpPr>
        <p:spPr>
          <a:xfrm>
            <a:off x="6227064" y="3931920"/>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2" name="TextBox 21"/>
          <p:cNvSpPr txBox="1"/>
          <p:nvPr/>
        </p:nvSpPr>
        <p:spPr>
          <a:xfrm>
            <a:off x="6793992"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4号　身辺警備業務</a:t>
            </a:r>
          </a:p>
          <a:p>
            <a:pPr algn="l"/>
            <a:r>
              <a:rPr sz="1050" b="0">
                <a:solidFill>
                  <a:srgbClr val="12B198"/>
                </a:solidFill>
                <a:latin typeface="Calibri"/>
                <a:ea typeface="Calibri"/>
                <a:cs typeface="Calibri"/>
              </a:rPr>
              <a:t>Type 4 — Personal Protection</a:t>
            </a:r>
          </a:p>
        </p:txBody>
      </p:sp>
      <p:sp>
        <p:nvSpPr>
          <p:cNvPr id="23" name="TextBox 22"/>
          <p:cNvSpPr txBox="1"/>
          <p:nvPr/>
        </p:nvSpPr>
        <p:spPr>
          <a:xfrm>
            <a:off x="6446520"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・人の身体に対する危害の発生を警戒し、防止する</a:t>
            </a:r>
          </a:p>
          <a:p>
            <a:pPr algn="l"/>
            <a:r>
              <a:rPr sz="900" b="0">
                <a:solidFill>
                  <a:srgbClr val="2E3D4C"/>
                </a:solidFill>
                <a:latin typeface="Calibri"/>
                <a:ea typeface="Calibri"/>
                <a:cs typeface="Calibri"/>
              </a:rPr>
              <a:t>　Watching for and preventing harm to a person</a:t>
            </a:r>
          </a:p>
          <a:p>
            <a:pPr algn="l">
              <a:spcBef>
                <a:spcPts val="300"/>
              </a:spcBef>
            </a:pPr>
            <a:r>
              <a:rPr sz="950" b="0">
                <a:solidFill>
                  <a:srgbClr val="1B2733"/>
                </a:solidFill>
                <a:latin typeface="Yu Gothic"/>
                <a:ea typeface="Yu Gothic"/>
                <a:cs typeface="Yu Gothic"/>
              </a:rPr>
              <a:t>・警察の警護とは根拠法も権限も異なる</a:t>
            </a:r>
          </a:p>
          <a:p>
            <a:pPr algn="l"/>
            <a:r>
              <a:rPr sz="900" b="0">
                <a:solidFill>
                  <a:srgbClr val="2E3D4C"/>
                </a:solidFill>
                <a:latin typeface="Calibri"/>
                <a:ea typeface="Calibri"/>
                <a:cs typeface="Calibri"/>
              </a:rPr>
              <a:t>　The legal basis and powers differ from police protection</a:t>
            </a:r>
          </a:p>
          <a:p>
            <a:pPr algn="l">
              <a:spcBef>
                <a:spcPts val="300"/>
              </a:spcBef>
            </a:pPr>
            <a:r>
              <a:rPr sz="950" b="0">
                <a:solidFill>
                  <a:srgbClr val="1B2733"/>
                </a:solidFill>
                <a:latin typeface="Yu Gothic"/>
                <a:ea typeface="Yu Gothic"/>
                <a:cs typeface="Yu Gothic"/>
              </a:rPr>
              <a:t>・私人としての範囲を超えられない点は他号と同じ</a:t>
            </a:r>
          </a:p>
          <a:p>
            <a:pPr algn="l"/>
            <a:r>
              <a:rPr sz="900" b="0">
                <a:solidFill>
                  <a:srgbClr val="2E3D4C"/>
                </a:solidFill>
                <a:latin typeface="Calibri"/>
                <a:ea typeface="Calibri"/>
                <a:cs typeface="Calibri"/>
              </a:rPr>
              <a:t>　Like the others, it cannot exceed a citizen's limits</a:t>
            </a:r>
          </a:p>
        </p:txBody>
      </p:sp>
      <p:sp>
        <p:nvSpPr>
          <p:cNvPr id="24" name="TextBox 23"/>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同じ1号でも業務内容は現場ごとに大きく異なる。配属時にSite SOPを確認する。</a:t>
            </a:r>
          </a:p>
          <a:p>
            <a:pPr algn="l"/>
            <a:r>
              <a:rPr sz="850" b="0">
                <a:solidFill>
                  <a:srgbClr val="0D8A76"/>
                </a:solidFill>
                <a:latin typeface="Calibri"/>
                <a:ea typeface="Calibri"/>
                <a:cs typeface="Calibri"/>
              </a:rPr>
              <a:t>Even within Type 1, duties differ greatly by site. Check the Site SOP.</a:t>
            </a:r>
          </a:p>
        </p:txBody>
      </p:sp>
      <p:sp>
        <p:nvSpPr>
          <p:cNvPr id="25" name="TextBox 24"/>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警備業法第2条第1項、警備業法施行規則</a:t>
            </a:r>
          </a:p>
        </p:txBody>
      </p:sp>
      <p:sp>
        <p:nvSpPr>
          <p:cNvPr id="26" name="TextBox 25"/>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7" name="TextBox 26"/>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警備業の沿革</a:t>
            </a:r>
          </a:p>
          <a:p>
            <a:pPr algn="l">
              <a:spcBef>
                <a:spcPts val="200"/>
              </a:spcBef>
            </a:pPr>
            <a:r>
              <a:rPr sz="1400" b="0">
                <a:solidFill>
                  <a:srgbClr val="12B198"/>
                </a:solidFill>
                <a:latin typeface="Calibri"/>
                <a:ea typeface="Calibri"/>
                <a:cs typeface="Calibri"/>
              </a:rPr>
              <a:t>How the Industry Developed</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88720"/>
            <a:ext cx="10908792" cy="530352"/>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34440"/>
            <a:ext cx="10433304" cy="438912"/>
          </a:xfrm>
          <a:prstGeom prst="rect">
            <a:avLst/>
          </a:prstGeom>
          <a:noFill/>
        </p:spPr>
        <p:txBody>
          <a:bodyPr wrap="square" lIns="0" rIns="0" tIns="0" bIns="0" anchor="t">
            <a:spAutoFit/>
          </a:bodyPr>
          <a:lstStyle/>
          <a:p>
            <a:pPr algn="l"/>
            <a:r>
              <a:rPr sz="1000" b="1">
                <a:solidFill>
                  <a:srgbClr val="0D8A76"/>
                </a:solidFill>
                <a:latin typeface="Yu Gothic"/>
                <a:ea typeface="Yu Gothic"/>
                <a:cs typeface="Yu Gothic"/>
              </a:rPr>
              <a:t>身につくこと / What You'll Learn　警備業法がなぜ生まれたかを述べ、業務が法令で規律される理由を理解する。</a:t>
            </a:r>
          </a:p>
          <a:p>
            <a:pPr algn="l"/>
            <a:r>
              <a:rPr sz="950" b="0">
                <a:solidFill>
                  <a:srgbClr val="0D8A76"/>
                </a:solidFill>
                <a:latin typeface="Calibri"/>
                <a:ea typeface="Calibri"/>
                <a:cs typeface="Calibri"/>
              </a:rPr>
              <a:t>You can say why the Act exists, and why the work is regulated.</a:t>
            </a:r>
          </a:p>
        </p:txBody>
      </p:sp>
      <p:sp>
        <p:nvSpPr>
          <p:cNvPr id="8" name="Rounded Rectangle 7"/>
          <p:cNvSpPr/>
          <p:nvPr/>
        </p:nvSpPr>
        <p:spPr>
          <a:xfrm>
            <a:off x="640080" y="1810512"/>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0" name="TextBox 9"/>
          <p:cNvSpPr txBox="1"/>
          <p:nvPr/>
        </p:nvSpPr>
        <p:spPr>
          <a:xfrm>
            <a:off x="1207007"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1962年　民間警備の登場</a:t>
            </a:r>
          </a:p>
          <a:p>
            <a:pPr algn="l"/>
            <a:r>
              <a:rPr sz="1050" b="0">
                <a:solidFill>
                  <a:srgbClr val="12B198"/>
                </a:solidFill>
                <a:latin typeface="Calibri"/>
                <a:ea typeface="Calibri"/>
                <a:cs typeface="Calibri"/>
              </a:rPr>
              <a:t>1962 — Private Security Appears</a:t>
            </a:r>
          </a:p>
        </p:txBody>
      </p:sp>
      <p:sp>
        <p:nvSpPr>
          <p:cNvPr id="11" name="TextBox 10"/>
          <p:cNvSpPr txBox="1"/>
          <p:nvPr/>
        </p:nvSpPr>
        <p:spPr>
          <a:xfrm>
            <a:off x="859536"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・日本で最初の警備保障会社が設立される</a:t>
            </a:r>
          </a:p>
          <a:p>
            <a:pPr algn="l"/>
            <a:r>
              <a:rPr sz="900" b="0">
                <a:solidFill>
                  <a:srgbClr val="2E3D4C"/>
                </a:solidFill>
                <a:latin typeface="Calibri"/>
                <a:ea typeface="Calibri"/>
                <a:cs typeface="Calibri"/>
              </a:rPr>
              <a:t>　Japan's first security company is founded</a:t>
            </a:r>
          </a:p>
          <a:p>
            <a:pPr algn="l">
              <a:spcBef>
                <a:spcPts val="300"/>
              </a:spcBef>
            </a:pPr>
            <a:r>
              <a:rPr sz="950" b="0">
                <a:solidFill>
                  <a:srgbClr val="1B2733"/>
                </a:solidFill>
                <a:latin typeface="Yu Gothic"/>
                <a:ea typeface="Yu Gothic"/>
                <a:cs typeface="Yu Gothic"/>
              </a:rPr>
              <a:t>・経済成長にともない、警備の需要が生まれた</a:t>
            </a:r>
          </a:p>
          <a:p>
            <a:pPr algn="l"/>
            <a:r>
              <a:rPr sz="900" b="0">
                <a:solidFill>
                  <a:srgbClr val="2E3D4C"/>
                </a:solidFill>
                <a:latin typeface="Calibri"/>
                <a:ea typeface="Calibri"/>
                <a:cs typeface="Calibri"/>
              </a:rPr>
              <a:t>　Economic growth created the demand</a:t>
            </a:r>
          </a:p>
          <a:p>
            <a:pPr algn="l">
              <a:spcBef>
                <a:spcPts val="300"/>
              </a:spcBef>
            </a:pPr>
            <a:r>
              <a:rPr sz="950" b="0">
                <a:solidFill>
                  <a:srgbClr val="1B2733"/>
                </a:solidFill>
                <a:latin typeface="Yu Gothic"/>
                <a:ea typeface="Yu Gothic"/>
                <a:cs typeface="Yu Gothic"/>
              </a:rPr>
              <a:t>・当時は業務を規律する法律がなかった</a:t>
            </a:r>
          </a:p>
          <a:p>
            <a:pPr algn="l"/>
            <a:r>
              <a:rPr sz="900" b="0">
                <a:solidFill>
                  <a:srgbClr val="2E3D4C"/>
                </a:solidFill>
                <a:latin typeface="Calibri"/>
                <a:ea typeface="Calibri"/>
                <a:cs typeface="Calibri"/>
              </a:rPr>
              <a:t>　At the time no law regulated the work</a:t>
            </a:r>
          </a:p>
        </p:txBody>
      </p:sp>
      <p:sp>
        <p:nvSpPr>
          <p:cNvPr id="12" name="Rounded Rectangle 11"/>
          <p:cNvSpPr/>
          <p:nvPr/>
        </p:nvSpPr>
        <p:spPr>
          <a:xfrm>
            <a:off x="6227064" y="1810512"/>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9944"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93992"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1964年　東京オリンピック</a:t>
            </a:r>
          </a:p>
          <a:p>
            <a:pPr algn="l"/>
            <a:r>
              <a:rPr sz="1050" b="0">
                <a:solidFill>
                  <a:srgbClr val="12B198"/>
                </a:solidFill>
                <a:latin typeface="Calibri"/>
                <a:ea typeface="Calibri"/>
                <a:cs typeface="Calibri"/>
              </a:rPr>
              <a:t>1964 — The Tokyo Olympics</a:t>
            </a:r>
          </a:p>
        </p:txBody>
      </p:sp>
      <p:sp>
        <p:nvSpPr>
          <p:cNvPr id="15" name="TextBox 14"/>
          <p:cNvSpPr txBox="1"/>
          <p:nvPr/>
        </p:nvSpPr>
        <p:spPr>
          <a:xfrm>
            <a:off x="6446520"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・大規模イベントの警備を民間が担った</a:t>
            </a:r>
          </a:p>
          <a:p>
            <a:pPr algn="l"/>
            <a:r>
              <a:rPr sz="900" b="0">
                <a:solidFill>
                  <a:srgbClr val="2E3D4C"/>
                </a:solidFill>
                <a:latin typeface="Calibri"/>
                <a:ea typeface="Calibri"/>
                <a:cs typeface="Calibri"/>
              </a:rPr>
              <a:t>　Private security handled a large-scale event</a:t>
            </a:r>
          </a:p>
          <a:p>
            <a:pPr algn="l">
              <a:spcBef>
                <a:spcPts val="300"/>
              </a:spcBef>
            </a:pPr>
            <a:r>
              <a:rPr sz="950" b="0">
                <a:solidFill>
                  <a:srgbClr val="1B2733"/>
                </a:solidFill>
                <a:latin typeface="Yu Gothic"/>
                <a:ea typeface="Yu Gothic"/>
                <a:cs typeface="Yu Gothic"/>
              </a:rPr>
              <a:t>・民間警備の存在が広く知られるようになった</a:t>
            </a:r>
          </a:p>
          <a:p>
            <a:pPr algn="l"/>
            <a:r>
              <a:rPr sz="900" b="0">
                <a:solidFill>
                  <a:srgbClr val="2E3D4C"/>
                </a:solidFill>
                <a:latin typeface="Calibri"/>
                <a:ea typeface="Calibri"/>
                <a:cs typeface="Calibri"/>
              </a:rPr>
              <a:t>　It brought private security to public attention</a:t>
            </a:r>
          </a:p>
          <a:p>
            <a:pPr algn="l">
              <a:spcBef>
                <a:spcPts val="300"/>
              </a:spcBef>
            </a:pPr>
            <a:r>
              <a:rPr sz="950" b="0">
                <a:solidFill>
                  <a:srgbClr val="1B2733"/>
                </a:solidFill>
                <a:latin typeface="Yu Gothic"/>
                <a:ea typeface="Yu Gothic"/>
                <a:cs typeface="Yu Gothic"/>
              </a:rPr>
              <a:t>・同時に、業務の質のばらつきが表面化した</a:t>
            </a:r>
          </a:p>
          <a:p>
            <a:pPr algn="l"/>
            <a:r>
              <a:rPr sz="900" b="0">
                <a:solidFill>
                  <a:srgbClr val="2E3D4C"/>
                </a:solidFill>
                <a:latin typeface="Calibri"/>
                <a:ea typeface="Calibri"/>
                <a:cs typeface="Calibri"/>
              </a:rPr>
              <a:t>　It also exposed how uneven the quality was</a:t>
            </a:r>
          </a:p>
        </p:txBody>
      </p:sp>
      <p:sp>
        <p:nvSpPr>
          <p:cNvPr id="16" name="Rounded Rectangle 15"/>
          <p:cNvSpPr/>
          <p:nvPr/>
        </p:nvSpPr>
        <p:spPr>
          <a:xfrm>
            <a:off x="640080" y="3931920"/>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8" name="TextBox 17"/>
          <p:cNvSpPr txBox="1"/>
          <p:nvPr/>
        </p:nvSpPr>
        <p:spPr>
          <a:xfrm>
            <a:off x="1207007"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1972年　警備業法の制定</a:t>
            </a:r>
          </a:p>
          <a:p>
            <a:pPr algn="l"/>
            <a:r>
              <a:rPr sz="1050" b="0">
                <a:solidFill>
                  <a:srgbClr val="12B198"/>
                </a:solidFill>
                <a:latin typeface="Calibri"/>
                <a:ea typeface="Calibri"/>
                <a:cs typeface="Calibri"/>
              </a:rPr>
              <a:t>1972 — The Act Is Enacted</a:t>
            </a:r>
          </a:p>
        </p:txBody>
      </p:sp>
      <p:sp>
        <p:nvSpPr>
          <p:cNvPr id="19" name="TextBox 18"/>
          <p:cNvSpPr txBox="1"/>
          <p:nvPr/>
        </p:nvSpPr>
        <p:spPr>
          <a:xfrm>
            <a:off x="859536"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・昭和47年法律第117号として制定された</a:t>
            </a:r>
          </a:p>
          <a:p>
            <a:pPr algn="l"/>
            <a:r>
              <a:rPr sz="900" b="0">
                <a:solidFill>
                  <a:srgbClr val="2E3D4C"/>
                </a:solidFill>
                <a:latin typeface="Calibri"/>
                <a:ea typeface="Calibri"/>
                <a:cs typeface="Calibri"/>
              </a:rPr>
              <a:t>　Enacted as Act No. 117 of 1972</a:t>
            </a:r>
          </a:p>
          <a:p>
            <a:pPr algn="l">
              <a:spcBef>
                <a:spcPts val="300"/>
              </a:spcBef>
            </a:pPr>
            <a:r>
              <a:rPr sz="950" b="0">
                <a:solidFill>
                  <a:srgbClr val="1B2733"/>
                </a:solidFill>
                <a:latin typeface="Yu Gothic"/>
                <a:ea typeface="Yu Gothic"/>
                <a:cs typeface="Yu Gothic"/>
              </a:rPr>
              <a:t>・認定制度・警備員の制限・教育義務を定めた</a:t>
            </a:r>
          </a:p>
          <a:p>
            <a:pPr algn="l"/>
            <a:r>
              <a:rPr sz="900" b="0">
                <a:solidFill>
                  <a:srgbClr val="2E3D4C"/>
                </a:solidFill>
                <a:latin typeface="Calibri"/>
                <a:ea typeface="Calibri"/>
                <a:cs typeface="Calibri"/>
              </a:rPr>
              <a:t>　It set certification, restrictions and training duties</a:t>
            </a:r>
          </a:p>
          <a:p>
            <a:pPr algn="l">
              <a:spcBef>
                <a:spcPts val="300"/>
              </a:spcBef>
            </a:pPr>
            <a:r>
              <a:rPr sz="950" b="0">
                <a:solidFill>
                  <a:srgbClr val="1B2733"/>
                </a:solidFill>
                <a:latin typeface="Yu Gothic"/>
                <a:ea typeface="Yu Gothic"/>
                <a:cs typeface="Yu Gothic"/>
              </a:rPr>
              <a:t>・第15条で「特別な権限はない」ことを明記した</a:t>
            </a:r>
          </a:p>
          <a:p>
            <a:pPr algn="l"/>
            <a:r>
              <a:rPr sz="900" b="0">
                <a:solidFill>
                  <a:srgbClr val="2E3D4C"/>
                </a:solidFill>
                <a:latin typeface="Calibri"/>
                <a:ea typeface="Calibri"/>
                <a:cs typeface="Calibri"/>
              </a:rPr>
              <a:t>　Article 15 states the Act grants no special authority</a:t>
            </a:r>
          </a:p>
        </p:txBody>
      </p:sp>
      <p:sp>
        <p:nvSpPr>
          <p:cNvPr id="20" name="Rounded Rectangle 19"/>
          <p:cNvSpPr/>
          <p:nvPr/>
        </p:nvSpPr>
        <p:spPr>
          <a:xfrm>
            <a:off x="6227064" y="3931920"/>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2" name="TextBox 21"/>
          <p:cNvSpPr txBox="1"/>
          <p:nvPr/>
        </p:nvSpPr>
        <p:spPr>
          <a:xfrm>
            <a:off x="6793992"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なぜこの経緯を学ぶのか</a:t>
            </a:r>
          </a:p>
          <a:p>
            <a:pPr algn="l"/>
            <a:r>
              <a:rPr sz="1050" b="0">
                <a:solidFill>
                  <a:srgbClr val="12B198"/>
                </a:solidFill>
                <a:latin typeface="Calibri"/>
                <a:ea typeface="Calibri"/>
                <a:cs typeface="Calibri"/>
              </a:rPr>
              <a:t>Why This History Matters</a:t>
            </a:r>
          </a:p>
        </p:txBody>
      </p:sp>
      <p:sp>
        <p:nvSpPr>
          <p:cNvPr id="23" name="TextBox 22"/>
          <p:cNvSpPr txBox="1"/>
          <p:nvPr/>
        </p:nvSpPr>
        <p:spPr>
          <a:xfrm>
            <a:off x="6446520"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・警備業法は、事故と行き過ぎへの反省から生まれた</a:t>
            </a:r>
          </a:p>
          <a:p>
            <a:pPr algn="l"/>
            <a:r>
              <a:rPr sz="900" b="0">
                <a:solidFill>
                  <a:srgbClr val="2E3D4C"/>
                </a:solidFill>
                <a:latin typeface="Calibri"/>
                <a:ea typeface="Calibri"/>
                <a:cs typeface="Calibri"/>
              </a:rPr>
              <a:t>　The Act grew out of incidents and overreach</a:t>
            </a:r>
          </a:p>
          <a:p>
            <a:pPr algn="l">
              <a:spcBef>
                <a:spcPts val="300"/>
              </a:spcBef>
            </a:pPr>
            <a:r>
              <a:rPr sz="950" b="0">
                <a:solidFill>
                  <a:srgbClr val="1B2733"/>
                </a:solidFill>
                <a:latin typeface="Yu Gothic"/>
                <a:ea typeface="Yu Gothic"/>
                <a:cs typeface="Yu Gothic"/>
              </a:rPr>
              <a:t>・条文の多くは「やってはいけないこと」を定める</a:t>
            </a:r>
          </a:p>
          <a:p>
            <a:pPr algn="l"/>
            <a:r>
              <a:rPr sz="900" b="0">
                <a:solidFill>
                  <a:srgbClr val="2E3D4C"/>
                </a:solidFill>
                <a:latin typeface="Calibri"/>
                <a:ea typeface="Calibri"/>
                <a:cs typeface="Calibri"/>
              </a:rPr>
              <a:t>　Much of it defines what must not be done</a:t>
            </a:r>
          </a:p>
          <a:p>
            <a:pPr algn="l">
              <a:spcBef>
                <a:spcPts val="300"/>
              </a:spcBef>
            </a:pPr>
            <a:r>
              <a:rPr sz="950" b="0">
                <a:solidFill>
                  <a:srgbClr val="1B2733"/>
                </a:solidFill>
                <a:latin typeface="Yu Gothic"/>
                <a:ea typeface="Yu Gothic"/>
                <a:cs typeface="Yu Gothic"/>
              </a:rPr>
              <a:t>・禁止の理由を知ると、迷ったときに使える</a:t>
            </a:r>
          </a:p>
          <a:p>
            <a:pPr algn="l"/>
            <a:r>
              <a:rPr sz="900" b="0">
                <a:solidFill>
                  <a:srgbClr val="2E3D4C"/>
                </a:solidFill>
                <a:latin typeface="Calibri"/>
                <a:ea typeface="Calibri"/>
                <a:cs typeface="Calibri"/>
              </a:rPr>
              <a:t>　Knowing why a rule exists helps when you must judge</a:t>
            </a:r>
          </a:p>
        </p:txBody>
      </p:sp>
      <p:sp>
        <p:nvSpPr>
          <p:cNvPr id="24" name="TextBox 23"/>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警備業法（昭和47年法律第117号）、全国警備業協会 業界沿革資料</a:t>
            </a:r>
          </a:p>
        </p:txBody>
      </p:sp>
      <p:sp>
        <p:nvSpPr>
          <p:cNvPr id="25" name="TextBox 24"/>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6" name="TextBox 25"/>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475488"/>
            <a:ext cx="9802368" cy="96012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日本の法律用語 ①</a:t>
            </a:r>
          </a:p>
          <a:p>
            <a:pPr algn="l">
              <a:spcBef>
                <a:spcPts val="300"/>
              </a:spcBef>
            </a:pPr>
            <a:r>
              <a:rPr sz="1600" b="0">
                <a:solidFill>
                  <a:srgbClr val="12B198"/>
                </a:solidFill>
                <a:latin typeface="Calibri"/>
                <a:ea typeface="Calibri"/>
                <a:cs typeface="Calibri"/>
              </a:rPr>
              <a:t>Japanese Legal Terms — Part 1</a:t>
            </a:r>
          </a:p>
        </p:txBody>
      </p:sp>
      <p:sp>
        <p:nvSpPr>
          <p:cNvPr id="4" name="TextBox 3"/>
          <p:cNvSpPr txBox="1"/>
          <p:nvPr/>
        </p:nvSpPr>
        <p:spPr>
          <a:xfrm>
            <a:off x="640080" y="1499616"/>
            <a:ext cx="10908792" cy="512064"/>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日本国内では日本の法律が適用されます。母国の制度と同じとは限りません。</a:t>
            </a:r>
          </a:p>
          <a:p>
            <a:pPr algn="l"/>
            <a:r>
              <a:rPr sz="1200" b="0">
                <a:solidFill>
                  <a:srgbClr val="2E3D4C"/>
                </a:solidFill>
                <a:latin typeface="Calibri"/>
                <a:ea typeface="Calibri"/>
                <a:cs typeface="Calibri"/>
              </a:rPr>
              <a:t>Japanese law applies in Japan. It may differ from the system in your home country.</a:t>
            </a:r>
          </a:p>
        </p:txBody>
      </p:sp>
      <p:sp>
        <p:nvSpPr>
          <p:cNvPr id="5" name="Rounded Rectangle 4"/>
          <p:cNvSpPr/>
          <p:nvPr/>
        </p:nvSpPr>
        <p:spPr>
          <a:xfrm>
            <a:off x="640080" y="2194560"/>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247802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7" name="TextBox 6"/>
          <p:cNvSpPr txBox="1"/>
          <p:nvPr/>
        </p:nvSpPr>
        <p:spPr>
          <a:xfrm>
            <a:off x="1243584" y="2267712"/>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警備業 keibigyō ― 他人の需要に応じて行う営業。</a:t>
            </a:r>
          </a:p>
          <a:p>
            <a:pPr algn="l"/>
            <a:r>
              <a:rPr sz="1050" b="0">
                <a:solidFill>
                  <a:srgbClr val="2E3D4C"/>
                </a:solidFill>
                <a:latin typeface="Calibri"/>
                <a:ea typeface="Calibri"/>
                <a:cs typeface="Calibri"/>
              </a:rPr>
              <a:t>The security industry. A business serving others' needs.</a:t>
            </a:r>
          </a:p>
        </p:txBody>
      </p:sp>
      <p:sp>
        <p:nvSpPr>
          <p:cNvPr id="8" name="Rounded Rectangle 7"/>
          <p:cNvSpPr/>
          <p:nvPr/>
        </p:nvSpPr>
        <p:spPr>
          <a:xfrm>
            <a:off x="6236208" y="2194560"/>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19088" y="247802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0" name="TextBox 9"/>
          <p:cNvSpPr txBox="1"/>
          <p:nvPr/>
        </p:nvSpPr>
        <p:spPr>
          <a:xfrm>
            <a:off x="6839712" y="2267712"/>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私人 shijin ― 警備員も法的には私人。</a:t>
            </a:r>
          </a:p>
          <a:p>
            <a:pPr algn="l"/>
            <a:r>
              <a:rPr sz="1050" b="0">
                <a:solidFill>
                  <a:srgbClr val="2E3D4C"/>
                </a:solidFill>
                <a:latin typeface="Calibri"/>
                <a:ea typeface="Calibri"/>
                <a:cs typeface="Calibri"/>
              </a:rPr>
              <a:t>Private citizen. Your legal status, even in uniform.</a:t>
            </a:r>
          </a:p>
        </p:txBody>
      </p:sp>
      <p:sp>
        <p:nvSpPr>
          <p:cNvPr id="11" name="Rounded Rectangle 10"/>
          <p:cNvSpPr/>
          <p:nvPr/>
        </p:nvSpPr>
        <p:spPr>
          <a:xfrm>
            <a:off x="640080" y="323697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59" y="352044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3" name="TextBox 12"/>
          <p:cNvSpPr txBox="1"/>
          <p:nvPr/>
        </p:nvSpPr>
        <p:spPr>
          <a:xfrm>
            <a:off x="1243584" y="331012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管理権者 kanri-kensha ― 施設を管理する権限をもつ者。</a:t>
            </a:r>
          </a:p>
          <a:p>
            <a:pPr algn="l"/>
            <a:r>
              <a:rPr sz="1050" b="0">
                <a:solidFill>
                  <a:srgbClr val="2E3D4C"/>
                </a:solidFill>
                <a:latin typeface="Calibri"/>
                <a:ea typeface="Calibri"/>
                <a:cs typeface="Calibri"/>
              </a:rPr>
              <a:t>The site authority. Your powers come from them.</a:t>
            </a:r>
          </a:p>
        </p:txBody>
      </p:sp>
      <p:sp>
        <p:nvSpPr>
          <p:cNvPr id="14" name="Rounded Rectangle 13"/>
          <p:cNvSpPr/>
          <p:nvPr/>
        </p:nvSpPr>
        <p:spPr>
          <a:xfrm>
            <a:off x="6236208" y="323697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19088" y="352044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16" name="TextBox 15"/>
          <p:cNvSpPr txBox="1"/>
          <p:nvPr/>
        </p:nvSpPr>
        <p:spPr>
          <a:xfrm>
            <a:off x="6839712" y="331012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施設管理権 shisetsu-kanriken ― 出入りやルールを決める権利。</a:t>
            </a:r>
          </a:p>
          <a:p>
            <a:pPr algn="l"/>
            <a:r>
              <a:rPr sz="1050" b="0">
                <a:solidFill>
                  <a:srgbClr val="2E3D4C"/>
                </a:solidFill>
                <a:latin typeface="Calibri"/>
                <a:ea typeface="Calibri"/>
                <a:cs typeface="Calibri"/>
              </a:rPr>
              <a:t>Premises management rights. Deciding entry and rules.</a:t>
            </a:r>
          </a:p>
        </p:txBody>
      </p:sp>
      <p:sp>
        <p:nvSpPr>
          <p:cNvPr id="17" name="Rounded Rectangle 16"/>
          <p:cNvSpPr/>
          <p:nvPr/>
        </p:nvSpPr>
        <p:spPr>
          <a:xfrm>
            <a:off x="640080" y="428853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457200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5</a:t>
            </a:r>
          </a:p>
        </p:txBody>
      </p:sp>
      <p:sp>
        <p:nvSpPr>
          <p:cNvPr id="19" name="TextBox 18"/>
          <p:cNvSpPr txBox="1"/>
          <p:nvPr/>
        </p:nvSpPr>
        <p:spPr>
          <a:xfrm>
            <a:off x="1243584" y="436168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認定 nintei ― 公安委員会が警備業者に与えるもの。</a:t>
            </a:r>
          </a:p>
          <a:p>
            <a:pPr algn="l"/>
            <a:r>
              <a:rPr sz="1050" b="0">
                <a:solidFill>
                  <a:srgbClr val="2E3D4C"/>
                </a:solidFill>
                <a:latin typeface="Calibri"/>
                <a:ea typeface="Calibri"/>
                <a:cs typeface="Calibri"/>
              </a:rPr>
              <a:t>Certification, granted to a security company.</a:t>
            </a:r>
          </a:p>
        </p:txBody>
      </p:sp>
      <p:sp>
        <p:nvSpPr>
          <p:cNvPr id="20" name="Rounded Rectangle 19"/>
          <p:cNvSpPr/>
          <p:nvPr/>
        </p:nvSpPr>
        <p:spPr>
          <a:xfrm>
            <a:off x="6236208" y="428853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19088" y="457200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6</a:t>
            </a:r>
          </a:p>
        </p:txBody>
      </p:sp>
      <p:sp>
        <p:nvSpPr>
          <p:cNvPr id="22" name="TextBox 21"/>
          <p:cNvSpPr txBox="1"/>
          <p:nvPr/>
        </p:nvSpPr>
        <p:spPr>
          <a:xfrm>
            <a:off x="6839712" y="436168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警備指令書 keibi-shireisho ― 現場ごとの指示書。</a:t>
            </a:r>
          </a:p>
          <a:p>
            <a:pPr algn="l"/>
            <a:r>
              <a:rPr sz="1050" b="0">
                <a:solidFill>
                  <a:srgbClr val="2E3D4C"/>
                </a:solidFill>
                <a:latin typeface="Calibri"/>
                <a:ea typeface="Calibri"/>
                <a:cs typeface="Calibri"/>
              </a:rPr>
              <a:t>Post orders. The written instructions for your site.</a:t>
            </a:r>
          </a:p>
        </p:txBody>
      </p:sp>
      <p:sp>
        <p:nvSpPr>
          <p:cNvPr id="23" name="Rounded Rectangle 22"/>
          <p:cNvSpPr/>
          <p:nvPr/>
        </p:nvSpPr>
        <p:spPr>
          <a:xfrm>
            <a:off x="640080" y="5330952"/>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59" y="561441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7</a:t>
            </a:r>
          </a:p>
        </p:txBody>
      </p:sp>
      <p:sp>
        <p:nvSpPr>
          <p:cNvPr id="25" name="TextBox 24"/>
          <p:cNvSpPr txBox="1"/>
          <p:nvPr/>
        </p:nvSpPr>
        <p:spPr>
          <a:xfrm>
            <a:off x="1243584" y="5404104"/>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有形力 yūkeiryoku ― 相手に触れた時点で有形力。</a:t>
            </a:r>
          </a:p>
          <a:p>
            <a:pPr algn="l"/>
            <a:r>
              <a:rPr sz="1050" b="0">
                <a:solidFill>
                  <a:srgbClr val="2E3D4C"/>
                </a:solidFill>
                <a:latin typeface="Calibri"/>
                <a:ea typeface="Calibri"/>
                <a:cs typeface="Calibri"/>
              </a:rPr>
              <a:t>Physical force. Touching the person is already force.</a:t>
            </a:r>
          </a:p>
        </p:txBody>
      </p:sp>
      <p:sp>
        <p:nvSpPr>
          <p:cNvPr id="26" name="Rounded Rectangle 25"/>
          <p:cNvSpPr/>
          <p:nvPr/>
        </p:nvSpPr>
        <p:spPr>
          <a:xfrm>
            <a:off x="6236208" y="5330952"/>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19088" y="561441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8</a:t>
            </a:r>
          </a:p>
        </p:txBody>
      </p:sp>
      <p:sp>
        <p:nvSpPr>
          <p:cNvPr id="28" name="TextBox 27"/>
          <p:cNvSpPr txBox="1"/>
          <p:nvPr/>
        </p:nvSpPr>
        <p:spPr>
          <a:xfrm>
            <a:off x="6839712" y="5404104"/>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常駐 jōchū ― 現場に配置されて勤務すること。</a:t>
            </a:r>
          </a:p>
          <a:p>
            <a:pPr algn="l"/>
            <a:r>
              <a:rPr sz="1050" b="0">
                <a:solidFill>
                  <a:srgbClr val="2E3D4C"/>
                </a:solidFill>
                <a:latin typeface="Calibri"/>
                <a:ea typeface="Calibri"/>
                <a:cs typeface="Calibri"/>
              </a:rPr>
              <a:t>Stationed duty. Being posted at a site.</a:t>
            </a:r>
          </a:p>
        </p:txBody>
      </p:sp>
      <p:sp>
        <p:nvSpPr>
          <p:cNvPr id="29" name="TextBox 28"/>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30" name="TextBox 29"/>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475488"/>
            <a:ext cx="9802368" cy="96012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警備業法 第15条</a:t>
            </a:r>
          </a:p>
          <a:p>
            <a:pPr algn="l">
              <a:spcBef>
                <a:spcPts val="300"/>
              </a:spcBef>
            </a:pPr>
            <a:r>
              <a:rPr sz="1600" b="0">
                <a:solidFill>
                  <a:srgbClr val="12B198"/>
                </a:solidFill>
                <a:latin typeface="Calibri"/>
                <a:ea typeface="Calibri"/>
                <a:cs typeface="Calibri"/>
              </a:rPr>
              <a:t>Security Services Act, Article 15</a:t>
            </a:r>
          </a:p>
        </p:txBody>
      </p:sp>
      <p:sp>
        <p:nvSpPr>
          <p:cNvPr id="4" name="Rounded Rectangle 3"/>
          <p:cNvSpPr/>
          <p:nvPr/>
        </p:nvSpPr>
        <p:spPr>
          <a:xfrm>
            <a:off x="640080" y="1627632"/>
            <a:ext cx="10908792" cy="2395728"/>
          </a:xfrm>
          <a:prstGeom prst="roundRect">
            <a:avLst>
              <a:gd name="adj" fmla="val 19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38528"/>
            <a:ext cx="9994392" cy="1014984"/>
          </a:xfrm>
          <a:prstGeom prst="rect">
            <a:avLst/>
          </a:prstGeom>
          <a:noFill/>
        </p:spPr>
        <p:txBody>
          <a:bodyPr wrap="square" lIns="0" rIns="0" tIns="0" bIns="0" anchor="t">
            <a:spAutoFit/>
          </a:bodyPr>
          <a:lstStyle/>
          <a:p>
            <a:pPr algn="l"/>
            <a:r>
              <a:rPr sz="1450" b="0">
                <a:solidFill>
                  <a:srgbClr val="FFFFFF"/>
                </a:solidFill>
                <a:latin typeface="Yu Gothic"/>
                <a:ea typeface="Yu Gothic"/>
                <a:cs typeface="Yu Gothic"/>
              </a:rPr>
              <a:t>警備業者及び警備員は、警備業務を行うに当たつては、この法律により特別に権限を与えられているものでないことに留意するとともに、他人の権利及び自由を侵害し、又は個人若しくは団体の正当な活動に干渉してはならない。</a:t>
            </a:r>
          </a:p>
        </p:txBody>
      </p:sp>
      <p:sp>
        <p:nvSpPr>
          <p:cNvPr id="6" name="TextBox 5"/>
          <p:cNvSpPr txBox="1"/>
          <p:nvPr/>
        </p:nvSpPr>
        <p:spPr>
          <a:xfrm>
            <a:off x="1097280" y="2971800"/>
            <a:ext cx="9994392" cy="795528"/>
          </a:xfrm>
          <a:prstGeom prst="rect">
            <a:avLst/>
          </a:prstGeom>
          <a:noFill/>
        </p:spPr>
        <p:txBody>
          <a:bodyPr wrap="square" lIns="0" rIns="0" tIns="0" bIns="0" anchor="t">
            <a:spAutoFit/>
          </a:bodyPr>
          <a:lstStyle/>
          <a:p>
            <a:pPr algn="l"/>
            <a:r>
              <a:rPr sz="1300" b="0">
                <a:solidFill>
                  <a:srgbClr val="CBE8E0"/>
                </a:solidFill>
                <a:latin typeface="Calibri"/>
                <a:ea typeface="Calibri"/>
                <a:cs typeface="Calibri"/>
              </a:rPr>
              <a:t>When carrying out security operations, security businesses and guards must remember that this Act gives them no special authority. They must not infringe the rights or freedoms of others, and must not interfere with lawful activities.</a:t>
            </a:r>
          </a:p>
        </p:txBody>
      </p:sp>
      <p:sp>
        <p:nvSpPr>
          <p:cNvPr id="7" name="TextBox 6"/>
          <p:cNvSpPr txBox="1"/>
          <p:nvPr/>
        </p:nvSpPr>
        <p:spPr>
          <a:xfrm>
            <a:off x="1097280" y="3639312"/>
            <a:ext cx="9994392" cy="274320"/>
          </a:xfrm>
          <a:prstGeom prst="rect">
            <a:avLst/>
          </a:prstGeom>
          <a:noFill/>
        </p:spPr>
        <p:txBody>
          <a:bodyPr wrap="square" lIns="0" rIns="0" tIns="0" bIns="0" anchor="t">
            <a:spAutoFit/>
          </a:bodyPr>
          <a:lstStyle/>
          <a:p>
            <a:pPr algn="l"/>
            <a:r>
              <a:rPr sz="1100" b="0">
                <a:solidFill>
                  <a:srgbClr val="12B198"/>
                </a:solidFill>
                <a:latin typeface="Calibri"/>
                <a:ea typeface="Calibri"/>
                <a:cs typeface="Calibri"/>
              </a:rPr>
              <a:t>警備業法 第15条 / Article 15</a:t>
            </a:r>
          </a:p>
        </p:txBody>
      </p:sp>
      <p:sp>
        <p:nvSpPr>
          <p:cNvPr id="8" name="Rounded Rectangle 7"/>
          <p:cNvSpPr/>
          <p:nvPr/>
        </p:nvSpPr>
        <p:spPr>
          <a:xfrm>
            <a:off x="640080" y="4937760"/>
            <a:ext cx="10908792" cy="1298448"/>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5404104"/>
            <a:ext cx="365760" cy="365760"/>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a:t>
            </a:r>
          </a:p>
        </p:txBody>
      </p:sp>
      <p:sp>
        <p:nvSpPr>
          <p:cNvPr id="10" name="TextBox 9"/>
          <p:cNvSpPr txBox="1"/>
          <p:nvPr/>
        </p:nvSpPr>
        <p:spPr>
          <a:xfrm>
            <a:off x="1499616" y="5047488"/>
            <a:ext cx="9720072" cy="1078992"/>
          </a:xfrm>
          <a:prstGeom prst="rect">
            <a:avLst/>
          </a:prstGeom>
          <a:noFill/>
        </p:spPr>
        <p:txBody>
          <a:bodyPr wrap="square" lIns="0" rIns="0" tIns="0" bIns="0" anchor="ctr">
            <a:spAutoFit/>
          </a:bodyPr>
          <a:lstStyle/>
          <a:p>
            <a:pPr algn="l"/>
            <a:r>
              <a:rPr sz="1450" b="1">
                <a:solidFill>
                  <a:srgbClr val="093259"/>
                </a:solidFill>
                <a:latin typeface="Yu Gothic"/>
                <a:ea typeface="Yu Gothic"/>
                <a:cs typeface="Yu Gothic"/>
              </a:rPr>
              <a:t>警備員の法的な立場は私人です。制服により権限が加わることはありません。</a:t>
            </a:r>
          </a:p>
          <a:p>
            <a:pPr algn="l">
              <a:spcBef>
                <a:spcPts val="400"/>
              </a:spcBef>
            </a:pPr>
            <a:r>
              <a:rPr sz="1300" b="0">
                <a:solidFill>
                  <a:srgbClr val="093259"/>
                </a:solidFill>
                <a:latin typeface="Calibri"/>
                <a:ea typeface="Calibri"/>
                <a:cs typeface="Calibri"/>
              </a:rPr>
              <a:t>A security guard is a private citizen in law. The uniform adds no legal authority.</a:t>
            </a:r>
          </a:p>
        </p:txBody>
      </p:sp>
      <p:sp>
        <p:nvSpPr>
          <p:cNvPr id="11" name="TextBox 10"/>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12" name="TextBox 11"/>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475488"/>
            <a:ext cx="9802368" cy="96012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警察官と警備員 ― 権限の違い</a:t>
            </a:r>
          </a:p>
          <a:p>
            <a:pPr algn="l">
              <a:spcBef>
                <a:spcPts val="300"/>
              </a:spcBef>
            </a:pPr>
            <a:r>
              <a:rPr sz="1600" b="0">
                <a:solidFill>
                  <a:srgbClr val="12B198"/>
                </a:solidFill>
                <a:latin typeface="Calibri"/>
                <a:ea typeface="Calibri"/>
                <a:cs typeface="Calibri"/>
              </a:rPr>
              <a:t>Police Officers and Guards — Different Powers</a:t>
            </a:r>
          </a:p>
        </p:txBody>
      </p:sp>
      <p:sp>
        <p:nvSpPr>
          <p:cNvPr id="4" name="TextBox 3"/>
          <p:cNvSpPr txBox="1"/>
          <p:nvPr/>
        </p:nvSpPr>
        <p:spPr>
          <a:xfrm>
            <a:off x="640080" y="1517904"/>
            <a:ext cx="10908792" cy="530352"/>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警察官には法律で与えられた権限があります。警備員にはありません。</a:t>
            </a:r>
          </a:p>
          <a:p>
            <a:pPr algn="l"/>
            <a:r>
              <a:rPr sz="1200" b="0">
                <a:solidFill>
                  <a:srgbClr val="2E3D4C"/>
                </a:solidFill>
                <a:latin typeface="Calibri"/>
                <a:ea typeface="Calibri"/>
                <a:cs typeface="Calibri"/>
              </a:rPr>
              <a:t>Police officers have powers granted by law. Security guards do not.</a:t>
            </a:r>
          </a:p>
        </p:txBody>
      </p:sp>
      <p:sp>
        <p:nvSpPr>
          <p:cNvPr id="5" name="Rounded Rectangle 4"/>
          <p:cNvSpPr/>
          <p:nvPr/>
        </p:nvSpPr>
        <p:spPr>
          <a:xfrm>
            <a:off x="640080" y="2231136"/>
            <a:ext cx="5303520" cy="3163824"/>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450592"/>
            <a:ext cx="4754880" cy="676656"/>
          </a:xfrm>
          <a:prstGeom prst="rect">
            <a:avLst/>
          </a:prstGeom>
          <a:noFill/>
        </p:spPr>
        <p:txBody>
          <a:bodyPr wrap="square" lIns="0" rIns="0" tIns="0" bIns="0" anchor="t">
            <a:spAutoFit/>
          </a:bodyPr>
          <a:lstStyle/>
          <a:p>
            <a:pPr algn="l"/>
            <a:r>
              <a:rPr sz="1600" b="1">
                <a:solidFill>
                  <a:srgbClr val="093259"/>
                </a:solidFill>
                <a:latin typeface="Yu Gothic"/>
                <a:ea typeface="Yu Gothic"/>
                <a:cs typeface="Yu Gothic"/>
              </a:rPr>
              <a:t>警察官にある権限</a:t>
            </a:r>
          </a:p>
          <a:p>
            <a:pPr algn="l"/>
            <a:r>
              <a:rPr sz="1250" b="0">
                <a:solidFill>
                  <a:srgbClr val="093259"/>
                </a:solidFill>
                <a:latin typeface="Calibri"/>
                <a:ea typeface="Calibri"/>
                <a:cs typeface="Calibri"/>
              </a:rPr>
              <a:t>Police powers (Police Duties Execution Act)</a:t>
            </a:r>
          </a:p>
        </p:txBody>
      </p:sp>
      <p:sp>
        <p:nvSpPr>
          <p:cNvPr id="7" name="TextBox 6"/>
          <p:cNvSpPr txBox="1"/>
          <p:nvPr/>
        </p:nvSpPr>
        <p:spPr>
          <a:xfrm>
            <a:off x="914400" y="3218688"/>
            <a:ext cx="4754880" cy="1938528"/>
          </a:xfrm>
          <a:prstGeom prst="rect">
            <a:avLst/>
          </a:prstGeom>
          <a:noFill/>
        </p:spPr>
        <p:txBody>
          <a:bodyPr wrap="square" lIns="0" rIns="0" tIns="0" bIns="0" anchor="t">
            <a:spAutoFit/>
          </a:bodyPr>
          <a:lstStyle/>
          <a:p>
            <a:pPr algn="l"/>
            <a:r>
              <a:rPr sz="1200" b="0">
                <a:solidFill>
                  <a:srgbClr val="1B2733"/>
                </a:solidFill>
                <a:latin typeface="Yu Gothic"/>
                <a:ea typeface="Yu Gothic"/>
                <a:cs typeface="Yu Gothic"/>
              </a:rPr>
              <a:t>・職務質問（第2条）</a:t>
            </a:r>
          </a:p>
          <a:p>
            <a:pPr algn="l"/>
            <a:r>
              <a:rPr sz="1100" b="0">
                <a:solidFill>
                  <a:srgbClr val="2E3D4C"/>
                </a:solidFill>
                <a:latin typeface="Calibri"/>
                <a:ea typeface="Calibri"/>
                <a:cs typeface="Calibri"/>
              </a:rPr>
              <a:t>　Stop and question a person (Art. 2)</a:t>
            </a:r>
          </a:p>
          <a:p>
            <a:pPr algn="l">
              <a:spcBef>
                <a:spcPts val="400"/>
              </a:spcBef>
            </a:pPr>
            <a:r>
              <a:rPr sz="1200" b="0">
                <a:solidFill>
                  <a:srgbClr val="1B2733"/>
                </a:solidFill>
                <a:latin typeface="Yu Gothic"/>
                <a:ea typeface="Yu Gothic"/>
                <a:cs typeface="Yu Gothic"/>
              </a:rPr>
              <a:t>・保護（第3条）、避難等の措置（第4条）</a:t>
            </a:r>
          </a:p>
          <a:p>
            <a:pPr algn="l"/>
            <a:r>
              <a:rPr sz="1100" b="0">
                <a:solidFill>
                  <a:srgbClr val="2E3D4C"/>
                </a:solidFill>
                <a:latin typeface="Calibri"/>
                <a:ea typeface="Calibri"/>
                <a:cs typeface="Calibri"/>
              </a:rPr>
              <a:t>　Protective custody (3). Order evacuation (4)</a:t>
            </a:r>
          </a:p>
          <a:p>
            <a:pPr algn="l">
              <a:spcBef>
                <a:spcPts val="400"/>
              </a:spcBef>
            </a:pPr>
            <a:r>
              <a:rPr sz="1200" b="0">
                <a:solidFill>
                  <a:srgbClr val="1B2733"/>
                </a:solidFill>
                <a:latin typeface="Yu Gothic"/>
                <a:ea typeface="Yu Gothic"/>
                <a:cs typeface="Yu Gothic"/>
              </a:rPr>
              <a:t>・犯罪の予防及び制止（第5条）</a:t>
            </a:r>
          </a:p>
          <a:p>
            <a:pPr algn="l"/>
            <a:r>
              <a:rPr sz="1100" b="0">
                <a:solidFill>
                  <a:srgbClr val="2E3D4C"/>
                </a:solidFill>
                <a:latin typeface="Calibri"/>
                <a:ea typeface="Calibri"/>
                <a:cs typeface="Calibri"/>
              </a:rPr>
              <a:t>　Prevent and stop a crime (Art. 5)</a:t>
            </a:r>
          </a:p>
          <a:p>
            <a:pPr algn="l">
              <a:spcBef>
                <a:spcPts val="400"/>
              </a:spcBef>
            </a:pPr>
            <a:r>
              <a:rPr sz="1200" b="0">
                <a:solidFill>
                  <a:srgbClr val="1B2733"/>
                </a:solidFill>
                <a:latin typeface="Yu Gothic"/>
                <a:ea typeface="Yu Gothic"/>
                <a:cs typeface="Yu Gothic"/>
              </a:rPr>
              <a:t>・立入（第6条）、武器の使用（第7条）</a:t>
            </a:r>
          </a:p>
          <a:p>
            <a:pPr algn="l"/>
            <a:r>
              <a:rPr sz="1100" b="0">
                <a:solidFill>
                  <a:srgbClr val="2E3D4C"/>
                </a:solidFill>
                <a:latin typeface="Calibri"/>
                <a:ea typeface="Calibri"/>
                <a:cs typeface="Calibri"/>
              </a:rPr>
              <a:t>　Enter premises (6). Use weapons (7)</a:t>
            </a:r>
          </a:p>
          <a:p>
            <a:pPr algn="l">
              <a:spcBef>
                <a:spcPts val="400"/>
              </a:spcBef>
            </a:pPr>
            <a:r>
              <a:rPr sz="1200" b="0">
                <a:solidFill>
                  <a:srgbClr val="1B2733"/>
                </a:solidFill>
                <a:latin typeface="Yu Gothic"/>
                <a:ea typeface="Yu Gothic"/>
                <a:cs typeface="Yu Gothic"/>
              </a:rPr>
              <a:t>・逮捕状による逮捕、取り調べ</a:t>
            </a:r>
          </a:p>
          <a:p>
            <a:pPr algn="l"/>
            <a:r>
              <a:rPr sz="1100" b="0">
                <a:solidFill>
                  <a:srgbClr val="2E3D4C"/>
                </a:solidFill>
                <a:latin typeface="Calibri"/>
                <a:ea typeface="Calibri"/>
                <a:cs typeface="Calibri"/>
              </a:rPr>
              <a:t>　Arrest by warrant. Interrogation</a:t>
            </a:r>
          </a:p>
        </p:txBody>
      </p:sp>
      <p:sp>
        <p:nvSpPr>
          <p:cNvPr id="8" name="Rounded Rectangle 7"/>
          <p:cNvSpPr/>
          <p:nvPr/>
        </p:nvSpPr>
        <p:spPr>
          <a:xfrm>
            <a:off x="6254496" y="2231136"/>
            <a:ext cx="5303520" cy="3163824"/>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8816" y="2450592"/>
            <a:ext cx="4754880" cy="676656"/>
          </a:xfrm>
          <a:prstGeom prst="rect">
            <a:avLst/>
          </a:prstGeom>
          <a:noFill/>
        </p:spPr>
        <p:txBody>
          <a:bodyPr wrap="square" lIns="0" rIns="0" tIns="0" bIns="0" anchor="t">
            <a:spAutoFit/>
          </a:bodyPr>
          <a:lstStyle/>
          <a:p>
            <a:pPr algn="l"/>
            <a:r>
              <a:rPr sz="1600" b="1">
                <a:solidFill>
                  <a:srgbClr val="0D8A76"/>
                </a:solidFill>
                <a:latin typeface="Yu Gothic"/>
                <a:ea typeface="Yu Gothic"/>
                <a:cs typeface="Yu Gothic"/>
              </a:rPr>
              <a:t>警備員にある権限</a:t>
            </a:r>
          </a:p>
          <a:p>
            <a:pPr algn="l"/>
            <a:r>
              <a:rPr sz="1250" b="0">
                <a:solidFill>
                  <a:srgbClr val="0D8A76"/>
                </a:solidFill>
                <a:latin typeface="Calibri"/>
                <a:ea typeface="Calibri"/>
                <a:cs typeface="Calibri"/>
              </a:rPr>
              <a:t>What a security guard has</a:t>
            </a:r>
          </a:p>
        </p:txBody>
      </p:sp>
      <p:sp>
        <p:nvSpPr>
          <p:cNvPr id="10" name="TextBox 9"/>
          <p:cNvSpPr txBox="1"/>
          <p:nvPr/>
        </p:nvSpPr>
        <p:spPr>
          <a:xfrm>
            <a:off x="6528816" y="3218688"/>
            <a:ext cx="4754880" cy="1938528"/>
          </a:xfrm>
          <a:prstGeom prst="rect">
            <a:avLst/>
          </a:prstGeom>
          <a:noFill/>
        </p:spPr>
        <p:txBody>
          <a:bodyPr wrap="square" lIns="0" rIns="0" tIns="0" bIns="0" anchor="t">
            <a:spAutoFit/>
          </a:bodyPr>
          <a:lstStyle/>
          <a:p>
            <a:pPr algn="l"/>
            <a:r>
              <a:rPr sz="1200" b="0">
                <a:solidFill>
                  <a:srgbClr val="1B2733"/>
                </a:solidFill>
                <a:latin typeface="Yu Gothic"/>
                <a:ea typeface="Yu Gothic"/>
                <a:cs typeface="Yu Gothic"/>
              </a:rPr>
              <a:t>・左の権限は、いずれもありません</a:t>
            </a:r>
          </a:p>
          <a:p>
            <a:pPr algn="l"/>
            <a:r>
              <a:rPr sz="1100" b="0">
                <a:solidFill>
                  <a:srgbClr val="2E3D4C"/>
                </a:solidFill>
                <a:latin typeface="Calibri"/>
                <a:ea typeface="Calibri"/>
                <a:cs typeface="Calibri"/>
              </a:rPr>
              <a:t>　None of the powers on the left</a:t>
            </a:r>
          </a:p>
          <a:p>
            <a:pPr algn="l">
              <a:spcBef>
                <a:spcPts val="400"/>
              </a:spcBef>
            </a:pPr>
            <a:r>
              <a:rPr sz="1200" b="0">
                <a:solidFill>
                  <a:srgbClr val="1B2733"/>
                </a:solidFill>
                <a:latin typeface="Yu Gothic"/>
                <a:ea typeface="Yu Gothic"/>
                <a:cs typeface="Yu Gothic"/>
              </a:rPr>
              <a:t>・現行犯逮捕 ― 誰でもできる</a:t>
            </a:r>
          </a:p>
          <a:p>
            <a:pPr algn="l"/>
            <a:r>
              <a:rPr sz="1100" b="0">
                <a:solidFill>
                  <a:srgbClr val="2E3D4C"/>
                </a:solidFill>
                <a:latin typeface="Calibri"/>
                <a:ea typeface="Calibri"/>
                <a:cs typeface="Calibri"/>
              </a:rPr>
              <a:t>　Arrest of a flagrant offender — anyone may</a:t>
            </a:r>
          </a:p>
          <a:p>
            <a:pPr algn="l">
              <a:spcBef>
                <a:spcPts val="400"/>
              </a:spcBef>
            </a:pPr>
            <a:r>
              <a:rPr sz="1200" b="0">
                <a:solidFill>
                  <a:srgbClr val="1B2733"/>
                </a:solidFill>
                <a:latin typeface="Yu Gothic"/>
                <a:ea typeface="Yu Gothic"/>
                <a:cs typeface="Yu Gothic"/>
              </a:rPr>
              <a:t>・正当防衛・緊急避難 ― 誰でもできる</a:t>
            </a:r>
          </a:p>
          <a:p>
            <a:pPr algn="l"/>
            <a:r>
              <a:rPr sz="1100" b="0">
                <a:solidFill>
                  <a:srgbClr val="2E3D4C"/>
                </a:solidFill>
                <a:latin typeface="Calibri"/>
                <a:ea typeface="Calibri"/>
                <a:cs typeface="Calibri"/>
              </a:rPr>
              <a:t>　Self-defence and necessity — anyone may</a:t>
            </a:r>
          </a:p>
          <a:p>
            <a:pPr algn="l">
              <a:spcBef>
                <a:spcPts val="400"/>
              </a:spcBef>
            </a:pPr>
            <a:r>
              <a:rPr sz="1200" b="0">
                <a:solidFill>
                  <a:srgbClr val="1B2733"/>
                </a:solidFill>
                <a:latin typeface="Yu Gothic"/>
                <a:ea typeface="Yu Gothic"/>
                <a:cs typeface="Yu Gothic"/>
              </a:rPr>
              <a:t>・管理権者から委ねられた範囲</a:t>
            </a:r>
          </a:p>
          <a:p>
            <a:pPr algn="l"/>
            <a:r>
              <a:rPr sz="1100" b="0">
                <a:solidFill>
                  <a:srgbClr val="2E3D4C"/>
                </a:solidFill>
                <a:latin typeface="Calibri"/>
                <a:ea typeface="Calibri"/>
                <a:cs typeface="Calibri"/>
              </a:rPr>
              <a:t>　What the site authority has delegated</a:t>
            </a:r>
          </a:p>
          <a:p>
            <a:pPr algn="l">
              <a:spcBef>
                <a:spcPts val="400"/>
              </a:spcBef>
            </a:pPr>
            <a:r>
              <a:rPr sz="1200" b="0">
                <a:solidFill>
                  <a:srgbClr val="1B2733"/>
                </a:solidFill>
                <a:latin typeface="Yu Gothic"/>
                <a:ea typeface="Yu Gothic"/>
                <a:cs typeface="Yu Gothic"/>
              </a:rPr>
              <a:t>・その範囲は契約と警備指令書で決まる</a:t>
            </a:r>
          </a:p>
          <a:p>
            <a:pPr algn="l"/>
            <a:r>
              <a:rPr sz="1100" b="0">
                <a:solidFill>
                  <a:srgbClr val="2E3D4C"/>
                </a:solidFill>
                <a:latin typeface="Calibri"/>
                <a:ea typeface="Calibri"/>
                <a:cs typeface="Calibri"/>
              </a:rPr>
              <a:t>　That scope is set by contract and post orders</a:t>
            </a:r>
          </a:p>
        </p:txBody>
      </p:sp>
      <p:sp>
        <p:nvSpPr>
          <p:cNvPr id="11" name="TextBox 10"/>
          <p:cNvSpPr txBox="1"/>
          <p:nvPr/>
        </p:nvSpPr>
        <p:spPr>
          <a:xfrm>
            <a:off x="640080" y="5614416"/>
            <a:ext cx="10908792" cy="621792"/>
          </a:xfrm>
          <a:prstGeom prst="rect">
            <a:avLst/>
          </a:prstGeom>
          <a:noFill/>
        </p:spPr>
        <p:txBody>
          <a:bodyPr wrap="square" lIns="0" rIns="0" tIns="0" bIns="0" anchor="t">
            <a:spAutoFit/>
          </a:bodyPr>
          <a:lstStyle/>
          <a:p>
            <a:pPr algn="l"/>
            <a:r>
              <a:rPr sz="1300" b="1">
                <a:solidFill>
                  <a:srgbClr val="0D8A76"/>
                </a:solidFill>
                <a:latin typeface="Yu Gothic"/>
                <a:ea typeface="Yu Gothic"/>
                <a:cs typeface="Yu Gothic"/>
              </a:rPr>
              <a:t>警備業法第16条 ― 警備員の服装は、警察官など公務員の制服と明確に識別できるものでなければなりません。</a:t>
            </a:r>
          </a:p>
          <a:p>
            <a:pPr algn="l"/>
            <a:r>
              <a:rPr sz="1150" b="0">
                <a:solidFill>
                  <a:srgbClr val="0D8A76"/>
                </a:solidFill>
                <a:latin typeface="Calibri"/>
                <a:ea typeface="Calibri"/>
                <a:cs typeface="Calibri"/>
              </a:rPr>
              <a:t>Article 16 — a guard's uniform must be clearly distinguishable from a public official's.</a:t>
            </a:r>
          </a:p>
        </p:txBody>
      </p:sp>
      <p:sp>
        <p:nvSpPr>
          <p:cNvPr id="12" name="TextBox 11"/>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13" name="TextBox 12"/>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日本ではできないこと ① ― 身体</a:t>
            </a:r>
          </a:p>
          <a:p>
            <a:pPr algn="l">
              <a:spcBef>
                <a:spcPts val="200"/>
              </a:spcBef>
            </a:pPr>
            <a:r>
              <a:rPr sz="1400" b="0">
                <a:solidFill>
                  <a:srgbClr val="12B198"/>
                </a:solidFill>
                <a:latin typeface="Calibri"/>
                <a:ea typeface="Calibri"/>
                <a:cs typeface="Calibri"/>
              </a:rPr>
              <a:t>Not Permitted in Japan — Part 1: The Body</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88720"/>
            <a:ext cx="10908792" cy="530352"/>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34440"/>
            <a:ext cx="10433304" cy="438912"/>
          </a:xfrm>
          <a:prstGeom prst="rect">
            <a:avLst/>
          </a:prstGeom>
          <a:noFill/>
        </p:spPr>
        <p:txBody>
          <a:bodyPr wrap="square" lIns="0" rIns="0" tIns="0" bIns="0" anchor="t">
            <a:spAutoFit/>
          </a:bodyPr>
          <a:lstStyle/>
          <a:p>
            <a:pPr algn="l"/>
            <a:r>
              <a:rPr sz="1000" b="1">
                <a:solidFill>
                  <a:srgbClr val="0D8A76"/>
                </a:solidFill>
                <a:latin typeface="Yu Gothic"/>
                <a:ea typeface="Yu Gothic"/>
                <a:cs typeface="Yu Gothic"/>
              </a:rPr>
              <a:t>身につくこと / What You'll Learn　相手の身体に関して、日本の法令で許されない行為を具体的に挙げられる。</a:t>
            </a:r>
          </a:p>
          <a:p>
            <a:pPr algn="l"/>
            <a:r>
              <a:rPr sz="950" b="0">
                <a:solidFill>
                  <a:srgbClr val="0D8A76"/>
                </a:solidFill>
                <a:latin typeface="Calibri"/>
                <a:ea typeface="Calibri"/>
                <a:cs typeface="Calibri"/>
              </a:rPr>
              <a:t>You can name specific acts involving a person's body that Japanese law does not allow.</a:t>
            </a:r>
          </a:p>
        </p:txBody>
      </p:sp>
      <p:sp>
        <p:nvSpPr>
          <p:cNvPr id="8" name="Rounded Rectangle 7"/>
          <p:cNvSpPr/>
          <p:nvPr/>
        </p:nvSpPr>
        <p:spPr>
          <a:xfrm>
            <a:off x="640080" y="1810512"/>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0" name="TextBox 9"/>
          <p:cNvSpPr txBox="1"/>
          <p:nvPr/>
        </p:nvSpPr>
        <p:spPr>
          <a:xfrm>
            <a:off x="1207007"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触れる・つかむ</a:t>
            </a:r>
          </a:p>
          <a:p>
            <a:pPr algn="l"/>
            <a:r>
              <a:rPr sz="1050" b="0">
                <a:solidFill>
                  <a:srgbClr val="12B198"/>
                </a:solidFill>
                <a:latin typeface="Calibri"/>
                <a:ea typeface="Calibri"/>
                <a:cs typeface="Calibri"/>
              </a:rPr>
              <a:t>Touching and Seizing</a:t>
            </a:r>
          </a:p>
        </p:txBody>
      </p:sp>
      <p:sp>
        <p:nvSpPr>
          <p:cNvPr id="11" name="TextBox 10"/>
          <p:cNvSpPr txBox="1"/>
          <p:nvPr/>
        </p:nvSpPr>
        <p:spPr>
          <a:xfrm>
            <a:off x="859536"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・触れた時点で有形力になる。声かけと立ち位置までが限界</a:t>
            </a:r>
          </a:p>
          <a:p>
            <a:pPr algn="l"/>
            <a:r>
              <a:rPr sz="900" b="0">
                <a:solidFill>
                  <a:srgbClr val="2E3D4C"/>
                </a:solidFill>
                <a:latin typeface="Calibri"/>
                <a:ea typeface="Calibri"/>
                <a:cs typeface="Calibri"/>
              </a:rPr>
              <a:t>　Touching is already force. Voice and position are the limit</a:t>
            </a:r>
          </a:p>
          <a:p>
            <a:pPr algn="l">
              <a:spcBef>
                <a:spcPts val="300"/>
              </a:spcBef>
            </a:pPr>
            <a:r>
              <a:rPr sz="950" b="0">
                <a:solidFill>
                  <a:srgbClr val="1B2733"/>
                </a:solidFill>
                <a:latin typeface="Yu Gothic"/>
                <a:ea typeface="Yu Gothic"/>
                <a:cs typeface="Yu Gothic"/>
              </a:rPr>
              <a:t>・許されるのは正当防衛か現行犯逮捕に伴う場合だけ</a:t>
            </a:r>
          </a:p>
          <a:p>
            <a:pPr algn="l"/>
            <a:r>
              <a:rPr sz="900" b="0">
                <a:solidFill>
                  <a:srgbClr val="2E3D4C"/>
                </a:solidFill>
                <a:latin typeface="Calibri"/>
                <a:ea typeface="Calibri"/>
                <a:cs typeface="Calibri"/>
              </a:rPr>
              <a:t>　Only lawful with self-defence or a flagrant-offender arrest</a:t>
            </a:r>
          </a:p>
          <a:p>
            <a:pPr algn="l">
              <a:spcBef>
                <a:spcPts val="300"/>
              </a:spcBef>
            </a:pPr>
            <a:r>
              <a:rPr sz="950" b="0">
                <a:solidFill>
                  <a:srgbClr val="1B2733"/>
                </a:solidFill>
                <a:latin typeface="Yu Gothic"/>
                <a:ea typeface="Yu Gothic"/>
                <a:cs typeface="Yu Gothic"/>
              </a:rPr>
              <a:t>・越えれば暴行罪・傷害罪に当たりうる</a:t>
            </a:r>
          </a:p>
          <a:p>
            <a:pPr algn="l"/>
            <a:r>
              <a:rPr sz="900" b="0">
                <a:solidFill>
                  <a:srgbClr val="2E3D4C"/>
                </a:solidFill>
                <a:latin typeface="Calibri"/>
                <a:ea typeface="Calibri"/>
                <a:cs typeface="Calibri"/>
              </a:rPr>
              <a:t>　Beyond that it can be assault or causing injury</a:t>
            </a:r>
          </a:p>
        </p:txBody>
      </p:sp>
      <p:sp>
        <p:nvSpPr>
          <p:cNvPr id="12" name="Rounded Rectangle 11"/>
          <p:cNvSpPr/>
          <p:nvPr/>
        </p:nvSpPr>
        <p:spPr>
          <a:xfrm>
            <a:off x="6227064" y="1810512"/>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9944"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93992"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取り押さえた後</a:t>
            </a:r>
          </a:p>
          <a:p>
            <a:pPr algn="l"/>
            <a:r>
              <a:rPr sz="1050" b="0">
                <a:solidFill>
                  <a:srgbClr val="12B198"/>
                </a:solidFill>
                <a:latin typeface="Calibri"/>
                <a:ea typeface="Calibri"/>
                <a:cs typeface="Calibri"/>
              </a:rPr>
              <a:t>After You Have Detained Someone</a:t>
            </a:r>
          </a:p>
        </p:txBody>
      </p:sp>
      <p:sp>
        <p:nvSpPr>
          <p:cNvPr id="15" name="TextBox 14"/>
          <p:cNvSpPr txBox="1"/>
          <p:nvPr/>
        </p:nvSpPr>
        <p:spPr>
          <a:xfrm>
            <a:off x="6446520"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・侵害が終われば権利も終わる。押さえ続けない</a:t>
            </a:r>
          </a:p>
          <a:p>
            <a:pPr algn="l"/>
            <a:r>
              <a:rPr sz="900" b="0">
                <a:solidFill>
                  <a:srgbClr val="2E3D4C"/>
                </a:solidFill>
                <a:latin typeface="Calibri"/>
                <a:ea typeface="Calibri"/>
                <a:cs typeface="Calibri"/>
              </a:rPr>
              <a:t>　The right ends with the attack. Do not keep holding them</a:t>
            </a:r>
          </a:p>
          <a:p>
            <a:pPr algn="l">
              <a:spcBef>
                <a:spcPts val="300"/>
              </a:spcBef>
            </a:pPr>
            <a:r>
              <a:rPr sz="950" b="0">
                <a:solidFill>
                  <a:srgbClr val="1B2733"/>
                </a:solidFill>
                <a:latin typeface="Yu Gothic"/>
                <a:ea typeface="Yu Gothic"/>
                <a:cs typeface="Yu Gothic"/>
              </a:rPr>
              <a:t>・事務所で事情を聞くことはできない。取り調べ権限はない</a:t>
            </a:r>
          </a:p>
          <a:p>
            <a:pPr algn="l"/>
            <a:r>
              <a:rPr sz="900" b="0">
                <a:solidFill>
                  <a:srgbClr val="2E3D4C"/>
                </a:solidFill>
                <a:latin typeface="Calibri"/>
                <a:ea typeface="Calibri"/>
                <a:cs typeface="Calibri"/>
              </a:rPr>
              <a:t>　You may not question them. You have no power to interrogate</a:t>
            </a:r>
          </a:p>
          <a:p>
            <a:pPr algn="l">
              <a:spcBef>
                <a:spcPts val="300"/>
              </a:spcBef>
            </a:pPr>
            <a:r>
              <a:rPr sz="950" b="0">
                <a:solidFill>
                  <a:srgbClr val="1B2733"/>
                </a:solidFill>
                <a:latin typeface="Yu Gothic"/>
                <a:ea typeface="Yu Gothic"/>
                <a:cs typeface="Yu Gothic"/>
              </a:rPr>
              <a:t>・直ちに警察へ引き渡す（刑事訴訟法第214条）</a:t>
            </a:r>
          </a:p>
          <a:p>
            <a:pPr algn="l"/>
            <a:r>
              <a:rPr sz="900" b="0">
                <a:solidFill>
                  <a:srgbClr val="2E3D4C"/>
                </a:solidFill>
                <a:latin typeface="Calibri"/>
                <a:ea typeface="Calibri"/>
                <a:cs typeface="Calibri"/>
              </a:rPr>
              <a:t>　Hand them to the police without delay (CCP Art. 214)</a:t>
            </a:r>
          </a:p>
        </p:txBody>
      </p:sp>
      <p:sp>
        <p:nvSpPr>
          <p:cNvPr id="16" name="Rounded Rectangle 15"/>
          <p:cNvSpPr/>
          <p:nvPr/>
        </p:nvSpPr>
        <p:spPr>
          <a:xfrm>
            <a:off x="640080" y="3931920"/>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8" name="TextBox 17"/>
          <p:cNvSpPr txBox="1"/>
          <p:nvPr/>
        </p:nvSpPr>
        <p:spPr>
          <a:xfrm>
            <a:off x="1207007"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手錠・拘束具</a:t>
            </a:r>
          </a:p>
          <a:p>
            <a:pPr algn="l"/>
            <a:r>
              <a:rPr sz="1050" b="0">
                <a:solidFill>
                  <a:srgbClr val="12B198"/>
                </a:solidFill>
                <a:latin typeface="Calibri"/>
                <a:ea typeface="Calibri"/>
                <a:cs typeface="Calibri"/>
              </a:rPr>
              <a:t>Handcuffs and Restraints</a:t>
            </a:r>
          </a:p>
        </p:txBody>
      </p:sp>
      <p:sp>
        <p:nvSpPr>
          <p:cNvPr id="19" name="TextBox 18"/>
          <p:cNvSpPr txBox="1"/>
          <p:nvPr/>
        </p:nvSpPr>
        <p:spPr>
          <a:xfrm>
            <a:off x="859536"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・警備員に手錠を使用する権限はない</a:t>
            </a:r>
          </a:p>
          <a:p>
            <a:pPr algn="l"/>
            <a:r>
              <a:rPr sz="900" b="0">
                <a:solidFill>
                  <a:srgbClr val="2E3D4C"/>
                </a:solidFill>
                <a:latin typeface="Calibri"/>
                <a:ea typeface="Calibri"/>
                <a:cs typeface="Calibri"/>
              </a:rPr>
              <a:t>　A guard has no authority to use handcuffs</a:t>
            </a:r>
          </a:p>
          <a:p>
            <a:pPr algn="l">
              <a:spcBef>
                <a:spcPts val="300"/>
              </a:spcBef>
            </a:pPr>
            <a:r>
              <a:rPr sz="950" b="0">
                <a:solidFill>
                  <a:srgbClr val="1B2733"/>
                </a:solidFill>
                <a:latin typeface="Yu Gothic"/>
                <a:ea typeface="Yu Gothic"/>
                <a:cs typeface="Yu Gothic"/>
              </a:rPr>
              <a:t>・結束バンド等で拘束することもできない</a:t>
            </a:r>
          </a:p>
          <a:p>
            <a:pPr algn="l"/>
            <a:r>
              <a:rPr sz="900" b="0">
                <a:solidFill>
                  <a:srgbClr val="2E3D4C"/>
                </a:solidFill>
                <a:latin typeface="Calibri"/>
                <a:ea typeface="Calibri"/>
                <a:cs typeface="Calibri"/>
              </a:rPr>
              <a:t>　Nor to restrain a person with cable ties or similar</a:t>
            </a:r>
          </a:p>
          <a:p>
            <a:pPr algn="l">
              <a:spcBef>
                <a:spcPts val="300"/>
              </a:spcBef>
            </a:pPr>
            <a:r>
              <a:rPr sz="950" b="0">
                <a:solidFill>
                  <a:srgbClr val="1B2733"/>
                </a:solidFill>
                <a:latin typeface="Yu Gothic"/>
                <a:ea typeface="Yu Gothic"/>
                <a:cs typeface="Yu Gothic"/>
              </a:rPr>
              <a:t>・拘束は逮捕監禁罪に当たりうる</a:t>
            </a:r>
          </a:p>
          <a:p>
            <a:pPr algn="l"/>
            <a:r>
              <a:rPr sz="900" b="0">
                <a:solidFill>
                  <a:srgbClr val="2E3D4C"/>
                </a:solidFill>
                <a:latin typeface="Calibri"/>
                <a:ea typeface="Calibri"/>
                <a:cs typeface="Calibri"/>
              </a:rPr>
              <a:t>　Restraining can amount to unlawful capture and confinement</a:t>
            </a:r>
          </a:p>
        </p:txBody>
      </p:sp>
      <p:sp>
        <p:nvSpPr>
          <p:cNvPr id="20" name="Rounded Rectangle 19"/>
          <p:cNvSpPr/>
          <p:nvPr/>
        </p:nvSpPr>
        <p:spPr>
          <a:xfrm>
            <a:off x="6227064" y="3931920"/>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2" name="TextBox 21"/>
          <p:cNvSpPr txBox="1"/>
          <p:nvPr/>
        </p:nvSpPr>
        <p:spPr>
          <a:xfrm>
            <a:off x="6793992"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追跡</a:t>
            </a:r>
          </a:p>
          <a:p>
            <a:pPr algn="l"/>
            <a:r>
              <a:rPr sz="1050" b="0">
                <a:solidFill>
                  <a:srgbClr val="12B198"/>
                </a:solidFill>
                <a:latin typeface="Calibri"/>
                <a:ea typeface="Calibri"/>
                <a:cs typeface="Calibri"/>
              </a:rPr>
              <a:t>Pursuit</a:t>
            </a:r>
          </a:p>
        </p:txBody>
      </p:sp>
      <p:sp>
        <p:nvSpPr>
          <p:cNvPr id="23" name="TextBox 22"/>
          <p:cNvSpPr txBox="1"/>
          <p:nvPr/>
        </p:nvSpPr>
        <p:spPr>
          <a:xfrm>
            <a:off x="6446520"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・逃げる相手を追わない。追跡は有形力に発展しやすい</a:t>
            </a:r>
          </a:p>
          <a:p>
            <a:pPr algn="l"/>
            <a:r>
              <a:rPr sz="900" b="0">
                <a:solidFill>
                  <a:srgbClr val="2E3D4C"/>
                </a:solidFill>
                <a:latin typeface="Calibri"/>
                <a:ea typeface="Calibri"/>
                <a:cs typeface="Calibri"/>
              </a:rPr>
              <a:t>　Do not chase. Pursuit escalates into force</a:t>
            </a:r>
          </a:p>
          <a:p>
            <a:pPr algn="l">
              <a:spcBef>
                <a:spcPts val="300"/>
              </a:spcBef>
            </a:pPr>
            <a:r>
              <a:rPr sz="950" b="0">
                <a:solidFill>
                  <a:srgbClr val="1B2733"/>
                </a:solidFill>
                <a:latin typeface="Yu Gothic"/>
                <a:ea typeface="Yu Gothic"/>
                <a:cs typeface="Yu Gothic"/>
              </a:rPr>
              <a:t>・人違いのリスクは、追った本人が負う</a:t>
            </a:r>
          </a:p>
          <a:p>
            <a:pPr algn="l"/>
            <a:r>
              <a:rPr sz="900" b="0">
                <a:solidFill>
                  <a:srgbClr val="2E3D4C"/>
                </a:solidFill>
                <a:latin typeface="Calibri"/>
                <a:ea typeface="Calibri"/>
                <a:cs typeface="Calibri"/>
              </a:rPr>
              <a:t>　If you have the wrong person, the risk is yours</a:t>
            </a:r>
          </a:p>
          <a:p>
            <a:pPr algn="l">
              <a:spcBef>
                <a:spcPts val="300"/>
              </a:spcBef>
            </a:pPr>
            <a:r>
              <a:rPr sz="950" b="0">
                <a:solidFill>
                  <a:srgbClr val="1B2733"/>
                </a:solidFill>
                <a:latin typeface="Yu Gothic"/>
                <a:ea typeface="Yu Gothic"/>
                <a:cs typeface="Yu Gothic"/>
              </a:rPr>
              <a:t>・記録と通報に切り替える。それが正しい対応である</a:t>
            </a:r>
          </a:p>
          <a:p>
            <a:pPr algn="l"/>
            <a:r>
              <a:rPr sz="900" b="0">
                <a:solidFill>
                  <a:srgbClr val="2E3D4C"/>
                </a:solidFill>
                <a:latin typeface="Calibri"/>
                <a:ea typeface="Calibri"/>
                <a:cs typeface="Calibri"/>
              </a:rPr>
              <a:t>　Switch to recording and reporting. That is the right move</a:t>
            </a:r>
          </a:p>
        </p:txBody>
      </p:sp>
      <p:sp>
        <p:nvSpPr>
          <p:cNvPr id="24" name="TextBox 23"/>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応援要請の方法と、警察へ通報する判断者は現場ごとに定められている。</a:t>
            </a:r>
          </a:p>
          <a:p>
            <a:pPr algn="l"/>
            <a:r>
              <a:rPr sz="850" b="0">
                <a:solidFill>
                  <a:srgbClr val="0D8A76"/>
                </a:solidFill>
                <a:latin typeface="Calibri"/>
                <a:ea typeface="Calibri"/>
                <a:cs typeface="Calibri"/>
              </a:rPr>
              <a:t>How to call backup, and who decides on a police call, are set per site.</a:t>
            </a:r>
          </a:p>
        </p:txBody>
      </p:sp>
      <p:sp>
        <p:nvSpPr>
          <p:cNvPr id="25" name="TextBox 24"/>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警備業法、刑法、刑事訴訟法、警察官職務執行法</a:t>
            </a:r>
          </a:p>
        </p:txBody>
      </p:sp>
      <p:sp>
        <p:nvSpPr>
          <p:cNvPr id="26" name="TextBox 25"/>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7" name="TextBox 26"/>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日本ではできないこと ② ― 持ち物・情報・装備</a:t>
            </a:r>
          </a:p>
          <a:p>
            <a:pPr algn="l">
              <a:spcBef>
                <a:spcPts val="200"/>
              </a:spcBef>
            </a:pPr>
            <a:r>
              <a:rPr sz="1400" b="0">
                <a:solidFill>
                  <a:srgbClr val="12B198"/>
                </a:solidFill>
                <a:latin typeface="Calibri"/>
                <a:ea typeface="Calibri"/>
                <a:cs typeface="Calibri"/>
              </a:rPr>
              <a:t>Not Permitted in Japan — Part 2: Property, Information, Equipment</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88720"/>
            <a:ext cx="10908792" cy="530352"/>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34440"/>
            <a:ext cx="10433304" cy="438912"/>
          </a:xfrm>
          <a:prstGeom prst="rect">
            <a:avLst/>
          </a:prstGeom>
          <a:noFill/>
        </p:spPr>
        <p:txBody>
          <a:bodyPr wrap="square" lIns="0" rIns="0" tIns="0" bIns="0" anchor="t">
            <a:spAutoFit/>
          </a:bodyPr>
          <a:lstStyle/>
          <a:p>
            <a:pPr algn="l"/>
            <a:r>
              <a:rPr sz="1000" b="1">
                <a:solidFill>
                  <a:srgbClr val="0D8A76"/>
                </a:solidFill>
                <a:latin typeface="Yu Gothic"/>
                <a:ea typeface="Yu Gothic"/>
                <a:cs typeface="Yu Gothic"/>
              </a:rPr>
              <a:t>身につくこと / What You'll Learn　持ち物・情報・装備について、日本の法令で許されない行為を具体的に挙げられる。</a:t>
            </a:r>
          </a:p>
          <a:p>
            <a:pPr algn="l"/>
            <a:r>
              <a:rPr sz="950" b="0">
                <a:solidFill>
                  <a:srgbClr val="0D8A76"/>
                </a:solidFill>
                <a:latin typeface="Calibri"/>
                <a:ea typeface="Calibri"/>
                <a:cs typeface="Calibri"/>
              </a:rPr>
              <a:t>You can name acts involving property, information and equipment that are not allowed.</a:t>
            </a:r>
          </a:p>
        </p:txBody>
      </p:sp>
      <p:sp>
        <p:nvSpPr>
          <p:cNvPr id="8" name="Rounded Rectangle 7"/>
          <p:cNvSpPr/>
          <p:nvPr/>
        </p:nvSpPr>
        <p:spPr>
          <a:xfrm>
            <a:off x="640080" y="1810512"/>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0" name="TextBox 9"/>
          <p:cNvSpPr txBox="1"/>
          <p:nvPr/>
        </p:nvSpPr>
        <p:spPr>
          <a:xfrm>
            <a:off x="1207007"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所持品検査</a:t>
            </a:r>
          </a:p>
          <a:p>
            <a:pPr algn="l"/>
            <a:r>
              <a:rPr sz="1050" b="0">
                <a:solidFill>
                  <a:srgbClr val="12B198"/>
                </a:solidFill>
                <a:latin typeface="Calibri"/>
                <a:ea typeface="Calibri"/>
                <a:cs typeface="Calibri"/>
              </a:rPr>
              <a:t>Bag and Property Checks</a:t>
            </a:r>
          </a:p>
        </p:txBody>
      </p:sp>
      <p:sp>
        <p:nvSpPr>
          <p:cNvPr id="11" name="TextBox 10"/>
          <p:cNvSpPr txBox="1"/>
          <p:nvPr/>
        </p:nvSpPr>
        <p:spPr>
          <a:xfrm>
            <a:off x="859536"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・強制はできない。同意がなければ開けられない</a:t>
            </a:r>
          </a:p>
          <a:p>
            <a:pPr algn="l"/>
            <a:r>
              <a:rPr sz="900" b="0">
                <a:solidFill>
                  <a:srgbClr val="2E3D4C"/>
                </a:solidFill>
                <a:latin typeface="Calibri"/>
                <a:ea typeface="Calibri"/>
                <a:cs typeface="Calibri"/>
              </a:rPr>
              <a:t>　It cannot be compelled. Without consent you cannot open it</a:t>
            </a:r>
          </a:p>
          <a:p>
            <a:pPr algn="l">
              <a:spcBef>
                <a:spcPts val="300"/>
              </a:spcBef>
            </a:pPr>
            <a:r>
              <a:rPr sz="950" b="0">
                <a:solidFill>
                  <a:srgbClr val="1B2733"/>
                </a:solidFill>
                <a:latin typeface="Yu Gothic"/>
                <a:ea typeface="Yu Gothic"/>
                <a:cs typeface="Yu Gothic"/>
              </a:rPr>
              <a:t>・「規則だから」は強制してよい根拠にならない</a:t>
            </a:r>
          </a:p>
          <a:p>
            <a:pPr algn="l"/>
            <a:r>
              <a:rPr sz="900" b="0">
                <a:solidFill>
                  <a:srgbClr val="2E3D4C"/>
                </a:solidFill>
                <a:latin typeface="Calibri"/>
                <a:ea typeface="Calibri"/>
                <a:cs typeface="Calibri"/>
              </a:rPr>
              <a:t>　"It is the rule" is not a basis for compelling anyone</a:t>
            </a:r>
          </a:p>
          <a:p>
            <a:pPr algn="l">
              <a:spcBef>
                <a:spcPts val="300"/>
              </a:spcBef>
            </a:pPr>
            <a:r>
              <a:rPr sz="950" b="0">
                <a:solidFill>
                  <a:srgbClr val="1B2733"/>
                </a:solidFill>
                <a:latin typeface="Yu Gothic"/>
                <a:ea typeface="Yu Gothic"/>
                <a:cs typeface="Yu Gothic"/>
              </a:rPr>
              <a:t>・応じない場合は、記録と報告に切り替える</a:t>
            </a:r>
          </a:p>
          <a:p>
            <a:pPr algn="l"/>
            <a:r>
              <a:rPr sz="900" b="0">
                <a:solidFill>
                  <a:srgbClr val="2E3D4C"/>
                </a:solidFill>
                <a:latin typeface="Calibri"/>
                <a:ea typeface="Calibri"/>
                <a:cs typeface="Calibri"/>
              </a:rPr>
              <a:t>　If they refuse, switch to recording and reporting</a:t>
            </a:r>
          </a:p>
        </p:txBody>
      </p:sp>
      <p:sp>
        <p:nvSpPr>
          <p:cNvPr id="12" name="Rounded Rectangle 11"/>
          <p:cNvSpPr/>
          <p:nvPr/>
        </p:nvSpPr>
        <p:spPr>
          <a:xfrm>
            <a:off x="6227064" y="1810512"/>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9944"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93992"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身分証・私物</a:t>
            </a:r>
          </a:p>
          <a:p>
            <a:pPr algn="l"/>
            <a:r>
              <a:rPr sz="1050" b="0">
                <a:solidFill>
                  <a:srgbClr val="12B198"/>
                </a:solidFill>
                <a:latin typeface="Calibri"/>
                <a:ea typeface="Calibri"/>
                <a:cs typeface="Calibri"/>
              </a:rPr>
              <a:t>ID Cards and Personal Property</a:t>
            </a:r>
          </a:p>
        </p:txBody>
      </p:sp>
      <p:sp>
        <p:nvSpPr>
          <p:cNvPr id="15" name="TextBox 14"/>
          <p:cNvSpPr txBox="1"/>
          <p:nvPr/>
        </p:nvSpPr>
        <p:spPr>
          <a:xfrm>
            <a:off x="6446520"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・身分証を取り上げて返さないことはできない</a:t>
            </a:r>
          </a:p>
          <a:p>
            <a:pPr algn="l"/>
            <a:r>
              <a:rPr sz="900" b="0">
                <a:solidFill>
                  <a:srgbClr val="2E3D4C"/>
                </a:solidFill>
                <a:latin typeface="Calibri"/>
                <a:ea typeface="Calibri"/>
                <a:cs typeface="Calibri"/>
              </a:rPr>
              <a:t>　You may not take an ID card and withhold it</a:t>
            </a:r>
          </a:p>
          <a:p>
            <a:pPr algn="l">
              <a:spcBef>
                <a:spcPts val="300"/>
              </a:spcBef>
            </a:pPr>
            <a:r>
              <a:rPr sz="950" b="0">
                <a:solidFill>
                  <a:srgbClr val="1B2733"/>
                </a:solidFill>
                <a:latin typeface="Yu Gothic"/>
                <a:ea typeface="Yu Gothic"/>
                <a:cs typeface="Yu Gothic"/>
              </a:rPr>
              <a:t>・相手の端末を操作したり、画像を消させたりできない</a:t>
            </a:r>
          </a:p>
          <a:p>
            <a:pPr algn="l"/>
            <a:r>
              <a:rPr sz="900" b="0">
                <a:solidFill>
                  <a:srgbClr val="2E3D4C"/>
                </a:solidFill>
                <a:latin typeface="Calibri"/>
                <a:ea typeface="Calibri"/>
                <a:cs typeface="Calibri"/>
              </a:rPr>
              <a:t>　You may not handle their device or make them delete images</a:t>
            </a:r>
          </a:p>
          <a:p>
            <a:pPr algn="l">
              <a:spcBef>
                <a:spcPts val="300"/>
              </a:spcBef>
            </a:pPr>
            <a:r>
              <a:rPr sz="950" b="0">
                <a:solidFill>
                  <a:srgbClr val="1B2733"/>
                </a:solidFill>
                <a:latin typeface="Yu Gothic"/>
                <a:ea typeface="Yu Gothic"/>
                <a:cs typeface="Yu Gothic"/>
              </a:rPr>
              <a:t>・実力で物を取り返すこと（自救行為）も認められない</a:t>
            </a:r>
          </a:p>
          <a:p>
            <a:pPr algn="l"/>
            <a:r>
              <a:rPr sz="900" b="0">
                <a:solidFill>
                  <a:srgbClr val="2E3D4C"/>
                </a:solidFill>
                <a:latin typeface="Calibri"/>
                <a:ea typeface="Calibri"/>
                <a:cs typeface="Calibri"/>
              </a:rPr>
              <a:t>　Recovering property by force is not permitted either</a:t>
            </a:r>
          </a:p>
        </p:txBody>
      </p:sp>
      <p:sp>
        <p:nvSpPr>
          <p:cNvPr id="16" name="Rounded Rectangle 15"/>
          <p:cNvSpPr/>
          <p:nvPr/>
        </p:nvSpPr>
        <p:spPr>
          <a:xfrm>
            <a:off x="640080" y="3931920"/>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8" name="TextBox 17"/>
          <p:cNvSpPr txBox="1"/>
          <p:nvPr/>
        </p:nvSpPr>
        <p:spPr>
          <a:xfrm>
            <a:off x="1207007"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装備</a:t>
            </a:r>
          </a:p>
          <a:p>
            <a:pPr algn="l"/>
            <a:r>
              <a:rPr sz="1050" b="0">
                <a:solidFill>
                  <a:srgbClr val="12B198"/>
                </a:solidFill>
                <a:latin typeface="Calibri"/>
                <a:ea typeface="Calibri"/>
                <a:cs typeface="Calibri"/>
              </a:rPr>
              <a:t>Equipment</a:t>
            </a:r>
          </a:p>
        </p:txBody>
      </p:sp>
      <p:sp>
        <p:nvSpPr>
          <p:cNvPr id="19" name="TextBox 18"/>
          <p:cNvSpPr txBox="1"/>
          <p:nvPr/>
        </p:nvSpPr>
        <p:spPr>
          <a:xfrm>
            <a:off x="859536"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・銃器は持てない。携帯できるのは届け出た護身用具のみ</a:t>
            </a:r>
          </a:p>
          <a:p>
            <a:pPr algn="l"/>
            <a:r>
              <a:rPr sz="900" b="0">
                <a:solidFill>
                  <a:srgbClr val="2E3D4C"/>
                </a:solidFill>
                <a:latin typeface="Calibri"/>
                <a:ea typeface="Calibri"/>
                <a:cs typeface="Calibri"/>
              </a:rPr>
              <a:t>　No firearms. Only notified protective equipment may be carried</a:t>
            </a:r>
          </a:p>
          <a:p>
            <a:pPr algn="l">
              <a:spcBef>
                <a:spcPts val="300"/>
              </a:spcBef>
            </a:pPr>
            <a:r>
              <a:rPr sz="950" b="0">
                <a:solidFill>
                  <a:srgbClr val="1B2733"/>
                </a:solidFill>
                <a:latin typeface="Yu Gothic"/>
                <a:ea typeface="Yu Gothic"/>
                <a:cs typeface="Yu Gothic"/>
              </a:rPr>
              <a:t>・護身用具は種類・規格・使用基準が定められている</a:t>
            </a:r>
          </a:p>
          <a:p>
            <a:pPr algn="l"/>
            <a:r>
              <a:rPr sz="900" b="0">
                <a:solidFill>
                  <a:srgbClr val="2E3D4C"/>
                </a:solidFill>
                <a:latin typeface="Calibri"/>
                <a:ea typeface="Calibri"/>
                <a:cs typeface="Calibri"/>
              </a:rPr>
              <a:t>　Its type, specification and rules of use are prescribed</a:t>
            </a:r>
          </a:p>
          <a:p>
            <a:pPr algn="l">
              <a:spcBef>
                <a:spcPts val="300"/>
              </a:spcBef>
            </a:pPr>
            <a:r>
              <a:rPr sz="950" b="0">
                <a:solidFill>
                  <a:srgbClr val="1B2733"/>
                </a:solidFill>
                <a:latin typeface="Yu Gothic"/>
                <a:ea typeface="Yu Gothic"/>
                <a:cs typeface="Yu Gothic"/>
              </a:rPr>
              <a:t>・配備がない現場では、使用を前提としない</a:t>
            </a:r>
          </a:p>
          <a:p>
            <a:pPr algn="l"/>
            <a:r>
              <a:rPr sz="900" b="0">
                <a:solidFill>
                  <a:srgbClr val="2E3D4C"/>
                </a:solidFill>
                <a:latin typeface="Calibri"/>
                <a:ea typeface="Calibri"/>
                <a:cs typeface="Calibri"/>
              </a:rPr>
              <a:t>　Where none is issued, do not plan around using it</a:t>
            </a:r>
          </a:p>
        </p:txBody>
      </p:sp>
      <p:sp>
        <p:nvSpPr>
          <p:cNvPr id="20" name="Rounded Rectangle 19"/>
          <p:cNvSpPr/>
          <p:nvPr/>
        </p:nvSpPr>
        <p:spPr>
          <a:xfrm>
            <a:off x="6227064" y="3931920"/>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2" name="TextBox 21"/>
          <p:cNvSpPr txBox="1"/>
          <p:nvPr/>
        </p:nvSpPr>
        <p:spPr>
          <a:xfrm>
            <a:off x="6793992"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情報</a:t>
            </a:r>
          </a:p>
          <a:p>
            <a:pPr algn="l"/>
            <a:r>
              <a:rPr sz="1050" b="0">
                <a:solidFill>
                  <a:srgbClr val="12B198"/>
                </a:solidFill>
                <a:latin typeface="Calibri"/>
                <a:ea typeface="Calibri"/>
                <a:cs typeface="Calibri"/>
              </a:rPr>
              <a:t>Information</a:t>
            </a:r>
          </a:p>
        </p:txBody>
      </p:sp>
      <p:sp>
        <p:nvSpPr>
          <p:cNvPr id="23" name="TextBox 22"/>
          <p:cNvSpPr txBox="1"/>
          <p:nvPr/>
        </p:nvSpPr>
        <p:spPr>
          <a:xfrm>
            <a:off x="6446520"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・職務質問はできない。氏名や在留資格を問いただす権限はない</a:t>
            </a:r>
          </a:p>
          <a:p>
            <a:pPr algn="l"/>
            <a:r>
              <a:rPr sz="900" b="0">
                <a:solidFill>
                  <a:srgbClr val="2E3D4C"/>
                </a:solidFill>
                <a:latin typeface="Calibri"/>
                <a:ea typeface="Calibri"/>
                <a:cs typeface="Calibri"/>
              </a:rPr>
              <a:t>　No stop-and-question. You cannot demand a name or visa status</a:t>
            </a:r>
          </a:p>
          <a:p>
            <a:pPr algn="l">
              <a:spcBef>
                <a:spcPts val="300"/>
              </a:spcBef>
            </a:pPr>
            <a:r>
              <a:rPr sz="950" b="0">
                <a:solidFill>
                  <a:srgbClr val="1B2733"/>
                </a:solidFill>
                <a:latin typeface="Yu Gothic"/>
                <a:ea typeface="Yu Gothic"/>
                <a:cs typeface="Yu Gothic"/>
              </a:rPr>
              <a:t>・カメラ画像・入退室ログを目的外に見ない、渡さない</a:t>
            </a:r>
          </a:p>
          <a:p>
            <a:pPr algn="l"/>
            <a:r>
              <a:rPr sz="900" b="0">
                <a:solidFill>
                  <a:srgbClr val="2E3D4C"/>
                </a:solidFill>
                <a:latin typeface="Calibri"/>
                <a:ea typeface="Calibri"/>
                <a:cs typeface="Calibri"/>
              </a:rPr>
              <a:t>　Do not view or hand over footage and logs outside their purpose</a:t>
            </a:r>
          </a:p>
          <a:p>
            <a:pPr algn="l">
              <a:spcBef>
                <a:spcPts val="300"/>
              </a:spcBef>
            </a:pPr>
            <a:r>
              <a:rPr sz="950" b="0">
                <a:solidFill>
                  <a:srgbClr val="1B2733"/>
                </a:solidFill>
                <a:latin typeface="Yu Gothic"/>
                <a:ea typeface="Yu Gothic"/>
                <a:cs typeface="Yu Gothic"/>
              </a:rPr>
              <a:t>・業務中の撮影とSNS投稿は禁止。制服や館内も対象</a:t>
            </a:r>
          </a:p>
          <a:p>
            <a:pPr algn="l"/>
            <a:r>
              <a:rPr sz="900" b="0">
                <a:solidFill>
                  <a:srgbClr val="2E3D4C"/>
                </a:solidFill>
                <a:latin typeface="Calibri"/>
                <a:ea typeface="Calibri"/>
                <a:cs typeface="Calibri"/>
              </a:rPr>
              <a:t>　No photography or posting on duty, including uniform and interiors</a:t>
            </a:r>
          </a:p>
        </p:txBody>
      </p:sp>
      <p:sp>
        <p:nvSpPr>
          <p:cNvPr id="24" name="TextBox 23"/>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所持品確認の運用、護身用具の配備、撮影の可否は現場ごとに異なる。</a:t>
            </a:r>
          </a:p>
          <a:p>
            <a:pPr algn="l"/>
            <a:r>
              <a:rPr sz="850" b="0">
                <a:solidFill>
                  <a:srgbClr val="0D8A76"/>
                </a:solidFill>
                <a:latin typeface="Calibri"/>
                <a:ea typeface="Calibri"/>
                <a:cs typeface="Calibri"/>
              </a:rPr>
              <a:t>Bag-check practice, equipment issued, and photography rules differ by site.</a:t>
            </a:r>
          </a:p>
        </p:txBody>
      </p:sp>
      <p:sp>
        <p:nvSpPr>
          <p:cNvPr id="25" name="TextBox 24"/>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警備業法、刑法、個人情報保護法、銃砲刀剣類所持等取締法</a:t>
            </a:r>
          </a:p>
        </p:txBody>
      </p:sp>
      <p:sp>
        <p:nvSpPr>
          <p:cNvPr id="26" name="TextBox 25"/>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7" name="TextBox 26"/>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守るべき3本柱</a:t>
            </a:r>
          </a:p>
          <a:p>
            <a:pPr algn="l">
              <a:spcBef>
                <a:spcPts val="200"/>
              </a:spcBef>
            </a:pPr>
            <a:r>
              <a:rPr sz="1400" b="0">
                <a:solidFill>
                  <a:srgbClr val="12B198"/>
                </a:solidFill>
                <a:latin typeface="Calibri"/>
                <a:ea typeface="Calibri"/>
                <a:cs typeface="Calibri"/>
              </a:rPr>
              <a:t>The Three Pillars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88720"/>
            <a:ext cx="10908792" cy="530352"/>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34440"/>
            <a:ext cx="10433304" cy="438912"/>
          </a:xfrm>
          <a:prstGeom prst="rect">
            <a:avLst/>
          </a:prstGeom>
          <a:noFill/>
        </p:spPr>
        <p:txBody>
          <a:bodyPr wrap="square" lIns="0" rIns="0" tIns="0" bIns="0" anchor="t">
            <a:spAutoFit/>
          </a:bodyPr>
          <a:lstStyle/>
          <a:p>
            <a:pPr algn="l"/>
            <a:r>
              <a:rPr sz="1000" b="1">
                <a:solidFill>
                  <a:srgbClr val="0D8A76"/>
                </a:solidFill>
                <a:latin typeface="Yu Gothic"/>
                <a:ea typeface="Yu Gothic"/>
                <a:cs typeface="Yu Gothic"/>
              </a:rPr>
              <a:t>身につくこと / What You'll Learn　自分の業務が People / Asset / Reputation のどれに関わるかを、その場で言える。</a:t>
            </a:r>
          </a:p>
          <a:p>
            <a:pPr algn="l"/>
            <a:r>
              <a:rPr sz="950" b="0">
                <a:solidFill>
                  <a:srgbClr val="0D8A76"/>
                </a:solidFill>
                <a:latin typeface="Calibri"/>
                <a:ea typeface="Calibri"/>
                <a:cs typeface="Calibri"/>
              </a:rPr>
              <a:t>You can say, on the spot, which pillar your action concerns.</a:t>
            </a:r>
          </a:p>
        </p:txBody>
      </p:sp>
      <p:sp>
        <p:nvSpPr>
          <p:cNvPr id="8" name="Rounded Rectangle 7"/>
          <p:cNvSpPr/>
          <p:nvPr/>
        </p:nvSpPr>
        <p:spPr>
          <a:xfrm>
            <a:off x="640080" y="1810512"/>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0" name="TextBox 9"/>
          <p:cNvSpPr txBox="1"/>
          <p:nvPr/>
        </p:nvSpPr>
        <p:spPr>
          <a:xfrm>
            <a:off x="1207007"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People　人</a:t>
            </a:r>
          </a:p>
          <a:p>
            <a:pPr algn="l"/>
            <a:r>
              <a:rPr sz="1050" b="0">
                <a:solidFill>
                  <a:srgbClr val="12B198"/>
                </a:solidFill>
                <a:latin typeface="Calibri"/>
                <a:ea typeface="Calibri"/>
                <a:cs typeface="Calibri"/>
              </a:rPr>
              <a:t>People</a:t>
            </a:r>
          </a:p>
        </p:txBody>
      </p:sp>
      <p:sp>
        <p:nvSpPr>
          <p:cNvPr id="11" name="TextBox 10"/>
          <p:cNvSpPr txBox="1"/>
          <p:nvPr/>
        </p:nvSpPr>
        <p:spPr>
          <a:xfrm>
            <a:off x="859536"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・クライアント社員、来訪者、そして自分自身の安全</a:t>
            </a:r>
          </a:p>
          <a:p>
            <a:pPr algn="l"/>
            <a:r>
              <a:rPr sz="900" b="0">
                <a:solidFill>
                  <a:srgbClr val="2E3D4C"/>
                </a:solidFill>
                <a:latin typeface="Calibri"/>
                <a:ea typeface="Calibri"/>
                <a:cs typeface="Calibri"/>
              </a:rPr>
              <a:t>　Client staff, visitors, and your own safety</a:t>
            </a:r>
          </a:p>
          <a:p>
            <a:pPr algn="l">
              <a:spcBef>
                <a:spcPts val="300"/>
              </a:spcBef>
            </a:pPr>
            <a:r>
              <a:rPr sz="950" b="0">
                <a:solidFill>
                  <a:srgbClr val="1B2733"/>
                </a:solidFill>
                <a:latin typeface="Yu Gothic"/>
                <a:ea typeface="Yu Gothic"/>
                <a:cs typeface="Yu Gothic"/>
              </a:rPr>
              <a:t>・自分の安全を確保することも任務のうち</a:t>
            </a:r>
          </a:p>
          <a:p>
            <a:pPr algn="l"/>
            <a:r>
              <a:rPr sz="900" b="0">
                <a:solidFill>
                  <a:srgbClr val="2E3D4C"/>
                </a:solidFill>
                <a:latin typeface="Calibri"/>
                <a:ea typeface="Calibri"/>
                <a:cs typeface="Calibri"/>
              </a:rPr>
              <a:t>　Keeping yourself safe is part of the duty</a:t>
            </a:r>
          </a:p>
          <a:p>
            <a:pPr algn="l">
              <a:spcBef>
                <a:spcPts val="300"/>
              </a:spcBef>
            </a:pPr>
            <a:r>
              <a:rPr sz="950" b="0">
                <a:solidFill>
                  <a:srgbClr val="1B2733"/>
                </a:solidFill>
                <a:latin typeface="Yu Gothic"/>
                <a:ea typeface="Yu Gothic"/>
                <a:cs typeface="Yu Gothic"/>
              </a:rPr>
              <a:t>・人命は、他のすべてに優先する</a:t>
            </a:r>
          </a:p>
          <a:p>
            <a:pPr algn="l"/>
            <a:r>
              <a:rPr sz="900" b="0">
                <a:solidFill>
                  <a:srgbClr val="2E3D4C"/>
                </a:solidFill>
                <a:latin typeface="Calibri"/>
                <a:ea typeface="Calibri"/>
                <a:cs typeface="Calibri"/>
              </a:rPr>
              <a:t>　Life takes precedence over everything else</a:t>
            </a:r>
          </a:p>
        </p:txBody>
      </p:sp>
      <p:sp>
        <p:nvSpPr>
          <p:cNvPr id="12" name="Rounded Rectangle 11"/>
          <p:cNvSpPr/>
          <p:nvPr/>
        </p:nvSpPr>
        <p:spPr>
          <a:xfrm>
            <a:off x="6227064" y="1810512"/>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9944"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93992"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Asset　資産</a:t>
            </a:r>
          </a:p>
          <a:p>
            <a:pPr algn="l"/>
            <a:r>
              <a:rPr sz="1050" b="0">
                <a:solidFill>
                  <a:srgbClr val="12B198"/>
                </a:solidFill>
                <a:latin typeface="Calibri"/>
                <a:ea typeface="Calibri"/>
                <a:cs typeface="Calibri"/>
              </a:rPr>
              <a:t>Asset</a:t>
            </a:r>
          </a:p>
        </p:txBody>
      </p:sp>
      <p:sp>
        <p:nvSpPr>
          <p:cNvPr id="15" name="TextBox 14"/>
          <p:cNvSpPr txBox="1"/>
          <p:nvPr/>
        </p:nvSpPr>
        <p:spPr>
          <a:xfrm>
            <a:off x="6446520"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・物理資産 ― 建物・什器・端末・サーバー・現金</a:t>
            </a:r>
          </a:p>
          <a:p>
            <a:pPr algn="l"/>
            <a:r>
              <a:rPr sz="900" b="0">
                <a:solidFill>
                  <a:srgbClr val="2E3D4C"/>
                </a:solidFill>
                <a:latin typeface="Calibri"/>
                <a:ea typeface="Calibri"/>
                <a:cs typeface="Calibri"/>
              </a:rPr>
              <a:t>　Physical: buildings, fixtures, devices, servers, cash</a:t>
            </a:r>
          </a:p>
          <a:p>
            <a:pPr algn="l">
              <a:spcBef>
                <a:spcPts val="300"/>
              </a:spcBef>
            </a:pPr>
            <a:r>
              <a:rPr sz="950" b="0">
                <a:solidFill>
                  <a:srgbClr val="1B2733"/>
                </a:solidFill>
                <a:latin typeface="Yu Gothic"/>
                <a:ea typeface="Yu Gothic"/>
                <a:cs typeface="Yu Gothic"/>
              </a:rPr>
              <a:t>・情報資産 ― 書類・データ・役員の動向・施設の構造</a:t>
            </a:r>
          </a:p>
          <a:p>
            <a:pPr algn="l"/>
            <a:r>
              <a:rPr sz="900" b="0">
                <a:solidFill>
                  <a:srgbClr val="2E3D4C"/>
                </a:solidFill>
                <a:latin typeface="Calibri"/>
                <a:ea typeface="Calibri"/>
                <a:cs typeface="Calibri"/>
              </a:rPr>
              <a:t>　Information: documents, data, movements, site layout</a:t>
            </a:r>
          </a:p>
          <a:p>
            <a:pPr algn="l">
              <a:spcBef>
                <a:spcPts val="300"/>
              </a:spcBef>
            </a:pPr>
            <a:r>
              <a:rPr sz="950" b="0">
                <a:solidFill>
                  <a:srgbClr val="1B2733"/>
                </a:solidFill>
                <a:latin typeface="Yu Gothic"/>
                <a:ea typeface="Yu Gothic"/>
                <a:cs typeface="Yu Gothic"/>
              </a:rPr>
              <a:t>・情報は Asset に含まれる。見えなくても資産である</a:t>
            </a:r>
          </a:p>
          <a:p>
            <a:pPr algn="l"/>
            <a:r>
              <a:rPr sz="900" b="0">
                <a:solidFill>
                  <a:srgbClr val="2E3D4C"/>
                </a:solidFill>
                <a:latin typeface="Calibri"/>
                <a:ea typeface="Calibri"/>
                <a:cs typeface="Calibri"/>
              </a:rPr>
              <a:t>　Information is an asset even when you cannot see it</a:t>
            </a:r>
          </a:p>
        </p:txBody>
      </p:sp>
      <p:sp>
        <p:nvSpPr>
          <p:cNvPr id="16" name="Rounded Rectangle 15"/>
          <p:cNvSpPr/>
          <p:nvPr/>
        </p:nvSpPr>
        <p:spPr>
          <a:xfrm>
            <a:off x="640080" y="3931920"/>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8" name="TextBox 17"/>
          <p:cNvSpPr txBox="1"/>
          <p:nvPr/>
        </p:nvSpPr>
        <p:spPr>
          <a:xfrm>
            <a:off x="1207007"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Reputation　社会的信頼</a:t>
            </a:r>
          </a:p>
          <a:p>
            <a:pPr algn="l"/>
            <a:r>
              <a:rPr sz="1050" b="0">
                <a:solidFill>
                  <a:srgbClr val="12B198"/>
                </a:solidFill>
                <a:latin typeface="Calibri"/>
                <a:ea typeface="Calibri"/>
                <a:cs typeface="Calibri"/>
              </a:rPr>
              <a:t>Reputation</a:t>
            </a:r>
          </a:p>
        </p:txBody>
      </p:sp>
      <p:sp>
        <p:nvSpPr>
          <p:cNvPr id="19" name="TextBox 18"/>
          <p:cNvSpPr txBox="1"/>
          <p:nvPr/>
        </p:nvSpPr>
        <p:spPr>
          <a:xfrm>
            <a:off x="859536"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・クライアント企業のブランドと社会的評価</a:t>
            </a:r>
          </a:p>
          <a:p>
            <a:pPr algn="l"/>
            <a:r>
              <a:rPr sz="900" b="0">
                <a:solidFill>
                  <a:srgbClr val="2E3D4C"/>
                </a:solidFill>
                <a:latin typeface="Calibri"/>
                <a:ea typeface="Calibri"/>
                <a:cs typeface="Calibri"/>
              </a:rPr>
              <a:t>　The client's brand and standing</a:t>
            </a:r>
          </a:p>
          <a:p>
            <a:pPr algn="l">
              <a:spcBef>
                <a:spcPts val="300"/>
              </a:spcBef>
            </a:pPr>
            <a:r>
              <a:rPr sz="950" b="0">
                <a:solidFill>
                  <a:srgbClr val="1B2733"/>
                </a:solidFill>
                <a:latin typeface="Yu Gothic"/>
                <a:ea typeface="Yu Gothic"/>
                <a:cs typeface="Yu Gothic"/>
              </a:rPr>
              <a:t>・入口・受付で、クライアントの「顔」として見られる</a:t>
            </a:r>
          </a:p>
          <a:p>
            <a:pPr algn="l"/>
            <a:r>
              <a:rPr sz="900" b="0">
                <a:solidFill>
                  <a:srgbClr val="2E3D4C"/>
                </a:solidFill>
                <a:latin typeface="Calibri"/>
                <a:ea typeface="Calibri"/>
                <a:cs typeface="Calibri"/>
              </a:rPr>
              <a:t>　At the entrance you are seen as the client's face</a:t>
            </a:r>
          </a:p>
          <a:p>
            <a:pPr algn="l">
              <a:spcBef>
                <a:spcPts val="300"/>
              </a:spcBef>
            </a:pPr>
            <a:r>
              <a:rPr sz="950" b="0">
                <a:solidFill>
                  <a:srgbClr val="1B2733"/>
                </a:solidFill>
                <a:latin typeface="Yu Gothic"/>
                <a:ea typeface="Yu Gothic"/>
                <a:cs typeface="Yu Gothic"/>
              </a:rPr>
              <a:t>・物理被害がゼロでも、毀損すれば任務は失敗</a:t>
            </a:r>
          </a:p>
          <a:p>
            <a:pPr algn="l"/>
            <a:r>
              <a:rPr sz="900" b="0">
                <a:solidFill>
                  <a:srgbClr val="2E3D4C"/>
                </a:solidFill>
                <a:latin typeface="Calibri"/>
                <a:ea typeface="Calibri"/>
                <a:cs typeface="Calibri"/>
              </a:rPr>
              <a:t>　Even with zero physical loss, harming it is a failure</a:t>
            </a:r>
          </a:p>
        </p:txBody>
      </p:sp>
      <p:sp>
        <p:nvSpPr>
          <p:cNvPr id="20" name="Rounded Rectangle 19"/>
          <p:cNvSpPr/>
          <p:nvPr/>
        </p:nvSpPr>
        <p:spPr>
          <a:xfrm>
            <a:off x="6227064" y="3931920"/>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2" name="TextBox 21"/>
          <p:cNvSpPr txBox="1"/>
          <p:nvPr/>
        </p:nvSpPr>
        <p:spPr>
          <a:xfrm>
            <a:off x="6793992"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3つは分離できない</a:t>
            </a:r>
          </a:p>
          <a:p>
            <a:pPr algn="l"/>
            <a:r>
              <a:rPr sz="1050" b="0">
                <a:solidFill>
                  <a:srgbClr val="12B198"/>
                </a:solidFill>
                <a:latin typeface="Calibri"/>
                <a:ea typeface="Calibri"/>
                <a:cs typeface="Calibri"/>
              </a:rPr>
              <a:t>The Three Are Inseparable</a:t>
            </a:r>
          </a:p>
        </p:txBody>
      </p:sp>
      <p:sp>
        <p:nvSpPr>
          <p:cNvPr id="23" name="TextBox 22"/>
          <p:cNvSpPr txBox="1"/>
          <p:nvPr/>
        </p:nvSpPr>
        <p:spPr>
          <a:xfrm>
            <a:off x="6446520"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・1つの行動が3つを同時に守る</a:t>
            </a:r>
          </a:p>
          <a:p>
            <a:pPr algn="l"/>
            <a:r>
              <a:rPr sz="900" b="0">
                <a:solidFill>
                  <a:srgbClr val="2E3D4C"/>
                </a:solidFill>
                <a:latin typeface="Calibri"/>
                <a:ea typeface="Calibri"/>
                <a:cs typeface="Calibri"/>
              </a:rPr>
              <a:t>　A single action protects all three at once</a:t>
            </a:r>
          </a:p>
          <a:p>
            <a:pPr algn="l">
              <a:spcBef>
                <a:spcPts val="300"/>
              </a:spcBef>
            </a:pPr>
            <a:r>
              <a:rPr sz="950" b="0">
                <a:solidFill>
                  <a:srgbClr val="1B2733"/>
                </a:solidFill>
                <a:latin typeface="Yu Gothic"/>
                <a:ea typeface="Yu Gothic"/>
                <a:cs typeface="Yu Gothic"/>
              </a:rPr>
              <a:t>・1つの過失が3つを同時に損なう</a:t>
            </a:r>
          </a:p>
          <a:p>
            <a:pPr algn="l"/>
            <a:r>
              <a:rPr sz="900" b="0">
                <a:solidFill>
                  <a:srgbClr val="2E3D4C"/>
                </a:solidFill>
                <a:latin typeface="Calibri"/>
                <a:ea typeface="Calibri"/>
                <a:cs typeface="Calibri"/>
              </a:rPr>
              <a:t>　A single lapse damages all three at once</a:t>
            </a:r>
          </a:p>
          <a:p>
            <a:pPr algn="l">
              <a:spcBef>
                <a:spcPts val="300"/>
              </a:spcBef>
            </a:pPr>
            <a:r>
              <a:rPr sz="950" b="0">
                <a:solidFill>
                  <a:srgbClr val="1B2733"/>
                </a:solidFill>
                <a:latin typeface="Yu Gothic"/>
                <a:ea typeface="Yu Gothic"/>
                <a:cs typeface="Yu Gothic"/>
              </a:rPr>
              <a:t>・迷ったら「いま何を守っているか」を言葉にする</a:t>
            </a:r>
          </a:p>
          <a:p>
            <a:pPr algn="l"/>
            <a:r>
              <a:rPr sz="900" b="0">
                <a:solidFill>
                  <a:srgbClr val="2E3D4C"/>
                </a:solidFill>
                <a:latin typeface="Calibri"/>
                <a:ea typeface="Calibri"/>
                <a:cs typeface="Calibri"/>
              </a:rPr>
              <a:t>　When unsure, say aloud what you are protecting now</a:t>
            </a:r>
          </a:p>
        </p:txBody>
      </p:sp>
      <p:sp>
        <p:nvSpPr>
          <p:cNvPr id="24" name="TextBox 23"/>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何がAsset・People・Reputationに当たるかは配属先のSite SOPに定められている。</a:t>
            </a:r>
          </a:p>
          <a:p>
            <a:pPr algn="l"/>
            <a:r>
              <a:rPr sz="850" b="0">
                <a:solidFill>
                  <a:srgbClr val="0D8A76"/>
                </a:solidFill>
                <a:latin typeface="Calibri"/>
                <a:ea typeface="Calibri"/>
                <a:cs typeface="Calibri"/>
              </a:rPr>
              <a:t>What counts as each pillar is set out in your site's SOP.</a:t>
            </a:r>
          </a:p>
        </p:txBody>
      </p:sp>
      <p:sp>
        <p:nvSpPr>
          <p:cNvPr id="25" name="TextBox 24"/>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警備業法、警察庁「警備員教育」、ASIS GDL CSO 06 2004</a:t>
            </a:r>
          </a:p>
        </p:txBody>
      </p:sp>
      <p:sp>
        <p:nvSpPr>
          <p:cNvPr id="26" name="TextBox 25"/>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7" name="TextBox 26"/>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判断の軸と、本講習の3つの問い</a:t>
            </a:r>
          </a:p>
          <a:p>
            <a:pPr algn="l">
              <a:spcBef>
                <a:spcPts val="200"/>
              </a:spcBef>
            </a:pPr>
            <a:r>
              <a:rPr sz="1400" b="0">
                <a:solidFill>
                  <a:srgbClr val="12B198"/>
                </a:solidFill>
                <a:latin typeface="Calibri"/>
                <a:ea typeface="Calibri"/>
                <a:cs typeface="Calibri"/>
              </a:rPr>
              <a:t>How to Decide, and the Three Questions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B1</a:t>
            </a:r>
          </a:p>
        </p:txBody>
      </p:sp>
      <p:sp>
        <p:nvSpPr>
          <p:cNvPr id="6" name="Rounded Rectangle 5"/>
          <p:cNvSpPr/>
          <p:nvPr/>
        </p:nvSpPr>
        <p:spPr>
          <a:xfrm>
            <a:off x="640080" y="1188720"/>
            <a:ext cx="10908792" cy="530352"/>
          </a:xfrm>
          <a:prstGeom prst="roundRect">
            <a:avLst>
              <a:gd name="adj" fmla="val 6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7824" y="1234440"/>
            <a:ext cx="10433304" cy="438912"/>
          </a:xfrm>
          <a:prstGeom prst="rect">
            <a:avLst/>
          </a:prstGeom>
          <a:noFill/>
        </p:spPr>
        <p:txBody>
          <a:bodyPr wrap="square" lIns="0" rIns="0" tIns="0" bIns="0" anchor="t">
            <a:spAutoFit/>
          </a:bodyPr>
          <a:lstStyle/>
          <a:p>
            <a:pPr algn="l"/>
            <a:r>
              <a:rPr sz="1000" b="1">
                <a:solidFill>
                  <a:srgbClr val="0D8A76"/>
                </a:solidFill>
                <a:latin typeface="Yu Gothic"/>
                <a:ea typeface="Yu Gothic"/>
                <a:cs typeface="Yu Gothic"/>
              </a:rPr>
              <a:t>身につくこと / What You'll Learn　要求がぶつかったときの優先順位を述べ、3つの問いで自分の行動を検証できる。</a:t>
            </a:r>
          </a:p>
          <a:p>
            <a:pPr algn="l"/>
            <a:r>
              <a:rPr sz="950" b="0">
                <a:solidFill>
                  <a:srgbClr val="0D8A76"/>
                </a:solidFill>
                <a:latin typeface="Calibri"/>
                <a:ea typeface="Calibri"/>
                <a:cs typeface="Calibri"/>
              </a:rPr>
              <a:t>You can state the priority order, and test your actions with three questions.</a:t>
            </a:r>
          </a:p>
        </p:txBody>
      </p:sp>
      <p:sp>
        <p:nvSpPr>
          <p:cNvPr id="8" name="Rounded Rectangle 7"/>
          <p:cNvSpPr/>
          <p:nvPr/>
        </p:nvSpPr>
        <p:spPr>
          <a:xfrm>
            <a:off x="640080" y="1810512"/>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0" name="TextBox 9"/>
          <p:cNvSpPr txBox="1"/>
          <p:nvPr/>
        </p:nvSpPr>
        <p:spPr>
          <a:xfrm>
            <a:off x="1207007"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判断軸　優先する順に</a:t>
            </a:r>
          </a:p>
          <a:p>
            <a:pPr algn="l"/>
            <a:r>
              <a:rPr sz="1050" b="0">
                <a:solidFill>
                  <a:srgbClr val="12B198"/>
                </a:solidFill>
                <a:latin typeface="Calibri"/>
                <a:ea typeface="Calibri"/>
                <a:cs typeface="Calibri"/>
              </a:rPr>
              <a:t>The Order of Priority</a:t>
            </a:r>
          </a:p>
        </p:txBody>
      </p:sp>
      <p:sp>
        <p:nvSpPr>
          <p:cNvPr id="11" name="TextBox 10"/>
          <p:cNvSpPr txBox="1"/>
          <p:nvPr/>
        </p:nvSpPr>
        <p:spPr>
          <a:xfrm>
            <a:off x="859536"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・① 人命 ― 迷ったらここに戻る</a:t>
            </a:r>
          </a:p>
          <a:p>
            <a:pPr algn="l"/>
            <a:r>
              <a:rPr sz="900" b="0">
                <a:solidFill>
                  <a:srgbClr val="2E3D4C"/>
                </a:solidFill>
                <a:latin typeface="Calibri"/>
                <a:ea typeface="Calibri"/>
                <a:cs typeface="Calibri"/>
              </a:rPr>
              <a:t>　1. Life. When in doubt, come back to this</a:t>
            </a:r>
          </a:p>
          <a:p>
            <a:pPr algn="l">
              <a:spcBef>
                <a:spcPts val="300"/>
              </a:spcBef>
            </a:pPr>
            <a:r>
              <a:rPr sz="950" b="0">
                <a:solidFill>
                  <a:srgbClr val="1B2733"/>
                </a:solidFill>
                <a:latin typeface="Yu Gothic"/>
                <a:ea typeface="Yu Gothic"/>
                <a:cs typeface="Yu Gothic"/>
              </a:rPr>
              <a:t>・② 法令 ― 社内規程は法令を超えられない</a:t>
            </a:r>
          </a:p>
          <a:p>
            <a:pPr algn="l"/>
            <a:r>
              <a:rPr sz="900" b="0">
                <a:solidFill>
                  <a:srgbClr val="2E3D4C"/>
                </a:solidFill>
                <a:latin typeface="Calibri"/>
                <a:ea typeface="Calibri"/>
                <a:cs typeface="Calibri"/>
              </a:rPr>
              <a:t>　2. The law. Internal rules cannot override it</a:t>
            </a:r>
          </a:p>
          <a:p>
            <a:pPr algn="l">
              <a:spcBef>
                <a:spcPts val="300"/>
              </a:spcBef>
            </a:pPr>
            <a:r>
              <a:rPr sz="950" b="0">
                <a:solidFill>
                  <a:srgbClr val="1B2733"/>
                </a:solidFill>
                <a:latin typeface="Yu Gothic"/>
                <a:ea typeface="Yu Gothic"/>
                <a:cs typeface="Yu Gothic"/>
              </a:rPr>
              <a:t>・③ Site SOP ― ④ クライアント要望　の順に続く</a:t>
            </a:r>
          </a:p>
          <a:p>
            <a:pPr algn="l"/>
            <a:r>
              <a:rPr sz="900" b="0">
                <a:solidFill>
                  <a:srgbClr val="2E3D4C"/>
                </a:solidFill>
                <a:latin typeface="Calibri"/>
                <a:ea typeface="Calibri"/>
                <a:cs typeface="Calibri"/>
              </a:rPr>
              <a:t>　3. The Site SOP, then 4. the client's wishes</a:t>
            </a:r>
          </a:p>
        </p:txBody>
      </p:sp>
      <p:sp>
        <p:nvSpPr>
          <p:cNvPr id="12" name="Rounded Rectangle 11"/>
          <p:cNvSpPr/>
          <p:nvPr/>
        </p:nvSpPr>
        <p:spPr>
          <a:xfrm>
            <a:off x="6227064" y="1810512"/>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9944" y="1975104"/>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93992" y="1938528"/>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ステークホルダー三層</a:t>
            </a:r>
          </a:p>
          <a:p>
            <a:pPr algn="l"/>
            <a:r>
              <a:rPr sz="1050" b="0">
                <a:solidFill>
                  <a:srgbClr val="12B198"/>
                </a:solidFill>
                <a:latin typeface="Calibri"/>
                <a:ea typeface="Calibri"/>
                <a:cs typeface="Calibri"/>
              </a:rPr>
              <a:t>Three-Tier Stakeholders</a:t>
            </a:r>
          </a:p>
        </p:txBody>
      </p:sp>
      <p:sp>
        <p:nvSpPr>
          <p:cNvPr id="15" name="TextBox 14"/>
          <p:cNvSpPr txBox="1"/>
          <p:nvPr/>
        </p:nvSpPr>
        <p:spPr>
          <a:xfrm>
            <a:off x="6446520" y="2468880"/>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・自社 ― 雇用主。教育と指揮命令の主体</a:t>
            </a:r>
          </a:p>
          <a:p>
            <a:pPr algn="l"/>
            <a:r>
              <a:rPr sz="900" b="0">
                <a:solidFill>
                  <a:srgbClr val="2E3D4C"/>
                </a:solidFill>
                <a:latin typeface="Calibri"/>
                <a:ea typeface="Calibri"/>
                <a:cs typeface="Calibri"/>
              </a:rPr>
              <a:t>　Our company: your employer and chain of command</a:t>
            </a:r>
          </a:p>
          <a:p>
            <a:pPr algn="l">
              <a:spcBef>
                <a:spcPts val="300"/>
              </a:spcBef>
            </a:pPr>
            <a:r>
              <a:rPr sz="950" b="0">
                <a:solidFill>
                  <a:srgbClr val="1B2733"/>
                </a:solidFill>
                <a:latin typeface="Yu Gothic"/>
                <a:ea typeface="Yu Gothic"/>
                <a:cs typeface="Yu Gothic"/>
              </a:rPr>
              <a:t>・ビルオーナー／施設管理会社 ― 建物の管理権原者</a:t>
            </a:r>
          </a:p>
          <a:p>
            <a:pPr algn="l"/>
            <a:r>
              <a:rPr sz="900" b="0">
                <a:solidFill>
                  <a:srgbClr val="2E3D4C"/>
                </a:solidFill>
                <a:latin typeface="Calibri"/>
                <a:ea typeface="Calibri"/>
                <a:cs typeface="Calibri"/>
              </a:rPr>
              <a:t>　Building owner or manager: authority over the building</a:t>
            </a:r>
          </a:p>
          <a:p>
            <a:pPr algn="l">
              <a:spcBef>
                <a:spcPts val="300"/>
              </a:spcBef>
            </a:pPr>
            <a:r>
              <a:rPr sz="950" b="0">
                <a:solidFill>
                  <a:srgbClr val="1B2733"/>
                </a:solidFill>
                <a:latin typeface="Yu Gothic"/>
                <a:ea typeface="Yu Gothic"/>
                <a:cs typeface="Yu Gothic"/>
              </a:rPr>
              <a:t>・クライアント企業 ― 発注主でSite SOPの実質決定者</a:t>
            </a:r>
          </a:p>
          <a:p>
            <a:pPr algn="l"/>
            <a:r>
              <a:rPr sz="900" b="0">
                <a:solidFill>
                  <a:srgbClr val="2E3D4C"/>
                </a:solidFill>
                <a:latin typeface="Calibri"/>
                <a:ea typeface="Calibri"/>
                <a:cs typeface="Calibri"/>
              </a:rPr>
              <a:t>　The client: commissions the service and defines the SOP</a:t>
            </a:r>
          </a:p>
        </p:txBody>
      </p:sp>
      <p:sp>
        <p:nvSpPr>
          <p:cNvPr id="16" name="Rounded Rectangle 15"/>
          <p:cNvSpPr/>
          <p:nvPr/>
        </p:nvSpPr>
        <p:spPr>
          <a:xfrm>
            <a:off x="640080" y="3931920"/>
            <a:ext cx="5330952" cy="1920240"/>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2959"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8" name="TextBox 17"/>
          <p:cNvSpPr txBox="1"/>
          <p:nvPr/>
        </p:nvSpPr>
        <p:spPr>
          <a:xfrm>
            <a:off x="1207007"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本講習の3つの問い</a:t>
            </a:r>
          </a:p>
          <a:p>
            <a:pPr algn="l"/>
            <a:r>
              <a:rPr sz="1050" b="0">
                <a:solidFill>
                  <a:srgbClr val="12B198"/>
                </a:solidFill>
                <a:latin typeface="Calibri"/>
                <a:ea typeface="Calibri"/>
                <a:cs typeface="Calibri"/>
              </a:rPr>
              <a:t>Three Questions for This Course</a:t>
            </a:r>
          </a:p>
        </p:txBody>
      </p:sp>
      <p:sp>
        <p:nvSpPr>
          <p:cNvPr id="19" name="TextBox 18"/>
          <p:cNvSpPr txBox="1"/>
          <p:nvPr/>
        </p:nvSpPr>
        <p:spPr>
          <a:xfrm>
            <a:off x="859536"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・何を守っているのか。People / Asset / Reputation のどれか</a:t>
            </a:r>
          </a:p>
          <a:p>
            <a:pPr algn="l"/>
            <a:r>
              <a:rPr sz="900" b="0">
                <a:solidFill>
                  <a:srgbClr val="2E3D4C"/>
                </a:solidFill>
                <a:latin typeface="Calibri"/>
                <a:ea typeface="Calibri"/>
                <a:cs typeface="Calibri"/>
              </a:rPr>
              <a:t>　What am I protecting? People, Asset, or Reputation</a:t>
            </a:r>
          </a:p>
          <a:p>
            <a:pPr algn="l">
              <a:spcBef>
                <a:spcPts val="300"/>
              </a:spcBef>
            </a:pPr>
            <a:r>
              <a:rPr sz="950" b="0">
                <a:solidFill>
                  <a:srgbClr val="1B2733"/>
                </a:solidFill>
                <a:latin typeface="Yu Gothic"/>
                <a:ea typeface="Yu Gothic"/>
                <a:cs typeface="Yu Gothic"/>
              </a:rPr>
              <a:t>・どの立場で動くのか。私人か、管理権者の補助者か</a:t>
            </a:r>
          </a:p>
          <a:p>
            <a:pPr algn="l"/>
            <a:r>
              <a:rPr sz="900" b="0">
                <a:solidFill>
                  <a:srgbClr val="2E3D4C"/>
                </a:solidFill>
                <a:latin typeface="Calibri"/>
                <a:ea typeface="Calibri"/>
                <a:cs typeface="Calibri"/>
              </a:rPr>
              <a:t>　In what capacity? Private citizen, or delegated agent</a:t>
            </a:r>
          </a:p>
          <a:p>
            <a:pPr algn="l">
              <a:spcBef>
                <a:spcPts val="300"/>
              </a:spcBef>
            </a:pPr>
            <a:r>
              <a:rPr sz="950" b="0">
                <a:solidFill>
                  <a:srgbClr val="1B2733"/>
                </a:solidFill>
                <a:latin typeface="Yu Gothic"/>
                <a:ea typeface="Yu Gothic"/>
                <a:cs typeface="Yu Gothic"/>
              </a:rPr>
              <a:t>・その手段は最小限か。越えれば何の罪に当たるか</a:t>
            </a:r>
          </a:p>
          <a:p>
            <a:pPr algn="l"/>
            <a:r>
              <a:rPr sz="900" b="0">
                <a:solidFill>
                  <a:srgbClr val="2E3D4C"/>
                </a:solidFill>
                <a:latin typeface="Calibri"/>
                <a:ea typeface="Calibri"/>
                <a:cs typeface="Calibri"/>
              </a:rPr>
              <a:t>　Is this the minimum? If I exceed it, what offence is it</a:t>
            </a:r>
          </a:p>
        </p:txBody>
      </p:sp>
      <p:sp>
        <p:nvSpPr>
          <p:cNvPr id="20" name="Rounded Rectangle 19"/>
          <p:cNvSpPr/>
          <p:nvPr/>
        </p:nvSpPr>
        <p:spPr>
          <a:xfrm>
            <a:off x="6227064" y="3931920"/>
            <a:ext cx="5330952" cy="1920240"/>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4096511"/>
            <a:ext cx="310896" cy="310896"/>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2" name="TextBox 21"/>
          <p:cNvSpPr txBox="1"/>
          <p:nvPr/>
        </p:nvSpPr>
        <p:spPr>
          <a:xfrm>
            <a:off x="6793992" y="4059935"/>
            <a:ext cx="4562856" cy="512064"/>
          </a:xfrm>
          <a:prstGeom prst="rect">
            <a:avLst/>
          </a:prstGeom>
          <a:noFill/>
        </p:spPr>
        <p:txBody>
          <a:bodyPr wrap="square" lIns="0" rIns="0" tIns="0" bIns="0" anchor="t">
            <a:spAutoFit/>
          </a:bodyPr>
          <a:lstStyle/>
          <a:p>
            <a:pPr algn="l"/>
            <a:r>
              <a:rPr sz="1200" b="1">
                <a:solidFill>
                  <a:srgbClr val="093259"/>
                </a:solidFill>
                <a:latin typeface="Yu Gothic"/>
                <a:ea typeface="Yu Gothic"/>
                <a:cs typeface="Yu Gothic"/>
              </a:rPr>
              <a:t>2日間の流れ</a:t>
            </a:r>
          </a:p>
          <a:p>
            <a:pPr algn="l"/>
            <a:r>
              <a:rPr sz="1050" b="0">
                <a:solidFill>
                  <a:srgbClr val="12B198"/>
                </a:solidFill>
                <a:latin typeface="Calibri"/>
                <a:ea typeface="Calibri"/>
                <a:cs typeface="Calibri"/>
              </a:rPr>
              <a:t>The Two Days</a:t>
            </a:r>
          </a:p>
        </p:txBody>
      </p:sp>
      <p:sp>
        <p:nvSpPr>
          <p:cNvPr id="23" name="TextBox 22"/>
          <p:cNvSpPr txBox="1"/>
          <p:nvPr/>
        </p:nvSpPr>
        <p:spPr>
          <a:xfrm>
            <a:off x="6446520" y="4590288"/>
            <a:ext cx="4937760" cy="1225296"/>
          </a:xfrm>
          <a:prstGeom prst="rect">
            <a:avLst/>
          </a:prstGeom>
          <a:noFill/>
        </p:spPr>
        <p:txBody>
          <a:bodyPr wrap="square" lIns="0" rIns="0" tIns="0" bIns="0" anchor="t">
            <a:spAutoFit/>
          </a:bodyPr>
          <a:lstStyle/>
          <a:p>
            <a:pPr algn="l"/>
            <a:r>
              <a:rPr sz="950" b="0">
                <a:solidFill>
                  <a:srgbClr val="1B2733"/>
                </a:solidFill>
                <a:latin typeface="Yu Gothic"/>
                <a:ea typeface="Yu Gothic"/>
                <a:cs typeface="Yu Gothic"/>
              </a:rPr>
              <a:t>・Day 1 ― 基本教育。全業務に共通する土台</a:t>
            </a:r>
          </a:p>
          <a:p>
            <a:pPr algn="l"/>
            <a:r>
              <a:rPr sz="900" b="0">
                <a:solidFill>
                  <a:srgbClr val="2E3D4C"/>
                </a:solidFill>
                <a:latin typeface="Calibri"/>
                <a:ea typeface="Calibri"/>
                <a:cs typeface="Calibri"/>
              </a:rPr>
              <a:t>　Day 1: basic training, the common foundation</a:t>
            </a:r>
          </a:p>
          <a:p>
            <a:pPr algn="l">
              <a:spcBef>
                <a:spcPts val="300"/>
              </a:spcBef>
            </a:pPr>
            <a:r>
              <a:rPr sz="950" b="0">
                <a:solidFill>
                  <a:srgbClr val="1B2733"/>
                </a:solidFill>
                <a:latin typeface="Yu Gothic"/>
                <a:ea typeface="Yu Gothic"/>
                <a:cs typeface="Yu Gothic"/>
              </a:rPr>
              <a:t>・Day 2 ― 業務別教育。施設警備の実務</a:t>
            </a:r>
          </a:p>
          <a:p>
            <a:pPr algn="l"/>
            <a:r>
              <a:rPr sz="900" b="0">
                <a:solidFill>
                  <a:srgbClr val="2E3D4C"/>
                </a:solidFill>
                <a:latin typeface="Calibri"/>
                <a:ea typeface="Calibri"/>
                <a:cs typeface="Calibri"/>
              </a:rPr>
              <a:t>　Day 2: task-specific training, facility security</a:t>
            </a:r>
          </a:p>
          <a:p>
            <a:pPr algn="l">
              <a:spcBef>
                <a:spcPts val="300"/>
              </a:spcBef>
            </a:pPr>
            <a:r>
              <a:rPr sz="950" b="0">
                <a:solidFill>
                  <a:srgbClr val="1B2733"/>
                </a:solidFill>
                <a:latin typeface="Yu Gothic"/>
                <a:ea typeface="Yu Gothic"/>
                <a:cs typeface="Yu Gothic"/>
              </a:rPr>
              <a:t>・第5時限は通報訓練、第6時限は応急手当の実技</a:t>
            </a:r>
          </a:p>
          <a:p>
            <a:pPr algn="l"/>
            <a:r>
              <a:rPr sz="900" b="0">
                <a:solidFill>
                  <a:srgbClr val="2E3D4C"/>
                </a:solidFill>
                <a:latin typeface="Calibri"/>
                <a:ea typeface="Calibri"/>
                <a:cs typeface="Calibri"/>
              </a:rPr>
              <a:t>　Period 5 is call practice; Period 6 is hands-on first aid</a:t>
            </a:r>
          </a:p>
        </p:txBody>
      </p:sp>
      <p:sp>
        <p:nvSpPr>
          <p:cNvPr id="24" name="TextBox 23"/>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報告ライン、クライアント窓口、常駐時間帯は現場ごとに異なる。</a:t>
            </a:r>
          </a:p>
          <a:p>
            <a:pPr algn="l"/>
            <a:r>
              <a:rPr sz="850" b="0">
                <a:solidFill>
                  <a:srgbClr val="0D8A76"/>
                </a:solidFill>
                <a:latin typeface="Calibri"/>
                <a:ea typeface="Calibri"/>
                <a:cs typeface="Calibri"/>
              </a:rPr>
              <a:t>Reporting lines, client contacts and staffing hours differ by site.</a:t>
            </a:r>
          </a:p>
        </p:txBody>
      </p:sp>
      <p:sp>
        <p:nvSpPr>
          <p:cNvPr id="25" name="TextBox 24"/>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26" name="TextBox 25"/>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7" name="TextBox 26"/>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475488"/>
            <a:ext cx="9802368" cy="96012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ミニTTX ― ○か×か、根拠を一言で</a:t>
            </a:r>
          </a:p>
          <a:p>
            <a:pPr algn="l">
              <a:spcBef>
                <a:spcPts val="300"/>
              </a:spcBef>
            </a:pPr>
            <a:r>
              <a:rPr sz="1600" b="0">
                <a:solidFill>
                  <a:srgbClr val="12B198"/>
                </a:solidFill>
                <a:latin typeface="Calibri"/>
                <a:ea typeface="Calibri"/>
                <a:cs typeface="Calibri"/>
              </a:rPr>
              <a:t>Mini TTX — Yes or No, with one line of reasoning</a:t>
            </a:r>
          </a:p>
        </p:txBody>
      </p:sp>
      <p:sp>
        <p:nvSpPr>
          <p:cNvPr id="4" name="TextBox 3"/>
          <p:cNvSpPr txBox="1"/>
          <p:nvPr/>
        </p:nvSpPr>
        <p:spPr>
          <a:xfrm>
            <a:off x="640080" y="1499616"/>
            <a:ext cx="10908792" cy="512064"/>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手元に○×と根拠を書いてください。挙手は求めません。指名します。</a:t>
            </a:r>
          </a:p>
          <a:p>
            <a:pPr algn="l"/>
            <a:r>
              <a:rPr sz="1200" b="0">
                <a:solidFill>
                  <a:srgbClr val="2E3D4C"/>
                </a:solidFill>
                <a:latin typeface="Calibri"/>
                <a:ea typeface="Calibri"/>
                <a:cs typeface="Calibri"/>
              </a:rPr>
              <a:t>Write your answer and your reason. No hands needed. I will call on you.</a:t>
            </a:r>
          </a:p>
        </p:txBody>
      </p:sp>
      <p:sp>
        <p:nvSpPr>
          <p:cNvPr id="5" name="Rounded Rectangle 4"/>
          <p:cNvSpPr/>
          <p:nvPr/>
        </p:nvSpPr>
        <p:spPr>
          <a:xfrm>
            <a:off x="640080" y="2194560"/>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247802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7" name="TextBox 6"/>
          <p:cNvSpPr txBox="1"/>
          <p:nvPr/>
        </p:nvSpPr>
        <p:spPr>
          <a:xfrm>
            <a:off x="1243584" y="2267712"/>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自社の社員が自社ビルを見回るのは、警備業である。</a:t>
            </a:r>
          </a:p>
          <a:p>
            <a:pPr algn="l"/>
            <a:r>
              <a:rPr sz="1050" b="0">
                <a:solidFill>
                  <a:srgbClr val="2E3D4C"/>
                </a:solidFill>
                <a:latin typeface="Calibri"/>
                <a:ea typeface="Calibri"/>
                <a:cs typeface="Calibri"/>
              </a:rPr>
              <a:t>Staff patrolling their own company's building is the security industry.</a:t>
            </a:r>
          </a:p>
        </p:txBody>
      </p:sp>
      <p:sp>
        <p:nvSpPr>
          <p:cNvPr id="8" name="Rounded Rectangle 7"/>
          <p:cNvSpPr/>
          <p:nvPr/>
        </p:nvSpPr>
        <p:spPr>
          <a:xfrm>
            <a:off x="6236208" y="2194560"/>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19088" y="2478024"/>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0" name="TextBox 9"/>
          <p:cNvSpPr txBox="1"/>
          <p:nvPr/>
        </p:nvSpPr>
        <p:spPr>
          <a:xfrm>
            <a:off x="6839712" y="2267712"/>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制服を着ているので、警察官に準じた権限がある。</a:t>
            </a:r>
          </a:p>
          <a:p>
            <a:pPr algn="l"/>
            <a:r>
              <a:rPr sz="1050" b="0">
                <a:solidFill>
                  <a:srgbClr val="2E3D4C"/>
                </a:solidFill>
                <a:latin typeface="Calibri"/>
                <a:ea typeface="Calibri"/>
                <a:cs typeface="Calibri"/>
              </a:rPr>
              <a:t>Wearing the uniform gives you powers similar to a police officer.</a:t>
            </a:r>
          </a:p>
        </p:txBody>
      </p:sp>
      <p:sp>
        <p:nvSpPr>
          <p:cNvPr id="11" name="Rounded Rectangle 10"/>
          <p:cNvSpPr/>
          <p:nvPr/>
        </p:nvSpPr>
        <p:spPr>
          <a:xfrm>
            <a:off x="640080" y="323697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2959" y="352044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3" name="TextBox 12"/>
          <p:cNvSpPr txBox="1"/>
          <p:nvPr/>
        </p:nvSpPr>
        <p:spPr>
          <a:xfrm>
            <a:off x="1243584" y="331012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逃げた相手を追いかけて捕まえるのは、警備員の仕事である。</a:t>
            </a:r>
          </a:p>
          <a:p>
            <a:pPr algn="l"/>
            <a:r>
              <a:rPr sz="1050" b="0">
                <a:solidFill>
                  <a:srgbClr val="2E3D4C"/>
                </a:solidFill>
                <a:latin typeface="Calibri"/>
                <a:ea typeface="Calibri"/>
                <a:cs typeface="Calibri"/>
              </a:rPr>
              <a:t>Chasing and catching someone who runs is a guard's job.</a:t>
            </a:r>
          </a:p>
        </p:txBody>
      </p:sp>
      <p:sp>
        <p:nvSpPr>
          <p:cNvPr id="14" name="Rounded Rectangle 13"/>
          <p:cNvSpPr/>
          <p:nvPr/>
        </p:nvSpPr>
        <p:spPr>
          <a:xfrm>
            <a:off x="6236208" y="323697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19088" y="352044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16" name="TextBox 15"/>
          <p:cNvSpPr txBox="1"/>
          <p:nvPr/>
        </p:nvSpPr>
        <p:spPr>
          <a:xfrm>
            <a:off x="6839712" y="331012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同意がなくても、規則であればカバンを開けてよい。</a:t>
            </a:r>
          </a:p>
          <a:p>
            <a:pPr algn="l"/>
            <a:r>
              <a:rPr sz="1050" b="0">
                <a:solidFill>
                  <a:srgbClr val="2E3D4C"/>
                </a:solidFill>
                <a:latin typeface="Calibri"/>
                <a:ea typeface="Calibri"/>
                <a:cs typeface="Calibri"/>
              </a:rPr>
              <a:t>If it is the rule, you may open a bag without consent.</a:t>
            </a:r>
          </a:p>
        </p:txBody>
      </p:sp>
      <p:sp>
        <p:nvSpPr>
          <p:cNvPr id="17" name="Rounded Rectangle 16"/>
          <p:cNvSpPr/>
          <p:nvPr/>
        </p:nvSpPr>
        <p:spPr>
          <a:xfrm>
            <a:off x="640080" y="428853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59" y="457200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5</a:t>
            </a:r>
          </a:p>
        </p:txBody>
      </p:sp>
      <p:sp>
        <p:nvSpPr>
          <p:cNvPr id="19" name="TextBox 18"/>
          <p:cNvSpPr txBox="1"/>
          <p:nvPr/>
        </p:nvSpPr>
        <p:spPr>
          <a:xfrm>
            <a:off x="1243584" y="436168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入館の可否を判断できるのは、管理権者から委ねられているからである。</a:t>
            </a:r>
          </a:p>
          <a:p>
            <a:pPr algn="l"/>
            <a:r>
              <a:rPr sz="1050" b="0">
                <a:solidFill>
                  <a:srgbClr val="2E3D4C"/>
                </a:solidFill>
                <a:latin typeface="Calibri"/>
                <a:ea typeface="Calibri"/>
                <a:cs typeface="Calibri"/>
              </a:rPr>
              <a:t>You can decide admission because the site authority delegated it.</a:t>
            </a:r>
          </a:p>
        </p:txBody>
      </p:sp>
      <p:sp>
        <p:nvSpPr>
          <p:cNvPr id="20" name="Rounded Rectangle 19"/>
          <p:cNvSpPr/>
          <p:nvPr/>
        </p:nvSpPr>
        <p:spPr>
          <a:xfrm>
            <a:off x="6236208" y="4288536"/>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19088" y="4572000"/>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6</a:t>
            </a:r>
          </a:p>
        </p:txBody>
      </p:sp>
      <p:sp>
        <p:nvSpPr>
          <p:cNvPr id="22" name="TextBox 21"/>
          <p:cNvSpPr txBox="1"/>
          <p:nvPr/>
        </p:nvSpPr>
        <p:spPr>
          <a:xfrm>
            <a:off x="6839712" y="4361688"/>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取り押さえた相手から、警察が来るまで事情を聞いてよい。</a:t>
            </a:r>
          </a:p>
          <a:p>
            <a:pPr algn="l"/>
            <a:r>
              <a:rPr sz="1050" b="0">
                <a:solidFill>
                  <a:srgbClr val="2E3D4C"/>
                </a:solidFill>
                <a:latin typeface="Calibri"/>
                <a:ea typeface="Calibri"/>
                <a:cs typeface="Calibri"/>
              </a:rPr>
              <a:t>You may question a detained person until the police arrive.</a:t>
            </a:r>
          </a:p>
        </p:txBody>
      </p:sp>
      <p:sp>
        <p:nvSpPr>
          <p:cNvPr id="23" name="Rounded Rectangle 22"/>
          <p:cNvSpPr/>
          <p:nvPr/>
        </p:nvSpPr>
        <p:spPr>
          <a:xfrm>
            <a:off x="640080" y="5330952"/>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59" y="561441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7</a:t>
            </a:r>
          </a:p>
        </p:txBody>
      </p:sp>
      <p:sp>
        <p:nvSpPr>
          <p:cNvPr id="25" name="TextBox 24"/>
          <p:cNvSpPr txBox="1"/>
          <p:nvPr/>
        </p:nvSpPr>
        <p:spPr>
          <a:xfrm>
            <a:off x="1243584" y="5404104"/>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相手の在留資格を確認するのは、警備員の権限である。</a:t>
            </a:r>
          </a:p>
          <a:p>
            <a:pPr algn="l"/>
            <a:r>
              <a:rPr sz="1050" b="0">
                <a:solidFill>
                  <a:srgbClr val="2E3D4C"/>
                </a:solidFill>
                <a:latin typeface="Calibri"/>
                <a:ea typeface="Calibri"/>
                <a:cs typeface="Calibri"/>
              </a:rPr>
              <a:t>Checking a person's visa status is within a guard's authority.</a:t>
            </a:r>
          </a:p>
        </p:txBody>
      </p:sp>
      <p:sp>
        <p:nvSpPr>
          <p:cNvPr id="26" name="Rounded Rectangle 25"/>
          <p:cNvSpPr/>
          <p:nvPr/>
        </p:nvSpPr>
        <p:spPr>
          <a:xfrm>
            <a:off x="6236208" y="5330952"/>
            <a:ext cx="5321808" cy="896112"/>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19088" y="5614416"/>
            <a:ext cx="329184" cy="329184"/>
          </a:xfrm>
          <a:prstGeom prst="ellipse">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8</a:t>
            </a:r>
          </a:p>
        </p:txBody>
      </p:sp>
      <p:sp>
        <p:nvSpPr>
          <p:cNvPr id="28" name="TextBox 27"/>
          <p:cNvSpPr txBox="1"/>
          <p:nvPr/>
        </p:nvSpPr>
        <p:spPr>
          <a:xfrm>
            <a:off x="6839712" y="5404104"/>
            <a:ext cx="4480560" cy="749808"/>
          </a:xfrm>
          <a:prstGeom prst="rect">
            <a:avLst/>
          </a:prstGeom>
          <a:noFill/>
        </p:spPr>
        <p:txBody>
          <a:bodyPr wrap="square" lIns="0" rIns="0" tIns="0" bIns="0" anchor="t">
            <a:spAutoFit/>
          </a:bodyPr>
          <a:lstStyle/>
          <a:p>
            <a:pPr algn="l"/>
            <a:r>
              <a:rPr sz="1150" b="0">
                <a:solidFill>
                  <a:srgbClr val="1B2733"/>
                </a:solidFill>
                <a:latin typeface="Yu Gothic"/>
                <a:ea typeface="Yu Gothic"/>
                <a:cs typeface="Yu Gothic"/>
              </a:rPr>
              <a:t>クライアントの要望は、法令より優先される。</a:t>
            </a:r>
          </a:p>
          <a:p>
            <a:pPr algn="l"/>
            <a:r>
              <a:rPr sz="1050" b="0">
                <a:solidFill>
                  <a:srgbClr val="2E3D4C"/>
                </a:solidFill>
                <a:latin typeface="Calibri"/>
                <a:ea typeface="Calibri"/>
                <a:cs typeface="Calibri"/>
              </a:rPr>
              <a:t>The client's wishes take precedence over the law.</a:t>
            </a:r>
          </a:p>
        </p:txBody>
      </p:sp>
      <p:sp>
        <p:nvSpPr>
          <p:cNvPr id="29" name="TextBox 28"/>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30" name="TextBox 29"/>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475488"/>
            <a:ext cx="9802368" cy="960120"/>
          </a:xfrm>
          <a:prstGeom prst="rect">
            <a:avLst/>
          </a:prstGeom>
          <a:noFill/>
        </p:spPr>
        <p:txBody>
          <a:bodyPr wrap="square" lIns="0" rIns="0" tIns="0" bIns="0" anchor="t">
            <a:spAutoFit/>
          </a:bodyPr>
          <a:lstStyle/>
          <a:p>
            <a:pPr algn="l"/>
            <a:r>
              <a:rPr sz="2700" b="1">
                <a:solidFill>
                  <a:srgbClr val="093259"/>
                </a:solidFill>
                <a:latin typeface="Yu Gothic"/>
                <a:ea typeface="Yu Gothic"/>
                <a:cs typeface="Yu Gothic"/>
              </a:rPr>
              <a:t>ミニTTX ― 解答と根拠の示し方</a:t>
            </a:r>
          </a:p>
          <a:p>
            <a:pPr algn="l">
              <a:spcBef>
                <a:spcPts val="300"/>
              </a:spcBef>
            </a:pPr>
            <a:r>
              <a:rPr sz="1600" b="0">
                <a:solidFill>
                  <a:srgbClr val="12B198"/>
                </a:solidFill>
                <a:latin typeface="Calibri"/>
                <a:ea typeface="Calibri"/>
                <a:cs typeface="Calibri"/>
              </a:rPr>
              <a:t>Mini TTX — Answers and How to State Your Reasoning</a:t>
            </a:r>
          </a:p>
        </p:txBody>
      </p:sp>
      <p:sp>
        <p:nvSpPr>
          <p:cNvPr id="4" name="TextBox 3"/>
          <p:cNvSpPr txBox="1"/>
          <p:nvPr/>
        </p:nvSpPr>
        <p:spPr>
          <a:xfrm>
            <a:off x="640080" y="1536192"/>
            <a:ext cx="10908792" cy="566928"/>
          </a:xfrm>
          <a:prstGeom prst="rect">
            <a:avLst/>
          </a:prstGeom>
          <a:noFill/>
        </p:spPr>
        <p:txBody>
          <a:bodyPr wrap="square" lIns="0" rIns="0" tIns="0" bIns="0" anchor="t">
            <a:spAutoFit/>
          </a:bodyPr>
          <a:lstStyle/>
          <a:p>
            <a:pPr algn="l"/>
            <a:r>
              <a:rPr sz="1300" b="1">
                <a:solidFill>
                  <a:srgbClr val="093259"/>
                </a:solidFill>
                <a:latin typeface="Yu Gothic"/>
                <a:ea typeface="Yu Gothic"/>
                <a:cs typeface="Yu Gothic"/>
              </a:rPr>
              <a:t>解答　1 ×　2 ×　3 ×　4 ×　5 ○　6 ×　7 ×　8 ×</a:t>
            </a:r>
          </a:p>
          <a:p>
            <a:pPr algn="l"/>
            <a:r>
              <a:rPr sz="1200" b="0">
                <a:solidFill>
                  <a:srgbClr val="2E3D4C"/>
                </a:solidFill>
                <a:latin typeface="Calibri"/>
                <a:ea typeface="Calibri"/>
                <a:cs typeface="Calibri"/>
              </a:rPr>
              <a:t>Answers:  1 No · 2 No · 3 No · 4 No · 5 Yes · 6 No · 7 No · 8 No</a:t>
            </a:r>
          </a:p>
        </p:txBody>
      </p:sp>
      <p:sp>
        <p:nvSpPr>
          <p:cNvPr id="5" name="Rounded Rectangle 4"/>
          <p:cNvSpPr/>
          <p:nvPr/>
        </p:nvSpPr>
        <p:spPr>
          <a:xfrm>
            <a:off x="640080" y="2286000"/>
            <a:ext cx="10908792" cy="7040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96112" y="2432304"/>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1</a:t>
            </a:r>
          </a:p>
        </p:txBody>
      </p:sp>
      <p:sp>
        <p:nvSpPr>
          <p:cNvPr id="7" name="TextBox 6"/>
          <p:cNvSpPr txBox="1"/>
          <p:nvPr/>
        </p:nvSpPr>
        <p:spPr>
          <a:xfrm>
            <a:off x="1499616" y="2377440"/>
            <a:ext cx="9774936" cy="521207"/>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設問1は「他人の需要に応じて」が要件です。自社を自社が守るのは警備業ではありません。</a:t>
            </a:r>
          </a:p>
          <a:p>
            <a:pPr algn="l"/>
            <a:r>
              <a:rPr sz="1300" b="0">
                <a:solidFill>
                  <a:srgbClr val="2E3D4C"/>
                </a:solidFill>
                <a:latin typeface="Calibri"/>
                <a:ea typeface="Calibri"/>
                <a:cs typeface="Calibri"/>
              </a:rPr>
              <a:t>Item 1 turns on serving others. Guarding your own premises is not the industry.</a:t>
            </a:r>
          </a:p>
        </p:txBody>
      </p:sp>
      <p:sp>
        <p:nvSpPr>
          <p:cNvPr id="8" name="Rounded Rectangle 7"/>
          <p:cNvSpPr/>
          <p:nvPr/>
        </p:nvSpPr>
        <p:spPr>
          <a:xfrm>
            <a:off x="640080" y="3099816"/>
            <a:ext cx="10908792" cy="7040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96112" y="3246120"/>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2</a:t>
            </a:r>
          </a:p>
        </p:txBody>
      </p:sp>
      <p:sp>
        <p:nvSpPr>
          <p:cNvPr id="10" name="TextBox 9"/>
          <p:cNvSpPr txBox="1"/>
          <p:nvPr/>
        </p:nvSpPr>
        <p:spPr>
          <a:xfrm>
            <a:off x="1499616" y="3191256"/>
            <a:ext cx="9774936" cy="521207"/>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設問2・3・6は同じ論点です。制服では権限は増えず、追跡も聴取もできません。</a:t>
            </a:r>
          </a:p>
          <a:p>
            <a:pPr algn="l"/>
            <a:r>
              <a:rPr sz="1300" b="0">
                <a:solidFill>
                  <a:srgbClr val="2E3D4C"/>
                </a:solidFill>
                <a:latin typeface="Calibri"/>
                <a:ea typeface="Calibri"/>
                <a:cs typeface="Calibri"/>
              </a:rPr>
              <a:t>Items 2, 3 and 6 are one point: the uniform adds nothing, and you may not chase or question.</a:t>
            </a:r>
          </a:p>
        </p:txBody>
      </p:sp>
      <p:sp>
        <p:nvSpPr>
          <p:cNvPr id="11" name="Rounded Rectangle 10"/>
          <p:cNvSpPr/>
          <p:nvPr/>
        </p:nvSpPr>
        <p:spPr>
          <a:xfrm>
            <a:off x="640080" y="3913632"/>
            <a:ext cx="10908792" cy="7040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6112" y="4059936"/>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3</a:t>
            </a:r>
          </a:p>
        </p:txBody>
      </p:sp>
      <p:sp>
        <p:nvSpPr>
          <p:cNvPr id="13" name="TextBox 12"/>
          <p:cNvSpPr txBox="1"/>
          <p:nvPr/>
        </p:nvSpPr>
        <p:spPr>
          <a:xfrm>
            <a:off x="1499616" y="4005072"/>
            <a:ext cx="9774936" cy="521207"/>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設問4は所持品検査です。同意なく開けることはできません。規則は根拠になりません。</a:t>
            </a:r>
          </a:p>
          <a:p>
            <a:pPr algn="l"/>
            <a:r>
              <a:rPr sz="1300" b="0">
                <a:solidFill>
                  <a:srgbClr val="2E3D4C"/>
                </a:solidFill>
                <a:latin typeface="Calibri"/>
                <a:ea typeface="Calibri"/>
                <a:cs typeface="Calibri"/>
              </a:rPr>
              <a:t>Item 4: you cannot open a bag without consent. A rule is not a legal basis.</a:t>
            </a:r>
          </a:p>
        </p:txBody>
      </p:sp>
      <p:sp>
        <p:nvSpPr>
          <p:cNvPr id="14" name="Rounded Rectangle 13"/>
          <p:cNvSpPr/>
          <p:nvPr/>
        </p:nvSpPr>
        <p:spPr>
          <a:xfrm>
            <a:off x="640080" y="4727448"/>
            <a:ext cx="10908792" cy="704088"/>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96112" y="4873752"/>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4</a:t>
            </a:r>
          </a:p>
        </p:txBody>
      </p:sp>
      <p:sp>
        <p:nvSpPr>
          <p:cNvPr id="16" name="TextBox 15"/>
          <p:cNvSpPr txBox="1"/>
          <p:nvPr/>
        </p:nvSpPr>
        <p:spPr>
          <a:xfrm>
            <a:off x="1499616" y="4818888"/>
            <a:ext cx="9774936" cy="521207"/>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設問7は在留資格です。確認する権限はありません。判断するのは入管と警察です。</a:t>
            </a:r>
          </a:p>
          <a:p>
            <a:pPr algn="l"/>
            <a:r>
              <a:rPr sz="1300" b="0">
                <a:solidFill>
                  <a:srgbClr val="2E3D4C"/>
                </a:solidFill>
                <a:latin typeface="Calibri"/>
                <a:ea typeface="Calibri"/>
                <a:cs typeface="Calibri"/>
              </a:rPr>
              <a:t>Item 7: you have no authority over visa status. That is for immigration and police.</a:t>
            </a:r>
          </a:p>
        </p:txBody>
      </p:sp>
      <p:sp>
        <p:nvSpPr>
          <p:cNvPr id="17" name="Rounded Rectangle 16"/>
          <p:cNvSpPr/>
          <p:nvPr/>
        </p:nvSpPr>
        <p:spPr>
          <a:xfrm>
            <a:off x="640080" y="5541264"/>
            <a:ext cx="10908792" cy="70408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96112" y="5687568"/>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5</a:t>
            </a:r>
          </a:p>
        </p:txBody>
      </p:sp>
      <p:sp>
        <p:nvSpPr>
          <p:cNvPr id="19" name="TextBox 18"/>
          <p:cNvSpPr txBox="1"/>
          <p:nvPr/>
        </p:nvSpPr>
        <p:spPr>
          <a:xfrm>
            <a:off x="1499616" y="5632704"/>
            <a:ext cx="9774936" cy="521207"/>
          </a:xfrm>
          <a:prstGeom prst="rect">
            <a:avLst/>
          </a:prstGeom>
          <a:noFill/>
        </p:spPr>
        <p:txBody>
          <a:bodyPr wrap="square" lIns="0" rIns="0" tIns="0" bIns="0" anchor="t">
            <a:spAutoFit/>
          </a:bodyPr>
          <a:lstStyle/>
          <a:p>
            <a:pPr algn="l"/>
            <a:r>
              <a:rPr sz="1400" b="0">
                <a:solidFill>
                  <a:srgbClr val="1B2733"/>
                </a:solidFill>
                <a:latin typeface="Yu Gothic"/>
                <a:ea typeface="Yu Gothic"/>
                <a:cs typeface="Yu Gothic"/>
              </a:rPr>
              <a:t>根拠の示し方：「〔私人／補助者〕として、〔目的〕のため、〔手段〕を取った」</a:t>
            </a:r>
          </a:p>
          <a:p>
            <a:pPr algn="l"/>
            <a:r>
              <a:rPr sz="1300" b="0">
                <a:solidFill>
                  <a:srgbClr val="2E3D4C"/>
                </a:solidFill>
                <a:latin typeface="Calibri"/>
                <a:ea typeface="Calibri"/>
                <a:cs typeface="Calibri"/>
              </a:rPr>
              <a:t>State it this way: "As a [citizen / delegated agent], I took [action] for [purpose]."</a:t>
            </a:r>
          </a:p>
        </p:txBody>
      </p:sp>
      <p:sp>
        <p:nvSpPr>
          <p:cNvPr id="20" name="TextBox 19"/>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1" name="TextBox 20"/>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TTX 1-A　警察官と間違われる</a:t>
            </a:r>
          </a:p>
          <a:p>
            <a:pPr algn="l">
              <a:spcBef>
                <a:spcPts val="200"/>
              </a:spcBef>
            </a:pPr>
            <a:r>
              <a:rPr sz="1400" b="0">
                <a:solidFill>
                  <a:srgbClr val="12B198"/>
                </a:solidFill>
                <a:latin typeface="Calibri"/>
                <a:ea typeface="Calibri"/>
                <a:cs typeface="Calibri"/>
              </a:rPr>
              <a:t>TTX 1-A — Mistaken for a Police Officer</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CASE 1-A</a:t>
            </a:r>
          </a:p>
        </p:txBody>
      </p:sp>
      <p:sp>
        <p:nvSpPr>
          <p:cNvPr id="6" name="Rounded Rectangle 5"/>
          <p:cNvSpPr/>
          <p:nvPr/>
        </p:nvSpPr>
        <p:spPr>
          <a:xfrm>
            <a:off x="640080" y="1188720"/>
            <a:ext cx="10908792" cy="1124712"/>
          </a:xfrm>
          <a:prstGeom prst="roundRect">
            <a:avLst>
              <a:gd name="adj" fmla="val 19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316736"/>
            <a:ext cx="10287000" cy="868680"/>
          </a:xfrm>
          <a:prstGeom prst="rect">
            <a:avLst/>
          </a:prstGeom>
          <a:noFill/>
        </p:spPr>
        <p:txBody>
          <a:bodyPr wrap="square" lIns="0" rIns="0" tIns="0" bIns="0" anchor="t">
            <a:spAutoFit/>
          </a:bodyPr>
          <a:lstStyle/>
          <a:p>
            <a:pPr algn="l"/>
            <a:r>
              <a:rPr sz="950" b="1">
                <a:solidFill>
                  <a:srgbClr val="12B198"/>
                </a:solidFill>
                <a:latin typeface="Yu Gothic"/>
                <a:ea typeface="Yu Gothic"/>
                <a:cs typeface="Yu Gothic"/>
              </a:rPr>
              <a:t>シナリオ / SCENARIO</a:t>
            </a:r>
          </a:p>
          <a:p>
            <a:pPr algn="l">
              <a:spcBef>
                <a:spcPts val="300"/>
              </a:spcBef>
            </a:pPr>
            <a:r>
              <a:rPr sz="1100" b="0">
                <a:solidFill>
                  <a:srgbClr val="FFFFFF"/>
                </a:solidFill>
                <a:latin typeface="Yu Gothic"/>
                <a:ea typeface="Yu Gothic"/>
                <a:cs typeface="Yu Gothic"/>
              </a:rPr>
              <a:t>平日の朝、オフィスビルのエントランスで立哨中。通りかかった女性が「近くで自転車を盗まれたので調書を取ってほしい」と話しかけてきた。あなたの制服を見て、警察官だと思っている様子である。周囲には出勤中の社員が多数いる。</a:t>
            </a:r>
          </a:p>
          <a:p>
            <a:pPr algn="l">
              <a:spcBef>
                <a:spcPts val="300"/>
              </a:spcBef>
            </a:pPr>
            <a:r>
              <a:rPr sz="1050" b="0">
                <a:solidFill>
                  <a:srgbClr val="CBE8E0"/>
                </a:solidFill>
                <a:latin typeface="Calibri"/>
                <a:ea typeface="Calibri"/>
                <a:cs typeface="Calibri"/>
              </a:rPr>
              <a:t>Morning, on stand at an office building entrance. A woman stops and asks you to take a report because her bicycle was stolen nearby. She appears to think your uniform means you are a police officer. Many employees are arriving around you.</a:t>
            </a:r>
          </a:p>
        </p:txBody>
      </p:sp>
      <p:sp>
        <p:nvSpPr>
          <p:cNvPr id="8" name="TextBox 7"/>
          <p:cNvSpPr txBox="1"/>
          <p:nvPr/>
        </p:nvSpPr>
        <p:spPr>
          <a:xfrm>
            <a:off x="640080" y="2459736"/>
            <a:ext cx="10908792" cy="566928"/>
          </a:xfrm>
          <a:prstGeom prst="rect">
            <a:avLst/>
          </a:prstGeom>
          <a:noFill/>
        </p:spPr>
        <p:txBody>
          <a:bodyPr wrap="square" lIns="0" rIns="0" tIns="0" bIns="0" anchor="t">
            <a:spAutoFit/>
          </a:bodyPr>
          <a:lstStyle/>
          <a:p>
            <a:pPr algn="l"/>
            <a:r>
              <a:rPr sz="1050" b="1">
                <a:solidFill>
                  <a:srgbClr val="0D8A76"/>
                </a:solidFill>
                <a:latin typeface="Yu Gothic"/>
                <a:ea typeface="Yu Gothic"/>
                <a:cs typeface="Yu Gothic"/>
              </a:rPr>
              <a:t>問い　あなたなら次の60秒、何をどう動きますか。</a:t>
            </a:r>
          </a:p>
          <a:p>
            <a:pPr algn="l"/>
            <a:r>
              <a:rPr sz="1000" b="0">
                <a:solidFill>
                  <a:srgbClr val="0D8A76"/>
                </a:solidFill>
                <a:latin typeface="Calibri"/>
                <a:ea typeface="Calibri"/>
                <a:cs typeface="Calibri"/>
              </a:rPr>
              <a:t>What do you do in the next sixty seconds?</a:t>
            </a:r>
          </a:p>
        </p:txBody>
      </p:sp>
      <p:sp>
        <p:nvSpPr>
          <p:cNvPr id="9" name="Rounded Rectangle 8"/>
          <p:cNvSpPr/>
          <p:nvPr/>
        </p:nvSpPr>
        <p:spPr>
          <a:xfrm>
            <a:off x="640080" y="3081528"/>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1" y="3355848"/>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188719" y="3136392"/>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これは People / Asset / Reputation のどれに関わるか。</a:t>
            </a:r>
          </a:p>
          <a:p>
            <a:pPr algn="l"/>
            <a:r>
              <a:rPr sz="950" b="0">
                <a:solidFill>
                  <a:srgbClr val="2E3D4C"/>
                </a:solidFill>
                <a:latin typeface="Calibri"/>
                <a:ea typeface="Calibri"/>
                <a:cs typeface="Calibri"/>
              </a:rPr>
              <a:t>Which pillar does this concern: People, Asset, or Reputation?</a:t>
            </a:r>
          </a:p>
        </p:txBody>
      </p:sp>
      <p:sp>
        <p:nvSpPr>
          <p:cNvPr id="12" name="Rounded Rectangle 11"/>
          <p:cNvSpPr/>
          <p:nvPr/>
        </p:nvSpPr>
        <p:spPr>
          <a:xfrm>
            <a:off x="6227064" y="3081528"/>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1655" y="3355848"/>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75703" y="3136392"/>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「警察官ではない」ことを、どう伝えるか。</a:t>
            </a:r>
          </a:p>
          <a:p>
            <a:pPr algn="l"/>
            <a:r>
              <a:rPr sz="950" b="0">
                <a:solidFill>
                  <a:srgbClr val="2E3D4C"/>
                </a:solidFill>
                <a:latin typeface="Calibri"/>
                <a:ea typeface="Calibri"/>
                <a:cs typeface="Calibri"/>
              </a:rPr>
              <a:t>How do you convey that you are not a police officer?</a:t>
            </a:r>
          </a:p>
        </p:txBody>
      </p:sp>
      <p:sp>
        <p:nvSpPr>
          <p:cNvPr id="15" name="Rounded Rectangle 14"/>
          <p:cNvSpPr/>
          <p:nvPr/>
        </p:nvSpPr>
        <p:spPr>
          <a:xfrm>
            <a:off x="640080" y="4032504"/>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1" y="4306824"/>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7" name="TextBox 16"/>
          <p:cNvSpPr txBox="1"/>
          <p:nvPr/>
        </p:nvSpPr>
        <p:spPr>
          <a:xfrm>
            <a:off x="1188719" y="4087368"/>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調書を取る、被害届を預かることはできるか。</a:t>
            </a:r>
          </a:p>
          <a:p>
            <a:pPr algn="l"/>
            <a:r>
              <a:rPr sz="950" b="0">
                <a:solidFill>
                  <a:srgbClr val="2E3D4C"/>
                </a:solidFill>
                <a:latin typeface="Calibri"/>
                <a:ea typeface="Calibri"/>
                <a:cs typeface="Calibri"/>
              </a:rPr>
              <a:t>May you take a statement or accept a report?</a:t>
            </a:r>
          </a:p>
        </p:txBody>
      </p:sp>
      <p:sp>
        <p:nvSpPr>
          <p:cNvPr id="18" name="Rounded Rectangle 17"/>
          <p:cNvSpPr/>
          <p:nvPr/>
        </p:nvSpPr>
        <p:spPr>
          <a:xfrm>
            <a:off x="6227064" y="4032504"/>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91655" y="4306824"/>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0" name="TextBox 19"/>
          <p:cNvSpPr txBox="1"/>
          <p:nvPr/>
        </p:nvSpPr>
        <p:spPr>
          <a:xfrm>
            <a:off x="6775703" y="4087368"/>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持ち場を離れて交番まで案内してよいか。</a:t>
            </a:r>
          </a:p>
          <a:p>
            <a:pPr algn="l"/>
            <a:r>
              <a:rPr sz="950" b="0">
                <a:solidFill>
                  <a:srgbClr val="2E3D4C"/>
                </a:solidFill>
                <a:latin typeface="Calibri"/>
                <a:ea typeface="Calibri"/>
                <a:cs typeface="Calibri"/>
              </a:rPr>
              <a:t>May you leave your post to walk her to the police box?</a:t>
            </a:r>
          </a:p>
        </p:txBody>
      </p:sp>
      <p:sp>
        <p:nvSpPr>
          <p:cNvPr id="21" name="Rounded Rectangle 20"/>
          <p:cNvSpPr/>
          <p:nvPr/>
        </p:nvSpPr>
        <p:spPr>
          <a:xfrm>
            <a:off x="640080" y="4919472"/>
            <a:ext cx="10908792" cy="420624"/>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4946904"/>
            <a:ext cx="10433304" cy="365760"/>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追加付与① / Inject 1　女性が「警察じゃないなら意味がない」と大きな声を出し始めた。</a:t>
            </a:r>
          </a:p>
          <a:p>
            <a:pPr algn="l"/>
            <a:r>
              <a:rPr sz="800" b="0">
                <a:solidFill>
                  <a:srgbClr val="0D8A76"/>
                </a:solidFill>
                <a:latin typeface="Calibri"/>
                <a:ea typeface="Calibri"/>
                <a:cs typeface="Calibri"/>
              </a:rPr>
              <a:t>She raises her voice: "If you are not the police, this is useless."</a:t>
            </a:r>
          </a:p>
        </p:txBody>
      </p:sp>
      <p:sp>
        <p:nvSpPr>
          <p:cNvPr id="23" name="Rounded Rectangle 22"/>
          <p:cNvSpPr/>
          <p:nvPr/>
        </p:nvSpPr>
        <p:spPr>
          <a:xfrm>
            <a:off x="640080" y="5394960"/>
            <a:ext cx="10908792" cy="420624"/>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7824" y="5422392"/>
            <a:ext cx="10433304" cy="365760"/>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追加付与② / Inject 2　出勤中の社員が足を止めて、こちらを見ている。</a:t>
            </a:r>
          </a:p>
          <a:p>
            <a:pPr algn="l"/>
            <a:r>
              <a:rPr sz="800" b="0">
                <a:solidFill>
                  <a:srgbClr val="0D8A76"/>
                </a:solidFill>
                <a:latin typeface="Calibri"/>
                <a:ea typeface="Calibri"/>
                <a:cs typeface="Calibri"/>
              </a:rPr>
              <a:t>Arriving employees have stopped and are watching.</a:t>
            </a:r>
          </a:p>
        </p:txBody>
      </p:sp>
      <p:sp>
        <p:nvSpPr>
          <p:cNvPr id="25" name="TextBox 24"/>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立哨位置を離れてよいか、離れる場合の連絡先は現場ごとに定められている。</a:t>
            </a:r>
          </a:p>
          <a:p>
            <a:pPr algn="l"/>
            <a:r>
              <a:rPr sz="850" b="0">
                <a:solidFill>
                  <a:srgbClr val="0D8A76"/>
                </a:solidFill>
                <a:latin typeface="Calibri"/>
                <a:ea typeface="Calibri"/>
                <a:cs typeface="Calibri"/>
              </a:rPr>
              <a:t>Whether you may leave your post, and whom to notify, are set per site.</a:t>
            </a:r>
          </a:p>
        </p:txBody>
      </p:sp>
      <p:sp>
        <p:nvSpPr>
          <p:cNvPr id="26" name="TextBox 25"/>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27" name="TextBox 26"/>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8" name="TextBox 27"/>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TTX 1-A 模範解答</a:t>
            </a:r>
          </a:p>
          <a:p>
            <a:pPr algn="l">
              <a:spcBef>
                <a:spcPts val="200"/>
              </a:spcBef>
            </a:pPr>
            <a:r>
              <a:rPr sz="1400" b="0">
                <a:solidFill>
                  <a:srgbClr val="12B198"/>
                </a:solidFill>
                <a:latin typeface="Calibri"/>
                <a:ea typeface="Calibri"/>
                <a:cs typeface="Calibri"/>
              </a:rPr>
              <a:t>TTX 1-A — Model Answers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DEBRIEF</a:t>
            </a:r>
          </a:p>
        </p:txBody>
      </p:sp>
      <p:sp>
        <p:nvSpPr>
          <p:cNvPr id="6" name="Rounded Rectangle 5"/>
          <p:cNvSpPr/>
          <p:nvPr/>
        </p:nvSpPr>
        <p:spPr>
          <a:xfrm>
            <a:off x="640080" y="1188720"/>
            <a:ext cx="10908792" cy="8595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96112" y="1426464"/>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1</a:t>
            </a:r>
          </a:p>
        </p:txBody>
      </p:sp>
      <p:sp>
        <p:nvSpPr>
          <p:cNvPr id="8" name="TextBox 7"/>
          <p:cNvSpPr txBox="1"/>
          <p:nvPr/>
        </p:nvSpPr>
        <p:spPr>
          <a:xfrm>
            <a:off x="1499616" y="1261872"/>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問1 どの柱に関わるか</a:t>
            </a:r>
          </a:p>
          <a:p>
            <a:pPr algn="l">
              <a:spcBef>
                <a:spcPts val="200"/>
              </a:spcBef>
            </a:pPr>
            <a:r>
              <a:rPr sz="1100" b="0">
                <a:solidFill>
                  <a:srgbClr val="1B2733"/>
                </a:solidFill>
                <a:latin typeface="Yu Gothic"/>
                <a:ea typeface="Yu Gothic"/>
                <a:cs typeface="Yu Gothic"/>
              </a:rPr>
              <a:t>People と Reputation。困っている人への対応であり、クライアントの入口での振る舞いでもある。</a:t>
            </a:r>
          </a:p>
          <a:p>
            <a:pPr algn="l"/>
            <a:r>
              <a:rPr sz="1050" b="0">
                <a:solidFill>
                  <a:srgbClr val="2E3D4C"/>
                </a:solidFill>
                <a:latin typeface="Calibri"/>
                <a:ea typeface="Calibri"/>
                <a:cs typeface="Calibri"/>
              </a:rPr>
              <a:t>People and Reputation. It is help for a person, and it is your conduct at the client's door.</a:t>
            </a:r>
          </a:p>
        </p:txBody>
      </p:sp>
      <p:sp>
        <p:nvSpPr>
          <p:cNvPr id="9" name="Rounded Rectangle 8"/>
          <p:cNvSpPr/>
          <p:nvPr/>
        </p:nvSpPr>
        <p:spPr>
          <a:xfrm>
            <a:off x="640080" y="2121408"/>
            <a:ext cx="10908792" cy="8595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6112" y="2359152"/>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2</a:t>
            </a:r>
          </a:p>
        </p:txBody>
      </p:sp>
      <p:sp>
        <p:nvSpPr>
          <p:cNvPr id="11" name="TextBox 10"/>
          <p:cNvSpPr txBox="1"/>
          <p:nvPr/>
        </p:nvSpPr>
        <p:spPr>
          <a:xfrm>
            <a:off x="1499616" y="2194560"/>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問2 「警察官ではない」の伝え方</a:t>
            </a:r>
          </a:p>
          <a:p>
            <a:pPr algn="l">
              <a:spcBef>
                <a:spcPts val="200"/>
              </a:spcBef>
            </a:pPr>
            <a:r>
              <a:rPr sz="1100" b="0">
                <a:solidFill>
                  <a:srgbClr val="1B2733"/>
                </a:solidFill>
                <a:latin typeface="Yu Gothic"/>
                <a:ea typeface="Yu Gothic"/>
                <a:cs typeface="Yu Gothic"/>
              </a:rPr>
              <a:t>先に否定しない。用件を受け止めてから伝える。「私は警備員です。交番をご案内します」。</a:t>
            </a:r>
          </a:p>
          <a:p>
            <a:pPr algn="l"/>
            <a:r>
              <a:rPr sz="1050" b="0">
                <a:solidFill>
                  <a:srgbClr val="2E3D4C"/>
                </a:solidFill>
                <a:latin typeface="Calibri"/>
                <a:ea typeface="Calibri"/>
                <a:cs typeface="Calibri"/>
              </a:rPr>
              <a:t>Do not open with the denial. Take in her problem first: "I am a guard. Let me point you to the police box."</a:t>
            </a:r>
          </a:p>
        </p:txBody>
      </p:sp>
      <p:sp>
        <p:nvSpPr>
          <p:cNvPr id="12" name="Rounded Rectangle 11"/>
          <p:cNvSpPr/>
          <p:nvPr/>
        </p:nvSpPr>
        <p:spPr>
          <a:xfrm>
            <a:off x="640080" y="3054096"/>
            <a:ext cx="10908792" cy="8595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96112" y="3291839"/>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3</a:t>
            </a:r>
          </a:p>
        </p:txBody>
      </p:sp>
      <p:sp>
        <p:nvSpPr>
          <p:cNvPr id="14" name="TextBox 13"/>
          <p:cNvSpPr txBox="1"/>
          <p:nvPr/>
        </p:nvSpPr>
        <p:spPr>
          <a:xfrm>
            <a:off x="1499616" y="3127248"/>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問3 調書・被害届は扱えるか</a:t>
            </a:r>
          </a:p>
          <a:p>
            <a:pPr algn="l">
              <a:spcBef>
                <a:spcPts val="200"/>
              </a:spcBef>
            </a:pPr>
            <a:r>
              <a:rPr sz="1100" b="0">
                <a:solidFill>
                  <a:srgbClr val="1B2733"/>
                </a:solidFill>
                <a:latin typeface="Yu Gothic"/>
                <a:ea typeface="Yu Gothic"/>
                <a:cs typeface="Yu Gothic"/>
              </a:rPr>
              <a:t>扱えない。捜査の権限はなく、書面を預かれば相手の手続きを遅らせることになる。</a:t>
            </a:r>
          </a:p>
          <a:p>
            <a:pPr algn="l"/>
            <a:r>
              <a:rPr sz="1050" b="0">
                <a:solidFill>
                  <a:srgbClr val="2E3D4C"/>
                </a:solidFill>
                <a:latin typeface="Calibri"/>
                <a:ea typeface="Calibri"/>
                <a:cs typeface="Calibri"/>
              </a:rPr>
              <a:t>No. You have no investigative power, and holding a document would delay her own process.</a:t>
            </a:r>
          </a:p>
        </p:txBody>
      </p:sp>
      <p:sp>
        <p:nvSpPr>
          <p:cNvPr id="15" name="Rounded Rectangle 14"/>
          <p:cNvSpPr/>
          <p:nvPr/>
        </p:nvSpPr>
        <p:spPr>
          <a:xfrm>
            <a:off x="640080" y="3986784"/>
            <a:ext cx="10908792" cy="8595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96112" y="4224528"/>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4</a:t>
            </a:r>
          </a:p>
        </p:txBody>
      </p:sp>
      <p:sp>
        <p:nvSpPr>
          <p:cNvPr id="17" name="TextBox 16"/>
          <p:cNvSpPr txBox="1"/>
          <p:nvPr/>
        </p:nvSpPr>
        <p:spPr>
          <a:xfrm>
            <a:off x="1499616" y="4059936"/>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問4 持ち場を離れてよいか</a:t>
            </a:r>
          </a:p>
          <a:p>
            <a:pPr algn="l">
              <a:spcBef>
                <a:spcPts val="200"/>
              </a:spcBef>
            </a:pPr>
            <a:r>
              <a:rPr sz="1100" b="0">
                <a:solidFill>
                  <a:srgbClr val="1B2733"/>
                </a:solidFill>
                <a:latin typeface="Yu Gothic"/>
                <a:ea typeface="Yu Gothic"/>
                <a:cs typeface="Yu Gothic"/>
              </a:rPr>
              <a:t>原則として離れない。案内は口頭と指差しで行い、必要なら上長へ連絡する。</a:t>
            </a:r>
          </a:p>
          <a:p>
            <a:pPr algn="l"/>
            <a:r>
              <a:rPr sz="1050" b="0">
                <a:solidFill>
                  <a:srgbClr val="2E3D4C"/>
                </a:solidFill>
                <a:latin typeface="Calibri"/>
                <a:ea typeface="Calibri"/>
                <a:cs typeface="Calibri"/>
              </a:rPr>
              <a:t>As a rule, do not leave. Direct her verbally and by pointing; call your supervisor if needed.</a:t>
            </a:r>
          </a:p>
        </p:txBody>
      </p:sp>
      <p:sp>
        <p:nvSpPr>
          <p:cNvPr id="18" name="Rounded Rectangle 17"/>
          <p:cNvSpPr/>
          <p:nvPr/>
        </p:nvSpPr>
        <p:spPr>
          <a:xfrm>
            <a:off x="640080" y="4956048"/>
            <a:ext cx="10908792" cy="365760"/>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974336"/>
            <a:ext cx="10433304" cy="329184"/>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追加付与① / Inject 1　「意味がない」と声が大きくなった → 反論しない。声量を下げ、できることだけを短く伝える。</a:t>
            </a:r>
          </a:p>
          <a:p>
            <a:pPr algn="l"/>
            <a:r>
              <a:rPr sz="800" b="0">
                <a:solidFill>
                  <a:srgbClr val="0D8A76"/>
                </a:solidFill>
                <a:latin typeface="Calibri"/>
                <a:ea typeface="Calibri"/>
                <a:cs typeface="Calibri"/>
              </a:rPr>
              <a:t>Do not argue back. Lower your own volume and state only what you can do.</a:t>
            </a:r>
          </a:p>
        </p:txBody>
      </p:sp>
      <p:sp>
        <p:nvSpPr>
          <p:cNvPr id="20" name="Rounded Rectangle 19"/>
          <p:cNvSpPr/>
          <p:nvPr/>
        </p:nvSpPr>
        <p:spPr>
          <a:xfrm>
            <a:off x="640080" y="5358384"/>
            <a:ext cx="10908792" cy="365760"/>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376672"/>
            <a:ext cx="10433304" cy="329184"/>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追加付与② / Inject 2　社員が足を止めて見ている → 見られている前提で振る舞う。この対応がReputationそのもの。</a:t>
            </a:r>
          </a:p>
          <a:p>
            <a:pPr algn="l"/>
            <a:r>
              <a:rPr sz="800" b="0">
                <a:solidFill>
                  <a:srgbClr val="0D8A76"/>
                </a:solidFill>
                <a:latin typeface="Calibri"/>
                <a:ea typeface="Calibri"/>
                <a:cs typeface="Calibri"/>
              </a:rPr>
              <a:t>Act as though you are being watched. This exchange is Reputation itself.</a:t>
            </a:r>
          </a:p>
        </p:txBody>
      </p:sp>
      <p:sp>
        <p:nvSpPr>
          <p:cNvPr id="22" name="TextBox 21"/>
          <p:cNvSpPr txBox="1"/>
          <p:nvPr/>
        </p:nvSpPr>
        <p:spPr>
          <a:xfrm>
            <a:off x="640080" y="5724144"/>
            <a:ext cx="10908792" cy="274320"/>
          </a:xfrm>
          <a:prstGeom prst="rect">
            <a:avLst/>
          </a:prstGeom>
          <a:noFill/>
        </p:spPr>
        <p:txBody>
          <a:bodyPr wrap="square" lIns="0" rIns="0" tIns="0" bIns="0" anchor="t">
            <a:spAutoFit/>
          </a:bodyPr>
          <a:lstStyle/>
          <a:p>
            <a:pPr algn="l"/>
            <a:r>
              <a:rPr sz="850" b="1">
                <a:solidFill>
                  <a:srgbClr val="093259"/>
                </a:solidFill>
                <a:latin typeface="Yu Gothic"/>
                <a:ea typeface="Yu Gothic"/>
                <a:cs typeface="Yu Gothic"/>
              </a:rPr>
              <a:t>割れる論点 / Where Groups Split　案内のために持ち場を離れるか。離れないと答えた班には「では誰が対応するのか」を問う。</a:t>
            </a:r>
          </a:p>
          <a:p>
            <a:pPr algn="l"/>
            <a:r>
              <a:rPr sz="800" b="0">
                <a:solidFill>
                  <a:srgbClr val="2E3D4C"/>
                </a:solidFill>
                <a:latin typeface="Calibri"/>
                <a:ea typeface="Calibri"/>
                <a:cs typeface="Calibri"/>
              </a:rPr>
              <a:t>Do you leave your post? Ask those who say no: then who helps her?</a:t>
            </a:r>
          </a:p>
        </p:txBody>
      </p:sp>
      <p:sp>
        <p:nvSpPr>
          <p:cNvPr id="23" name="TextBox 22"/>
          <p:cNvSpPr txBox="1"/>
          <p:nvPr/>
        </p:nvSpPr>
        <p:spPr>
          <a:xfrm>
            <a:off x="640080" y="6035040"/>
            <a:ext cx="10908792" cy="182880"/>
          </a:xfrm>
          <a:prstGeom prst="rect">
            <a:avLst/>
          </a:prstGeom>
          <a:noFill/>
        </p:spPr>
        <p:txBody>
          <a:bodyPr wrap="square" lIns="0" rIns="0" tIns="0" bIns="0" anchor="t">
            <a:spAutoFit/>
          </a:bodyPr>
          <a:lstStyle/>
          <a:p>
            <a:pPr algn="l"/>
            <a:r>
              <a:rPr sz="750" b="0">
                <a:solidFill>
                  <a:srgbClr val="5F7183"/>
                </a:solidFill>
                <a:latin typeface="Yu Gothic"/>
                <a:ea typeface="Yu Gothic"/>
                <a:cs typeface="Yu Gothic"/>
              </a:rPr>
              <a:t>注記　模範解答は判断の型を示すものです。実際の手順は各現場のSite SOPと警備指令書が優先します。</a:t>
            </a:r>
          </a:p>
        </p:txBody>
      </p:sp>
      <p:sp>
        <p:nvSpPr>
          <p:cNvPr id="24" name="TextBox 23"/>
          <p:cNvSpPr txBox="1"/>
          <p:nvPr/>
        </p:nvSpPr>
        <p:spPr>
          <a:xfrm>
            <a:off x="640080" y="6217920"/>
            <a:ext cx="9902952" cy="182880"/>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警備業法、警察庁「警備業法等の解釈運用基準」</a:t>
            </a:r>
          </a:p>
        </p:txBody>
      </p:sp>
      <p:sp>
        <p:nvSpPr>
          <p:cNvPr id="25" name="TextBox 24"/>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6" name="TextBox 25"/>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TTX 1-B　クライアントからの依頼</a:t>
            </a:r>
          </a:p>
          <a:p>
            <a:pPr algn="l">
              <a:spcBef>
                <a:spcPts val="200"/>
              </a:spcBef>
            </a:pPr>
            <a:r>
              <a:rPr sz="1400" b="0">
                <a:solidFill>
                  <a:srgbClr val="12B198"/>
                </a:solidFill>
                <a:latin typeface="Calibri"/>
                <a:ea typeface="Calibri"/>
                <a:cs typeface="Calibri"/>
              </a:rPr>
              <a:t>TTX 1-B — A Request from the Client</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CASE 1-B</a:t>
            </a:r>
          </a:p>
        </p:txBody>
      </p:sp>
      <p:sp>
        <p:nvSpPr>
          <p:cNvPr id="6" name="Rounded Rectangle 5"/>
          <p:cNvSpPr/>
          <p:nvPr/>
        </p:nvSpPr>
        <p:spPr>
          <a:xfrm>
            <a:off x="640080" y="1188720"/>
            <a:ext cx="10908792" cy="1124712"/>
          </a:xfrm>
          <a:prstGeom prst="roundRect">
            <a:avLst>
              <a:gd name="adj" fmla="val 19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316736"/>
            <a:ext cx="10287000" cy="868680"/>
          </a:xfrm>
          <a:prstGeom prst="rect">
            <a:avLst/>
          </a:prstGeom>
          <a:noFill/>
        </p:spPr>
        <p:txBody>
          <a:bodyPr wrap="square" lIns="0" rIns="0" tIns="0" bIns="0" anchor="t">
            <a:spAutoFit/>
          </a:bodyPr>
          <a:lstStyle/>
          <a:p>
            <a:pPr algn="l"/>
            <a:r>
              <a:rPr sz="950" b="1">
                <a:solidFill>
                  <a:srgbClr val="12B198"/>
                </a:solidFill>
                <a:latin typeface="Yu Gothic"/>
                <a:ea typeface="Yu Gothic"/>
                <a:cs typeface="Yu Gothic"/>
              </a:rPr>
              <a:t>シナリオ / SCENARIO</a:t>
            </a:r>
          </a:p>
          <a:p>
            <a:pPr algn="l">
              <a:spcBef>
                <a:spcPts val="300"/>
              </a:spcBef>
            </a:pPr>
            <a:r>
              <a:rPr sz="1100" b="0">
                <a:solidFill>
                  <a:srgbClr val="FFFFFF"/>
                </a:solidFill>
                <a:latin typeface="Yu Gothic"/>
                <a:ea typeface="Yu Gothic"/>
                <a:cs typeface="Yu Gothic"/>
              </a:rPr>
              <a:t>夜間の常駐勤務中、クライアント企業の課長が警備デスクに来て言う。「今から備品確認をする。退社する社員のカバンを出口で一人ずつ開けて中を見てほしい。うちの依頼だから問題ない」。警備指令書にそのような業務は書かれていない。上長は不在である。</a:t>
            </a:r>
          </a:p>
          <a:p>
            <a:pPr algn="l">
              <a:spcBef>
                <a:spcPts val="300"/>
              </a:spcBef>
            </a:pPr>
            <a:r>
              <a:rPr sz="1050" b="0">
                <a:solidFill>
                  <a:srgbClr val="CBE8E0"/>
                </a:solidFill>
                <a:latin typeface="Calibri"/>
                <a:ea typeface="Calibri"/>
                <a:cs typeface="Calibri"/>
              </a:rPr>
              <a:t>On night duty, a client manager comes to the desk: "We are doing an equipment check. Open and inspect each employee's bag at the exit. We are the client, so it is fine." The post orders contain no such duty. Your supervisor is away.</a:t>
            </a:r>
          </a:p>
        </p:txBody>
      </p:sp>
      <p:sp>
        <p:nvSpPr>
          <p:cNvPr id="8" name="TextBox 7"/>
          <p:cNvSpPr txBox="1"/>
          <p:nvPr/>
        </p:nvSpPr>
        <p:spPr>
          <a:xfrm>
            <a:off x="640080" y="2459736"/>
            <a:ext cx="10908792" cy="566928"/>
          </a:xfrm>
          <a:prstGeom prst="rect">
            <a:avLst/>
          </a:prstGeom>
          <a:noFill/>
        </p:spPr>
        <p:txBody>
          <a:bodyPr wrap="square" lIns="0" rIns="0" tIns="0" bIns="0" anchor="t">
            <a:spAutoFit/>
          </a:bodyPr>
          <a:lstStyle/>
          <a:p>
            <a:pPr algn="l"/>
            <a:r>
              <a:rPr sz="1050" b="1">
                <a:solidFill>
                  <a:srgbClr val="0D8A76"/>
                </a:solidFill>
                <a:latin typeface="Yu Gothic"/>
                <a:ea typeface="Yu Gothic"/>
                <a:cs typeface="Yu Gothic"/>
              </a:rPr>
              <a:t>問い　あなたなら次の60秒、何をどう動きますか。</a:t>
            </a:r>
          </a:p>
          <a:p>
            <a:pPr algn="l"/>
            <a:r>
              <a:rPr sz="1000" b="0">
                <a:solidFill>
                  <a:srgbClr val="0D8A76"/>
                </a:solidFill>
                <a:latin typeface="Calibri"/>
                <a:ea typeface="Calibri"/>
                <a:cs typeface="Calibri"/>
              </a:rPr>
              <a:t>What do you do in the next sixty seconds?</a:t>
            </a:r>
          </a:p>
        </p:txBody>
      </p:sp>
      <p:sp>
        <p:nvSpPr>
          <p:cNvPr id="9" name="Rounded Rectangle 8"/>
          <p:cNvSpPr/>
          <p:nvPr/>
        </p:nvSpPr>
        <p:spPr>
          <a:xfrm>
            <a:off x="640080" y="3081528"/>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1" y="3355848"/>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1</a:t>
            </a:r>
          </a:p>
        </p:txBody>
      </p:sp>
      <p:sp>
        <p:nvSpPr>
          <p:cNvPr id="11" name="TextBox 10"/>
          <p:cNvSpPr txBox="1"/>
          <p:nvPr/>
        </p:nvSpPr>
        <p:spPr>
          <a:xfrm>
            <a:off x="1188719" y="3136392"/>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所持品検査を強制することはできるか。</a:t>
            </a:r>
          </a:p>
          <a:p>
            <a:pPr algn="l"/>
            <a:r>
              <a:rPr sz="950" b="0">
                <a:solidFill>
                  <a:srgbClr val="2E3D4C"/>
                </a:solidFill>
                <a:latin typeface="Calibri"/>
                <a:ea typeface="Calibri"/>
                <a:cs typeface="Calibri"/>
              </a:rPr>
              <a:t>Can a bag search be compelled?</a:t>
            </a:r>
          </a:p>
        </p:txBody>
      </p:sp>
      <p:sp>
        <p:nvSpPr>
          <p:cNvPr id="12" name="Rounded Rectangle 11"/>
          <p:cNvSpPr/>
          <p:nvPr/>
        </p:nvSpPr>
        <p:spPr>
          <a:xfrm>
            <a:off x="6227064" y="3081528"/>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91655" y="3355848"/>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2</a:t>
            </a:r>
          </a:p>
        </p:txBody>
      </p:sp>
      <p:sp>
        <p:nvSpPr>
          <p:cNvPr id="14" name="TextBox 13"/>
          <p:cNvSpPr txBox="1"/>
          <p:nvPr/>
        </p:nvSpPr>
        <p:spPr>
          <a:xfrm>
            <a:off x="6775703" y="3136392"/>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「クライアントの依頼」は業務範囲を広げる根拠になるか。</a:t>
            </a:r>
          </a:p>
          <a:p>
            <a:pPr algn="l"/>
            <a:r>
              <a:rPr sz="950" b="0">
                <a:solidFill>
                  <a:srgbClr val="2E3D4C"/>
                </a:solidFill>
                <a:latin typeface="Calibri"/>
                <a:ea typeface="Calibri"/>
                <a:cs typeface="Calibri"/>
              </a:rPr>
              <a:t>Does "the client asked" extend your scope of duty?</a:t>
            </a:r>
          </a:p>
        </p:txBody>
      </p:sp>
      <p:sp>
        <p:nvSpPr>
          <p:cNvPr id="15" name="Rounded Rectangle 14"/>
          <p:cNvSpPr/>
          <p:nvPr/>
        </p:nvSpPr>
        <p:spPr>
          <a:xfrm>
            <a:off x="640080" y="4032504"/>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1" y="4306824"/>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3</a:t>
            </a:r>
          </a:p>
        </p:txBody>
      </p:sp>
      <p:sp>
        <p:nvSpPr>
          <p:cNvPr id="17" name="TextBox 16"/>
          <p:cNvSpPr txBox="1"/>
          <p:nvPr/>
        </p:nvSpPr>
        <p:spPr>
          <a:xfrm>
            <a:off x="1188719" y="4087368"/>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判断軸のどこで、この依頼は止まるか。</a:t>
            </a:r>
          </a:p>
          <a:p>
            <a:pPr algn="l"/>
            <a:r>
              <a:rPr sz="950" b="0">
                <a:solidFill>
                  <a:srgbClr val="2E3D4C"/>
                </a:solidFill>
                <a:latin typeface="Calibri"/>
                <a:ea typeface="Calibri"/>
                <a:cs typeface="Calibri"/>
              </a:rPr>
              <a:t>At which step of the priority order does this stop?</a:t>
            </a:r>
          </a:p>
        </p:txBody>
      </p:sp>
      <p:sp>
        <p:nvSpPr>
          <p:cNvPr id="18" name="Rounded Rectangle 17"/>
          <p:cNvSpPr/>
          <p:nvPr/>
        </p:nvSpPr>
        <p:spPr>
          <a:xfrm>
            <a:off x="6227064" y="4032504"/>
            <a:ext cx="5330952" cy="841248"/>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391655" y="4306824"/>
            <a:ext cx="292608" cy="29260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Calibri"/>
                <a:ea typeface="Calibri"/>
                <a:cs typeface="Calibri"/>
              </a:rPr>
              <a:t>4</a:t>
            </a:r>
          </a:p>
        </p:txBody>
      </p:sp>
      <p:sp>
        <p:nvSpPr>
          <p:cNvPr id="20" name="TextBox 19"/>
          <p:cNvSpPr txBox="1"/>
          <p:nvPr/>
        </p:nvSpPr>
        <p:spPr>
          <a:xfrm>
            <a:off x="6775703" y="4087368"/>
            <a:ext cx="4599432" cy="731520"/>
          </a:xfrm>
          <a:prstGeom prst="rect">
            <a:avLst/>
          </a:prstGeom>
          <a:noFill/>
        </p:spPr>
        <p:txBody>
          <a:bodyPr wrap="square" lIns="0" rIns="0" tIns="0" bIns="0" anchor="t">
            <a:spAutoFit/>
          </a:bodyPr>
          <a:lstStyle/>
          <a:p>
            <a:pPr algn="l"/>
            <a:r>
              <a:rPr sz="1000" b="0">
                <a:solidFill>
                  <a:srgbClr val="1B2733"/>
                </a:solidFill>
                <a:latin typeface="Yu Gothic"/>
                <a:ea typeface="Yu Gothic"/>
                <a:cs typeface="Yu Gothic"/>
              </a:rPr>
              <a:t>断る場合、何と言うか。関係を壊さずに断れるか。</a:t>
            </a:r>
          </a:p>
          <a:p>
            <a:pPr algn="l"/>
            <a:r>
              <a:rPr sz="950" b="0">
                <a:solidFill>
                  <a:srgbClr val="2E3D4C"/>
                </a:solidFill>
                <a:latin typeface="Calibri"/>
                <a:ea typeface="Calibri"/>
                <a:cs typeface="Calibri"/>
              </a:rPr>
              <a:t>If you decline, what do you say, without damaging the relationship?</a:t>
            </a:r>
          </a:p>
        </p:txBody>
      </p:sp>
      <p:sp>
        <p:nvSpPr>
          <p:cNvPr id="21" name="Rounded Rectangle 20"/>
          <p:cNvSpPr/>
          <p:nvPr/>
        </p:nvSpPr>
        <p:spPr>
          <a:xfrm>
            <a:off x="640080" y="4919472"/>
            <a:ext cx="10908792" cy="420624"/>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4946904"/>
            <a:ext cx="10433304" cy="365760"/>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追加付与① / Inject 1　課長が「では君は見ているだけでいい。私が開ける」と言い出した。</a:t>
            </a:r>
          </a:p>
          <a:p>
            <a:pPr algn="l"/>
            <a:r>
              <a:rPr sz="800" b="0">
                <a:solidFill>
                  <a:srgbClr val="0D8A76"/>
                </a:solidFill>
                <a:latin typeface="Calibri"/>
                <a:ea typeface="Calibri"/>
                <a:cs typeface="Calibri"/>
              </a:rPr>
              <a:t>The manager says: "Then just stand there. I will open them myself."</a:t>
            </a:r>
          </a:p>
        </p:txBody>
      </p:sp>
      <p:sp>
        <p:nvSpPr>
          <p:cNvPr id="23" name="Rounded Rectangle 22"/>
          <p:cNvSpPr/>
          <p:nvPr/>
        </p:nvSpPr>
        <p:spPr>
          <a:xfrm>
            <a:off x="640080" y="5394960"/>
            <a:ext cx="10908792" cy="420624"/>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7824" y="5422392"/>
            <a:ext cx="10433304" cy="365760"/>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追加付与② / Inject 2　退社しようとする社員が出口に並び始めた。</a:t>
            </a:r>
          </a:p>
          <a:p>
            <a:pPr algn="l"/>
            <a:r>
              <a:rPr sz="800" b="0">
                <a:solidFill>
                  <a:srgbClr val="0D8A76"/>
                </a:solidFill>
                <a:latin typeface="Calibri"/>
                <a:ea typeface="Calibri"/>
                <a:cs typeface="Calibri"/>
              </a:rPr>
              <a:t>Employees are starting to queue at the exit to leave.</a:t>
            </a:r>
          </a:p>
        </p:txBody>
      </p:sp>
      <p:sp>
        <p:nvSpPr>
          <p:cNvPr id="25" name="TextBox 24"/>
          <p:cNvSpPr txBox="1"/>
          <p:nvPr/>
        </p:nvSpPr>
        <p:spPr>
          <a:xfrm>
            <a:off x="640080" y="5907024"/>
            <a:ext cx="10908792" cy="310896"/>
          </a:xfrm>
          <a:prstGeom prst="rect">
            <a:avLst/>
          </a:prstGeom>
          <a:noFill/>
        </p:spPr>
        <p:txBody>
          <a:bodyPr wrap="square" lIns="0" rIns="0" tIns="0" bIns="0" anchor="t">
            <a:spAutoFit/>
          </a:bodyPr>
          <a:lstStyle/>
          <a:p>
            <a:pPr algn="l"/>
            <a:r>
              <a:rPr sz="900" b="1">
                <a:solidFill>
                  <a:srgbClr val="0D8A76"/>
                </a:solidFill>
                <a:latin typeface="Yu Gothic"/>
                <a:ea typeface="Yu Gothic"/>
                <a:cs typeface="Yu Gothic"/>
              </a:rPr>
              <a:t>Site SOP優先 / Follow the Site SOP　所持品確認の運用と、指令書にない依頼を受けた場合の連絡順序は現場ごとに異なる。</a:t>
            </a:r>
          </a:p>
          <a:p>
            <a:pPr algn="l"/>
            <a:r>
              <a:rPr sz="850" b="0">
                <a:solidFill>
                  <a:srgbClr val="0D8A76"/>
                </a:solidFill>
                <a:latin typeface="Calibri"/>
                <a:ea typeface="Calibri"/>
                <a:cs typeface="Calibri"/>
              </a:rPr>
              <a:t>Bag-check practice, and whom to call for a request outside the post orders, differ by site.</a:t>
            </a:r>
          </a:p>
        </p:txBody>
      </p:sp>
      <p:sp>
        <p:nvSpPr>
          <p:cNvPr id="26" name="TextBox 25"/>
          <p:cNvSpPr txBox="1"/>
          <p:nvPr/>
        </p:nvSpPr>
        <p:spPr>
          <a:xfrm>
            <a:off x="640080" y="6199632"/>
            <a:ext cx="9902952" cy="237744"/>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警備業法、刑法、刑事訴訟法、警察官職務執行法</a:t>
            </a:r>
          </a:p>
        </p:txBody>
      </p:sp>
      <p:sp>
        <p:nvSpPr>
          <p:cNvPr id="27" name="TextBox 26"/>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8" name="TextBox 27"/>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png"/>
          <p:cNvPicPr>
            <a:picLocks noChangeAspect="1"/>
          </p:cNvPicPr>
          <p:nvPr/>
        </p:nvPicPr>
        <p:blipFill>
          <a:blip r:embed="rId2"/>
          <a:stretch>
            <a:fillRect/>
          </a:stretch>
        </p:blipFill>
        <p:spPr>
          <a:xfrm>
            <a:off x="10762488" y="329184"/>
            <a:ext cx="786384" cy="740664"/>
          </a:xfrm>
          <a:prstGeom prst="rect">
            <a:avLst/>
          </a:prstGeom>
        </p:spPr>
      </p:pic>
      <p:sp>
        <p:nvSpPr>
          <p:cNvPr id="3" name="TextBox 2"/>
          <p:cNvSpPr txBox="1"/>
          <p:nvPr/>
        </p:nvSpPr>
        <p:spPr>
          <a:xfrm>
            <a:off x="640080" y="384048"/>
            <a:ext cx="8979408" cy="768096"/>
          </a:xfrm>
          <a:prstGeom prst="rect">
            <a:avLst/>
          </a:prstGeom>
          <a:noFill/>
        </p:spPr>
        <p:txBody>
          <a:bodyPr wrap="square" lIns="0" rIns="0" tIns="0" bIns="0" anchor="t">
            <a:spAutoFit/>
          </a:bodyPr>
          <a:lstStyle/>
          <a:p>
            <a:pPr algn="l"/>
            <a:r>
              <a:rPr sz="2300" b="1">
                <a:solidFill>
                  <a:srgbClr val="093259"/>
                </a:solidFill>
                <a:latin typeface="Yu Gothic"/>
                <a:ea typeface="Yu Gothic"/>
                <a:cs typeface="Yu Gothic"/>
              </a:rPr>
              <a:t>TTX 1-B 模範解答</a:t>
            </a:r>
          </a:p>
          <a:p>
            <a:pPr algn="l">
              <a:spcBef>
                <a:spcPts val="200"/>
              </a:spcBef>
            </a:pPr>
            <a:r>
              <a:rPr sz="1400" b="0">
                <a:solidFill>
                  <a:srgbClr val="12B198"/>
                </a:solidFill>
                <a:latin typeface="Calibri"/>
                <a:ea typeface="Calibri"/>
                <a:cs typeface="Calibri"/>
              </a:rPr>
              <a:t>TTX 1-B — Model Answers</a:t>
            </a:r>
          </a:p>
        </p:txBody>
      </p:sp>
      <p:sp>
        <p:nvSpPr>
          <p:cNvPr id="4" name="Rounded Rectangle 3"/>
          <p:cNvSpPr/>
          <p:nvPr/>
        </p:nvSpPr>
        <p:spPr>
          <a:xfrm>
            <a:off x="9683496" y="438912"/>
            <a:ext cx="932688" cy="310896"/>
          </a:xfrm>
          <a:prstGeom prst="roundRect">
            <a:avLst>
              <a:gd name="adj" fmla="val 14700"/>
            </a:avLst>
          </a:prstGeom>
          <a:solidFill>
            <a:srgbClr val="0932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83496" y="438912"/>
            <a:ext cx="932688" cy="310896"/>
          </a:xfrm>
          <a:prstGeom prst="rect">
            <a:avLst/>
          </a:prstGeom>
          <a:noFill/>
        </p:spPr>
        <p:txBody>
          <a:bodyPr wrap="square" lIns="0" rIns="0" tIns="0" bIns="0" anchor="ctr">
            <a:spAutoFit/>
          </a:bodyPr>
          <a:lstStyle/>
          <a:p>
            <a:pPr algn="ctr"/>
            <a:r>
              <a:rPr sz="1100" b="1">
                <a:solidFill>
                  <a:srgbClr val="FFFFFF"/>
                </a:solidFill>
                <a:latin typeface="Calibri"/>
                <a:ea typeface="Calibri"/>
                <a:cs typeface="Calibri"/>
              </a:rPr>
              <a:t>DEBRIEF</a:t>
            </a:r>
          </a:p>
        </p:txBody>
      </p:sp>
      <p:sp>
        <p:nvSpPr>
          <p:cNvPr id="6" name="Rounded Rectangle 5"/>
          <p:cNvSpPr/>
          <p:nvPr/>
        </p:nvSpPr>
        <p:spPr>
          <a:xfrm>
            <a:off x="640080" y="1188720"/>
            <a:ext cx="10908792" cy="8595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96112" y="1426464"/>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1</a:t>
            </a:r>
          </a:p>
        </p:txBody>
      </p:sp>
      <p:sp>
        <p:nvSpPr>
          <p:cNvPr id="8" name="TextBox 7"/>
          <p:cNvSpPr txBox="1"/>
          <p:nvPr/>
        </p:nvSpPr>
        <p:spPr>
          <a:xfrm>
            <a:off x="1499616" y="1261872"/>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問1 所持品検査を強制できるか</a:t>
            </a:r>
          </a:p>
          <a:p>
            <a:pPr algn="l">
              <a:spcBef>
                <a:spcPts val="200"/>
              </a:spcBef>
            </a:pPr>
            <a:r>
              <a:rPr sz="1100" b="0">
                <a:solidFill>
                  <a:srgbClr val="1B2733"/>
                </a:solidFill>
                <a:latin typeface="Yu Gothic"/>
                <a:ea typeface="Yu Gothic"/>
                <a:cs typeface="Yu Gothic"/>
              </a:rPr>
              <a:t>できない。強制すれば強要罪等に当たりうる。求められるのは任意の協力だけである。</a:t>
            </a:r>
          </a:p>
          <a:p>
            <a:pPr algn="l"/>
            <a:r>
              <a:rPr sz="1050" b="0">
                <a:solidFill>
                  <a:srgbClr val="2E3D4C"/>
                </a:solidFill>
                <a:latin typeface="Calibri"/>
                <a:ea typeface="Calibri"/>
                <a:cs typeface="Calibri"/>
              </a:rPr>
              <a:t>No. Compelling it can amount to coercion. Only voluntary cooperation may be requested.</a:t>
            </a:r>
          </a:p>
        </p:txBody>
      </p:sp>
      <p:sp>
        <p:nvSpPr>
          <p:cNvPr id="9" name="Rounded Rectangle 8"/>
          <p:cNvSpPr/>
          <p:nvPr/>
        </p:nvSpPr>
        <p:spPr>
          <a:xfrm>
            <a:off x="640080" y="2121408"/>
            <a:ext cx="10908792" cy="8595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96112" y="2359152"/>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2</a:t>
            </a:r>
          </a:p>
        </p:txBody>
      </p:sp>
      <p:sp>
        <p:nvSpPr>
          <p:cNvPr id="11" name="TextBox 10"/>
          <p:cNvSpPr txBox="1"/>
          <p:nvPr/>
        </p:nvSpPr>
        <p:spPr>
          <a:xfrm>
            <a:off x="1499616" y="2194560"/>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問2 「クライアントの依頼」は根拠になるか</a:t>
            </a:r>
          </a:p>
          <a:p>
            <a:pPr algn="l">
              <a:spcBef>
                <a:spcPts val="200"/>
              </a:spcBef>
            </a:pPr>
            <a:r>
              <a:rPr sz="1100" b="0">
                <a:solidFill>
                  <a:srgbClr val="1B2733"/>
                </a:solidFill>
                <a:latin typeface="Yu Gothic"/>
                <a:ea typeface="Yu Gothic"/>
                <a:cs typeface="Yu Gothic"/>
              </a:rPr>
              <a:t>ならない。契約と警備指令書が業務範囲を決める。依頼だけで範囲は広がらない。</a:t>
            </a:r>
          </a:p>
          <a:p>
            <a:pPr algn="l"/>
            <a:r>
              <a:rPr sz="1050" b="0">
                <a:solidFill>
                  <a:srgbClr val="2E3D4C"/>
                </a:solidFill>
                <a:latin typeface="Calibri"/>
                <a:ea typeface="Calibri"/>
                <a:cs typeface="Calibri"/>
              </a:rPr>
              <a:t>No. The contract and post orders define the scope. A request does not widen it.</a:t>
            </a:r>
          </a:p>
        </p:txBody>
      </p:sp>
      <p:sp>
        <p:nvSpPr>
          <p:cNvPr id="12" name="Rounded Rectangle 11"/>
          <p:cNvSpPr/>
          <p:nvPr/>
        </p:nvSpPr>
        <p:spPr>
          <a:xfrm>
            <a:off x="640080" y="3054096"/>
            <a:ext cx="10908792" cy="859536"/>
          </a:xfrm>
          <a:prstGeom prst="roundRect">
            <a:avLst>
              <a:gd name="adj" fmla="val 1900"/>
            </a:avLst>
          </a:prstGeom>
          <a:solidFill>
            <a:srgbClr val="EF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96112" y="3291839"/>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3</a:t>
            </a:r>
          </a:p>
        </p:txBody>
      </p:sp>
      <p:sp>
        <p:nvSpPr>
          <p:cNvPr id="14" name="TextBox 13"/>
          <p:cNvSpPr txBox="1"/>
          <p:nvPr/>
        </p:nvSpPr>
        <p:spPr>
          <a:xfrm>
            <a:off x="1499616" y="3127248"/>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問3 判断軸のどこで止まるか</a:t>
            </a:r>
          </a:p>
          <a:p>
            <a:pPr algn="l">
              <a:spcBef>
                <a:spcPts val="200"/>
              </a:spcBef>
            </a:pPr>
            <a:r>
              <a:rPr sz="1100" b="0">
                <a:solidFill>
                  <a:srgbClr val="1B2733"/>
                </a:solidFill>
                <a:latin typeface="Yu Gothic"/>
                <a:ea typeface="Yu Gothic"/>
                <a:cs typeface="Yu Gothic"/>
              </a:rPr>
              <a:t>②法令で止まる。クライアント要望は④であり、法令を超えることはできない。</a:t>
            </a:r>
          </a:p>
          <a:p>
            <a:pPr algn="l"/>
            <a:r>
              <a:rPr sz="1050" b="0">
                <a:solidFill>
                  <a:srgbClr val="2E3D4C"/>
                </a:solidFill>
                <a:latin typeface="Calibri"/>
                <a:ea typeface="Calibri"/>
                <a:cs typeface="Calibri"/>
              </a:rPr>
              <a:t>At step 2, the law. The client's wishes are step 4 and cannot override it.</a:t>
            </a:r>
          </a:p>
        </p:txBody>
      </p:sp>
      <p:sp>
        <p:nvSpPr>
          <p:cNvPr id="15" name="Rounded Rectangle 14"/>
          <p:cNvSpPr/>
          <p:nvPr/>
        </p:nvSpPr>
        <p:spPr>
          <a:xfrm>
            <a:off x="640080" y="3986784"/>
            <a:ext cx="10908792" cy="859536"/>
          </a:xfrm>
          <a:prstGeom prst="roundRect">
            <a:avLst>
              <a:gd name="adj" fmla="val 1900"/>
            </a:avLst>
          </a:prstGeom>
          <a:solidFill>
            <a:srgbClr val="F7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96112" y="4224528"/>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4</a:t>
            </a:r>
          </a:p>
        </p:txBody>
      </p:sp>
      <p:sp>
        <p:nvSpPr>
          <p:cNvPr id="17" name="TextBox 16"/>
          <p:cNvSpPr txBox="1"/>
          <p:nvPr/>
        </p:nvSpPr>
        <p:spPr>
          <a:xfrm>
            <a:off x="1499616" y="4059936"/>
            <a:ext cx="9774936" cy="731520"/>
          </a:xfrm>
          <a:prstGeom prst="rect">
            <a:avLst/>
          </a:prstGeom>
          <a:noFill/>
        </p:spPr>
        <p:txBody>
          <a:bodyPr wrap="square" lIns="0" rIns="0" tIns="0" bIns="0" anchor="t">
            <a:spAutoFit/>
          </a:bodyPr>
          <a:lstStyle/>
          <a:p>
            <a:pPr algn="l"/>
            <a:r>
              <a:rPr sz="950" b="1">
                <a:solidFill>
                  <a:srgbClr val="0D8A76"/>
                </a:solidFill>
                <a:latin typeface="Yu Gothic"/>
                <a:ea typeface="Yu Gothic"/>
                <a:cs typeface="Yu Gothic"/>
              </a:rPr>
              <a:t>問4 断り方</a:t>
            </a:r>
          </a:p>
          <a:p>
            <a:pPr algn="l">
              <a:spcBef>
                <a:spcPts val="200"/>
              </a:spcBef>
            </a:pPr>
            <a:r>
              <a:rPr sz="1100" b="0">
                <a:solidFill>
                  <a:srgbClr val="1B2733"/>
                </a:solidFill>
                <a:latin typeface="Yu Gothic"/>
                <a:ea typeface="Yu Gothic"/>
                <a:cs typeface="Yu Gothic"/>
              </a:rPr>
              <a:t>「その対応は私の権限ではできません。上長に確認します」。断るのではなく、繋ぐと伝える。</a:t>
            </a:r>
          </a:p>
          <a:p>
            <a:pPr algn="l"/>
            <a:r>
              <a:rPr sz="1050" b="0">
                <a:solidFill>
                  <a:srgbClr val="2E3D4C"/>
                </a:solidFill>
                <a:latin typeface="Calibri"/>
                <a:ea typeface="Calibri"/>
                <a:cs typeface="Calibri"/>
              </a:rPr>
              <a:t>"That is not within my authority. Let me check with my supervisor." You route, not refuse.</a:t>
            </a:r>
          </a:p>
        </p:txBody>
      </p:sp>
      <p:sp>
        <p:nvSpPr>
          <p:cNvPr id="18" name="Rounded Rectangle 17"/>
          <p:cNvSpPr/>
          <p:nvPr/>
        </p:nvSpPr>
        <p:spPr>
          <a:xfrm>
            <a:off x="640080" y="4956048"/>
            <a:ext cx="10908792" cy="365760"/>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974336"/>
            <a:ext cx="10433304" cy="329184"/>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追加付与① / Inject 1　「君は見ているだけでいい」 → 同席も加担になりうる。立ち会わず、その場で上長へ連絡する。</a:t>
            </a:r>
          </a:p>
          <a:p>
            <a:pPr algn="l"/>
            <a:r>
              <a:rPr sz="800" b="0">
                <a:solidFill>
                  <a:srgbClr val="0D8A76"/>
                </a:solidFill>
                <a:latin typeface="Calibri"/>
                <a:ea typeface="Calibri"/>
                <a:cs typeface="Calibri"/>
              </a:rPr>
              <a:t>Standing by can make you a participant. Do not attend; call your supervisor there and then.</a:t>
            </a:r>
          </a:p>
        </p:txBody>
      </p:sp>
      <p:sp>
        <p:nvSpPr>
          <p:cNvPr id="20" name="Rounded Rectangle 19"/>
          <p:cNvSpPr/>
          <p:nvPr/>
        </p:nvSpPr>
        <p:spPr>
          <a:xfrm>
            <a:off x="640080" y="5358384"/>
            <a:ext cx="10908792" cy="365760"/>
          </a:xfrm>
          <a:prstGeom prst="roundRect">
            <a:avLst>
              <a:gd name="adj" fmla="val 1900"/>
            </a:avLst>
          </a:prstGeom>
          <a:solidFill>
            <a:srgbClr val="E4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376672"/>
            <a:ext cx="10433304" cy="329184"/>
          </a:xfrm>
          <a:prstGeom prst="rect">
            <a:avLst/>
          </a:prstGeom>
          <a:noFill/>
        </p:spPr>
        <p:txBody>
          <a:bodyPr wrap="square" lIns="0" rIns="0" tIns="0" bIns="0" anchor="t">
            <a:spAutoFit/>
          </a:bodyPr>
          <a:lstStyle/>
          <a:p>
            <a:pPr algn="l"/>
            <a:r>
              <a:rPr sz="850" b="1">
                <a:solidFill>
                  <a:srgbClr val="0D8A76"/>
                </a:solidFill>
                <a:latin typeface="Yu Gothic"/>
                <a:ea typeface="Yu Gothic"/>
                <a:cs typeface="Yu Gothic"/>
              </a:rPr>
              <a:t>追加付与② / Inject 2　社員が出口に並び始めた → 通常どおり退館させる。止める根拠がない以上、止めない。</a:t>
            </a:r>
          </a:p>
          <a:p>
            <a:pPr algn="l"/>
            <a:r>
              <a:rPr sz="800" b="0">
                <a:solidFill>
                  <a:srgbClr val="0D8A76"/>
                </a:solidFill>
                <a:latin typeface="Calibri"/>
                <a:ea typeface="Calibri"/>
                <a:cs typeface="Calibri"/>
              </a:rPr>
              <a:t>Let them leave as normal. With no basis to stop them, you do not stop them.</a:t>
            </a:r>
          </a:p>
        </p:txBody>
      </p:sp>
      <p:sp>
        <p:nvSpPr>
          <p:cNvPr id="22" name="TextBox 21"/>
          <p:cNvSpPr txBox="1"/>
          <p:nvPr/>
        </p:nvSpPr>
        <p:spPr>
          <a:xfrm>
            <a:off x="640080" y="5724144"/>
            <a:ext cx="10908792" cy="274320"/>
          </a:xfrm>
          <a:prstGeom prst="rect">
            <a:avLst/>
          </a:prstGeom>
          <a:noFill/>
        </p:spPr>
        <p:txBody>
          <a:bodyPr wrap="square" lIns="0" rIns="0" tIns="0" bIns="0" anchor="t">
            <a:spAutoFit/>
          </a:bodyPr>
          <a:lstStyle/>
          <a:p>
            <a:pPr algn="l"/>
            <a:r>
              <a:rPr sz="850" b="1">
                <a:solidFill>
                  <a:srgbClr val="093259"/>
                </a:solidFill>
                <a:latin typeface="Yu Gothic"/>
                <a:ea typeface="Yu Gothic"/>
                <a:cs typeface="Yu Gothic"/>
              </a:rPr>
              <a:t>割れる論点 / Where Groups Split　その場で断るか、保留して上長を待つか。どちらも成り立つ。根拠を述べさせる。</a:t>
            </a:r>
          </a:p>
          <a:p>
            <a:pPr algn="l"/>
            <a:r>
              <a:rPr sz="800" b="0">
                <a:solidFill>
                  <a:srgbClr val="2E3D4C"/>
                </a:solidFill>
                <a:latin typeface="Calibri"/>
                <a:ea typeface="Calibri"/>
                <a:cs typeface="Calibri"/>
              </a:rPr>
              <a:t>Decline now, or hold and wait for the supervisor? Both are defensible. Make them say why.</a:t>
            </a:r>
          </a:p>
        </p:txBody>
      </p:sp>
      <p:sp>
        <p:nvSpPr>
          <p:cNvPr id="23" name="TextBox 22"/>
          <p:cNvSpPr txBox="1"/>
          <p:nvPr/>
        </p:nvSpPr>
        <p:spPr>
          <a:xfrm>
            <a:off x="640080" y="6035040"/>
            <a:ext cx="10908792" cy="182880"/>
          </a:xfrm>
          <a:prstGeom prst="rect">
            <a:avLst/>
          </a:prstGeom>
          <a:noFill/>
        </p:spPr>
        <p:txBody>
          <a:bodyPr wrap="square" lIns="0" rIns="0" tIns="0" bIns="0" anchor="t">
            <a:spAutoFit/>
          </a:bodyPr>
          <a:lstStyle/>
          <a:p>
            <a:pPr algn="l"/>
            <a:r>
              <a:rPr sz="750" b="0">
                <a:solidFill>
                  <a:srgbClr val="5F7183"/>
                </a:solidFill>
                <a:latin typeface="Yu Gothic"/>
                <a:ea typeface="Yu Gothic"/>
                <a:cs typeface="Yu Gothic"/>
              </a:rPr>
              <a:t>注記　模範解答は判断の型を示すものです。実際の手順は各現場のSite SOPと警備指令書が優先します。</a:t>
            </a:r>
          </a:p>
        </p:txBody>
      </p:sp>
      <p:sp>
        <p:nvSpPr>
          <p:cNvPr id="24" name="TextBox 23"/>
          <p:cNvSpPr txBox="1"/>
          <p:nvPr/>
        </p:nvSpPr>
        <p:spPr>
          <a:xfrm>
            <a:off x="640080" y="6217920"/>
            <a:ext cx="9902952" cy="182880"/>
          </a:xfrm>
          <a:prstGeom prst="rect">
            <a:avLst/>
          </a:prstGeom>
          <a:noFill/>
        </p:spPr>
        <p:txBody>
          <a:bodyPr wrap="square" lIns="0" rIns="0" tIns="0" bIns="0" anchor="t">
            <a:spAutoFit/>
          </a:bodyPr>
          <a:lstStyle/>
          <a:p>
            <a:pPr algn="l"/>
            <a:r>
              <a:rPr sz="750" b="1">
                <a:solidFill>
                  <a:srgbClr val="D6E0E9"/>
                </a:solidFill>
                <a:latin typeface="Yu Gothic"/>
                <a:ea typeface="Yu Gothic"/>
                <a:cs typeface="Yu Gothic"/>
              </a:rPr>
              <a:t>ソース　警備業法、刑法、刑事訴訟法、警察官職務執行法</a:t>
            </a:r>
          </a:p>
        </p:txBody>
      </p:sp>
      <p:sp>
        <p:nvSpPr>
          <p:cNvPr id="25" name="TextBox 24"/>
          <p:cNvSpPr txBox="1"/>
          <p:nvPr/>
        </p:nvSpPr>
        <p:spPr>
          <a:xfrm>
            <a:off x="640080" y="6382512"/>
            <a:ext cx="8778240" cy="292608"/>
          </a:xfrm>
          <a:prstGeom prst="rect">
            <a:avLst/>
          </a:prstGeom>
          <a:noFill/>
        </p:spPr>
        <p:txBody>
          <a:bodyPr wrap="square" lIns="0" rIns="0" tIns="0" bIns="0" anchor="t">
            <a:spAutoFit/>
          </a:bodyPr>
          <a:lstStyle/>
          <a:p>
            <a:pPr algn="l"/>
            <a:r>
              <a:rPr sz="900" b="0">
                <a:solidFill>
                  <a:srgbClr val="5F7183"/>
                </a:solidFill>
                <a:latin typeface="Yu Gothic"/>
                <a:ea typeface="Yu Gothic"/>
                <a:cs typeface="Yu Gothic"/>
              </a:rPr>
              <a:t>第1時限｜基本教育1 警備業務実施の基本原則  Period 1 | Basic Training 1 — Fundamental Principles</a:t>
            </a:r>
          </a:p>
        </p:txBody>
      </p:sp>
      <p:sp>
        <p:nvSpPr>
          <p:cNvPr id="26" name="TextBox 25"/>
          <p:cNvSpPr txBox="1"/>
          <p:nvPr/>
        </p:nvSpPr>
        <p:spPr>
          <a:xfrm>
            <a:off x="10634472" y="6382512"/>
            <a:ext cx="914400" cy="292608"/>
          </a:xfrm>
          <a:prstGeom prst="rect">
            <a:avLst/>
          </a:prstGeom>
          <a:noFill/>
        </p:spPr>
        <p:txBody>
          <a:bodyPr wrap="square" lIns="0" rIns="0" tIns="0" bIns="0" anchor="t">
            <a:spAutoFit/>
          </a:bodyPr>
          <a:lstStyle/>
          <a:p>
            <a:pPr algn="r"/>
            <a:r>
              <a:rPr sz="1000" b="0">
                <a:solidFill>
                  <a:srgbClr val="5F7183"/>
                </a:solidFill>
                <a:latin typeface="Calibri"/>
                <a:ea typeface="Calibri"/>
                <a:cs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3259"/>
        </a:solidFill>
        <a:effectLst/>
      </p:bgPr>
    </p:bg>
    <p:spTree>
      <p:nvGrpSpPr>
        <p:cNvPr id="1" name=""/>
        <p:cNvGrpSpPr/>
        <p:nvPr/>
      </p:nvGrpSpPr>
      <p:grpSpPr/>
      <p:sp>
        <p:nvSpPr>
          <p:cNvPr id="2" name="Rounded Rectangle 1"/>
          <p:cNvSpPr/>
          <p:nvPr/>
        </p:nvSpPr>
        <p:spPr>
          <a:xfrm>
            <a:off x="10634472" y="219456"/>
            <a:ext cx="1042415" cy="96926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10762488" y="329184"/>
            <a:ext cx="786384" cy="740664"/>
          </a:xfrm>
          <a:prstGeom prst="rect">
            <a:avLst/>
          </a:prstGeom>
        </p:spPr>
      </p:pic>
      <p:sp>
        <p:nvSpPr>
          <p:cNvPr id="4" name="TextBox 3"/>
          <p:cNvSpPr txBox="1"/>
          <p:nvPr/>
        </p:nvSpPr>
        <p:spPr>
          <a:xfrm>
            <a:off x="640080" y="658368"/>
            <a:ext cx="9692640" cy="1188720"/>
          </a:xfrm>
          <a:prstGeom prst="rect">
            <a:avLst/>
          </a:prstGeom>
          <a:noFill/>
        </p:spPr>
        <p:txBody>
          <a:bodyPr wrap="square" lIns="0" rIns="0" tIns="0" bIns="0" anchor="t">
            <a:spAutoFit/>
          </a:bodyPr>
          <a:lstStyle/>
          <a:p>
            <a:pPr algn="l"/>
            <a:r>
              <a:rPr sz="3000" b="1">
                <a:solidFill>
                  <a:srgbClr val="FFFFFF"/>
                </a:solidFill>
                <a:latin typeface="Yu Gothic"/>
                <a:ea typeface="Yu Gothic"/>
                <a:cs typeface="Yu Gothic"/>
              </a:rPr>
              <a:t>第1時限 まとめ</a:t>
            </a:r>
          </a:p>
          <a:p>
            <a:pPr algn="l">
              <a:spcBef>
                <a:spcPts val="400"/>
              </a:spcBef>
            </a:pPr>
            <a:r>
              <a:rPr sz="1700" b="0">
                <a:solidFill>
                  <a:srgbClr val="9FD8CD"/>
                </a:solidFill>
                <a:latin typeface="Calibri"/>
                <a:ea typeface="Calibri"/>
                <a:cs typeface="Calibri"/>
              </a:rPr>
              <a:t>Period 1 — Summary</a:t>
            </a:r>
          </a:p>
        </p:txBody>
      </p:sp>
      <p:sp>
        <p:nvSpPr>
          <p:cNvPr id="5" name="Rounded Rectangle 4"/>
          <p:cNvSpPr/>
          <p:nvPr/>
        </p:nvSpPr>
        <p:spPr>
          <a:xfrm>
            <a:off x="640080" y="2084831"/>
            <a:ext cx="10908792" cy="67665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0" y="2231136"/>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1</a:t>
            </a:r>
          </a:p>
        </p:txBody>
      </p:sp>
      <p:sp>
        <p:nvSpPr>
          <p:cNvPr id="7" name="TextBox 6"/>
          <p:cNvSpPr txBox="1"/>
          <p:nvPr/>
        </p:nvSpPr>
        <p:spPr>
          <a:xfrm>
            <a:off x="1517904" y="2176272"/>
            <a:ext cx="9720072" cy="521207"/>
          </a:xfrm>
          <a:prstGeom prst="rect">
            <a:avLst/>
          </a:prstGeom>
          <a:noFill/>
        </p:spPr>
        <p:txBody>
          <a:bodyPr wrap="square" lIns="0" rIns="0" tIns="0" bIns="0" anchor="t">
            <a:spAutoFit/>
          </a:bodyPr>
          <a:lstStyle/>
          <a:p>
            <a:pPr algn="l"/>
            <a:r>
              <a:rPr sz="1450" b="0">
                <a:solidFill>
                  <a:srgbClr val="FFFFFF"/>
                </a:solidFill>
                <a:latin typeface="Yu Gothic"/>
                <a:ea typeface="Yu Gothic"/>
                <a:cs typeface="Yu Gothic"/>
              </a:rPr>
              <a:t>警備業は「他人の需要に応じて」行う民間サービス業。1号が施設警備。</a:t>
            </a:r>
          </a:p>
          <a:p>
            <a:pPr algn="l"/>
            <a:r>
              <a:rPr sz="1300" b="0">
                <a:solidFill>
                  <a:srgbClr val="CBE8E0"/>
                </a:solidFill>
                <a:latin typeface="Calibri"/>
                <a:ea typeface="Calibri"/>
                <a:cs typeface="Calibri"/>
              </a:rPr>
              <a:t>Security is a private service performed for others. Type 1 is facility security.</a:t>
            </a:r>
          </a:p>
        </p:txBody>
      </p:sp>
      <p:sp>
        <p:nvSpPr>
          <p:cNvPr id="8" name="Rounded Rectangle 7"/>
          <p:cNvSpPr/>
          <p:nvPr/>
        </p:nvSpPr>
        <p:spPr>
          <a:xfrm>
            <a:off x="640080" y="2962656"/>
            <a:ext cx="10908792" cy="67665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14400" y="3108960"/>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2</a:t>
            </a:r>
          </a:p>
        </p:txBody>
      </p:sp>
      <p:sp>
        <p:nvSpPr>
          <p:cNvPr id="10" name="TextBox 9"/>
          <p:cNvSpPr txBox="1"/>
          <p:nvPr/>
        </p:nvSpPr>
        <p:spPr>
          <a:xfrm>
            <a:off x="1517904" y="3054096"/>
            <a:ext cx="9720072" cy="521207"/>
          </a:xfrm>
          <a:prstGeom prst="rect">
            <a:avLst/>
          </a:prstGeom>
          <a:noFill/>
        </p:spPr>
        <p:txBody>
          <a:bodyPr wrap="square" lIns="0" rIns="0" tIns="0" bIns="0" anchor="t">
            <a:spAutoFit/>
          </a:bodyPr>
          <a:lstStyle/>
          <a:p>
            <a:pPr algn="l"/>
            <a:r>
              <a:rPr sz="1450" b="0">
                <a:solidFill>
                  <a:srgbClr val="FFFFFF"/>
                </a:solidFill>
                <a:latin typeface="Yu Gothic"/>
                <a:ea typeface="Yu Gothic"/>
                <a:cs typeface="Yu Gothic"/>
              </a:rPr>
              <a:t>警備業法15条 ― 特別な権限はない。警察官にある権限は警備員にはない。</a:t>
            </a:r>
          </a:p>
          <a:p>
            <a:pPr algn="l"/>
            <a:r>
              <a:rPr sz="1300" b="0">
                <a:solidFill>
                  <a:srgbClr val="CBE8E0"/>
                </a:solidFill>
                <a:latin typeface="Calibri"/>
                <a:ea typeface="Calibri"/>
                <a:cs typeface="Calibri"/>
              </a:rPr>
              <a:t>Article 15 — no special authority. Police powers do not extend to guards.</a:t>
            </a:r>
          </a:p>
        </p:txBody>
      </p:sp>
      <p:sp>
        <p:nvSpPr>
          <p:cNvPr id="11" name="Rounded Rectangle 10"/>
          <p:cNvSpPr/>
          <p:nvPr/>
        </p:nvSpPr>
        <p:spPr>
          <a:xfrm>
            <a:off x="640080" y="3840479"/>
            <a:ext cx="10908792" cy="67665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14400" y="3986783"/>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3</a:t>
            </a:r>
          </a:p>
        </p:txBody>
      </p:sp>
      <p:sp>
        <p:nvSpPr>
          <p:cNvPr id="13" name="TextBox 12"/>
          <p:cNvSpPr txBox="1"/>
          <p:nvPr/>
        </p:nvSpPr>
        <p:spPr>
          <a:xfrm>
            <a:off x="1517904" y="3931919"/>
            <a:ext cx="9720072" cy="521207"/>
          </a:xfrm>
          <a:prstGeom prst="rect">
            <a:avLst/>
          </a:prstGeom>
          <a:noFill/>
        </p:spPr>
        <p:txBody>
          <a:bodyPr wrap="square" lIns="0" rIns="0" tIns="0" bIns="0" anchor="t">
            <a:spAutoFit/>
          </a:bodyPr>
          <a:lstStyle/>
          <a:p>
            <a:pPr algn="l"/>
            <a:r>
              <a:rPr sz="1450" b="0">
                <a:solidFill>
                  <a:srgbClr val="FFFFFF"/>
                </a:solidFill>
                <a:latin typeface="Yu Gothic"/>
                <a:ea typeface="Yu Gothic"/>
                <a:cs typeface="Yu Gothic"/>
              </a:rPr>
              <a:t>触れる・拘束する・追う・カバンを開ける ― いずれも日本ではできない。</a:t>
            </a:r>
          </a:p>
          <a:p>
            <a:pPr algn="l"/>
            <a:r>
              <a:rPr sz="1300" b="0">
                <a:solidFill>
                  <a:srgbClr val="CBE8E0"/>
                </a:solidFill>
                <a:latin typeface="Calibri"/>
                <a:ea typeface="Calibri"/>
                <a:cs typeface="Calibri"/>
              </a:rPr>
              <a:t>Touching, restraining, chasing, opening a bag — none of these are yours to do.</a:t>
            </a:r>
          </a:p>
        </p:txBody>
      </p:sp>
      <p:sp>
        <p:nvSpPr>
          <p:cNvPr id="14" name="Rounded Rectangle 13"/>
          <p:cNvSpPr/>
          <p:nvPr/>
        </p:nvSpPr>
        <p:spPr>
          <a:xfrm>
            <a:off x="640080" y="4718304"/>
            <a:ext cx="10908792" cy="676656"/>
          </a:xfrm>
          <a:prstGeom prst="roundRect">
            <a:avLst>
              <a:gd name="adj" fmla="val 1900"/>
            </a:avLst>
          </a:prstGeom>
          <a:solidFill>
            <a:srgbClr val="062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14400" y="4864608"/>
            <a:ext cx="384048" cy="384048"/>
          </a:xfrm>
          <a:prstGeom prst="ellipse">
            <a:avLst/>
          </a:prstGeom>
          <a:solidFill>
            <a:srgbClr val="12B19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400" b="1">
                <a:solidFill>
                  <a:srgbClr val="FFFFFF"/>
                </a:solidFill>
                <a:latin typeface="Calibri"/>
                <a:ea typeface="Calibri"/>
                <a:cs typeface="Calibri"/>
              </a:rPr>
              <a:t>4</a:t>
            </a:r>
          </a:p>
        </p:txBody>
      </p:sp>
      <p:sp>
        <p:nvSpPr>
          <p:cNvPr id="16" name="TextBox 15"/>
          <p:cNvSpPr txBox="1"/>
          <p:nvPr/>
        </p:nvSpPr>
        <p:spPr>
          <a:xfrm>
            <a:off x="1517904" y="4809744"/>
            <a:ext cx="9720072" cy="521207"/>
          </a:xfrm>
          <a:prstGeom prst="rect">
            <a:avLst/>
          </a:prstGeom>
          <a:noFill/>
        </p:spPr>
        <p:txBody>
          <a:bodyPr wrap="square" lIns="0" rIns="0" tIns="0" bIns="0" anchor="t">
            <a:spAutoFit/>
          </a:bodyPr>
          <a:lstStyle/>
          <a:p>
            <a:pPr algn="l"/>
            <a:r>
              <a:rPr sz="1450" b="0">
                <a:solidFill>
                  <a:srgbClr val="FFFFFF"/>
                </a:solidFill>
                <a:latin typeface="Yu Gothic"/>
                <a:ea typeface="Yu Gothic"/>
                <a:cs typeface="Yu Gothic"/>
              </a:rPr>
              <a:t>判断軸は 人命 → 法令 → Site SOP → クライアント要望。順序を崩さない。</a:t>
            </a:r>
          </a:p>
          <a:p>
            <a:pPr algn="l"/>
            <a:r>
              <a:rPr sz="1300" b="0">
                <a:solidFill>
                  <a:srgbClr val="CBE8E0"/>
                </a:solidFill>
                <a:latin typeface="Calibri"/>
                <a:ea typeface="Calibri"/>
                <a:cs typeface="Calibri"/>
              </a:rPr>
              <a:t>Priority: life, law, Site SOP, client wishes. Keep that order.</a:t>
            </a:r>
          </a:p>
        </p:txBody>
      </p:sp>
      <p:sp>
        <p:nvSpPr>
          <p:cNvPr id="17" name="TextBox 16"/>
          <p:cNvSpPr txBox="1"/>
          <p:nvPr/>
        </p:nvSpPr>
        <p:spPr>
          <a:xfrm>
            <a:off x="640080" y="5596128"/>
            <a:ext cx="10908792" cy="603504"/>
          </a:xfrm>
          <a:prstGeom prst="rect">
            <a:avLst/>
          </a:prstGeom>
          <a:noFill/>
        </p:spPr>
        <p:txBody>
          <a:bodyPr wrap="square" lIns="0" rIns="0" tIns="0" bIns="0" anchor="t">
            <a:spAutoFit/>
          </a:bodyPr>
          <a:lstStyle/>
          <a:p>
            <a:pPr algn="l"/>
            <a:r>
              <a:rPr sz="1200" b="1">
                <a:solidFill>
                  <a:srgbClr val="12B198"/>
                </a:solidFill>
                <a:latin typeface="Yu Gothic"/>
                <a:ea typeface="Yu Gothic"/>
                <a:cs typeface="Yu Gothic"/>
              </a:rPr>
              <a:t>第2時限 ― その土台の上に、警備員に求められる資質と品格を置きます。</a:t>
            </a:r>
          </a:p>
          <a:p>
            <a:pPr algn="l"/>
            <a:r>
              <a:rPr sz="1100" b="0">
                <a:solidFill>
                  <a:srgbClr val="CBE8E0"/>
                </a:solidFill>
                <a:latin typeface="Calibri"/>
                <a:ea typeface="Calibri"/>
                <a:cs typeface="Calibri"/>
              </a:rPr>
              <a:t>Period 2 — on that foundation, the qualities expected of an officer.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